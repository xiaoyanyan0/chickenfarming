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80"/>
  </p:notesMasterIdLst>
  <p:handoutMasterIdLst>
    <p:handoutMasterId r:id="rId81"/>
  </p:handoutMasterIdLst>
  <p:sldIdLst>
    <p:sldId id="16771194" r:id="rId6"/>
    <p:sldId id="16771204" r:id="rId7"/>
    <p:sldId id="2147477425" r:id="rId8"/>
    <p:sldId id="2147477536" r:id="rId9"/>
    <p:sldId id="2147477609" r:id="rId10"/>
    <p:sldId id="2147477610" r:id="rId11"/>
    <p:sldId id="2147477613" r:id="rId12"/>
    <p:sldId id="2147477614" r:id="rId13"/>
    <p:sldId id="2147477608" r:id="rId14"/>
    <p:sldId id="2147477548" r:id="rId15"/>
    <p:sldId id="2147477583" r:id="rId16"/>
    <p:sldId id="2147477551" r:id="rId17"/>
    <p:sldId id="2147477582" r:id="rId18"/>
    <p:sldId id="2147477545" r:id="rId19"/>
    <p:sldId id="2147477547" r:id="rId20"/>
    <p:sldId id="2147477515" r:id="rId21"/>
    <p:sldId id="2147477605" r:id="rId22"/>
    <p:sldId id="2147477507" r:id="rId23"/>
    <p:sldId id="2147477508" r:id="rId24"/>
    <p:sldId id="2147477509" r:id="rId25"/>
    <p:sldId id="2147477510" r:id="rId26"/>
    <p:sldId id="2147477512" r:id="rId27"/>
    <p:sldId id="2147477511" r:id="rId28"/>
    <p:sldId id="2147477513" r:id="rId29"/>
    <p:sldId id="2147477514" r:id="rId30"/>
    <p:sldId id="2147477584" r:id="rId31"/>
    <p:sldId id="2147477585" r:id="rId32"/>
    <p:sldId id="2147477560" r:id="rId33"/>
    <p:sldId id="2147477589" r:id="rId34"/>
    <p:sldId id="2147477588" r:id="rId35"/>
    <p:sldId id="2147477556" r:id="rId36"/>
    <p:sldId id="2147477570" r:id="rId37"/>
    <p:sldId id="2147477604" r:id="rId38"/>
    <p:sldId id="2147477516" r:id="rId39"/>
    <p:sldId id="2147477517" r:id="rId40"/>
    <p:sldId id="2147477518" r:id="rId41"/>
    <p:sldId id="2147477519" r:id="rId42"/>
    <p:sldId id="2147477520" r:id="rId43"/>
    <p:sldId id="2147477521" r:id="rId44"/>
    <p:sldId id="2147477522" r:id="rId45"/>
    <p:sldId id="2147477523" r:id="rId46"/>
    <p:sldId id="2147477590" r:id="rId47"/>
    <p:sldId id="2147477591" r:id="rId48"/>
    <p:sldId id="2147477539" r:id="rId49"/>
    <p:sldId id="2147477592" r:id="rId50"/>
    <p:sldId id="2147477593" r:id="rId51"/>
    <p:sldId id="2147477543" r:id="rId52"/>
    <p:sldId id="2147477533" r:id="rId53"/>
    <p:sldId id="2147477606" r:id="rId54"/>
    <p:sldId id="2147477525" r:id="rId55"/>
    <p:sldId id="2147477526" r:id="rId56"/>
    <p:sldId id="2147477527" r:id="rId57"/>
    <p:sldId id="2147477528" r:id="rId58"/>
    <p:sldId id="2147477529" r:id="rId59"/>
    <p:sldId id="2147477530" r:id="rId60"/>
    <p:sldId id="2147477531" r:id="rId61"/>
    <p:sldId id="2147477532" r:id="rId62"/>
    <p:sldId id="2147477594" r:id="rId63"/>
    <p:sldId id="2147477595" r:id="rId64"/>
    <p:sldId id="2147477564" r:id="rId65"/>
    <p:sldId id="2147477597" r:id="rId66"/>
    <p:sldId id="2147477596" r:id="rId67"/>
    <p:sldId id="2147477568" r:id="rId68"/>
    <p:sldId id="2147477572" r:id="rId69"/>
    <p:sldId id="2147477607" r:id="rId70"/>
    <p:sldId id="2147477574" r:id="rId71"/>
    <p:sldId id="2147477575" r:id="rId72"/>
    <p:sldId id="2147477576" r:id="rId73"/>
    <p:sldId id="2147477577" r:id="rId74"/>
    <p:sldId id="2147477578" r:id="rId75"/>
    <p:sldId id="2147477579" r:id="rId76"/>
    <p:sldId id="2147477580" r:id="rId77"/>
    <p:sldId id="2147477581" r:id="rId78"/>
    <p:sldId id="2147477430" r:id="rId79"/>
  </p:sldIdLst>
  <p:sldSz cx="12192000" cy="6858000"/>
  <p:notesSz cx="6858000" cy="9144000"/>
  <p:custDataLst>
    <p:tags r:id="rId8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536"/>
          </p14:sldIdLst>
        </p14:section>
        <p14:section name="图例" id="{76BBB22E-3CD8-442F-A55A-EFE124622DB0}">
          <p14:sldIdLst>
            <p14:sldId id="2147477609"/>
            <p14:sldId id="2147477610"/>
            <p14:sldId id="2147477613"/>
            <p14:sldId id="2147477614"/>
          </p14:sldIdLst>
        </p14:section>
        <p14:section name="综合分析" id="{39D6EB33-D176-4FFB-96B9-C60E24F1B3DB}">
          <p14:sldIdLst>
            <p14:sldId id="2147477608"/>
          </p14:sldIdLst>
        </p14:section>
        <p14:section name="冬季" id="{5529DEFB-D291-4180-B135-1C58AD57690E}">
          <p14:sldIdLst>
            <p14:sldId id="2147477548"/>
            <p14:sldId id="2147477583"/>
            <p14:sldId id="2147477551"/>
            <p14:sldId id="2147477582"/>
            <p14:sldId id="2147477545"/>
            <p14:sldId id="2147477547"/>
            <p14:sldId id="2147477515"/>
            <p14:sldId id="2147477605"/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</p14:sldIdLst>
        </p14:section>
        <p14:section name="秋季" id="{638D3B15-74AA-4266-B07B-9602D65E4C60}">
          <p14:sldIdLst>
            <p14:sldId id="2147477584"/>
            <p14:sldId id="2147477585"/>
            <p14:sldId id="2147477560"/>
            <p14:sldId id="2147477589"/>
            <p14:sldId id="2147477588"/>
            <p14:sldId id="2147477556"/>
            <p14:sldId id="2147477570"/>
            <p14:sldId id="2147477604"/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</p14:sldIdLst>
        </p14:section>
        <p14:section name="夏季" id="{B86F3F91-4136-4C59-B05F-F943D4768B99}">
          <p14:sldIdLst>
            <p14:sldId id="2147477590"/>
            <p14:sldId id="2147477591"/>
            <p14:sldId id="2147477539"/>
            <p14:sldId id="2147477592"/>
            <p14:sldId id="2147477593"/>
            <p14:sldId id="2147477543"/>
            <p14:sldId id="2147477533"/>
            <p14:sldId id="2147477606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</p14:sldIdLst>
        </p14:section>
        <p14:section name="春季" id="{6B0D2CA9-1685-442B-AED6-6A8D8ABF435F}">
          <p14:sldIdLst>
            <p14:sldId id="2147477594"/>
            <p14:sldId id="2147477595"/>
            <p14:sldId id="2147477564"/>
            <p14:sldId id="2147477597"/>
            <p14:sldId id="2147477596"/>
            <p14:sldId id="2147477568"/>
            <p14:sldId id="2147477572"/>
            <p14:sldId id="2147477607"/>
            <p14:sldId id="2147477574"/>
            <p14:sldId id="2147477575"/>
            <p14:sldId id="2147477576"/>
            <p14:sldId id="2147477577"/>
            <p14:sldId id="2147477578"/>
            <p14:sldId id="2147477579"/>
            <p14:sldId id="2147477580"/>
            <p14:sldId id="2147477581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1" autoAdjust="0"/>
    <p:restoredTop sz="92774" autoAdjust="0"/>
  </p:normalViewPr>
  <p:slideViewPr>
    <p:cSldViewPr snapToGrid="0" showGuides="1">
      <p:cViewPr>
        <p:scale>
          <a:sx n="75" d="100"/>
          <a:sy n="75" d="100"/>
        </p:scale>
        <p:origin x="871" y="5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5/30/2025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467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5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0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66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FAC4-F7BB-8AEF-4EBB-818626D7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FB44C5-6FB8-982B-FE23-FA164E763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44CBAC-9987-E202-D213-A7536296B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FADBE-07D2-8EE5-C054-ED708415F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9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2A26-B441-9A26-0351-6522C3BA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0F919E-2927-892B-B4AB-02D3E4B50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CD23E4-F8C2-1F2F-DFCF-3383F2C7B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20E5A-B4F5-C932-8CCF-6404616F7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45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43F7-9F37-38FD-A570-6D811880B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AB1401-E46D-6B88-CD75-F040FC8FB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7A75F9-B69A-CD57-8C50-9F402CF55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AFFB54-1B2B-A166-259D-406255918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3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1C5-EA59-52F6-EC25-75F3BA5D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06EBF9-2152-DDE4-1B52-A9D7F41C6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DA2721-BDF7-F3C3-CECA-9E7C40965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9DDF93-DF18-AF8E-AEC7-E50C3DCD2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1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643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B76C9A9-7EBC-723D-1351-F0902ABE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536"/>
            <a:ext cx="10515600" cy="517064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Transformer With Fixed Token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模型简介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BC7603A-0783-5477-FC79-A5BB719BE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33" y="1256997"/>
            <a:ext cx="8125959" cy="21720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F39FC5-C222-C7FC-FE4C-294B74761B2A}"/>
              </a:ext>
            </a:extLst>
          </p:cNvPr>
          <p:cNvSpPr txBox="1"/>
          <p:nvPr/>
        </p:nvSpPr>
        <p:spPr>
          <a:xfrm>
            <a:off x="1249845" y="3557506"/>
            <a:ext cx="881849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序列特征处理</a:t>
            </a:r>
          </a:p>
          <a:p>
            <a:r>
              <a:rPr lang="zh-CN" altLang="en-US" sz="1100" dirty="0"/>
              <a:t>特征重要性层：对序列特征加权，增强关键时间步的影响。</a:t>
            </a:r>
          </a:p>
          <a:p>
            <a:r>
              <a:rPr lang="zh-CN" altLang="en-US" sz="1100" dirty="0"/>
              <a:t>序列嵌入：将原始序列映射到隐藏维度（</a:t>
            </a:r>
            <a:r>
              <a:rPr lang="en-US" altLang="zh-CN" sz="1100" dirty="0" err="1"/>
              <a:t>hidden_dim</a:t>
            </a:r>
            <a:r>
              <a:rPr lang="zh-CN" altLang="en-US" sz="1100" dirty="0"/>
              <a:t>）。</a:t>
            </a:r>
          </a:p>
          <a:p>
            <a:r>
              <a:rPr lang="zh-CN" altLang="en-US" sz="1100" dirty="0"/>
              <a:t>位置编码：为序列添加时间位置信息（如正弦</a:t>
            </a:r>
            <a:r>
              <a:rPr lang="en-US" altLang="zh-CN" sz="1100" dirty="0"/>
              <a:t>/</a:t>
            </a:r>
            <a:r>
              <a:rPr lang="zh-CN" altLang="en-US" sz="1100" dirty="0"/>
              <a:t>余弦编码）。</a:t>
            </a:r>
          </a:p>
          <a:p>
            <a:r>
              <a:rPr lang="zh-CN" altLang="en-US" sz="1100" dirty="0"/>
              <a:t>固定特征处理</a:t>
            </a:r>
          </a:p>
          <a:p>
            <a:r>
              <a:rPr lang="zh-CN" altLang="en-US" sz="1100" dirty="0"/>
              <a:t>密度特征：线性嵌入到低维空间。</a:t>
            </a:r>
          </a:p>
          <a:p>
            <a:r>
              <a:rPr lang="zh-CN" altLang="en-US" sz="1100" dirty="0"/>
              <a:t>类别特征（品种、监督者）：通过嵌入层映射为向量。</a:t>
            </a:r>
          </a:p>
          <a:p>
            <a:r>
              <a:rPr lang="zh-CN" altLang="en-US" sz="1100" dirty="0"/>
              <a:t>固定</a:t>
            </a:r>
            <a:r>
              <a:rPr lang="en-US" altLang="zh-CN" sz="1100" dirty="0"/>
              <a:t>token</a:t>
            </a:r>
            <a:r>
              <a:rPr lang="zh-CN" altLang="en-US" sz="1100" dirty="0"/>
              <a:t>生成：拼接后投影到与序列相同的维度，作为全局上下文。</a:t>
            </a:r>
          </a:p>
          <a:p>
            <a:r>
              <a:rPr lang="en-US" altLang="zh-CN" sz="1100" dirty="0"/>
              <a:t>Transformer</a:t>
            </a:r>
            <a:r>
              <a:rPr lang="zh-CN" altLang="en-US" sz="1100" dirty="0"/>
              <a:t>编码器</a:t>
            </a:r>
          </a:p>
          <a:p>
            <a:r>
              <a:rPr lang="zh-CN" altLang="en-US" sz="1100" dirty="0"/>
              <a:t>多头自注意力：捕捉序列内部的动态依赖关系。</a:t>
            </a:r>
          </a:p>
          <a:p>
            <a:r>
              <a:rPr lang="zh-CN" altLang="en-US" sz="1100" dirty="0"/>
              <a:t>前馈网络（</a:t>
            </a:r>
            <a:r>
              <a:rPr lang="en-US" altLang="zh-CN" sz="1100" dirty="0"/>
              <a:t>FFN</a:t>
            </a:r>
            <a:r>
              <a:rPr lang="zh-CN" altLang="en-US" sz="1100" dirty="0"/>
              <a:t>）：增强非线性表达能力。</a:t>
            </a:r>
          </a:p>
          <a:p>
            <a:r>
              <a:rPr lang="zh-CN" altLang="en-US" sz="1100" dirty="0"/>
              <a:t>残差连接 </a:t>
            </a:r>
            <a:r>
              <a:rPr lang="en-US" altLang="zh-CN" sz="1100" dirty="0"/>
              <a:t>+ </a:t>
            </a:r>
            <a:r>
              <a:rPr lang="zh-CN" altLang="en-US" sz="1100" dirty="0"/>
              <a:t>层归一化：缓解梯度消失，提升训练稳定性。</a:t>
            </a:r>
          </a:p>
          <a:p>
            <a:r>
              <a:rPr lang="zh-CN" altLang="en-US" sz="1100" dirty="0"/>
              <a:t>注意力权重记录：支持可视化分析模型关注的序列位置。</a:t>
            </a:r>
          </a:p>
          <a:p>
            <a:r>
              <a:rPr lang="zh-CN" altLang="en-US" sz="1100" dirty="0"/>
              <a:t>输出与可解释性</a:t>
            </a:r>
          </a:p>
          <a:p>
            <a:r>
              <a:rPr lang="zh-CN" altLang="en-US" sz="1100" dirty="0"/>
              <a:t>固定</a:t>
            </a:r>
            <a:r>
              <a:rPr lang="en-US" altLang="zh-CN" sz="1100" dirty="0"/>
              <a:t>token</a:t>
            </a:r>
            <a:r>
              <a:rPr lang="zh-CN" altLang="en-US" sz="1100" dirty="0"/>
              <a:t>输出：提取</a:t>
            </a:r>
            <a:r>
              <a:rPr lang="en-US" altLang="zh-CN" sz="1100" dirty="0"/>
              <a:t>Transformer</a:t>
            </a:r>
            <a:r>
              <a:rPr lang="zh-CN" altLang="en-US" sz="1100" dirty="0"/>
              <a:t>编码后的全局表示。</a:t>
            </a:r>
          </a:p>
          <a:p>
            <a:r>
              <a:rPr lang="zh-CN" altLang="en-US" sz="1100" dirty="0"/>
              <a:t>全连接层：将隐藏状态映射到最终预测结果（如回归值）。</a:t>
            </a:r>
          </a:p>
          <a:p>
            <a:r>
              <a:rPr lang="en-US" altLang="zh-CN" sz="1100" dirty="0"/>
              <a:t>Grad-CAM</a:t>
            </a:r>
            <a:r>
              <a:rPr lang="zh-CN" altLang="en-US" sz="1100" dirty="0"/>
              <a:t>支持：通过反向传播计算输入特征的重要性权重。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49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应用程序&#10;&#10;AI 生成的内容可能不正确。">
            <a:extLst>
              <a:ext uri="{FF2B5EF4-FFF2-40B4-BE49-F238E27FC236}">
                <a16:creationId xmlns:a16="http://schemas.microsoft.com/office/drawing/2014/main" id="{8931F682-9E82-FBF8-DFCD-B55779811F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878" y="412707"/>
            <a:ext cx="8483232" cy="48164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BB822A-2C5E-B18B-9524-68E5429C7CF4}"/>
              </a:ext>
            </a:extLst>
          </p:cNvPr>
          <p:cNvSpPr txBox="1"/>
          <p:nvPr/>
        </p:nvSpPr>
        <p:spPr>
          <a:xfrm>
            <a:off x="1828800" y="5133366"/>
            <a:ext cx="101163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Inter"/>
              </a:rPr>
              <a:t>1. </a:t>
            </a:r>
            <a:r>
              <a:rPr lang="zh-CN" altLang="en-US" sz="1400" b="0" i="0" dirty="0">
                <a:effectLst/>
                <a:latin typeface="Inter"/>
              </a:rPr>
              <a:t>上半部分：</a:t>
            </a:r>
            <a:r>
              <a:rPr lang="en-US" altLang="zh-CN" sz="1400" b="0" i="0" dirty="0">
                <a:effectLst/>
                <a:latin typeface="Inter"/>
              </a:rPr>
              <a:t>Grad-CAM </a:t>
            </a:r>
            <a:r>
              <a:rPr lang="zh-CN" altLang="en-US" sz="1400" b="0" i="0" dirty="0">
                <a:effectLst/>
                <a:latin typeface="Inter"/>
              </a:rPr>
              <a:t>重要性分数（鸡舍温度</a:t>
            </a:r>
            <a:r>
              <a:rPr lang="en-US" altLang="zh-CN" sz="1400" b="0" i="0" dirty="0">
                <a:effectLst/>
                <a:latin typeface="Inter"/>
              </a:rPr>
              <a:t>-</a:t>
            </a:r>
            <a:r>
              <a:rPr lang="zh-CN" altLang="en-US" sz="1400" b="0" i="0" dirty="0">
                <a:effectLst/>
                <a:latin typeface="Inter"/>
              </a:rPr>
              <a:t>平均）</a:t>
            </a:r>
          </a:p>
          <a:p>
            <a:r>
              <a:rPr lang="en-US" altLang="zh-CN" sz="1400" b="0" i="0" dirty="0">
                <a:effectLst/>
                <a:latin typeface="Inter"/>
              </a:rPr>
              <a:t>Y</a:t>
            </a:r>
            <a:r>
              <a:rPr lang="zh-CN" altLang="en-US" sz="1400" b="0" i="0" dirty="0">
                <a:effectLst/>
                <a:latin typeface="Inter"/>
              </a:rPr>
              <a:t>轴：标注为 </a:t>
            </a:r>
            <a:r>
              <a:rPr lang="en-US" altLang="zh-CN" sz="1400" b="0" i="0" dirty="0">
                <a:effectLst/>
                <a:latin typeface="Inter"/>
              </a:rPr>
              <a:t>“</a:t>
            </a:r>
            <a:r>
              <a:rPr lang="zh-CN" altLang="en-US" sz="1400" b="0" i="0" dirty="0">
                <a:effectLst/>
                <a:latin typeface="Inter"/>
              </a:rPr>
              <a:t>时间步</a:t>
            </a:r>
            <a:r>
              <a:rPr lang="en-US" altLang="zh-CN" sz="1400" b="0" i="0" dirty="0">
                <a:effectLst/>
                <a:latin typeface="Inter"/>
              </a:rPr>
              <a:t>”</a:t>
            </a:r>
            <a:r>
              <a:rPr lang="zh-CN" altLang="en-US" sz="1400" b="0" i="0" dirty="0">
                <a:effectLst/>
                <a:latin typeface="Inter"/>
              </a:rPr>
              <a:t>，显示具体的日龄（如 </a:t>
            </a:r>
            <a:r>
              <a:rPr lang="en-US" altLang="zh-CN" sz="1400" b="0" i="0" dirty="0">
                <a:effectLst/>
                <a:latin typeface="Inter"/>
              </a:rPr>
              <a:t>20</a:t>
            </a:r>
            <a:r>
              <a:rPr lang="zh-CN" altLang="en-US" sz="1400" b="0" i="0" dirty="0">
                <a:effectLst/>
                <a:latin typeface="Inter"/>
              </a:rPr>
              <a:t>、</a:t>
            </a:r>
            <a:r>
              <a:rPr lang="en-US" altLang="zh-CN" sz="1400" b="0" i="0" dirty="0">
                <a:effectLst/>
                <a:latin typeface="Inter"/>
              </a:rPr>
              <a:t>25</a:t>
            </a:r>
            <a:r>
              <a:rPr lang="zh-CN" altLang="en-US" sz="1400" b="0" i="0" dirty="0">
                <a:effectLst/>
                <a:latin typeface="Inter"/>
              </a:rPr>
              <a:t>。</a:t>
            </a:r>
          </a:p>
          <a:p>
            <a:r>
              <a:rPr lang="en-US" altLang="zh-CN" sz="1400" b="0" i="0" dirty="0">
                <a:effectLst/>
                <a:latin typeface="Inter"/>
              </a:rPr>
              <a:t>X</a:t>
            </a:r>
            <a:r>
              <a:rPr lang="zh-CN" altLang="en-US" sz="1400" b="0" i="0" dirty="0">
                <a:effectLst/>
                <a:latin typeface="Inter"/>
              </a:rPr>
              <a:t>轴：未明确标注，但根据标题推断为 </a:t>
            </a:r>
            <a:r>
              <a:rPr lang="en-US" altLang="zh-CN" sz="1400" b="0" i="0" dirty="0">
                <a:effectLst/>
                <a:latin typeface="Inter"/>
              </a:rPr>
              <a:t>"</a:t>
            </a:r>
            <a:r>
              <a:rPr lang="zh-CN" altLang="en-US" sz="1400" b="0" i="0" dirty="0">
                <a:effectLst/>
                <a:latin typeface="Inter"/>
              </a:rPr>
              <a:t>重要性分数</a:t>
            </a:r>
            <a:r>
              <a:rPr lang="en-US" altLang="zh-CN" sz="1400" b="0" i="0" dirty="0">
                <a:effectLst/>
                <a:latin typeface="Inter"/>
              </a:rPr>
              <a:t>"</a:t>
            </a:r>
            <a:r>
              <a:rPr lang="zh-CN" altLang="en-US" sz="1400" b="0" i="0" dirty="0">
                <a:effectLst/>
                <a:latin typeface="Inter"/>
              </a:rPr>
              <a:t>，数值范围未显示，表示不同时间步对模型预测的贡献程度。</a:t>
            </a:r>
            <a:endParaRPr lang="en-US" altLang="zh-CN" sz="1400" b="0" i="0" dirty="0">
              <a:effectLst/>
              <a:latin typeface="Inter"/>
            </a:endParaRPr>
          </a:p>
          <a:p>
            <a:r>
              <a:rPr lang="en-US" altLang="zh-CN" sz="1400" dirty="0"/>
              <a:t>2 </a:t>
            </a:r>
            <a:r>
              <a:rPr lang="zh-CN" altLang="en-US" sz="1400" dirty="0"/>
              <a:t>下半部分：</a:t>
            </a:r>
            <a:r>
              <a:rPr lang="en-US" altLang="zh-CN" sz="1400" dirty="0"/>
              <a:t>Grad-CAM </a:t>
            </a:r>
            <a:r>
              <a:rPr lang="zh-CN" altLang="en-US" sz="1400" dirty="0"/>
              <a:t>热力图（鸡舍温度</a:t>
            </a:r>
            <a:r>
              <a:rPr lang="en-US" altLang="zh-CN" sz="1400" dirty="0"/>
              <a:t>-</a:t>
            </a:r>
            <a:r>
              <a:rPr lang="zh-CN" altLang="en-US" sz="1400" dirty="0"/>
              <a:t>平均）</a:t>
            </a:r>
          </a:p>
          <a:p>
            <a:r>
              <a:rPr lang="en-US" altLang="zh-CN" sz="1400" dirty="0"/>
              <a:t>Y</a:t>
            </a:r>
            <a:r>
              <a:rPr lang="zh-CN" altLang="en-US" sz="1400" dirty="0"/>
              <a:t>轴：</a:t>
            </a:r>
            <a:r>
              <a:rPr lang="zh-CN" altLang="en-US" sz="1400" b="0" i="0" dirty="0">
                <a:effectLst/>
                <a:latin typeface="Inter"/>
              </a:rPr>
              <a:t>标注为 </a:t>
            </a:r>
            <a:r>
              <a:rPr lang="en-US" altLang="zh-CN" sz="1400" b="0" i="0" dirty="0">
                <a:effectLst/>
                <a:latin typeface="Inter"/>
              </a:rPr>
              <a:t>“</a:t>
            </a:r>
            <a:r>
              <a:rPr lang="zh-CN" altLang="en-US" sz="1400" b="0" i="0" dirty="0">
                <a:effectLst/>
                <a:latin typeface="Inter"/>
              </a:rPr>
              <a:t>时间步</a:t>
            </a:r>
            <a:r>
              <a:rPr lang="en-US" altLang="zh-CN" sz="1400" b="0" i="0" dirty="0">
                <a:effectLst/>
                <a:latin typeface="Inter"/>
              </a:rPr>
              <a:t>”</a:t>
            </a:r>
            <a:r>
              <a:rPr lang="zh-CN" altLang="en-US" sz="1400" b="0" i="0" dirty="0">
                <a:effectLst/>
                <a:latin typeface="Inter"/>
              </a:rPr>
              <a:t>，显示具体的日龄（如 </a:t>
            </a:r>
            <a:r>
              <a:rPr lang="en-US" altLang="zh-CN" sz="1400" b="0" i="0" dirty="0">
                <a:effectLst/>
                <a:latin typeface="Inter"/>
              </a:rPr>
              <a:t>20</a:t>
            </a:r>
            <a:r>
              <a:rPr lang="zh-CN" altLang="en-US" sz="1400" b="0" i="0" dirty="0">
                <a:effectLst/>
                <a:latin typeface="Inter"/>
              </a:rPr>
              <a:t>、</a:t>
            </a:r>
            <a:r>
              <a:rPr lang="en-US" altLang="zh-CN" sz="1400" b="0" i="0" dirty="0">
                <a:effectLst/>
                <a:latin typeface="Inter"/>
              </a:rPr>
              <a:t>25</a:t>
            </a:r>
            <a:r>
              <a:rPr lang="zh-CN" altLang="en-US" sz="1400" b="0" i="0" dirty="0">
                <a:effectLst/>
                <a:latin typeface="Inter"/>
              </a:rPr>
              <a:t>。</a:t>
            </a:r>
            <a:endParaRPr lang="en-US" altLang="zh-CN" sz="1400" b="0" i="0" dirty="0">
              <a:effectLst/>
              <a:latin typeface="Inter"/>
            </a:endParaRPr>
          </a:p>
          <a:p>
            <a:r>
              <a:rPr lang="zh-CN" altLang="en-US" sz="1400" b="0" i="0" dirty="0">
                <a:effectLst/>
                <a:latin typeface="Inter"/>
              </a:rPr>
              <a:t>颜色从紫到黄表示重要性分数从低到高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417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043A28D5-ADD4-6F9B-7226-8A6DE656B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328" y="1425269"/>
            <a:ext cx="5400261" cy="182258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DCC045F-2153-A229-D42D-8602FCA357B6}"/>
              </a:ext>
            </a:extLst>
          </p:cNvPr>
          <p:cNvSpPr txBox="1"/>
          <p:nvPr/>
        </p:nvSpPr>
        <p:spPr>
          <a:xfrm>
            <a:off x="2719748" y="3764256"/>
            <a:ext cx="6097712" cy="2565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Y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轴（纵向）：列出了模型的 特征（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Features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），从上到下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重要性排序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依次是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轴（横向）：表示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值，范围从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0.0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到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0.8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，衡量特征对模型输出的贡献（正值表示正向影响，负值表示负向影响）。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颜色条（右侧标注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"High"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）：表示 特征值的高低：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红色：特征值高。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蓝色：特征值低。</a:t>
            </a:r>
          </a:p>
        </p:txBody>
      </p:sp>
    </p:spTree>
    <p:extLst>
      <p:ext uri="{BB962C8B-B14F-4D97-AF65-F5344CB8AC3E}">
        <p14:creationId xmlns:p14="http://schemas.microsoft.com/office/powerpoint/2010/main" val="28660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1F15D-AFB7-508E-FAD3-10A4485A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图表&#10;&#10;AI 生成的内容可能不正确。">
            <a:extLst>
              <a:ext uri="{FF2B5EF4-FFF2-40B4-BE49-F238E27FC236}">
                <a16:creationId xmlns:a16="http://schemas.microsoft.com/office/drawing/2014/main" id="{885C953F-764E-6321-905D-310A71FBC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53" y="1055451"/>
            <a:ext cx="4302638" cy="51093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3BF9F2-7036-7A74-07F9-DE73B755427C}"/>
              </a:ext>
            </a:extLst>
          </p:cNvPr>
          <p:cNvSpPr txBox="1"/>
          <p:nvPr/>
        </p:nvSpPr>
        <p:spPr>
          <a:xfrm>
            <a:off x="5360206" y="1376835"/>
            <a:ext cx="6097712" cy="437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Y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轴（纵向）：列出了多个时间序列特征，命名格式为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Inter"/>
              </a:rPr>
              <a:t>seq_X_tY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，其中：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X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可能代表不同序列（如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表示两类温度序列和湿度序列）。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Inter"/>
              </a:rPr>
              <a:t>tY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表示日龄（如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t2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等），代表序列中的具体日龄。特征按重要性大致排序，越靠上的特征对模型输出的影响越大。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轴（横向）：表示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值，范围从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-0.04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到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0.08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，反映特征对模型输出的贡献方向与强度：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正值：增加预测结果。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负值：降低预测结果。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零值：无显著影响。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颜色映射：右侧标注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"High"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"Feature value"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，表示点的颜色对应特征值的高低：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红色：高特征值。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蓝色：低特征值。</a:t>
            </a:r>
          </a:p>
        </p:txBody>
      </p:sp>
    </p:spTree>
    <p:extLst>
      <p:ext uri="{BB962C8B-B14F-4D97-AF65-F5344CB8AC3E}">
        <p14:creationId xmlns:p14="http://schemas.microsoft.com/office/powerpoint/2010/main" val="2885667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2E49F067-FA65-9E94-49D2-6233DA2E4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473" y="402844"/>
            <a:ext cx="9275054" cy="42102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7DCE407-7D30-9CA5-804F-F2E564C6C091}"/>
              </a:ext>
            </a:extLst>
          </p:cNvPr>
          <p:cNvSpPr txBox="1"/>
          <p:nvPr/>
        </p:nvSpPr>
        <p:spPr>
          <a:xfrm>
            <a:off x="1890445" y="4437696"/>
            <a:ext cx="76979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404040"/>
                </a:solidFill>
                <a:effectLst/>
                <a:latin typeface="quote-cjk-patch"/>
              </a:rPr>
              <a:t>标题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quote-cjk-patch"/>
              </a:rPr>
              <a:t>：温度与死淘率关系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quote-cjk-patch"/>
              </a:rPr>
              <a:t>- W3 0-2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quote-cjk-patch"/>
              </a:rPr>
              <a:t>天 外部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quote-cjk-patch"/>
              </a:rPr>
              <a:t>-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quote-cjk-patch"/>
              </a:rPr>
              <a:t>平均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quote-cjk-patch"/>
              </a:rPr>
              <a:t>MEAN</a:t>
            </a:r>
            <a:br>
              <a:rPr lang="zh-CN" altLang="en-US" dirty="0"/>
            </a:br>
            <a:r>
              <a:rPr lang="en-US" altLang="zh-CN" b="1" i="0" dirty="0">
                <a:solidFill>
                  <a:srgbClr val="404040"/>
                </a:solidFill>
                <a:effectLst/>
                <a:latin typeface="quote-cjk-patch"/>
              </a:rPr>
              <a:t>X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quote-cjk-patch"/>
              </a:rPr>
              <a:t>：温度（℃），范围：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quote-cjk-patch"/>
              </a:rPr>
              <a:t>-2.9℃ 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quote-cjk-patch"/>
              </a:rPr>
              <a:t>至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quote-cjk-patch"/>
              </a:rPr>
              <a:t>34.6℃</a:t>
            </a:r>
          </a:p>
          <a:p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左</a:t>
            </a:r>
            <a:r>
              <a:rPr lang="en-US" altLang="zh-CN" b="1" dirty="0">
                <a:solidFill>
                  <a:srgbClr val="404040"/>
                </a:solidFill>
                <a:latin typeface="quote-cjk-patch"/>
              </a:rPr>
              <a:t>y</a:t>
            </a: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轴：</a:t>
            </a:r>
            <a:r>
              <a:rPr lang="zh-CN" altLang="en-US" dirty="0">
                <a:solidFill>
                  <a:srgbClr val="404040"/>
                </a:solidFill>
                <a:latin typeface="quote-cjk-patch"/>
              </a:rPr>
              <a:t>样本数量，条形图的不同高度代表不同区间内的样本数量</a:t>
            </a:r>
            <a:br>
              <a:rPr lang="zh-CN" altLang="en-US" dirty="0"/>
            </a:br>
            <a:r>
              <a:rPr lang="zh-CN" altLang="en-US" b="1" dirty="0">
                <a:solidFill>
                  <a:srgbClr val="404040"/>
                </a:solidFill>
                <a:latin typeface="quote-cjk-patch"/>
              </a:rPr>
              <a:t>右</a:t>
            </a:r>
            <a:r>
              <a:rPr lang="en-US" altLang="zh-CN" dirty="0"/>
              <a:t>_</a:t>
            </a:r>
            <a:r>
              <a:rPr lang="en-US" altLang="zh-CN" b="1" i="0" dirty="0">
                <a:solidFill>
                  <a:srgbClr val="404040"/>
                </a:solidFill>
                <a:effectLst/>
                <a:latin typeface="quote-cjk-patch"/>
              </a:rPr>
              <a:t>Y</a:t>
            </a:r>
            <a:r>
              <a:rPr lang="zh-CN" altLang="en-US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quote-cjk-patch"/>
              </a:rPr>
              <a:t>：死淘率，折线图表示不同区间的死淘率均值。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384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9B6837D-820E-7A48-FAF0-C42E0A6F5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57908"/>
              </p:ext>
            </p:extLst>
          </p:nvPr>
        </p:nvGraphicFramePr>
        <p:xfrm>
          <a:off x="838202" y="1601806"/>
          <a:ext cx="10515596" cy="2917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50866">
                  <a:extLst>
                    <a:ext uri="{9D8B030D-6E8A-4147-A177-3AD203B41FA5}">
                      <a16:colId xmlns:a16="http://schemas.microsoft.com/office/drawing/2014/main" val="1019282222"/>
                    </a:ext>
                  </a:extLst>
                </a:gridCol>
                <a:gridCol w="653775">
                  <a:extLst>
                    <a:ext uri="{9D8B030D-6E8A-4147-A177-3AD203B41FA5}">
                      <a16:colId xmlns:a16="http://schemas.microsoft.com/office/drawing/2014/main" val="2042482468"/>
                    </a:ext>
                  </a:extLst>
                </a:gridCol>
                <a:gridCol w="666594">
                  <a:extLst>
                    <a:ext uri="{9D8B030D-6E8A-4147-A177-3AD203B41FA5}">
                      <a16:colId xmlns:a16="http://schemas.microsoft.com/office/drawing/2014/main" val="3111259004"/>
                    </a:ext>
                  </a:extLst>
                </a:gridCol>
                <a:gridCol w="688583">
                  <a:extLst>
                    <a:ext uri="{9D8B030D-6E8A-4147-A177-3AD203B41FA5}">
                      <a16:colId xmlns:a16="http://schemas.microsoft.com/office/drawing/2014/main" val="540567312"/>
                    </a:ext>
                  </a:extLst>
                </a:gridCol>
                <a:gridCol w="709770">
                  <a:extLst>
                    <a:ext uri="{9D8B030D-6E8A-4147-A177-3AD203B41FA5}">
                      <a16:colId xmlns:a16="http://schemas.microsoft.com/office/drawing/2014/main" val="3599570454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3535392240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3362999435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780672956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738098192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657503489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938902776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826527196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159645733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993362187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1889307148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64402950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1683692967"/>
                    </a:ext>
                  </a:extLst>
                </a:gridCol>
              </a:tblGrid>
              <a:tr h="1620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　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冬季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秋季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夏季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春季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28073"/>
                  </a:ext>
                </a:extLst>
              </a:tr>
              <a:tr h="162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age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out-upper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in-upper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out-upper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162278315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0-2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15.1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16.1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31.6(min)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33.6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32.2(max)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34.4(max)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25.6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33.8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34.4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7.5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8.2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33.6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33.8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58508189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3-5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12.8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32.6(max)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30.6(min)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31.2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32.2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32.6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1531882879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6-8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9.3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17.6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28.6(min)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29.1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29.8(max)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31.6(max)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9.1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16.3(max)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28.5(min)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250346430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>
                          <a:effectLst/>
                        </a:rPr>
                        <a:t>9-11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8.2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15.9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27.6(min)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31.2(max)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24.6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11.4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14.3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1848769835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12-14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26.2(min)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26.9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30.7(max)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14.4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17.4(max)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25.8(min)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445636619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15-17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11.9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25.6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25.9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19.6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28.8(min)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8.6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17.9(max)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27.8(max)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689388988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18-20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17.9(max)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23.9(min)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24.4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28.4(max)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9.8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17.3(max)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385118661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21-23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8.8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15.9(max)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22.7(min)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23.9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21.2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22.8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30.8(max)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13.8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</a:rPr>
                        <a:t>27.6(max)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025127991"/>
                  </a:ext>
                </a:extLst>
              </a:tr>
            </a:tbl>
          </a:graphicData>
        </a:graphic>
      </p:graphicFrame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091C8E92-C6E4-0739-4259-E3217733925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各季节内外温度最优区间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A9CDB1-35DE-E167-80EE-F53F55637296}"/>
              </a:ext>
            </a:extLst>
          </p:cNvPr>
          <p:cNvSpPr txBox="1"/>
          <p:nvPr/>
        </p:nvSpPr>
        <p:spPr>
          <a:xfrm>
            <a:off x="418099" y="5472077"/>
            <a:ext cx="10102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4997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55FD-9FE5-1B80-8BC6-E88498B2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DFFB7C7-90EA-E3F4-E6DA-B1DAEF8BE078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2EEB44-93E5-2C2A-7552-6A2692356BC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2E44C2B-611C-1E03-9118-FB79CFA4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冬天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181B5B-264A-F9F5-EBBF-3A12DC2BADCC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6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484955-304F-D786-C44C-29FC65A4B508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With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Fixed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Token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验证集指标: {‘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’: 0.3710892523913423, '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0.02421204, '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0.2907966} </a:t>
            </a:r>
          </a:p>
        </p:txBody>
      </p:sp>
    </p:spTree>
    <p:extLst>
      <p:ext uri="{BB962C8B-B14F-4D97-AF65-F5344CB8AC3E}">
        <p14:creationId xmlns:p14="http://schemas.microsoft.com/office/powerpoint/2010/main" val="356415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918A-A6E3-61C9-B24C-660B2EEA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F5CD8FD-2066-5FED-6510-C59E3F57FFA7}"/>
              </a:ext>
            </a:extLst>
          </p:cNvPr>
          <p:cNvSpPr/>
          <p:nvPr/>
        </p:nvSpPr>
        <p:spPr>
          <a:xfrm>
            <a:off x="361950" y="777732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800" b="0" i="0">
                <a:effectLst/>
                <a:latin typeface="Inter"/>
              </a:rPr>
              <a:t>这组图展示了基于 </a:t>
            </a:r>
            <a:r>
              <a:rPr lang="en-US" altLang="zh-CN" sz="800" b="0" i="0">
                <a:effectLst/>
                <a:latin typeface="Inter"/>
              </a:rPr>
              <a:t>Grad - CAM</a:t>
            </a:r>
            <a:r>
              <a:rPr lang="zh-CN" altLang="en-US" sz="800" b="0" i="0">
                <a:effectLst/>
                <a:latin typeface="Inter"/>
              </a:rPr>
              <a:t>（</a:t>
            </a:r>
            <a:r>
              <a:rPr lang="en-US" altLang="zh-CN" sz="800" b="0" i="0">
                <a:effectLst/>
                <a:latin typeface="Inter"/>
              </a:rPr>
              <a:t>Gradient - weighted Class Activation Mapping</a:t>
            </a:r>
            <a:r>
              <a:rPr lang="zh-CN" altLang="en-US" sz="800" b="0" i="0">
                <a:effectLst/>
                <a:latin typeface="Inter"/>
              </a:rPr>
              <a:t>，梯度加权类激活映射 ）方法分析的鸡舍温度平均值的相关结果。上方折线图呈现了不同时间步下的 </a:t>
            </a:r>
            <a:r>
              <a:rPr lang="en-US" altLang="zh-CN" sz="800" b="0" i="0">
                <a:effectLst/>
                <a:latin typeface="Inter"/>
              </a:rPr>
              <a:t>Grad - CAM </a:t>
            </a:r>
            <a:r>
              <a:rPr lang="zh-CN" altLang="en-US" sz="800" b="0" i="0">
                <a:effectLst/>
                <a:latin typeface="Inter"/>
              </a:rPr>
              <a:t>重要性分数，可见在时间步为 </a:t>
            </a:r>
            <a:r>
              <a:rPr lang="en-US" altLang="zh-CN" sz="800" b="0" i="0">
                <a:effectLst/>
                <a:latin typeface="Inter"/>
              </a:rPr>
              <a:t>0 </a:t>
            </a:r>
            <a:r>
              <a:rPr lang="zh-CN" altLang="en-US" sz="800" b="0" i="0">
                <a:effectLst/>
                <a:latin typeface="Inter"/>
              </a:rPr>
              <a:t>时重要性分数高达 </a:t>
            </a:r>
            <a:r>
              <a:rPr lang="en-US" altLang="zh-CN" sz="800" b="0" i="0">
                <a:effectLst/>
                <a:latin typeface="Inter"/>
              </a:rPr>
              <a:t>1.0 </a:t>
            </a:r>
            <a:r>
              <a:rPr lang="zh-CN" altLang="en-US" sz="800" b="0" i="0">
                <a:effectLst/>
                <a:latin typeface="Inter"/>
              </a:rPr>
              <a:t>，随后迅速下降，之后在各时间步重要性分数基本维持在较低水平且波动极小。下方热力图同样对应各时间步，颜色从紫到黄表示重要性分数从低到高，进一步直观表明除起始时间步附近外，其余时间步重要性分数普遍较低。整体反映出在 </a:t>
            </a:r>
            <a:r>
              <a:rPr lang="en-US" altLang="zh-CN" sz="800" b="0" i="0">
                <a:effectLst/>
                <a:latin typeface="Inter"/>
              </a:rPr>
              <a:t>Grad - CAM </a:t>
            </a:r>
            <a:r>
              <a:rPr lang="zh-CN" altLang="en-US" sz="800" b="0" i="0">
                <a:effectLst/>
                <a:latin typeface="Inter"/>
              </a:rPr>
              <a:t>分析中，鸡舍温度平均值在初始时间步具有较高重要性，后续时间步重要性显著降低 。</a:t>
            </a: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006D4E-9844-D1B5-605E-E6ED75D03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8" name="图片 7" descr="图片包含 应用程序&#10;&#10;AI 生成的内容可能不正确。">
            <a:extLst>
              <a:ext uri="{FF2B5EF4-FFF2-40B4-BE49-F238E27FC236}">
                <a16:creationId xmlns:a16="http://schemas.microsoft.com/office/drawing/2014/main" id="{6DCF2B1F-BA46-CD69-1333-05FCB5716A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77" y="1739577"/>
            <a:ext cx="5576287" cy="3166004"/>
          </a:xfrm>
          <a:prstGeom prst="rect">
            <a:avLst/>
          </a:prstGeom>
        </p:spPr>
      </p:pic>
      <p:pic>
        <p:nvPicPr>
          <p:cNvPr id="9" name="图片 8" descr="图片包含 应用程序&#10;&#10;AI 生成的内容可能不正确。">
            <a:extLst>
              <a:ext uri="{FF2B5EF4-FFF2-40B4-BE49-F238E27FC236}">
                <a16:creationId xmlns:a16="http://schemas.microsoft.com/office/drawing/2014/main" id="{D4B150F1-8A42-9710-5ABD-C720A7AB5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291" y="1739577"/>
            <a:ext cx="5556812" cy="315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4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EA22-820B-52EE-8785-1FCC5DA1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9E6B8-C667-9B57-BEF4-0FA5FDDD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DE8CB720-08EC-ECDE-C01F-54722BE67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39" y="1425270"/>
            <a:ext cx="5400261" cy="1822588"/>
          </a:xfrm>
          <a:prstGeom prst="rect">
            <a:avLst/>
          </a:prstGeom>
        </p:spPr>
      </p:pic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8AA1AC3E-B7E8-2D4E-835E-FCF77D15D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588" y="107031"/>
            <a:ext cx="4302638" cy="510938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E4FBBF2-FA02-FE1F-9F20-F686FFD2EE71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02C410-A840-0FF3-420F-25ADD0BDBDC7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seq_1_t1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257394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212A-6940-7389-2DD9-219BB1D1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89829D-71C1-6DDA-2EDF-C58ED501C218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2D2FA-24E1-1542-BDB0-0775655E3CFD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85079B-0FC0-3D45-8B9C-DA645ABB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冬天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E96CF-B1BB-5C86-75B0-7C7BA006AEA0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22CB90-4F54-3013-5046-6E851FB358B7}"/>
              </a:ext>
            </a:extLst>
          </p:cNvPr>
          <p:cNvSpPr txBox="1"/>
          <p:nvPr/>
        </p:nvSpPr>
        <p:spPr>
          <a:xfrm>
            <a:off x="951877" y="3720256"/>
            <a:ext cx="10467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0.5159186276730141,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27.320942,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0.0892119}</a:t>
            </a:r>
          </a:p>
        </p:txBody>
      </p:sp>
    </p:spTree>
    <p:extLst>
      <p:ext uri="{BB962C8B-B14F-4D97-AF65-F5344CB8AC3E}">
        <p14:creationId xmlns:p14="http://schemas.microsoft.com/office/powerpoint/2010/main" val="96229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8F8C-8B10-370A-5AE0-11330B8E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119933B-95C0-1D9D-D969-98F83480A07D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A373CD-AB4D-CF9E-33FF-3171B0CB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A9A1A7AD-6D94-C7D2-8878-CE90D544F0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79" y="1852295"/>
            <a:ext cx="5554108" cy="3153412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D8F95365-81DB-1F42-41D4-0D8F1F424D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41" y="1852293"/>
            <a:ext cx="5554109" cy="31534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176281-7707-0E6E-F463-4F29DFE0DDFA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8584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F12B-4A7D-F042-807C-C568C326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AEACC-2B51-1442-D30A-4AFFEC5F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C8EA45DC-722E-2E1D-EB1F-C560C1806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69127"/>
            <a:ext cx="5430085" cy="1832654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D2107609-98A1-709A-6254-B9D7FB855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83" y="112210"/>
            <a:ext cx="3908187" cy="46409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5DF568F-78E4-DA1F-371F-583ABA217A74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DBD6D9-F625-3938-2CE9-9DA0F1DEB94F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296126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01931"/>
              </p:ext>
            </p:extLst>
          </p:nvPr>
        </p:nvGraphicFramePr>
        <p:xfrm>
          <a:off x="1523541" y="3741694"/>
          <a:ext cx="4572459" cy="16423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858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308599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812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75165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808865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221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32.6(max)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22.7(min)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：养殖过渡阶段，对外部低温敏感程度下降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8.2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温度敏感度回升，内温进入</a:t>
            </a:r>
            <a:r>
              <a:rPr lang="en-US" altLang="zh-CN" sz="1050" b="0" i="0" dirty="0">
                <a:solidFill>
                  <a:srgbClr val="404040"/>
                </a:solidFill>
                <a:effectLst/>
                <a:latin typeface="quote-cjk-patch"/>
              </a:rPr>
              <a:t>26℃</a:t>
            </a:r>
            <a:r>
              <a:rPr lang="zh-CN" altLang="en-US" sz="1050" b="0" i="0" dirty="0">
                <a:solidFill>
                  <a:srgbClr val="404040"/>
                </a:solidFill>
                <a:effectLst/>
                <a:latin typeface="quote-cjk-patch"/>
              </a:rPr>
              <a:t>区间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的上限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F8749199-8560-2705-9714-6FEBAEB3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6" y="561242"/>
            <a:ext cx="5846948" cy="28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5F79EF3-0C3C-FC25-CDCE-280324CDA51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68C367-A829-977B-535F-FC57FBC10E9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090FA0-8BBD-179A-DF47-5F0BD572F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270" y="821101"/>
            <a:ext cx="4828694" cy="24105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4425B5-F60D-F8FA-109D-FE149EE9D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29" y="3692998"/>
            <a:ext cx="6638377" cy="219528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E50B522-AF3B-2972-11C4-E0491E7E3420}"/>
              </a:ext>
            </a:extLst>
          </p:cNvPr>
          <p:cNvSpPr/>
          <p:nvPr/>
        </p:nvSpPr>
        <p:spPr>
          <a:xfrm>
            <a:off x="7783284" y="3429000"/>
            <a:ext cx="4012295" cy="1670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平均来看，鸡舍温度对高低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的区分能力比死淘率高，外部温度对高低死淘率的区分能力比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高。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分阶段看，冬季样本中，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6-11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18-23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608E30-500A-FA8A-33BB-65C797A7A7EC}"/>
              </a:ext>
            </a:extLst>
          </p:cNvPr>
          <p:cNvSpPr txBox="1"/>
          <p:nvPr/>
        </p:nvSpPr>
        <p:spPr>
          <a:xfrm>
            <a:off x="7783284" y="1362305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9970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31.6-33.6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12.8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354512" y="1145568"/>
            <a:ext cx="2226194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BD75B-8D4C-6678-11FA-AC381FE59E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9.3-17.6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2BEA37-5B1B-B0B6-C081-A64CBC74E0C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8.2-15.9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27.6-28.1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00E60-E7CD-3B1C-846A-F46EFB46313C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13.0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785F08-0F8F-F8F0-9FED-5A9285F8DE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25.6-25.9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449C3F-2FAB-62EE-B4F2-0D97EEAE61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23.9-24.4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6884D1-4191-259B-053E-7138CF8FF11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8.8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22.7-23.9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F191-8BE3-5B61-9A3F-A48AB7EC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46D838-6DE9-7983-36ED-EC9ADB93F431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648850-6D06-B3A8-06F2-6CA763C7C87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053306-6A3C-6692-AE83-F99387E9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秋天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00274-7534-2193-10D0-F1F7A7F20891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33EAA6-E257-3DD1-FFD7-2B54991719FE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0.34831244618289714,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0.009753281,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0.22853053}</a:t>
            </a:r>
          </a:p>
        </p:txBody>
      </p:sp>
    </p:spTree>
    <p:extLst>
      <p:ext uri="{BB962C8B-B14F-4D97-AF65-F5344CB8AC3E}">
        <p14:creationId xmlns:p14="http://schemas.microsoft.com/office/powerpoint/2010/main" val="557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0EE51-2501-FC6F-B409-17CBB10D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E7A921-D8B7-88D1-AD9D-78E230D9DE8C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E58217-5776-292C-05F8-C0BBD958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12C76D41-61AA-3FB0-8011-926C4D12C7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7" y="965855"/>
            <a:ext cx="5554108" cy="3153412"/>
          </a:xfrm>
          <a:prstGeom prst="rect">
            <a:avLst/>
          </a:prstGeom>
        </p:spPr>
      </p:pic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08A39126-122A-BDE1-F354-4EA053E1F0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74" y="965855"/>
            <a:ext cx="5554109" cy="315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1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2C00-A4B2-CF51-0AC6-4A775327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89965-73D9-0392-5030-8D09745B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754DD795-3926-D21D-B666-1E82E040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4460"/>
            <a:ext cx="5969007" cy="2014540"/>
          </a:xfrm>
          <a:prstGeom prst="rect">
            <a:avLst/>
          </a:prstGeom>
        </p:spPr>
      </p:pic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83C0AAA3-4F1D-F8CF-3B22-00C68CDE8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245" y="356021"/>
            <a:ext cx="4584034" cy="544354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7C1B64F-8753-5181-B0F0-DA4DE5015A93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738711-C1C8-F8E0-6DC7-3E5FE9455BDE}"/>
              </a:ext>
            </a:extLst>
          </p:cNvPr>
          <p:cNvSpPr txBox="1"/>
          <p:nvPr/>
        </p:nvSpPr>
        <p:spPr>
          <a:xfrm>
            <a:off x="7207671" y="5799561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seq_2_t16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seq_2_t19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289343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43E2-61C6-724B-361D-DCD0CFEA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555AC0D-E4CD-0DE2-0539-18A877936D23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F3DAB-BA25-4137-279C-1AAD16D6A0DE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95A163-7398-CFDE-20CB-33E810A9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秋天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C33BC2-26C8-0936-FD03-632A9EA8302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6E4ECA-C952-EDB3-D35F-A9FCC3AD3B37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0.7653255298175914,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16.213701,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0.03875133}</a:t>
            </a:r>
          </a:p>
        </p:txBody>
      </p:sp>
    </p:spTree>
    <p:extLst>
      <p:ext uri="{BB962C8B-B14F-4D97-AF65-F5344CB8AC3E}">
        <p14:creationId xmlns:p14="http://schemas.microsoft.com/office/powerpoint/2010/main" val="19335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BA39-A9E6-013D-EB87-2681655A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FE1CB20-8836-5EDD-E5CF-AE13CCD028DB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F541E3-1BC3-BE0A-051F-87275B77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94B1507-36D9-A5F3-5D6F-B0405730A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44" y="2024028"/>
            <a:ext cx="5440688" cy="3089016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817F7912-3B05-F552-8F70-06B7C983B6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24029"/>
            <a:ext cx="5692408" cy="323193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C24A18-9490-49E6-BD33-42FE7B2A1AC8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909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7D12-E23C-07F7-1C1E-06E0A100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DDC8D-83AA-0BA0-01E9-F4B19C1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98E6CE7A-7E89-80C0-B485-2D8BE4934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0321"/>
            <a:ext cx="4953375" cy="1671764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F2DCFB90-3605-262A-7FE9-206E5278B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289" y="455069"/>
            <a:ext cx="4327183" cy="51385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53E5E3-D7E3-322B-3651-901378CDF6D7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B6D1E7-75E0-9BE3-72FF-F5F3D734345F}"/>
              </a:ext>
            </a:extLst>
          </p:cNvPr>
          <p:cNvSpPr txBox="1"/>
          <p:nvPr/>
        </p:nvSpPr>
        <p:spPr>
          <a:xfrm>
            <a:off x="7187294" y="5799561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seq_2_t19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seq_2_t18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54786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9263"/>
              </p:ext>
            </p:extLst>
          </p:nvPr>
        </p:nvGraphicFramePr>
        <p:xfrm>
          <a:off x="1413863" y="3700288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32.2(max)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34.4(max)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30.7(max)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30.3(max)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EEF3D-39D7-ED02-4C33-94F5FD6A16DE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：内温要求高，波动范围严格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：内温小幅下降，但仍维持较高水平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：维持内部环境稳定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外温下限降低，内温首次降至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30℃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以下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内温进入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28~30℃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区间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外温下限小幅上升后下降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外温下限大幅降低，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耐寒能力显著提升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内外温度基本呈现在最大温度区间拥有较低死淘和较高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内部温度降温节奏比冬季较快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BEA7591-D68C-E1B0-6DA0-D0F3D2C1B668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8620D8-9491-6050-25EC-CE5B28C9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7" y="572204"/>
            <a:ext cx="5750100" cy="285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2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3F6E418-F258-D0AD-3BFE-75CD8327FD3A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946F7F-C1E6-0C09-C78D-B72E4F0E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167" y="853773"/>
            <a:ext cx="5483525" cy="27157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0975DF-B9E3-80FB-93FF-C8B5545C1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42" y="3907888"/>
            <a:ext cx="6736176" cy="222762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2E729B-D3F9-9BA4-2466-2764B85EDC6E}"/>
              </a:ext>
            </a:extLst>
          </p:cNvPr>
          <p:cNvSpPr/>
          <p:nvPr/>
        </p:nvSpPr>
        <p:spPr>
          <a:xfrm>
            <a:off x="7783284" y="3429000"/>
            <a:ext cx="4012295" cy="1670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平均来看，鸡舍温度和外部温度在各阶段对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和死淘率的区分能力各有突出，呈现较大差距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分阶段看，秋季样本中，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6-11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18-23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DCDD66-7204-1A8A-13DE-A16254193843}"/>
              </a:ext>
            </a:extLst>
          </p:cNvPr>
          <p:cNvSpPr txBox="1"/>
          <p:nvPr/>
        </p:nvSpPr>
        <p:spPr>
          <a:xfrm>
            <a:off x="7783284" y="1362305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B77443-CCCB-04A2-A055-04B85B5F080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</p:spTree>
    <p:extLst>
      <p:ext uri="{BB962C8B-B14F-4D97-AF65-F5344CB8AC3E}">
        <p14:creationId xmlns:p14="http://schemas.microsoft.com/office/powerpoint/2010/main" val="141809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34.0-34.4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719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2E7E1-0807-B976-A664-2ADB5C93EE8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31.8-33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0284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7F16-BA14-C9F5-775B-3A0F2286C42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0875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E897B9-9EAB-E26D-651B-CBB1682529C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29.8-31.2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617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74CE1-0465-57B3-CAC0-E5505B5EB28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29.2-30.7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61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D7BE79-C3A4-1D07-76B5-F5D262D9F3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57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76DC06-ED83-F443-3537-AC206AD390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3358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93DA28-E266-B585-63BC-0F2C3A07E3B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21.2-22.8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26.4-30.2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159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FD6B-9076-9AC5-F35D-6BDECF03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7CDC09A-AC26-1BF8-B46F-2AC351CAE722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5E6AD5-4D15-F592-336E-EE41A2952AAB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F5E995-6928-E152-8515-2CA77135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夏天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AF9EF5-E9C2-2139-18E0-1A92961B6EFB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943158-6A38-0E39-4E34-74E9DAA41546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0.467324735871648,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0.00830224,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0.2051844}</a:t>
            </a:r>
          </a:p>
        </p:txBody>
      </p:sp>
    </p:spTree>
    <p:extLst>
      <p:ext uri="{BB962C8B-B14F-4D97-AF65-F5344CB8AC3E}">
        <p14:creationId xmlns:p14="http://schemas.microsoft.com/office/powerpoint/2010/main" val="266028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7F6F-6FF9-C27F-8277-13BFF78E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394DA13-0AE5-D58A-4AE9-9732BC269C75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D392A7-52FE-60A7-0EAD-CBD24A3A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0C7332A4-B411-39FE-403E-A1A663391D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45" y="1878292"/>
            <a:ext cx="5585408" cy="3171183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80844C95-0855-3EA3-DCD2-782DED5247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78292"/>
            <a:ext cx="5601541" cy="31803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6875852-2034-A715-37CD-92EC949872DA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3971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AFF6-1449-CB93-43B6-79403BD5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E9E41-1E6E-2EC6-5CCA-F85D6D09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4D447967-B073-4BE5-E4A6-F04F735F8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60" y="1548515"/>
            <a:ext cx="5571808" cy="1880485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5B71D1CC-7220-A229-AFCB-8F94246BE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767" y="279635"/>
            <a:ext cx="4263517" cy="506292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5D884AB-D874-C244-00CB-C0DF0A800E43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D17421-C291-968C-D5FC-6B92FCBE8E00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626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3E46-806A-0EA5-99C3-22A4BA7E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0FD77C6-9140-399C-5A40-BE254EE12537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F5570B-888F-B8C5-D9EB-B85E6CFE179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16DA66-03A2-5695-6278-D1067D57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夏天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2918DD-8BB7-107E-F3E3-1428B45A08F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7FE6F9-DF46-421A-0A9A-F4E348698F84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0.7303398511888876,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8.646428,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0.01949703}</a:t>
            </a:r>
          </a:p>
        </p:txBody>
      </p:sp>
    </p:spTree>
    <p:extLst>
      <p:ext uri="{BB962C8B-B14F-4D97-AF65-F5344CB8AC3E}">
        <p14:creationId xmlns:p14="http://schemas.microsoft.com/office/powerpoint/2010/main" val="183333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01EB-33AE-D957-621E-EA329F05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6DE3E7-C01F-4970-627E-3E9B914EF1D1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A19426-BF51-A828-C2D6-1122691D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DB75488-67C6-5C7F-6350-9003A2047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86" y="1404211"/>
            <a:ext cx="5393551" cy="3062254"/>
          </a:xfrm>
          <a:prstGeom prst="rect">
            <a:avLst/>
          </a:prstGeom>
        </p:spPr>
      </p:pic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979F7206-2CF5-EA15-743C-D541B94665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505" y="1404211"/>
            <a:ext cx="5739545" cy="32586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C81CE8-7911-E10E-4E1A-5E067231CB1D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134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9E44-4CC6-6B95-DAD6-3CAD3ACC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DBD73-646B-E505-0ADD-F0AB4F04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09EFC176-85F9-2C0E-2A2B-9EE3A5D86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83" y="1498820"/>
            <a:ext cx="4953375" cy="1671764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1C2E761-E8F7-C6D5-F424-0A14D2750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59" y="449686"/>
            <a:ext cx="4073182" cy="483690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4FDB756-D690-2043-128F-F7CB38C69A89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94E1C9-EA7F-2A02-ED67-758A91CCBA91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seq_2_t16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seq_2_t15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70104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474966" y="607016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725006"/>
              </p:ext>
            </p:extLst>
          </p:nvPr>
        </p:nvGraphicFramePr>
        <p:xfrm>
          <a:off x="1408546" y="3756145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220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29.2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5C2FC4B-9E6E-98BD-666F-E10C1FFC63C0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082910-8E5D-63ED-DD19-052AFA64B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672511"/>
            <a:ext cx="5676829" cy="282798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0FB8AAF-8475-454B-2CC3-909F8E9CB956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：内温要求高，波动范围严格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：内温小幅下降，但仍维持较高水平，内外温差开始缩小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：维持内部环境稳定，内温开始标准下降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外温下限降低，内温出现回调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外温波动剧烈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内温出现回调，内外温差下降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内外温度的最优区间基本通过分箱得到，较少为实际观测的最高或者最低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605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E21BFB5-F4F5-2B83-88B0-DD4C1B64E316}"/>
              </a:ext>
            </a:extLst>
          </p:cNvPr>
          <p:cNvSpPr/>
          <p:nvPr/>
        </p:nvSpPr>
        <p:spPr>
          <a:xfrm>
            <a:off x="361950" y="419050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1D90DD-CB32-1842-22FE-BE5A7F98834C}"/>
              </a:ext>
            </a:extLst>
          </p:cNvPr>
          <p:cNvSpPr/>
          <p:nvPr/>
        </p:nvSpPr>
        <p:spPr>
          <a:xfrm>
            <a:off x="7783284" y="3488333"/>
            <a:ext cx="4012295" cy="932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分阶段看，夏季样本中，早期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ED33D3-2D6F-E814-02BD-68921FA30E4C}"/>
              </a:ext>
            </a:extLst>
          </p:cNvPr>
          <p:cNvSpPr txBox="1"/>
          <p:nvPr/>
        </p:nvSpPr>
        <p:spPr>
          <a:xfrm>
            <a:off x="7783284" y="1421638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2F2E38-6AF4-E244-AF86-A8448DB2FE1B}"/>
              </a:ext>
            </a:extLst>
          </p:cNvPr>
          <p:cNvSpPr/>
          <p:nvPr/>
        </p:nvSpPr>
        <p:spPr>
          <a:xfrm>
            <a:off x="5152705" y="193780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22E00-73B0-380C-69EA-8C27DE1F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72" y="703385"/>
            <a:ext cx="5614431" cy="27849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6D02DB8-3EF7-7082-1F80-D4D2691D5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53" y="4144585"/>
            <a:ext cx="6078177" cy="201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8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25.6-27.4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33.8-34.4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139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BDB5FB-65B2-1720-BF7A-4CABB90A21A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28.4-30.6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32.2-32.6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7736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DFFE97-69F8-15A5-01E8-2D81D1CB417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27.2-28.9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515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1635A6-B0B7-2AC0-4B54-B03505CB0F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24.6-27.2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012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5410D-51D5-FF9D-6CFA-3A30350EDAD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30-31.1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29.9-30.9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972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A3F41C-6C85-5C0A-3601-7DEB18985F7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19.6-27.2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28.8-29.2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7533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8A4BDA-0662-1211-6D8A-00F9BCD6C73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27.6-28.9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7142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63CFF3-0488-7982-5476-25B3B382672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28.9-31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30.2-30.8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403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4ED9-F6DA-30EA-6C24-748E5D60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5474D8-8FD5-569B-42D1-7A88885BB843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A31D17-1098-AD22-AFD1-69AC58E699A5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6511819-CD66-80F5-AF5E-D523C538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FF2EDC-7A7F-B2B7-F1BF-FDC8CC034A0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7FA354-A0A7-52D7-4E28-C19116FFBAAD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0.4204063074894706,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0.034290317,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0.31648165}</a:t>
            </a:r>
          </a:p>
        </p:txBody>
      </p:sp>
    </p:spTree>
    <p:extLst>
      <p:ext uri="{BB962C8B-B14F-4D97-AF65-F5344CB8AC3E}">
        <p14:creationId xmlns:p14="http://schemas.microsoft.com/office/powerpoint/2010/main" val="9598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FAFCC-664B-9A9F-CAF7-077AD0FD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513702-9FBB-02D9-9C39-D5C18F2873BC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501CC5F-F0B8-886F-04EB-51540376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C0C52BE4-B50E-6599-D707-620FEB1E50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53" y="2145063"/>
            <a:ext cx="5482041" cy="3112495"/>
          </a:xfrm>
          <a:prstGeom prst="rect">
            <a:avLst/>
          </a:prstGeom>
        </p:spPr>
      </p:pic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4CCE4020-AC7F-7379-A2D4-F431CC6F0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688" y="2104094"/>
            <a:ext cx="5726621" cy="325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1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69B2-7A9F-F4A2-FF4F-915A4483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B1998-3658-1A4A-66A5-4B48FBF6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C08D7532-A2E7-4BDC-8670-A083503CD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3" y="1721998"/>
            <a:ext cx="6083308" cy="2053116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C1F147E1-98A1-8C4E-920D-90208087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83" y="318890"/>
            <a:ext cx="4263193" cy="506254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ED74A1-083F-E466-491D-968EC3218FE3}"/>
              </a:ext>
            </a:extLst>
          </p:cNvPr>
          <p:cNvSpPr txBox="1"/>
          <p:nvPr/>
        </p:nvSpPr>
        <p:spPr>
          <a:xfrm>
            <a:off x="1158077" y="3869544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FAF06A-8EE4-CCB2-8784-D404E0C447CC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seq_2_t3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38768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5FB86-1A8B-2607-668A-2133D38F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B0874D-8F8F-6DA7-7679-BB04F49CFC7B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7C3691-C8FE-C119-DAF2-2BF50709445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A61226A-5D5F-52AD-807A-531F9823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3FA28F-EDBD-BC2F-0F91-F3FE25CFD477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BACDD2-8ED2-B5E3-4A9F-8C5F5D76ED13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0.5964619459503626,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32.62063,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0.12778008}</a:t>
            </a:r>
          </a:p>
        </p:txBody>
      </p:sp>
    </p:spTree>
    <p:extLst>
      <p:ext uri="{BB962C8B-B14F-4D97-AF65-F5344CB8AC3E}">
        <p14:creationId xmlns:p14="http://schemas.microsoft.com/office/powerpoint/2010/main" val="241384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C4F5-A6BC-B161-391C-DCD6612A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AAC8665-9923-9ABF-6C00-0B87E8B452B6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60F504-8511-6676-1762-30949ABA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240904F-4711-DDFD-BDC2-71C0A66F9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74" y="2133475"/>
            <a:ext cx="5482041" cy="3112495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0C943367-3219-8A57-1536-10BE3CF232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37" y="2133475"/>
            <a:ext cx="5703344" cy="323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0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C3A0-834B-328C-18A5-E42C519D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1D8BD-62EA-7176-4498-87C5782D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0131CBDE-8A70-115A-D37C-405B361E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" y="1429247"/>
            <a:ext cx="5618929" cy="1896388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3BD9F8C8-AA23-5BA5-A682-BF4D559D7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294" y="527513"/>
            <a:ext cx="3873357" cy="45996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5F77517-FCC3-0114-09CC-4F3B00FC399A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D2FEEB-2023-AF02-7B4A-0CE206164E31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seq_2_t3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368902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98B-D66C-307C-CF16-EAA4ABE3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56BD75-21B4-1BB5-8F1C-8A3BA4FE42A8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EA69F4-1105-E524-154A-1FF54F756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187177"/>
              </p:ext>
            </p:extLst>
          </p:nvPr>
        </p:nvGraphicFramePr>
        <p:xfrm>
          <a:off x="1417371" y="3672707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33.8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16.3(max)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28.5(min)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17.4(max)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25.8(min)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27.8(max)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17.3(max)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CB874FC-6FDD-2911-EAA5-5B03D6E7F73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2A23E8-897F-7023-0322-B6FDFC287F5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50802FB-8FE9-517A-2C93-2340072E6686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93238AA-DCD5-D2F2-CC5F-56810527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1" y="671177"/>
            <a:ext cx="5613973" cy="277734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AF4782E-6FAA-2F6B-33F9-793AC51A077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：内温要求高，波动范围严格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：内温小幅下降，但仍维持较高水平，内外温差开始缩小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：内温下限开始增高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外温下限降低，内温出现回调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外温波动剧烈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内温出现回调，内外温差下降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前期对温度较为敏感，区间范围较窄，稳定性要求高。相较其他季节，内部温度的区间范围偏窄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1681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D7FFCA-8C26-B907-1739-8BA0B9B3D996}"/>
              </a:ext>
            </a:extLst>
          </p:cNvPr>
          <p:cNvSpPr/>
          <p:nvPr/>
        </p:nvSpPr>
        <p:spPr>
          <a:xfrm>
            <a:off x="361950" y="419050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5384FB-0425-53EC-5618-4379454981F6}"/>
              </a:ext>
            </a:extLst>
          </p:cNvPr>
          <p:cNvSpPr txBox="1"/>
          <p:nvPr/>
        </p:nvSpPr>
        <p:spPr>
          <a:xfrm>
            <a:off x="7783284" y="1421638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0F7E30-D7AB-AE03-B4AF-CD1B9461A7D8}"/>
              </a:ext>
            </a:extLst>
          </p:cNvPr>
          <p:cNvSpPr/>
          <p:nvPr/>
        </p:nvSpPr>
        <p:spPr>
          <a:xfrm>
            <a:off x="5152705" y="193780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3F0953-2A6E-CB36-81E8-9BA987CB0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84" y="921736"/>
            <a:ext cx="5084920" cy="2566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F95A12-55DB-3478-0FAF-26F0504B1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319" y="3768495"/>
            <a:ext cx="5584597" cy="18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7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8E34-C736-AC1D-4A69-37784EB5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9D30A4-FE64-1386-DE2F-FD80DF18D6B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B3F727-2999-3F53-3A3C-EA0A2687926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F6A046-A53F-6F8E-8458-22333B4CFD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7.5-8.2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33.6-33.8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2613A884-F51F-50B0-CB49-D5A29CC5F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4431"/>
            <a:ext cx="4726003" cy="240491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01BC4B6B-B93F-770C-FCBF-9DFA2F09B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3204430"/>
            <a:ext cx="4795951" cy="2404913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C96BED56-6D3B-44A6-3EC5-D60B845BEE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7" y="883578"/>
            <a:ext cx="4726003" cy="2217766"/>
          </a:xfrm>
          <a:prstGeom prst="rect">
            <a:avLst/>
          </a:prstGeom>
        </p:spPr>
      </p:pic>
      <p:pic>
        <p:nvPicPr>
          <p:cNvPr id="22" name="图片 21" descr="图表&#10;&#10;AI 生成的内容可能不正确。">
            <a:extLst>
              <a:ext uri="{FF2B5EF4-FFF2-40B4-BE49-F238E27FC236}">
                <a16:creationId xmlns:a16="http://schemas.microsoft.com/office/drawing/2014/main" id="{06311F80-5A7C-15F3-4E2A-579E68562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83577"/>
            <a:ext cx="4795950" cy="22335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1587630-4667-F723-0975-CA410A287922}"/>
              </a:ext>
            </a:extLst>
          </p:cNvPr>
          <p:cNvSpPr/>
          <p:nvPr/>
        </p:nvSpPr>
        <p:spPr>
          <a:xfrm>
            <a:off x="3184989" y="1145568"/>
            <a:ext cx="1489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ED97DA-802D-C004-50DC-14338C0463C5}"/>
              </a:ext>
            </a:extLst>
          </p:cNvPr>
          <p:cNvSpPr/>
          <p:nvPr/>
        </p:nvSpPr>
        <p:spPr>
          <a:xfrm>
            <a:off x="7746715" y="1109611"/>
            <a:ext cx="25428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521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4F0-1FED-5D30-9458-75FB8F13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F208A8A-685E-FE5E-641D-A6407178DBC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2A7D98-5E56-2CD2-2996-761D1EBDB161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8C43B-1393-1201-51D4-3B6FEB7A1BD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6EB5334-1E6E-83DB-DF38-281361B38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20949"/>
            <a:ext cx="4771001" cy="2376088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0BB0A0D1-3F50-BF5A-77E7-85F323157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76088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4A03BE13-FFD2-8579-199F-F8C024DA4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8" y="855723"/>
            <a:ext cx="4771001" cy="2249832"/>
          </a:xfrm>
          <a:prstGeom prst="rect">
            <a:avLst/>
          </a:prstGeom>
        </p:spPr>
      </p:pic>
      <p:pic>
        <p:nvPicPr>
          <p:cNvPr id="20" name="图片 19" descr="图表, 直方图&#10;&#10;AI 生成的内容可能不正确。">
            <a:extLst>
              <a:ext uri="{FF2B5EF4-FFF2-40B4-BE49-F238E27FC236}">
                <a16:creationId xmlns:a16="http://schemas.microsoft.com/office/drawing/2014/main" id="{6618ED9E-2D67-D64D-B8B2-1C5F7094CD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55722"/>
            <a:ext cx="4851354" cy="22887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69343C8-F365-5064-172D-930FAEF4B16D}"/>
              </a:ext>
            </a:extLst>
          </p:cNvPr>
          <p:cNvSpPr/>
          <p:nvPr/>
        </p:nvSpPr>
        <p:spPr>
          <a:xfrm>
            <a:off x="3324225" y="1145568"/>
            <a:ext cx="240030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6376EC-4275-1808-887D-2DDA0A940906}"/>
              </a:ext>
            </a:extLst>
          </p:cNvPr>
          <p:cNvSpPr/>
          <p:nvPr/>
        </p:nvSpPr>
        <p:spPr>
          <a:xfrm>
            <a:off x="6591301" y="1109611"/>
            <a:ext cx="107874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846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B1DE-5BB1-AFE7-9F95-291652BA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D3C1C32-F03A-C03C-E6C4-DCF32F4EAB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E533B-CDB8-F9AA-CB91-9AF847B1585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4AD0090B-FBC7-9685-25E4-8F120BE59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80724"/>
            <a:ext cx="4799040" cy="23319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F4E566F6-3188-007E-EEB6-2606BA9A7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83835"/>
            <a:ext cx="4881472" cy="2331932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6449D908-F72A-E36B-D941-20E65096A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54860"/>
            <a:ext cx="4881472" cy="2331932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86798F40-FE8F-7688-5723-62326A540B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54860"/>
            <a:ext cx="4799040" cy="23319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F95491B-0A04-8290-BCD8-A723D476EB3F}"/>
              </a:ext>
            </a:extLst>
          </p:cNvPr>
          <p:cNvSpPr/>
          <p:nvPr/>
        </p:nvSpPr>
        <p:spPr>
          <a:xfrm>
            <a:off x="4032737" y="1145568"/>
            <a:ext cx="165295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F2D223-B3A3-DAF9-3D08-70F77067A534}"/>
              </a:ext>
            </a:extLst>
          </p:cNvPr>
          <p:cNvSpPr/>
          <p:nvPr/>
        </p:nvSpPr>
        <p:spPr>
          <a:xfrm>
            <a:off x="6591301" y="1109611"/>
            <a:ext cx="116256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B4E02-F18A-4B7E-A9DE-FE3D8D3E3CC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28.5-29.4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1263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CF25-1712-4DB5-1C83-4358C1A5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809286-180F-DC15-04CE-F616CDB8F7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DD2EE3-CF3D-A112-7801-89B2CE82BF0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459FC2E-953A-12F6-F551-8EE677E28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38501"/>
            <a:ext cx="5015671" cy="2315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1C4A220F-7C60-DA0F-FA50-A4D3700C0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38501"/>
            <a:ext cx="4700844" cy="2315386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3C78D4E3-461C-6EA8-59E9-56A9FEC7A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42481"/>
            <a:ext cx="5015671" cy="2389253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33B0159-32C9-0A33-0144-F79F3901AF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6" y="842482"/>
            <a:ext cx="4700843" cy="237846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A72A759-118C-1315-27F0-69C78CA14B7E}"/>
              </a:ext>
            </a:extLst>
          </p:cNvPr>
          <p:cNvSpPr/>
          <p:nvPr/>
        </p:nvSpPr>
        <p:spPr>
          <a:xfrm>
            <a:off x="4295775" y="1145567"/>
            <a:ext cx="61912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2826CA-C22F-645B-4097-B30D537FFA0F}"/>
              </a:ext>
            </a:extLst>
          </p:cNvPr>
          <p:cNvSpPr/>
          <p:nvPr/>
        </p:nvSpPr>
        <p:spPr>
          <a:xfrm>
            <a:off x="8315325" y="1109611"/>
            <a:ext cx="276225" cy="43295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1C514A-B74B-4A09-DF5C-1DD3F4B59D1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11.4-14.3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28.6-28.8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369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0F99-E7C2-BD4A-578F-8BD3711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1B214BD-DB28-1F9C-0829-CE7DCAF8B1D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ACBF54-9B9A-DCBA-A964-3188863E8116}"/>
              </a:ext>
            </a:extLst>
          </p:cNvPr>
          <p:cNvSpPr/>
          <p:nvPr/>
        </p:nvSpPr>
        <p:spPr>
          <a:xfrm>
            <a:off x="1194220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9BC6492-91BB-26AC-136F-D598E7532A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3248024"/>
            <a:ext cx="4625574" cy="2381250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C8859644-B575-9AC6-7E88-E70598D3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48026"/>
            <a:ext cx="4985314" cy="238125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B6F83489-AD10-74F2-84F2-B5DD115936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00043"/>
            <a:ext cx="4985314" cy="2381250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A5F72D-AC6B-BDB4-2158-32FB438318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800043"/>
            <a:ext cx="4625574" cy="237148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D460334F-DA87-65AA-6307-CC20BC93E263}"/>
              </a:ext>
            </a:extLst>
          </p:cNvPr>
          <p:cNvSpPr/>
          <p:nvPr/>
        </p:nvSpPr>
        <p:spPr>
          <a:xfrm>
            <a:off x="5067299" y="1145568"/>
            <a:ext cx="6572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20913-3A63-E93C-024E-7A2290035652}"/>
              </a:ext>
            </a:extLst>
          </p:cNvPr>
          <p:cNvSpPr/>
          <p:nvPr/>
        </p:nvSpPr>
        <p:spPr>
          <a:xfrm>
            <a:off x="6591301" y="1109611"/>
            <a:ext cx="857249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9D5648-D856-BF60-C896-7B90ABBADB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25.8-26.4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025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9A2-239A-3C50-FB46-68DE11B3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B8CC7B-64F3-B6FE-B789-115DB01FB7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05899D-C930-C8BF-F03E-F1D92B3B10C7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7B9596C-ED98-9283-C7C9-A6551159D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14700"/>
            <a:ext cx="4720588" cy="2294928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29E54CAE-1F15-C30B-CA08-32604F3451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96765"/>
            <a:ext cx="4852750" cy="231457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1D6A7F71-69A3-66C7-3D06-E375D85B15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96765"/>
            <a:ext cx="4720588" cy="23145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CAA3E80-CC5E-8842-FABE-7AB54D2AB45C}"/>
              </a:ext>
            </a:extLst>
          </p:cNvPr>
          <p:cNvSpPr/>
          <p:nvPr/>
        </p:nvSpPr>
        <p:spPr>
          <a:xfrm>
            <a:off x="8905875" y="1109611"/>
            <a:ext cx="174307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5" name="图片 24" descr="图表&#10;&#10;AI 生成的内容可能不正确。">
            <a:extLst>
              <a:ext uri="{FF2B5EF4-FFF2-40B4-BE49-F238E27FC236}">
                <a16:creationId xmlns:a16="http://schemas.microsoft.com/office/drawing/2014/main" id="{4D95D73C-268A-62B2-6D7E-D651FF529E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8" y="3336637"/>
            <a:ext cx="4852750" cy="222843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F338709-0EDE-1D7B-4F10-6C24584D3F58}"/>
              </a:ext>
            </a:extLst>
          </p:cNvPr>
          <p:cNvSpPr/>
          <p:nvPr/>
        </p:nvSpPr>
        <p:spPr>
          <a:xfrm>
            <a:off x="3700849" y="1145568"/>
            <a:ext cx="20236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3EC229-D214-4C21-774E-D565FB52ABA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8.6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27.1-27.8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7342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9D45-0E50-8670-9483-17612E6C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F0F9757-287F-AE43-7B49-F341217A521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46B97-64EC-5C78-0041-9B9429F1652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496A527-BC91-2273-D0B9-27C22A626A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3220947"/>
            <a:ext cx="4596586" cy="2350164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E868D7A3-244C-8ABA-C8F8-EE71ABFCF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3220948"/>
            <a:ext cx="5065531" cy="235016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AB97E9-A9AB-F731-CF31-3D2B7408C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800125"/>
            <a:ext cx="5065531" cy="235016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37B4F400-25E6-9CBA-85A9-FE2CCB079A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800126"/>
            <a:ext cx="4596586" cy="23501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37F0C45-DDFA-B6C1-2DCE-928851334A88}"/>
              </a:ext>
            </a:extLst>
          </p:cNvPr>
          <p:cNvSpPr/>
          <p:nvPr/>
        </p:nvSpPr>
        <p:spPr>
          <a:xfrm>
            <a:off x="3514725" y="1145568"/>
            <a:ext cx="226695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564EB8-FFCD-2D62-F926-FD828DFEF61D}"/>
              </a:ext>
            </a:extLst>
          </p:cNvPr>
          <p:cNvSpPr/>
          <p:nvPr/>
        </p:nvSpPr>
        <p:spPr>
          <a:xfrm>
            <a:off x="8801100" y="1109611"/>
            <a:ext cx="781050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EA55A6-3B07-BAFB-8B8D-880BDECBC1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9.8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878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54C13-7DB0-1BEB-D4AB-681B7B2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F4D184-0B48-F6AA-E1BD-C6E780DFCB6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A2FA5-2429-35C3-1776-CF091584CAB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DD639B0F-59AD-9914-1F06-DFCE38798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3153901"/>
            <a:ext cx="4993645" cy="2440085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E2B01506-41B1-C49A-1184-DA399354EB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153900"/>
            <a:ext cx="4698756" cy="244008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84931936-0C5B-9988-116A-59208CEBC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845950"/>
            <a:ext cx="4993644" cy="222067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A7D43E62-0C89-04AA-ED11-3C067F16F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45950"/>
            <a:ext cx="4698756" cy="222067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BC90D1D-2968-57D8-1FC1-4967988B7E71}"/>
              </a:ext>
            </a:extLst>
          </p:cNvPr>
          <p:cNvSpPr/>
          <p:nvPr/>
        </p:nvSpPr>
        <p:spPr>
          <a:xfrm>
            <a:off x="3276600" y="1145568"/>
            <a:ext cx="13430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C795DE-6EDD-6825-88C6-DCB2523BA1FD}"/>
              </a:ext>
            </a:extLst>
          </p:cNvPr>
          <p:cNvSpPr/>
          <p:nvPr/>
        </p:nvSpPr>
        <p:spPr>
          <a:xfrm>
            <a:off x="9205472" y="1109611"/>
            <a:ext cx="1406178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2FD51-8644-6CDD-6CF0-B2AADB1DEB1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9.2-13.8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26.4-27.6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772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3E925E4-5239-4639-A029-07B3CFD6A3F1}">
  <ds:schemaRefs/>
</ds:datastoreItem>
</file>

<file path=customXml/itemProps3.xml><?xml version="1.0" encoding="utf-8"?>
<ds:datastoreItem xmlns:ds="http://schemas.openxmlformats.org/officeDocument/2006/customXml" ds:itemID="{E2663518-7548-4643-8219-608BFF0DFA0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5501</TotalTime>
  <Words>6579</Words>
  <Application>Microsoft Office PowerPoint</Application>
  <PresentationFormat>宽屏</PresentationFormat>
  <Paragraphs>689</Paragraphs>
  <Slides>74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8" baseType="lpstr">
      <vt:lpstr>Anova Bold</vt:lpstr>
      <vt:lpstr>Anova Light</vt:lpstr>
      <vt:lpstr>DeepSeek-CJK-patch</vt:lpstr>
      <vt:lpstr>Inter</vt:lpstr>
      <vt:lpstr>quote-cjk-patch</vt:lpstr>
      <vt:lpstr>等线</vt:lpstr>
      <vt:lpstr>等线</vt:lpstr>
      <vt:lpstr>等线 Light</vt:lpstr>
      <vt:lpstr>Arial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Transformer With Fixed Token 模型简介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冬天-死淘-模型效果</vt:lpstr>
      <vt:lpstr>冬天-死淘- Grad-CAM 图</vt:lpstr>
      <vt:lpstr>冬天-死淘- Shap</vt:lpstr>
      <vt:lpstr>冬天-EEF-模型效果</vt:lpstr>
      <vt:lpstr>冬天-EEF- Grad-CAM 图</vt:lpstr>
      <vt:lpstr>冬天-EEF-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秋天-死淘-模型效果</vt:lpstr>
      <vt:lpstr>秋天-死淘- Grad-CAM 图</vt:lpstr>
      <vt:lpstr>秋天-死淘- Shap</vt:lpstr>
      <vt:lpstr>秋天-EEF-模型效果</vt:lpstr>
      <vt:lpstr>秋天-EEF- Grad-CAM 图</vt:lpstr>
      <vt:lpstr>秋天-EEF-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夏天-死淘-模型效果</vt:lpstr>
      <vt:lpstr>夏天-死淘- Grad-CAM 图</vt:lpstr>
      <vt:lpstr>夏天-死淘- Shap</vt:lpstr>
      <vt:lpstr>夏天-EEF-模型效果</vt:lpstr>
      <vt:lpstr>夏天-EEF- Grad-CAM 图</vt:lpstr>
      <vt:lpstr>夏天-EEF-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春天-死淘-模型效果</vt:lpstr>
      <vt:lpstr>春天-死淘- Grad-CAM 图</vt:lpstr>
      <vt:lpstr>春天-死淘- Shap</vt:lpstr>
      <vt:lpstr>春天-EEF-模型效果</vt:lpstr>
      <vt:lpstr>春天-EEF- Grad-CAM 图</vt:lpstr>
      <vt:lpstr>春天-EEF-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242</cp:revision>
  <dcterms:created xsi:type="dcterms:W3CDTF">2023-10-08T03:09:00Z</dcterms:created>
  <dcterms:modified xsi:type="dcterms:W3CDTF">2025-05-30T10:00:46Z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