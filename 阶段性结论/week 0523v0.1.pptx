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0" r:id="rId5"/>
  </p:sldMasterIdLst>
  <p:notesMasterIdLst>
    <p:notesMasterId r:id="rId30"/>
  </p:notesMasterIdLst>
  <p:handoutMasterIdLst>
    <p:handoutMasterId r:id="rId31"/>
  </p:handoutMasterIdLst>
  <p:sldIdLst>
    <p:sldId id="16771194" r:id="rId6"/>
    <p:sldId id="16771204" r:id="rId7"/>
    <p:sldId id="2147477425" r:id="rId8"/>
    <p:sldId id="2147477458" r:id="rId9"/>
    <p:sldId id="2147477468" r:id="rId10"/>
    <p:sldId id="2147477469" r:id="rId11"/>
    <p:sldId id="2147477470" r:id="rId12"/>
    <p:sldId id="2147477472" r:id="rId13"/>
    <p:sldId id="2147477471" r:id="rId14"/>
    <p:sldId id="2147477473" r:id="rId15"/>
    <p:sldId id="2147477476" r:id="rId16"/>
    <p:sldId id="2147477474" r:id="rId17"/>
    <p:sldId id="2147477475" r:id="rId18"/>
    <p:sldId id="2147477477" r:id="rId19"/>
    <p:sldId id="2147477481" r:id="rId20"/>
    <p:sldId id="2147477478" r:id="rId21"/>
    <p:sldId id="2147477479" r:id="rId22"/>
    <p:sldId id="2147477480" r:id="rId23"/>
    <p:sldId id="2147477482" r:id="rId24"/>
    <p:sldId id="2147477484" r:id="rId25"/>
    <p:sldId id="2147477485" r:id="rId26"/>
    <p:sldId id="2147477486" r:id="rId27"/>
    <p:sldId id="2147477487" r:id="rId28"/>
    <p:sldId id="2147477430" r:id="rId29"/>
  </p:sldIdLst>
  <p:sldSz cx="12192000" cy="6858000"/>
  <p:notesSz cx="6858000" cy="9144000"/>
  <p:custDataLst>
    <p:tags r:id="rId32"/>
  </p:custDataLst>
  <p:defaultTextStyle>
    <a:defPPr>
      <a:defRPr lang="en-US"/>
    </a:defPPr>
    <a:lvl1pPr marL="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9C3829F-2C56-4915-AA34-5F93EE359221}">
          <p14:sldIdLst>
            <p14:sldId id="16771194"/>
            <p14:sldId id="16771204"/>
            <p14:sldId id="2147477425"/>
          </p14:sldIdLst>
        </p14:section>
        <p14:section name="数据" id="{2FECDC8B-DE91-4323-AA2B-D801C56C963D}">
          <p14:sldIdLst>
            <p14:sldId id="2147477458"/>
          </p14:sldIdLst>
        </p14:section>
        <p14:section name="死淘" id="{132B593A-E1D9-4DD8-8D75-8389B5773F71}">
          <p14:sldIdLst>
            <p14:sldId id="2147477468"/>
            <p14:sldId id="2147477469"/>
            <p14:sldId id="2147477470"/>
            <p14:sldId id="2147477472"/>
            <p14:sldId id="2147477471"/>
            <p14:sldId id="2147477473"/>
            <p14:sldId id="2147477476"/>
            <p14:sldId id="2147477474"/>
            <p14:sldId id="2147477475"/>
            <p14:sldId id="2147477477"/>
            <p14:sldId id="2147477481"/>
            <p14:sldId id="2147477478"/>
            <p14:sldId id="2147477479"/>
            <p14:sldId id="2147477480"/>
            <p14:sldId id="2147477482"/>
            <p14:sldId id="2147477484"/>
            <p14:sldId id="2147477485"/>
            <p14:sldId id="2147477486"/>
            <p14:sldId id="2147477487"/>
          </p14:sldIdLst>
        </p14:section>
        <p14:section name="eef" id="{0CBA3FCE-B567-4F49-936C-7A69C0064915}">
          <p14:sldIdLst/>
        </p14:section>
        <p14:section name="下周计划" id="{AAB4484A-A58E-4FF9-9CE2-A3928016DD34}">
          <p14:sldIdLst>
            <p14:sldId id="214747743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03" userDrawn="1">
          <p15:clr>
            <a:srgbClr val="A4A3A4"/>
          </p15:clr>
        </p15:guide>
        <p15:guide id="2" pos="254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FFFFFF"/>
    <a:srgbClr val="F1F2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92" autoAdjust="0"/>
    <p:restoredTop sz="93438" autoAdjust="0"/>
  </p:normalViewPr>
  <p:slideViewPr>
    <p:cSldViewPr snapToGrid="0" showGuides="1">
      <p:cViewPr varScale="1">
        <p:scale>
          <a:sx n="81" d="100"/>
          <a:sy n="81" d="100"/>
        </p:scale>
        <p:origin x="605" y="68"/>
      </p:cViewPr>
      <p:guideLst>
        <p:guide orient="horz" pos="2103"/>
        <p:guide pos="254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3134" y="8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gs" Target="tags/tag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CE34E3-7E5C-436A-9E6D-2FFC8FFCFCBF}" type="datetimeFigureOut">
              <a:rPr lang="en-US" smtClean="0">
                <a:latin typeface="Anova Light" panose="020B0403020203020204" pitchFamily="34" charset="0"/>
              </a:rPr>
              <a:t>5/22/2025</a:t>
            </a:fld>
            <a:endParaRPr lang="en-US" dirty="0">
              <a:latin typeface="Anova Light" panose="020B0403020203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0" y="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l"/>
            <a:fld id="{C4EF46A2-9381-4C51-8277-3C7F2938E9F9}" type="slidenum">
              <a:rPr lang="en-US" smtClean="0">
                <a:latin typeface="Anova Light" panose="020B0403020203020204" pitchFamily="34" charset="0"/>
              </a:rPr>
              <a:t>‹#›</a:t>
            </a:fld>
            <a:endParaRPr lang="en-US" dirty="0">
              <a:latin typeface="Anova Light" panose="020B04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solidFill>
                  <a:schemeClr val="tx1"/>
                </a:solidFill>
                <a:latin typeface="Anova Light" panose="020B0403020203020204" pitchFamily="34" charset="0"/>
              </a:defRPr>
            </a:lvl1pPr>
          </a:lstStyle>
          <a:p>
            <a:fld id="{D46682E9-A1D3-F04F-A14F-ABAA4D2618F2}" type="datetimeFigureOut">
              <a:rPr lang="en-US" smtClean="0"/>
              <a:t>5/22/2025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Box 4"/>
          <p:cNvSpPr txBox="1"/>
          <p:nvPr/>
        </p:nvSpPr>
        <p:spPr>
          <a:xfrm>
            <a:off x="685800" y="8879554"/>
            <a:ext cx="2514600" cy="169277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27432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00" b="0" i="0" u="none" strike="noStrike" kern="300" cap="none" spc="50" normalizeH="0" baseline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solidFill>
                  <a:schemeClr val="tx1"/>
                </a:solidFill>
                <a:latin typeface="Anova Light" panose="020B0403020203020204" pitchFamily="34" charset="0"/>
              </a:defRPr>
            </a:lvl1pPr>
          </a:lstStyle>
          <a:p>
            <a:pPr algn="l"/>
            <a:fld id="{C4EF46A2-9381-4C51-8277-3C7F2938E9F9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5992336" y="8788172"/>
            <a:ext cx="627951" cy="260659"/>
          </a:xfrm>
          <a:prstGeom prst="rect">
            <a:avLst/>
          </a:prstGeom>
        </p:spPr>
      </p:pic>
      <p:sp>
        <p:nvSpPr>
          <p:cNvPr id="6" name="TextBox 2"/>
          <p:cNvSpPr txBox="1"/>
          <p:nvPr/>
        </p:nvSpPr>
        <p:spPr>
          <a:xfrm>
            <a:off x="2493335" y="8732520"/>
            <a:ext cx="1871330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182880"/>
            <a:r>
              <a:rPr lang="en-US" sz="800" dirty="0">
                <a:solidFill>
                  <a:schemeClr val="tx1"/>
                </a:solidFill>
                <a:latin typeface="Anova Light" panose="020B0403020203020204" pitchFamily="34" charset="0"/>
              </a:rPr>
              <a:t>sas.com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2286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1600" b="0" i="0" kern="1200">
        <a:solidFill>
          <a:schemeClr val="tx1"/>
        </a:solidFill>
        <a:latin typeface="+mn-lt"/>
        <a:ea typeface="+mn-ea"/>
        <a:cs typeface="+mn-cs"/>
      </a:defRPr>
    </a:lvl1pPr>
    <a:lvl2pPr marL="8382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–"/>
      <a:defRPr sz="1335" b="0" i="0" kern="1200">
        <a:solidFill>
          <a:schemeClr val="tx1"/>
        </a:solidFill>
        <a:latin typeface="+mn-lt"/>
        <a:ea typeface="+mn-ea"/>
        <a:cs typeface="+mn-cs"/>
      </a:defRPr>
    </a:lvl2pPr>
    <a:lvl3pPr marL="14478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20574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–"/>
      <a:defRPr sz="1065" b="0" i="0" kern="1200">
        <a:solidFill>
          <a:schemeClr val="tx1"/>
        </a:solidFill>
        <a:latin typeface="+mn-lt"/>
        <a:ea typeface="+mn-ea"/>
        <a:cs typeface="+mn-cs"/>
      </a:defRPr>
    </a:lvl4pPr>
    <a:lvl5pPr marL="26670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935" b="0" i="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4" y="1890117"/>
            <a:ext cx="10518846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4" y="2813447"/>
            <a:ext cx="10518846" cy="615553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accent3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Slideshow Subtitle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Presenter Info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Secti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505670"/>
            <a:ext cx="8082481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3561836"/>
            <a:ext cx="8082481" cy="615553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bg1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Section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S - Title &amp;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57676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/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838199" y="1600201"/>
            <a:ext cx="5161231" cy="4576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1"/>
          </p:nvPr>
        </p:nvSpPr>
        <p:spPr>
          <a:xfrm>
            <a:off x="6192571" y="1600201"/>
            <a:ext cx="5161232" cy="4576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 Only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2911937"/>
            <a:ext cx="2952184" cy="103412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&amp; Subtitl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947330"/>
            <a:ext cx="3336233" cy="36625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834955" y="2768821"/>
            <a:ext cx="3334512" cy="1034386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/>
            </a:lvl1pPr>
          </a:lstStyle>
          <a:p>
            <a:pPr marL="0"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967336"/>
            <a:ext cx="8708755" cy="923330"/>
          </a:xfrm>
          <a:prstGeom prst="rect">
            <a:avLst/>
          </a:prstGeom>
        </p:spPr>
        <p:txBody>
          <a:bodyPr vert="horz" wrap="square" lIns="0" tIns="0" rIns="0" bIns="182880" rtlCol="0" anchor="ctr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Closing</a:t>
            </a:r>
          </a:p>
        </p:txBody>
      </p:sp>
      <p:sp>
        <p:nvSpPr>
          <p:cNvPr id="2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a website or email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SAS - 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S - Video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2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42533" y="5517984"/>
            <a:ext cx="1711268" cy="705016"/>
          </a:xfrm>
          <a:prstGeom prst="rect">
            <a:avLst/>
          </a:prstGeom>
        </p:spPr>
      </p:pic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1890117"/>
            <a:ext cx="10521696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2813447"/>
            <a:ext cx="10521696" cy="615553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accent3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Slideshow Subtitle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Presenter Info</a:t>
            </a:r>
          </a:p>
        </p:txBody>
      </p:sp>
      <p:sp>
        <p:nvSpPr>
          <p:cNvPr id="2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Secti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505670"/>
            <a:ext cx="8082481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3561836"/>
            <a:ext cx="8082481" cy="615553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bg1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Section Subtitle</a:t>
            </a:r>
          </a:p>
        </p:txBody>
      </p:sp>
      <p:sp>
        <p:nvSpPr>
          <p:cNvPr id="2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3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S - 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/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accent1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838199" y="1600200"/>
            <a:ext cx="5161231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1"/>
          </p:nvPr>
        </p:nvSpPr>
        <p:spPr>
          <a:xfrm>
            <a:off x="6192571" y="1600200"/>
            <a:ext cx="5161232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Only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2911937"/>
            <a:ext cx="2952184" cy="103412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&amp; Subtitl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947330"/>
            <a:ext cx="3336233" cy="36625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834955" y="2768821"/>
            <a:ext cx="3334512" cy="1034386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/>
            </a:lvl1pPr>
          </a:lstStyle>
          <a:p>
            <a:pPr marL="0"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967336"/>
            <a:ext cx="8708755" cy="923330"/>
          </a:xfrm>
          <a:prstGeom prst="rect">
            <a:avLst/>
          </a:prstGeom>
        </p:spPr>
        <p:txBody>
          <a:bodyPr vert="horz" wrap="square" lIns="0" tIns="0" rIns="0" bIns="182880" rtlCol="0" anchor="ctr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Closing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42533" y="5517984"/>
            <a:ext cx="1711268" cy="705016"/>
          </a:xfrm>
          <a:prstGeom prst="rect">
            <a:avLst/>
          </a:prstGeom>
        </p:spPr>
      </p:pic>
      <p:sp>
        <p:nvSpPr>
          <p:cNvPr id="2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a website or email</a:t>
            </a:r>
          </a:p>
        </p:txBody>
      </p:sp>
      <p:sp>
        <p:nvSpPr>
          <p:cNvPr id="3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AS - 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S - Video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3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sv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5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4955" y="1600200"/>
            <a:ext cx="10515600" cy="457676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4955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Add Slide Title</a:t>
            </a:r>
          </a:p>
        </p:txBody>
      </p:sp>
      <p:pic>
        <p:nvPicPr>
          <p:cNvPr id="5" name="Picture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242570" y="4400550"/>
            <a:ext cx="4064000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endParaRPr lang="zh-CN" altLang="en-US" dirty="0">
              <a:solidFill>
                <a:schemeClr val="tx1"/>
              </a:solidFill>
            </a:endParaRPr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735" b="1" i="0" kern="1200">
          <a:solidFill>
            <a:schemeClr val="accent5"/>
          </a:solidFill>
          <a:latin typeface="Anova Bold" panose="020B0703020203020204" pitchFamily="34" charset="0"/>
          <a:ea typeface="+mj-ea"/>
          <a:cs typeface="+mj-cs"/>
        </a:defRPr>
      </a:lvl1pPr>
    </p:titleStyle>
    <p:bodyStyle>
      <a:lvl1pPr marL="24384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8768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–"/>
        <a:defRPr sz="1865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0984752" y="6096000"/>
            <a:ext cx="1207248" cy="76200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6096000"/>
            <a:ext cx="10984752" cy="762001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4955" y="1600200"/>
            <a:ext cx="10515600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4955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Add Slide Title</a:t>
            </a:r>
          </a:p>
        </p:txBody>
      </p:sp>
      <p:sp>
        <p:nvSpPr>
          <p:cNvPr id="8" name="TextBox 4"/>
          <p:cNvSpPr txBox="1"/>
          <p:nvPr userDrawn="1"/>
        </p:nvSpPr>
        <p:spPr>
          <a:xfrm>
            <a:off x="834955" y="6180007"/>
            <a:ext cx="5725995" cy="420564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135" b="1" i="0" u="none" strike="noStrike" kern="300" cap="none" spc="67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nova Bold" panose="020B07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CONFIDENTIAL — DO NOT DISCLOSE</a:t>
            </a:r>
          </a:p>
        </p:txBody>
      </p:sp>
      <p:sp>
        <p:nvSpPr>
          <p:cNvPr id="10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4" name="Picture 6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735" b="1" i="0" kern="1200">
          <a:solidFill>
            <a:schemeClr val="accent5"/>
          </a:solidFill>
          <a:latin typeface="Anova Bold" panose="020B0703020203020204" pitchFamily="34" charset="0"/>
          <a:ea typeface="+mj-ea"/>
          <a:cs typeface="+mj-cs"/>
        </a:defRPr>
      </a:lvl1pPr>
    </p:titleStyle>
    <p:bodyStyle>
      <a:lvl1pPr marL="24384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8768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–"/>
        <a:defRPr sz="1865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45419" y="1213071"/>
            <a:ext cx="10518846" cy="2400657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数智驱动的肉鸡养殖根因分析实施方案</a:t>
            </a:r>
            <a:b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b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第四周成果汇报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834955" y="4308945"/>
            <a:ext cx="8082481" cy="705015"/>
          </a:xfrm>
        </p:spPr>
        <p:txBody>
          <a:bodyPr/>
          <a:lstStyle/>
          <a:p>
            <a:r>
              <a:rPr lang="en-US" altLang="zh-CN" dirty="0"/>
              <a:t>2025.05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组合 87"/>
          <p:cNvGrpSpPr/>
          <p:nvPr/>
        </p:nvGrpSpPr>
        <p:grpSpPr>
          <a:xfrm>
            <a:off x="2689795" y="1304579"/>
            <a:ext cx="9182857" cy="5080787"/>
            <a:chOff x="2689795" y="1304579"/>
            <a:chExt cx="9182857" cy="5080787"/>
          </a:xfrm>
        </p:grpSpPr>
        <p:cxnSp>
          <p:nvCxnSpPr>
            <p:cNvPr id="50" name="直接连接符 49"/>
            <p:cNvCxnSpPr/>
            <p:nvPr/>
          </p:nvCxnSpPr>
          <p:spPr>
            <a:xfrm>
              <a:off x="2689795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58" name="直接连接符 57"/>
            <p:cNvCxnSpPr/>
            <p:nvPr/>
          </p:nvCxnSpPr>
          <p:spPr>
            <a:xfrm>
              <a:off x="5215019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59" name="直接连接符 58"/>
            <p:cNvCxnSpPr/>
            <p:nvPr/>
          </p:nvCxnSpPr>
          <p:spPr>
            <a:xfrm>
              <a:off x="6477631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60" name="直接连接符 59"/>
            <p:cNvCxnSpPr/>
            <p:nvPr/>
          </p:nvCxnSpPr>
          <p:spPr>
            <a:xfrm>
              <a:off x="10265467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68" name="直接连接符 67"/>
            <p:cNvCxnSpPr/>
            <p:nvPr/>
          </p:nvCxnSpPr>
          <p:spPr>
            <a:xfrm>
              <a:off x="9002855" y="1442480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77" name="直接连接符 76"/>
            <p:cNvCxnSpPr/>
            <p:nvPr/>
          </p:nvCxnSpPr>
          <p:spPr>
            <a:xfrm>
              <a:off x="3952407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83" name="直接连接符 82"/>
            <p:cNvCxnSpPr/>
            <p:nvPr/>
          </p:nvCxnSpPr>
          <p:spPr>
            <a:xfrm>
              <a:off x="11528078" y="1304579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pic>
          <p:nvPicPr>
            <p:cNvPr id="84" name="图形 83" descr="鲤鱼旗 纯色填充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497028" y="1404375"/>
              <a:ext cx="375624" cy="360000"/>
            </a:xfrm>
            <a:prstGeom prst="rect">
              <a:avLst/>
            </a:prstGeom>
          </p:spPr>
        </p:pic>
        <p:cxnSp>
          <p:nvCxnSpPr>
            <p:cNvPr id="87" name="直接连接符 86"/>
            <p:cNvCxnSpPr/>
            <p:nvPr/>
          </p:nvCxnSpPr>
          <p:spPr>
            <a:xfrm>
              <a:off x="7740243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</p:grpSp>
      <p:cxnSp>
        <p:nvCxnSpPr>
          <p:cNvPr id="49" name="直接连接符 48"/>
          <p:cNvCxnSpPr/>
          <p:nvPr/>
        </p:nvCxnSpPr>
        <p:spPr>
          <a:xfrm>
            <a:off x="11526134" y="1453366"/>
            <a:ext cx="0" cy="493200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65000"/>
              </a:srgbClr>
            </a:solidFill>
            <a:prstDash val="lgDash"/>
            <a:miter lim="800000"/>
          </a:ln>
          <a:effectLst/>
        </p:spPr>
      </p:cxnSp>
      <p:sp>
        <p:nvSpPr>
          <p:cNvPr id="2" name="标题 1"/>
          <p:cNvSpPr txBox="1"/>
          <p:nvPr/>
        </p:nvSpPr>
        <p:spPr>
          <a:xfrm>
            <a:off x="552010" y="27333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基于前期沟通，制定了详细合理的工作实施计划，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PoC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预计整体周期为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7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周，具体实施过程中采用多任务同步推进，串行和并行相结合的方式进行，有效推进项目快速落地</a:t>
            </a:r>
          </a:p>
        </p:txBody>
      </p:sp>
      <p:sp>
        <p:nvSpPr>
          <p:cNvPr id="6" name="Freeform 60"/>
          <p:cNvSpPr/>
          <p:nvPr/>
        </p:nvSpPr>
        <p:spPr bwMode="auto">
          <a:xfrm>
            <a:off x="1358471" y="1349215"/>
            <a:ext cx="10363180" cy="73919"/>
          </a:xfrm>
          <a:custGeom>
            <a:avLst/>
            <a:gdLst>
              <a:gd name="T0" fmla="*/ 0 w 4490"/>
              <a:gd name="T1" fmla="*/ 2147483647 h 91"/>
              <a:gd name="T2" fmla="*/ 0 w 4490"/>
              <a:gd name="T3" fmla="*/ 0 h 91"/>
              <a:gd name="T4" fmla="*/ 2147483647 w 4490"/>
              <a:gd name="T5" fmla="*/ 0 h 91"/>
              <a:gd name="T6" fmla="*/ 2147483647 w 4490"/>
              <a:gd name="T7" fmla="*/ 2147483647 h 91"/>
              <a:gd name="T8" fmla="*/ 0 60000 65536"/>
              <a:gd name="T9" fmla="*/ 0 60000 65536"/>
              <a:gd name="T10" fmla="*/ 0 60000 65536"/>
              <a:gd name="T11" fmla="*/ 0 60000 65536"/>
              <a:gd name="T12" fmla="*/ 0 w 4490"/>
              <a:gd name="T13" fmla="*/ 0 h 91"/>
              <a:gd name="T14" fmla="*/ 4490 w 4490"/>
              <a:gd name="T15" fmla="*/ 91 h 9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490" h="91">
                <a:moveTo>
                  <a:pt x="0" y="91"/>
                </a:moveTo>
                <a:lnTo>
                  <a:pt x="0" y="0"/>
                </a:lnTo>
                <a:lnTo>
                  <a:pt x="4490" y="0"/>
                </a:lnTo>
                <a:lnTo>
                  <a:pt x="4490" y="91"/>
                </a:lnTo>
              </a:path>
            </a:pathLst>
          </a:custGeom>
          <a:noFill/>
          <a:ln w="6350">
            <a:solidFill>
              <a:srgbClr val="BBBCBC"/>
            </a:solidFill>
            <a:round/>
          </a:ln>
        </p:spPr>
        <p:txBody>
          <a:bodyPr wrap="none" lIns="0" tIns="0" rIns="0" bIns="0" anchor="ctr"/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65" b="0" i="0" u="none" strike="noStrike" kern="1200" cap="none" spc="0" normalizeH="0" baseline="0" noProof="0" dirty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685505" y="1442480"/>
            <a:ext cx="619678" cy="749660"/>
            <a:chOff x="427051" y="1660594"/>
            <a:chExt cx="593903" cy="749660"/>
          </a:xfrm>
        </p:grpSpPr>
        <p:sp>
          <p:nvSpPr>
            <p:cNvPr id="32" name="矩形 31"/>
            <p:cNvSpPr/>
            <p:nvPr/>
          </p:nvSpPr>
          <p:spPr>
            <a:xfrm>
              <a:off x="520023" y="1660594"/>
              <a:ext cx="500931" cy="7496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前期准备</a:t>
              </a:r>
            </a:p>
          </p:txBody>
        </p:sp>
        <p:sp>
          <p:nvSpPr>
            <p:cNvPr id="33" name="Oval 20"/>
            <p:cNvSpPr/>
            <p:nvPr/>
          </p:nvSpPr>
          <p:spPr bwMode="gray">
            <a:xfrm>
              <a:off x="427051" y="1943984"/>
              <a:ext cx="182880" cy="182880"/>
            </a:xfrm>
            <a:prstGeom prst="ellipse">
              <a:avLst/>
            </a:prstGeom>
            <a:solidFill>
              <a:schemeClr val="tx1"/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680726" y="2284224"/>
            <a:ext cx="616963" cy="3575538"/>
            <a:chOff x="446496" y="2370258"/>
            <a:chExt cx="591301" cy="3575538"/>
          </a:xfrm>
        </p:grpSpPr>
        <p:sp>
          <p:nvSpPr>
            <p:cNvPr id="35" name="矩形 34"/>
            <p:cNvSpPr/>
            <p:nvPr/>
          </p:nvSpPr>
          <p:spPr>
            <a:xfrm>
              <a:off x="528856" y="2370258"/>
              <a:ext cx="508941" cy="35755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lang="zh-CN" altLang="en-US" sz="1100" b="1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主体实施</a:t>
              </a:r>
              <a:endPara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" name="Oval 20"/>
            <p:cNvSpPr/>
            <p:nvPr/>
          </p:nvSpPr>
          <p:spPr bwMode="gray">
            <a:xfrm>
              <a:off x="446496" y="3822520"/>
              <a:ext cx="182880" cy="182880"/>
            </a:xfrm>
            <a:prstGeom prst="ellipse">
              <a:avLst/>
            </a:prstGeom>
            <a:solidFill>
              <a:schemeClr val="tx1"/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687104" y="5910770"/>
            <a:ext cx="618080" cy="453681"/>
            <a:chOff x="406210" y="5558612"/>
            <a:chExt cx="592371" cy="453681"/>
          </a:xfrm>
        </p:grpSpPr>
        <p:sp>
          <p:nvSpPr>
            <p:cNvPr id="38" name="矩形 37"/>
            <p:cNvSpPr/>
            <p:nvPr/>
          </p:nvSpPr>
          <p:spPr>
            <a:xfrm>
              <a:off x="485637" y="5558612"/>
              <a:ext cx="512944" cy="4536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lang="zh-CN" altLang="en-US" sz="1100" b="1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分析交付</a:t>
              </a:r>
              <a:endPara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" name="Oval 20"/>
            <p:cNvSpPr/>
            <p:nvPr/>
          </p:nvSpPr>
          <p:spPr bwMode="gray">
            <a:xfrm>
              <a:off x="406210" y="5710478"/>
              <a:ext cx="182880" cy="182880"/>
            </a:xfrm>
            <a:prstGeom prst="ellipse">
              <a:avLst/>
            </a:prstGeom>
            <a:solidFill>
              <a:schemeClr val="tx1"/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3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0" name="矩形 39"/>
          <p:cNvSpPr/>
          <p:nvPr/>
        </p:nvSpPr>
        <p:spPr bwMode="gray">
          <a:xfrm>
            <a:off x="1358471" y="1442481"/>
            <a:ext cx="10363182" cy="750507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1203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环境和数据准备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12036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1" name="AutoShape 95"/>
          <p:cNvSpPr>
            <a:spLocks noChangeArrowheads="1"/>
          </p:cNvSpPr>
          <p:nvPr/>
        </p:nvSpPr>
        <p:spPr bwMode="auto">
          <a:xfrm>
            <a:off x="343949" y="1442480"/>
            <a:ext cx="264859" cy="4921972"/>
          </a:xfrm>
          <a:prstGeom prst="rect">
            <a:avLst/>
          </a:prstGeom>
          <a:pattFill prst="dkDnDiag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lIns="0" tIns="88900" rIns="0" bIns="88900" anchor="ctr"/>
          <a:lstStyle>
            <a:lvl1pPr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083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1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时间计划安排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4" name="矩形 43"/>
          <p:cNvSpPr/>
          <p:nvPr/>
        </p:nvSpPr>
        <p:spPr bwMode="gray">
          <a:xfrm>
            <a:off x="1358469" y="2284223"/>
            <a:ext cx="10363182" cy="1512401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数据质量检查</a:t>
            </a:r>
          </a:p>
        </p:txBody>
      </p:sp>
      <p:sp>
        <p:nvSpPr>
          <p:cNvPr id="45" name="矩形 44"/>
          <p:cNvSpPr/>
          <p:nvPr/>
        </p:nvSpPr>
        <p:spPr bwMode="gray">
          <a:xfrm>
            <a:off x="1358469" y="5912872"/>
            <a:ext cx="10363182" cy="453681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defTabSz="914400"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成果分析和报表交付</a:t>
            </a:r>
            <a:endParaRPr lang="en-US" altLang="zh-CN" sz="1000" b="1" dirty="0">
              <a:solidFill>
                <a:srgbClr val="012036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4774317" y="980093"/>
            <a:ext cx="848804" cy="442535"/>
            <a:chOff x="3224585" y="980599"/>
            <a:chExt cx="848804" cy="442535"/>
          </a:xfrm>
        </p:grpSpPr>
        <p:sp>
          <p:nvSpPr>
            <p:cNvPr id="5" name="Text Box 49"/>
            <p:cNvSpPr txBox="1">
              <a:spLocks noChangeArrowheads="1"/>
            </p:cNvSpPr>
            <p:nvPr/>
          </p:nvSpPr>
          <p:spPr bwMode="auto">
            <a:xfrm>
              <a:off x="3224585" y="980599"/>
              <a:ext cx="848804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400" b="1" dirty="0">
                  <a:solidFill>
                    <a:srgbClr val="53565A"/>
                  </a:solidFill>
                  <a:latin typeface="Calibri" panose="020F0502020204030204"/>
                  <a:ea typeface="MS PGothic" panose="020B0600070205080204" charset="-128"/>
                </a:rPr>
                <a:t>W2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7" name="Oval 61"/>
            <p:cNvSpPr>
              <a:spLocks noChangeArrowheads="1"/>
            </p:cNvSpPr>
            <p:nvPr/>
          </p:nvSpPr>
          <p:spPr bwMode="auto">
            <a:xfrm>
              <a:off x="3567418" y="1274544"/>
              <a:ext cx="163142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036054" y="980093"/>
            <a:ext cx="848804" cy="442535"/>
            <a:chOff x="2362212" y="980599"/>
            <a:chExt cx="773093" cy="442535"/>
          </a:xfrm>
        </p:grpSpPr>
        <p:sp>
          <p:nvSpPr>
            <p:cNvPr id="9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W3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7297791" y="980093"/>
            <a:ext cx="848804" cy="442535"/>
            <a:chOff x="2362212" y="980599"/>
            <a:chExt cx="773093" cy="442535"/>
          </a:xfrm>
        </p:grpSpPr>
        <p:sp>
          <p:nvSpPr>
            <p:cNvPr id="12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W4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8559528" y="980093"/>
            <a:ext cx="848804" cy="442535"/>
            <a:chOff x="2362212" y="980599"/>
            <a:chExt cx="773093" cy="442535"/>
          </a:xfrm>
        </p:grpSpPr>
        <p:sp>
          <p:nvSpPr>
            <p:cNvPr id="15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W5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1083005" y="980093"/>
            <a:ext cx="848804" cy="442535"/>
            <a:chOff x="2362212" y="980599"/>
            <a:chExt cx="773093" cy="442535"/>
          </a:xfrm>
        </p:grpSpPr>
        <p:sp>
          <p:nvSpPr>
            <p:cNvPr id="18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W7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2293002" y="981073"/>
            <a:ext cx="806645" cy="440575"/>
            <a:chOff x="1890330" y="982705"/>
            <a:chExt cx="806645" cy="440575"/>
          </a:xfrm>
        </p:grpSpPr>
        <p:sp>
          <p:nvSpPr>
            <p:cNvPr id="46" name="Text Box 49"/>
            <p:cNvSpPr txBox="1">
              <a:spLocks noChangeArrowheads="1"/>
            </p:cNvSpPr>
            <p:nvPr/>
          </p:nvSpPr>
          <p:spPr bwMode="auto">
            <a:xfrm>
              <a:off x="1890330" y="982705"/>
              <a:ext cx="806645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400" b="1" dirty="0">
                  <a:solidFill>
                    <a:srgbClr val="53565A"/>
                  </a:solidFill>
                  <a:latin typeface="Calibri" panose="020F0502020204030204"/>
                  <a:ea typeface="MS PGothic" panose="020B0600070205080204" charset="-128"/>
                </a:rPr>
                <a:t>W0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43" name="Oval 61"/>
            <p:cNvSpPr>
              <a:spLocks noChangeArrowheads="1"/>
            </p:cNvSpPr>
            <p:nvPr/>
          </p:nvSpPr>
          <p:spPr bwMode="auto">
            <a:xfrm>
              <a:off x="2216133" y="1274690"/>
              <a:ext cx="163142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1" name="矩形 50"/>
          <p:cNvSpPr/>
          <p:nvPr/>
        </p:nvSpPr>
        <p:spPr>
          <a:xfrm>
            <a:off x="2708293" y="2353974"/>
            <a:ext cx="1226315" cy="25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3" name="矩形 22"/>
          <p:cNvSpPr/>
          <p:nvPr/>
        </p:nvSpPr>
        <p:spPr>
          <a:xfrm>
            <a:off x="2695012" y="1577056"/>
            <a:ext cx="1255450" cy="1644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6" name="矩形 25"/>
          <p:cNvSpPr/>
          <p:nvPr/>
        </p:nvSpPr>
        <p:spPr>
          <a:xfrm>
            <a:off x="3985506" y="2565788"/>
            <a:ext cx="1226316" cy="253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7" name="矩形 26"/>
          <p:cNvSpPr/>
          <p:nvPr/>
        </p:nvSpPr>
        <p:spPr>
          <a:xfrm>
            <a:off x="3990303" y="3224220"/>
            <a:ext cx="1216722" cy="253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8" name="矩形 27"/>
          <p:cNvSpPr/>
          <p:nvPr/>
        </p:nvSpPr>
        <p:spPr>
          <a:xfrm>
            <a:off x="5243656" y="3919366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9" name="矩形 28"/>
          <p:cNvSpPr/>
          <p:nvPr/>
        </p:nvSpPr>
        <p:spPr>
          <a:xfrm>
            <a:off x="5243656" y="4378978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30" name="矩形 29"/>
          <p:cNvSpPr/>
          <p:nvPr/>
        </p:nvSpPr>
        <p:spPr>
          <a:xfrm>
            <a:off x="6506738" y="4912799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2638643" y="2597966"/>
            <a:ext cx="147543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2.1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环控数据和生产数据盘点</a:t>
            </a:r>
          </a:p>
        </p:txBody>
      </p:sp>
      <p:sp>
        <p:nvSpPr>
          <p:cNvPr id="53" name="矩形 52"/>
          <p:cNvSpPr/>
          <p:nvPr/>
        </p:nvSpPr>
        <p:spPr>
          <a:xfrm>
            <a:off x="10297042" y="5927268"/>
            <a:ext cx="1349027" cy="2539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10095058" y="6152892"/>
            <a:ext cx="175299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5.1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报告交付和现场汇报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3968224" y="2832674"/>
            <a:ext cx="227509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2.2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数据完整性、准确性、有效性、一致性、时效性检验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3968224" y="3420745"/>
            <a:ext cx="127552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2.3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数据缺失率、极值、异常值检查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5243656" y="4154744"/>
            <a:ext cx="121679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3.1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变量分布分析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5171820" y="4603222"/>
            <a:ext cx="25075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3.2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变量趋势分析及异常模式探查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6425581" y="5130637"/>
            <a:ext cx="1777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4.1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自变量间相关性探查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2636350" y="1938224"/>
            <a:ext cx="177372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1.2 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分析环境搭建</a:t>
            </a:r>
          </a:p>
        </p:txBody>
      </p:sp>
      <p:sp>
        <p:nvSpPr>
          <p:cNvPr id="22" name="矩形 21"/>
          <p:cNvSpPr/>
          <p:nvPr/>
        </p:nvSpPr>
        <p:spPr bwMode="gray">
          <a:xfrm>
            <a:off x="1358469" y="3840667"/>
            <a:ext cx="10363182" cy="969279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现状分析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3512580" y="980093"/>
            <a:ext cx="848804" cy="442535"/>
            <a:chOff x="3224585" y="980599"/>
            <a:chExt cx="848804" cy="442535"/>
          </a:xfrm>
        </p:grpSpPr>
        <p:sp>
          <p:nvSpPr>
            <p:cNvPr id="42" name="Text Box 49"/>
            <p:cNvSpPr txBox="1">
              <a:spLocks noChangeArrowheads="1"/>
            </p:cNvSpPr>
            <p:nvPr/>
          </p:nvSpPr>
          <p:spPr bwMode="auto">
            <a:xfrm>
              <a:off x="3224585" y="980599"/>
              <a:ext cx="848804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400" b="1" dirty="0">
                  <a:solidFill>
                    <a:srgbClr val="53565A"/>
                  </a:solidFill>
                  <a:latin typeface="Calibri" panose="020F0502020204030204"/>
                  <a:ea typeface="MS PGothic" panose="020B0600070205080204" charset="-128"/>
                </a:rPr>
                <a:t>W1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47" name="Oval 61"/>
            <p:cNvSpPr>
              <a:spLocks noChangeArrowheads="1"/>
            </p:cNvSpPr>
            <p:nvPr/>
          </p:nvSpPr>
          <p:spPr bwMode="auto">
            <a:xfrm>
              <a:off x="3567418" y="1274544"/>
              <a:ext cx="163142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821265" y="980093"/>
            <a:ext cx="848804" cy="442535"/>
            <a:chOff x="2362212" y="980599"/>
            <a:chExt cx="773093" cy="442535"/>
          </a:xfrm>
        </p:grpSpPr>
        <p:sp>
          <p:nvSpPr>
            <p:cNvPr id="85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W6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sp>
        <p:nvSpPr>
          <p:cNvPr id="89" name="文本框 88"/>
          <p:cNvSpPr txBox="1"/>
          <p:nvPr/>
        </p:nvSpPr>
        <p:spPr>
          <a:xfrm>
            <a:off x="2636350" y="1735802"/>
            <a:ext cx="157103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1.1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需求确认及数据准备</a:t>
            </a:r>
          </a:p>
        </p:txBody>
      </p:sp>
      <p:sp>
        <p:nvSpPr>
          <p:cNvPr id="90" name="矩形 89"/>
          <p:cNvSpPr/>
          <p:nvPr/>
        </p:nvSpPr>
        <p:spPr>
          <a:xfrm>
            <a:off x="5243734" y="3293787"/>
            <a:ext cx="1216722" cy="253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91" name="文本框 90"/>
          <p:cNvSpPr txBox="1"/>
          <p:nvPr/>
        </p:nvSpPr>
        <p:spPr>
          <a:xfrm>
            <a:off x="5202998" y="3549910"/>
            <a:ext cx="146401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2.4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数据质量检查报告</a:t>
            </a:r>
          </a:p>
        </p:txBody>
      </p:sp>
      <p:sp>
        <p:nvSpPr>
          <p:cNvPr id="92" name="矩形 91"/>
          <p:cNvSpPr/>
          <p:nvPr/>
        </p:nvSpPr>
        <p:spPr bwMode="gray">
          <a:xfrm>
            <a:off x="1358469" y="4890483"/>
            <a:ext cx="10363182" cy="969279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效应分析</a:t>
            </a:r>
          </a:p>
        </p:txBody>
      </p:sp>
      <p:sp>
        <p:nvSpPr>
          <p:cNvPr id="93" name="矩形 92"/>
          <p:cNvSpPr/>
          <p:nvPr/>
        </p:nvSpPr>
        <p:spPr>
          <a:xfrm>
            <a:off x="6508510" y="5365777"/>
            <a:ext cx="2447835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94" name="文本框 93"/>
          <p:cNvSpPr txBox="1"/>
          <p:nvPr/>
        </p:nvSpPr>
        <p:spPr>
          <a:xfrm>
            <a:off x="6425581" y="5583615"/>
            <a:ext cx="2718419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4.2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自变量与目标变量之间影响效应分析</a:t>
            </a:r>
            <a:endParaRPr lang="zh-CN" altLang="en-US" sz="1050" i="1" dirty="0">
              <a:highlight>
                <a:srgbClr val="F1F2F4"/>
              </a:highligh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9036391" y="5367174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96" name="文本框 95"/>
          <p:cNvSpPr txBox="1"/>
          <p:nvPr/>
        </p:nvSpPr>
        <p:spPr>
          <a:xfrm>
            <a:off x="8955234" y="5585012"/>
            <a:ext cx="1777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4.3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影响效应分析结果解读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3CEBF6-F5D3-BC53-F5FD-4A16ECA9A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226" y="957768"/>
            <a:ext cx="8082481" cy="861774"/>
          </a:xfrm>
        </p:spPr>
        <p:txBody>
          <a:bodyPr/>
          <a:lstStyle/>
          <a:p>
            <a:r>
              <a:rPr lang="zh-CN" altLang="en-US" sz="4400" dirty="0">
                <a:latin typeface="等线" panose="02010600030101010101" pitchFamily="2" charset="-122"/>
                <a:ea typeface="等线" panose="02010600030101010101" pitchFamily="2" charset="-122"/>
              </a:rPr>
              <a:t>目录</a:t>
            </a:r>
            <a:endParaRPr lang="en-US" sz="4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4D02FC-AB0A-E09A-CFCB-79E270DFCF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2226" y="2105025"/>
            <a:ext cx="10628249" cy="3638550"/>
          </a:xfrm>
        </p:spPr>
        <p:txBody>
          <a:bodyPr/>
          <a:lstStyle/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数据清洗与整合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死淘相关分析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相关分析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下周计划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10086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4BEA8-C0F7-9E9C-952C-C282FB797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ED749DB9-B7AF-D595-8D22-56A20501B2F7}"/>
              </a:ext>
            </a:extLst>
          </p:cNvPr>
          <p:cNvSpPr txBox="1"/>
          <p:nvPr/>
        </p:nvSpPr>
        <p:spPr>
          <a:xfrm>
            <a:off x="339052" y="280917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环控数据清洗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 Light" panose="02010600030101010101" pitchFamily="2" charset="-122"/>
              <a:ea typeface="等线 Light" panose="02010600030101010101" pitchFamily="2" charset="-122"/>
              <a:cs typeface="+mj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27BB076-22CB-2B3F-8D04-4366DC5ADEE2}"/>
              </a:ext>
            </a:extLst>
          </p:cNvPr>
          <p:cNvSpPr txBox="1"/>
          <p:nvPr/>
        </p:nvSpPr>
        <p:spPr>
          <a:xfrm>
            <a:off x="1242279" y="1394239"/>
            <a:ext cx="8733393" cy="605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lnSpc>
                <a:spcPts val="1308"/>
              </a:lnSpc>
              <a:buFont typeface="+mj-lt"/>
              <a:buAutoNum type="arabicPeriod"/>
            </a:pPr>
            <a:r>
              <a:rPr lang="zh-CN" altLang="en-US" sz="1400" b="0" i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缺失值处理。取日龄</a:t>
            </a:r>
            <a:r>
              <a:rPr lang="en-US" altLang="zh-CN" sz="1400" b="0" i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0-25</a:t>
            </a:r>
            <a:r>
              <a:rPr lang="zh-CN" altLang="en-US" sz="1400" b="0" i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天的数据，去除日龄缺失超过一半的样本，并以同一农场日龄下的平均值进行缺失值的补充。最终样本量由</a:t>
            </a:r>
            <a:r>
              <a:rPr lang="en-US" altLang="zh-CN" sz="1400" b="0" i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1257</a:t>
            </a:r>
            <a:r>
              <a:rPr lang="zh-CN" altLang="en-US" sz="1400" b="0" i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降至</a:t>
            </a:r>
            <a:r>
              <a:rPr lang="en-US" altLang="zh-CN" sz="1400" b="0" i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989</a:t>
            </a:r>
            <a:r>
              <a:rPr lang="zh-CN" altLang="en-US" sz="1400" b="0" i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。日龄维度的样本数量为</a:t>
            </a:r>
            <a:r>
              <a:rPr lang="en-US" altLang="zh-CN" sz="1400" b="0" i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21953</a:t>
            </a:r>
            <a:r>
              <a:rPr lang="zh-CN" altLang="en-US" sz="1400" b="0" i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 </a:t>
            </a:r>
          </a:p>
          <a:p>
            <a:pPr algn="just" rtl="0" fontAlgn="base">
              <a:lnSpc>
                <a:spcPts val="1308"/>
              </a:lnSpc>
              <a:buFont typeface="+mj-lt"/>
              <a:buAutoNum type="arabicPeriod" startAt="2"/>
            </a:pPr>
            <a:r>
              <a:rPr lang="zh-CN" altLang="en-US" sz="1400" b="0" i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日报数据读取</a:t>
            </a:r>
            <a:endParaRPr lang="zh-CN" altLang="en-US" sz="1400" b="0" i="0" dirty="0">
              <a:solidFill>
                <a:srgbClr val="000000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6F330B4-1284-20EE-5956-5529C0DDABD9}"/>
              </a:ext>
            </a:extLst>
          </p:cNvPr>
          <p:cNvSpPr txBox="1"/>
          <p:nvPr/>
        </p:nvSpPr>
        <p:spPr>
          <a:xfrm>
            <a:off x="2047875" y="2710488"/>
            <a:ext cx="609600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Winter</a:t>
            </a:r>
            <a:r>
              <a:rPr lang="zh-CN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分位数</a:t>
            </a: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: 0.1223</a:t>
            </a:r>
            <a:endParaRPr lang="zh-CN" altLang="zh-CN" sz="1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Winter</a:t>
            </a:r>
            <a:r>
              <a:rPr lang="zh-CN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数据量</a:t>
            </a: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: 404, </a:t>
            </a:r>
            <a:r>
              <a:rPr lang="zh-CN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正样本比例</a:t>
            </a: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: 20.05%</a:t>
            </a:r>
            <a:endParaRPr lang="zh-CN" altLang="zh-CN" sz="1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Spring</a:t>
            </a:r>
            <a:r>
              <a:rPr lang="zh-CN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分位数</a:t>
            </a: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: 0.1394</a:t>
            </a:r>
            <a:endParaRPr lang="zh-CN" altLang="zh-CN" sz="1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Spring</a:t>
            </a:r>
            <a:r>
              <a:rPr lang="zh-CN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数据量</a:t>
            </a: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: 135, </a:t>
            </a:r>
            <a:r>
              <a:rPr lang="zh-CN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正样本比例</a:t>
            </a: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: 20.00%</a:t>
            </a:r>
            <a:endParaRPr lang="zh-CN" altLang="zh-CN" sz="1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Summer</a:t>
            </a:r>
            <a:r>
              <a:rPr lang="zh-CN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分位数</a:t>
            </a: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: 0.0441</a:t>
            </a:r>
            <a:endParaRPr lang="zh-CN" altLang="zh-CN" sz="1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Summer</a:t>
            </a:r>
            <a:r>
              <a:rPr lang="zh-CN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数据量</a:t>
            </a: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: 178, </a:t>
            </a:r>
            <a:r>
              <a:rPr lang="zh-CN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正样本比例</a:t>
            </a: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: 20.22%</a:t>
            </a:r>
            <a:endParaRPr lang="zh-CN" altLang="zh-CN" sz="1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Autumn</a:t>
            </a:r>
            <a:r>
              <a:rPr lang="zh-CN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分位数</a:t>
            </a: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: 0.0643</a:t>
            </a:r>
            <a:endParaRPr lang="zh-CN" altLang="zh-CN" sz="1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Autumn</a:t>
            </a:r>
            <a:r>
              <a:rPr lang="zh-CN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数据量</a:t>
            </a: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: 272, </a:t>
            </a:r>
            <a:r>
              <a:rPr lang="zh-CN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正样本比例</a:t>
            </a: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: 20.22%</a:t>
            </a:r>
            <a:endParaRPr lang="zh-CN" altLang="zh-CN" sz="1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zh-CN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总样本分布</a:t>
            </a: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9     163</a:t>
            </a:r>
            <a:endParaRPr lang="zh-CN" altLang="zh-CN" sz="1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12    148</a:t>
            </a:r>
            <a:endParaRPr lang="zh-CN" altLang="zh-CN" sz="1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10    142</a:t>
            </a:r>
            <a:endParaRPr lang="zh-CN" altLang="zh-CN" sz="1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3     135</a:t>
            </a:r>
            <a:endParaRPr lang="zh-CN" altLang="zh-CN" sz="1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11    130</a:t>
            </a:r>
            <a:endParaRPr lang="zh-CN" altLang="zh-CN" sz="1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1     128</a:t>
            </a:r>
            <a:endParaRPr lang="zh-CN" altLang="zh-CN" sz="1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2     128</a:t>
            </a:r>
            <a:endParaRPr lang="zh-CN" altLang="zh-CN" sz="1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8      15</a:t>
            </a:r>
            <a:endParaRPr lang="zh-CN" altLang="zh-CN" sz="1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485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70202-4BF3-2015-5A6F-CAB28DC72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53B57754-EB67-1543-424E-A82158D49A87}"/>
              </a:ext>
            </a:extLst>
          </p:cNvPr>
          <p:cNvSpPr/>
          <p:nvPr/>
        </p:nvSpPr>
        <p:spPr>
          <a:xfrm>
            <a:off x="0" y="591378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56B1447B-612E-1B24-99A2-C7B20808815B}"/>
              </a:ext>
            </a:extLst>
          </p:cNvPr>
          <p:cNvSpPr txBox="1"/>
          <p:nvPr/>
        </p:nvSpPr>
        <p:spPr>
          <a:xfrm>
            <a:off x="313885" y="31758"/>
            <a:ext cx="3277040" cy="6281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8661442-02AE-9CD8-3722-18762DD36811}"/>
              </a:ext>
            </a:extLst>
          </p:cNvPr>
          <p:cNvSpPr txBox="1"/>
          <p:nvPr/>
        </p:nvSpPr>
        <p:spPr>
          <a:xfrm>
            <a:off x="551901" y="559215"/>
            <a:ext cx="7249074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固定变量和温度数据对死淘率是否存在影响？</a:t>
            </a: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06F084B5-E5D8-7921-5966-51D0BD86121D}"/>
              </a:ext>
            </a:extLst>
          </p:cNvPr>
          <p:cNvSpPr txBox="1"/>
          <p:nvPr/>
        </p:nvSpPr>
        <p:spPr>
          <a:xfrm>
            <a:off x="98783" y="-301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4BAB5ED-040B-2760-028B-2BA21E40D7FD}"/>
              </a:ext>
            </a:extLst>
          </p:cNvPr>
          <p:cNvSpPr/>
          <p:nvPr/>
        </p:nvSpPr>
        <p:spPr>
          <a:xfrm>
            <a:off x="492981" y="1249209"/>
            <a:ext cx="564032" cy="786613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B946470-2696-18D4-1DAD-3271D445C987}"/>
              </a:ext>
            </a:extLst>
          </p:cNvPr>
          <p:cNvSpPr/>
          <p:nvPr/>
        </p:nvSpPr>
        <p:spPr>
          <a:xfrm>
            <a:off x="492981" y="1249209"/>
            <a:ext cx="11060104" cy="78661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FDAE2BB4-3695-0CF0-068B-EB844D1A5295}"/>
              </a:ext>
            </a:extLst>
          </p:cNvPr>
          <p:cNvSpPr txBox="1"/>
          <p:nvPr/>
        </p:nvSpPr>
        <p:spPr>
          <a:xfrm>
            <a:off x="1057013" y="1339235"/>
            <a:ext cx="10642006" cy="690076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以每日龄的死淘率为目标变量，探索温度和饮水相关因素，包括当天温度，前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天温度，前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天温度等指标和指标变化对死淘率的影响。取全量样本的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80%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分位数划分高低死淘。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4E5F8C5-C6C6-0747-2AB2-6BCAFD4E3744}"/>
              </a:ext>
            </a:extLst>
          </p:cNvPr>
          <p:cNvSpPr txBox="1"/>
          <p:nvPr/>
        </p:nvSpPr>
        <p:spPr>
          <a:xfrm>
            <a:off x="4943475" y="3374884"/>
            <a:ext cx="660961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['</a:t>
            </a:r>
            <a:r>
              <a:rPr lang="en-US" altLang="zh-CN" sz="14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Lowest_Temn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_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前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天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', 'Water_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前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天变化百分比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', 'Feed_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前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天变化百分比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', '</a:t>
            </a:r>
            <a:r>
              <a:rPr lang="en-US" altLang="zh-CN" sz="14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Lowest_Temn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_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前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天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', 'Water', '</a:t>
            </a:r>
            <a:r>
              <a:rPr lang="en-US" altLang="zh-CN" sz="14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Lowest_Temn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_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前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天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', '</a:t>
            </a:r>
            <a:r>
              <a:rPr lang="en-US" altLang="zh-CN" sz="14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Highest_Temp_Outside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_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前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天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', '</a:t>
            </a:r>
            <a:r>
              <a:rPr lang="en-US" altLang="zh-CN" sz="14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Highest_Temn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_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前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天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', '</a:t>
            </a:r>
            <a:r>
              <a:rPr lang="en-US" altLang="zh-CN" sz="14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Highest_humidity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_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前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天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', '</a:t>
            </a:r>
            <a:r>
              <a:rPr lang="en-US" altLang="zh-CN" sz="14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Lowest_Temp_Outside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_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前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天变化百分比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', '</a:t>
            </a:r>
            <a:r>
              <a:rPr lang="en-US" altLang="zh-CN" sz="14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Lowest_Temn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_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前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天变化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', '</a:t>
            </a:r>
            <a:r>
              <a:rPr lang="en-US" altLang="zh-CN" sz="14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Highest_Temn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_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前</a:t>
            </a:r>
          </a:p>
          <a:p>
            <a:pPr algn="just">
              <a:buNone/>
            </a:pP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天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', '</a:t>
            </a:r>
            <a:r>
              <a:rPr lang="en-US" altLang="zh-CN" sz="14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Lowest_Temp_Outside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_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前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天变化百分比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', '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每日温差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', '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平均温度变化率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_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前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天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', '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最高温度变化率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_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前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天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', '</a:t>
            </a:r>
            <a:r>
              <a:rPr lang="en-US" altLang="zh-CN" sz="14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Highest_Temp_Outside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_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前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天变化百分</a:t>
            </a:r>
          </a:p>
          <a:p>
            <a:pPr algn="just">
              <a:buNone/>
            </a:pP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比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', '</a:t>
            </a:r>
            <a:r>
              <a:rPr lang="en-US" altLang="zh-CN" sz="14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Highest_Temn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_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前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天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', 'Water_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前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天变化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', 'Water_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前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天变化</a:t>
            </a:r>
            <a:r>
              <a:rPr lang="en-US" altLang="zh-CN" sz="1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']</a:t>
            </a:r>
            <a:endParaRPr lang="zh-CN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A1AECA7-4270-1C27-7862-49D73E476744}"/>
              </a:ext>
            </a:extLst>
          </p:cNvPr>
          <p:cNvSpPr txBox="1"/>
          <p:nvPr/>
        </p:nvSpPr>
        <p:spPr>
          <a:xfrm>
            <a:off x="1127582" y="2399579"/>
            <a:ext cx="355743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1200" dirty="0"/>
          </a:p>
          <a:p>
            <a:r>
              <a:rPr lang="zh-CN" altLang="en-US" sz="1200" dirty="0"/>
              <a:t>=== 测试集评估 ===</a:t>
            </a:r>
          </a:p>
          <a:p>
            <a:r>
              <a:rPr lang="zh-CN" altLang="en-US" sz="1200" dirty="0"/>
              <a:t>AUC Score: 0.7613720313059216</a:t>
            </a:r>
          </a:p>
          <a:p>
            <a:r>
              <a:rPr lang="zh-CN" altLang="en-US" sz="1200" dirty="0"/>
              <a:t>Balanced Accuracy: 0.6673229250373092</a:t>
            </a:r>
          </a:p>
          <a:p>
            <a:r>
              <a:rPr lang="zh-CN" altLang="en-US" sz="1200" dirty="0"/>
              <a:t>F1-Score: 0.46774193548387094</a:t>
            </a:r>
          </a:p>
          <a:p>
            <a:r>
              <a:rPr lang="zh-CN" altLang="en-US" sz="1200" dirty="0"/>
              <a:t>MCC: 0.3346458500746183</a:t>
            </a:r>
          </a:p>
          <a:p>
            <a:r>
              <a:rPr lang="zh-CN" altLang="en-US" sz="1200" dirty="0"/>
              <a:t>Confusion Matrix:</a:t>
            </a:r>
          </a:p>
          <a:p>
            <a:r>
              <a:rPr lang="zh-CN" altLang="en-US" sz="1200" dirty="0"/>
              <a:t> [[3654  561]</a:t>
            </a:r>
          </a:p>
          <a:p>
            <a:r>
              <a:rPr lang="zh-CN" altLang="en-US" sz="1200" dirty="0"/>
              <a:t> [ 561  493]]</a:t>
            </a:r>
          </a:p>
          <a:p>
            <a:endParaRPr lang="zh-CN" altLang="en-US" sz="1200" dirty="0"/>
          </a:p>
          <a:p>
            <a:r>
              <a:rPr lang="zh-CN" altLang="en-US" sz="1200" dirty="0"/>
              <a:t>=== 跨期验证集评估 ===</a:t>
            </a:r>
          </a:p>
          <a:p>
            <a:r>
              <a:rPr lang="zh-CN" altLang="en-US" sz="1200" dirty="0"/>
              <a:t>Validation AUC Score: 0.7658718965741953</a:t>
            </a:r>
          </a:p>
          <a:p>
            <a:r>
              <a:rPr lang="zh-CN" altLang="en-US" sz="1200" dirty="0"/>
              <a:t>Validation Balanced Accuracy: 0.662603334053081</a:t>
            </a:r>
          </a:p>
          <a:p>
            <a:r>
              <a:rPr lang="zh-CN" altLang="en-US" sz="1200" dirty="0"/>
              <a:t>Validation F1-Score: 0.46153846153846156</a:t>
            </a:r>
          </a:p>
          <a:p>
            <a:r>
              <a:rPr lang="zh-CN" altLang="en-US" sz="1200" dirty="0"/>
              <a:t>Validation MCC: 0.33099860365190187</a:t>
            </a:r>
          </a:p>
          <a:p>
            <a:r>
              <a:rPr lang="zh-CN" altLang="en-US" sz="1200" dirty="0"/>
              <a:t>Validation Confusion Matrix:</a:t>
            </a:r>
          </a:p>
          <a:p>
            <a:r>
              <a:rPr lang="zh-CN" altLang="en-US" sz="1200" dirty="0"/>
              <a:t> [[3071  442]</a:t>
            </a:r>
          </a:p>
          <a:p>
            <a:r>
              <a:rPr lang="zh-CN" altLang="en-US" sz="1200" dirty="0"/>
              <a:t> [ 482  396]]</a:t>
            </a:r>
          </a:p>
        </p:txBody>
      </p:sp>
    </p:spTree>
    <p:extLst>
      <p:ext uri="{BB962C8B-B14F-4D97-AF65-F5344CB8AC3E}">
        <p14:creationId xmlns:p14="http://schemas.microsoft.com/office/powerpoint/2010/main" val="1407160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1CD9E0D2-EDD7-7D83-AC65-A323B41782D6}"/>
              </a:ext>
            </a:extLst>
          </p:cNvPr>
          <p:cNvSpPr/>
          <p:nvPr/>
        </p:nvSpPr>
        <p:spPr>
          <a:xfrm>
            <a:off x="0" y="591378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813EE228-3BCB-2648-AFE4-D96619F40809}"/>
              </a:ext>
            </a:extLst>
          </p:cNvPr>
          <p:cNvSpPr txBox="1"/>
          <p:nvPr/>
        </p:nvSpPr>
        <p:spPr>
          <a:xfrm>
            <a:off x="551901" y="559215"/>
            <a:ext cx="7249074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固定变量和温度数据对死淘率是否存在影响？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C2C9EB-B2AE-523A-8DEF-B1091515A6B0}"/>
              </a:ext>
            </a:extLst>
          </p:cNvPr>
          <p:cNvSpPr/>
          <p:nvPr/>
        </p:nvSpPr>
        <p:spPr>
          <a:xfrm>
            <a:off x="492981" y="1249209"/>
            <a:ext cx="564032" cy="786613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685B7AB-2E0A-074C-2FF4-04B4ACE13E09}"/>
              </a:ext>
            </a:extLst>
          </p:cNvPr>
          <p:cNvSpPr/>
          <p:nvPr/>
        </p:nvSpPr>
        <p:spPr>
          <a:xfrm>
            <a:off x="492981" y="1249209"/>
            <a:ext cx="11060104" cy="78661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1205CB38-DF29-4D7F-E1FD-FC7D98629388}"/>
              </a:ext>
            </a:extLst>
          </p:cNvPr>
          <p:cNvSpPr txBox="1"/>
          <p:nvPr/>
        </p:nvSpPr>
        <p:spPr>
          <a:xfrm>
            <a:off x="1057013" y="1339235"/>
            <a:ext cx="10642006" cy="690076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以每日龄的死淘率为目标变量，探索温度和饮水相关因素，包括当天温度，前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天温度，前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天温度等指标和指标变化对死淘率的影响。取全量样本的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80%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分位数划分高低死淘。</a:t>
            </a:r>
          </a:p>
        </p:txBody>
      </p:sp>
      <p:pic>
        <p:nvPicPr>
          <p:cNvPr id="11" name="图片 10" descr="图表, 条形图&#10;&#10;AI 生成的内容可能不正确。">
            <a:extLst>
              <a:ext uri="{FF2B5EF4-FFF2-40B4-BE49-F238E27FC236}">
                <a16:creationId xmlns:a16="http://schemas.microsoft.com/office/drawing/2014/main" id="{C73BBCFB-A754-0EAC-3D9B-F45F9D234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51" y="2581275"/>
            <a:ext cx="6039400" cy="3141128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EE5877AB-2816-828F-538D-0F5E0B665706}"/>
              </a:ext>
            </a:extLst>
          </p:cNvPr>
          <p:cNvSpPr txBox="1"/>
          <p:nvPr/>
        </p:nvSpPr>
        <p:spPr>
          <a:xfrm>
            <a:off x="6746274" y="3204615"/>
            <a:ext cx="572195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=== </a:t>
            </a:r>
            <a:r>
              <a:rPr lang="zh-CN" altLang="en-US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变量</a:t>
            </a: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: Water_</a:t>
            </a:r>
            <a:r>
              <a:rPr lang="zh-CN" altLang="en-US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前</a:t>
            </a: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天变化百分比 </a:t>
            </a: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===</a:t>
            </a: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        Bin  Count  </a:t>
            </a:r>
            <a:r>
              <a:rPr lang="en-US" altLang="zh-CN" sz="12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Count</a:t>
            </a: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(%)  Event rate  </a:t>
            </a:r>
            <a:r>
              <a:rPr lang="en-US" altLang="zh-CN" sz="12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Mortality_rate</a:t>
            </a:r>
            <a:endParaRPr lang="en-US" altLang="zh-CN" sz="1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     (-inf, 49.10)   2660   0.121168    0.139474        0.001029</a:t>
            </a: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    [49.10, 61.89)   1711   0.077939    0.144360        0.000988</a:t>
            </a: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   [61.89, 140.00)   8413   0.383228    0.176631        0.001066</a:t>
            </a: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  [140.00, 164.34)   1299   0.059172    0.187067        0.001540</a:t>
            </a: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4     [164.34, inf)   1680   0.076527    0.480357        0.004008</a:t>
            </a:r>
          </a:p>
        </p:txBody>
      </p:sp>
    </p:spTree>
    <p:extLst>
      <p:ext uri="{BB962C8B-B14F-4D97-AF65-F5344CB8AC3E}">
        <p14:creationId xmlns:p14="http://schemas.microsoft.com/office/powerpoint/2010/main" val="681365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51DB4-A04D-06BE-920D-E31569375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0551EFBC-A4DC-C05B-D0FD-7F6F01BC3118}"/>
              </a:ext>
            </a:extLst>
          </p:cNvPr>
          <p:cNvSpPr/>
          <p:nvPr/>
        </p:nvSpPr>
        <p:spPr>
          <a:xfrm>
            <a:off x="0" y="591378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4EFB70F6-F394-F162-37BF-AD7590481754}"/>
              </a:ext>
            </a:extLst>
          </p:cNvPr>
          <p:cNvSpPr txBox="1"/>
          <p:nvPr/>
        </p:nvSpPr>
        <p:spPr>
          <a:xfrm>
            <a:off x="551901" y="559215"/>
            <a:ext cx="7249074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固定变量和温度数据对死淘率是否存在影响？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2A28962-99C9-9D99-7D04-45285218A4FF}"/>
              </a:ext>
            </a:extLst>
          </p:cNvPr>
          <p:cNvSpPr/>
          <p:nvPr/>
        </p:nvSpPr>
        <p:spPr>
          <a:xfrm>
            <a:off x="492981" y="1249209"/>
            <a:ext cx="564032" cy="786613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AE50B49-4213-7823-10C6-3204A7693B11}"/>
              </a:ext>
            </a:extLst>
          </p:cNvPr>
          <p:cNvSpPr/>
          <p:nvPr/>
        </p:nvSpPr>
        <p:spPr>
          <a:xfrm>
            <a:off x="492981" y="1249209"/>
            <a:ext cx="11060104" cy="78661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4E11B337-AA7D-FC18-E19A-F24AB76A27D0}"/>
              </a:ext>
            </a:extLst>
          </p:cNvPr>
          <p:cNvSpPr txBox="1"/>
          <p:nvPr/>
        </p:nvSpPr>
        <p:spPr>
          <a:xfrm>
            <a:off x="1057013" y="1339235"/>
            <a:ext cx="10642006" cy="690076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以每日龄的死淘率为目标变量，探索温度和饮水相关因素，包括当天温度，前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天温度，前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天温度等指标和指标变化对死淘率的影响。取全量样本的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80%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分位数划分高低死淘。</a:t>
            </a:r>
          </a:p>
        </p:txBody>
      </p:sp>
      <p:pic>
        <p:nvPicPr>
          <p:cNvPr id="7" name="图片 6" descr="图表, 条形图&#10;&#10;AI 生成的内容可能不正确。">
            <a:extLst>
              <a:ext uri="{FF2B5EF4-FFF2-40B4-BE49-F238E27FC236}">
                <a16:creationId xmlns:a16="http://schemas.microsoft.com/office/drawing/2014/main" id="{045D1631-2C59-5CC6-3BA6-816027EDA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47" y="2683827"/>
            <a:ext cx="5693637" cy="292496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893D85D-F747-AD1B-38DA-8CF5051146D8}"/>
              </a:ext>
            </a:extLst>
          </p:cNvPr>
          <p:cNvSpPr txBox="1"/>
          <p:nvPr/>
        </p:nvSpPr>
        <p:spPr>
          <a:xfrm>
            <a:off x="5915024" y="3269146"/>
            <a:ext cx="62095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Bin  Count  </a:t>
            </a:r>
            <a:r>
              <a:rPr lang="en-US" altLang="zh-CN" sz="12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Count</a:t>
            </a: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(%)  Event rate  </a:t>
            </a:r>
            <a:r>
              <a:rPr lang="en-US" altLang="zh-CN" sz="12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Mortality_rate</a:t>
            </a:r>
            <a:endParaRPr lang="en-US" altLang="zh-CN" sz="1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     (-inf, 49.10)   2665   0.121396    0.139212        0.001029</a:t>
            </a: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    [49.10, 60.32)   1500   0.068328    0.142667        0.000990</a:t>
            </a: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   [60.32, 140.12)   8624   0.392839    0.176020        0.001064</a:t>
            </a: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  [140.12, 164.43)   1297   0.059081    0.188897        0.001548</a:t>
            </a: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4     [164.43, inf)   1675   0.076299    0.480000        0.004002</a:t>
            </a:r>
          </a:p>
        </p:txBody>
      </p:sp>
    </p:spTree>
    <p:extLst>
      <p:ext uri="{BB962C8B-B14F-4D97-AF65-F5344CB8AC3E}">
        <p14:creationId xmlns:p14="http://schemas.microsoft.com/office/powerpoint/2010/main" val="3702344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B963D-3099-D913-8A0F-614B1FDED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690911AE-9960-55E1-B9E2-16153570B463}"/>
              </a:ext>
            </a:extLst>
          </p:cNvPr>
          <p:cNvSpPr/>
          <p:nvPr/>
        </p:nvSpPr>
        <p:spPr>
          <a:xfrm>
            <a:off x="0" y="591378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51A0C4CF-5BF8-FD7A-5953-6F5C891CC01D}"/>
              </a:ext>
            </a:extLst>
          </p:cNvPr>
          <p:cNvSpPr txBox="1"/>
          <p:nvPr/>
        </p:nvSpPr>
        <p:spPr>
          <a:xfrm>
            <a:off x="551901" y="559215"/>
            <a:ext cx="7249074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固定变量和温度数据对死淘率是否存在影响？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6EB38F-CBD3-C2A4-4647-AEF9CA38D518}"/>
              </a:ext>
            </a:extLst>
          </p:cNvPr>
          <p:cNvSpPr/>
          <p:nvPr/>
        </p:nvSpPr>
        <p:spPr>
          <a:xfrm>
            <a:off x="492981" y="1249209"/>
            <a:ext cx="564032" cy="786613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5249CA7-560F-474B-7E93-3A4CC1B40E0E}"/>
              </a:ext>
            </a:extLst>
          </p:cNvPr>
          <p:cNvSpPr/>
          <p:nvPr/>
        </p:nvSpPr>
        <p:spPr>
          <a:xfrm>
            <a:off x="492981" y="1249209"/>
            <a:ext cx="11060104" cy="78661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595DAA8B-14A8-668E-29AE-6B3D51C0C2C8}"/>
              </a:ext>
            </a:extLst>
          </p:cNvPr>
          <p:cNvSpPr txBox="1"/>
          <p:nvPr/>
        </p:nvSpPr>
        <p:spPr>
          <a:xfrm>
            <a:off x="1057013" y="1339235"/>
            <a:ext cx="10642006" cy="690076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以每日龄的死淘率为目标变量，探索温度和饮水相关因素，包括当天温度，前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天温度，前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天温度等指标和指标变化对死淘率的影响。取全量样本的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80%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分位数划分高低死淘。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4728E1F-002F-CA54-636F-93A1E4093158}"/>
              </a:ext>
            </a:extLst>
          </p:cNvPr>
          <p:cNvSpPr txBox="1"/>
          <p:nvPr/>
        </p:nvSpPr>
        <p:spPr>
          <a:xfrm>
            <a:off x="5915024" y="3269146"/>
            <a:ext cx="620956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Bin  Count  </a:t>
            </a:r>
            <a:r>
              <a:rPr lang="en-US" altLang="zh-CN" sz="12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Count</a:t>
            </a: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(%)  Event rate  </a:t>
            </a:r>
            <a:r>
              <a:rPr lang="en-US" altLang="zh-CN" sz="12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Mortality_rate</a:t>
            </a:r>
            <a:endParaRPr lang="en-US" altLang="zh-CN" sz="1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     (-inf, -115.48)   1989   0.090603    0.299145        0.001897</a:t>
            </a: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   [-115.48, -73.21)   1590   0.072427    0.271069        0.001564</a:t>
            </a: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    [-73.21, -47.34)   1314   0.059855    0.204718        0.001345</a:t>
            </a: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      [-47.34, 3.77)   7876   0.358766    0.184738        0.001317</a:t>
            </a: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4        [3.77, 8.17)   1246   0.056758    0.142857        0.001209</a:t>
            </a: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5       [8.17, 24.04)   1158   0.052749    0.170984        0.001175</a:t>
            </a: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6      [24.04, 93.75)   1487   0.067736    0.207128        0.001427</a:t>
            </a: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7        [93.75, inf)   1593   0.072564    0.270559        0.001579</a:t>
            </a: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8             Special      0   0.000000    0.000000             </a:t>
            </a:r>
            <a:r>
              <a:rPr lang="en-US" altLang="zh-CN" sz="12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NaN</a:t>
            </a:r>
            <a:endParaRPr lang="en-US" altLang="zh-CN" sz="1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9             Missing   3700   0.168542    0.142162        0.000982</a:t>
            </a: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10                     21953   1.000000    0.200018             </a:t>
            </a:r>
            <a:r>
              <a:rPr lang="en-US" altLang="zh-CN" sz="12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NaN</a:t>
            </a:r>
            <a:endParaRPr lang="zh-CN" altLang="en-US" sz="12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C6F70BD-EC9E-1E0D-8DA4-40D7334CC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2437572"/>
            <a:ext cx="5189897" cy="382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831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2EEC401-5863-3901-C301-BC2C9DAB6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" y="1914525"/>
            <a:ext cx="4868129" cy="363855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EC64A0D-FA29-5EB0-2B7B-862F01ED8463}"/>
              </a:ext>
            </a:extLst>
          </p:cNvPr>
          <p:cNvSpPr txBox="1"/>
          <p:nvPr/>
        </p:nvSpPr>
        <p:spPr>
          <a:xfrm>
            <a:off x="5982439" y="2671971"/>
            <a:ext cx="620956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Bin  Count  </a:t>
            </a:r>
            <a:r>
              <a:rPr lang="en-US" altLang="zh-CN" sz="12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Count</a:t>
            </a: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(%)  Event rate  </a:t>
            </a:r>
            <a:r>
              <a:rPr lang="en-US" altLang="zh-CN" sz="12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Mortality_rate</a:t>
            </a:r>
            <a:endParaRPr lang="en-US" altLang="zh-CN" sz="1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  (-inf, 0.63)   1317   0.059992    0.318147        0.001698</a:t>
            </a: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  [0.63, 0.74)   2881   0.131235    0.282194        0.001911</a:t>
            </a: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  [0.74, 0.76)   1641   0.074751    0.253504        0.001582</a:t>
            </a: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  [0.76, 0.81)   2947   0.134241    0.243638        0.001517</a:t>
            </a: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4  [0.81, 0.83)   2289   0.104268    0.197029        0.001321</a:t>
            </a: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5  [0.83, 0.94)   6917   0.315082    0.158016        0.001173</a:t>
            </a: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6   [0.94, inf)   1290   0.058762    0.152713        0.001151</a:t>
            </a:r>
          </a:p>
        </p:txBody>
      </p:sp>
    </p:spTree>
    <p:extLst>
      <p:ext uri="{BB962C8B-B14F-4D97-AF65-F5344CB8AC3E}">
        <p14:creationId xmlns:p14="http://schemas.microsoft.com/office/powerpoint/2010/main" val="4004121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A9F4A-2803-FD96-DB7E-46C25952D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99EC259-C0F5-CAEA-F0C4-3A5178E13FE8}"/>
              </a:ext>
            </a:extLst>
          </p:cNvPr>
          <p:cNvSpPr txBox="1"/>
          <p:nvPr/>
        </p:nvSpPr>
        <p:spPr>
          <a:xfrm>
            <a:off x="5982439" y="2671971"/>
            <a:ext cx="620956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Bin  Count  </a:t>
            </a:r>
            <a:r>
              <a:rPr lang="en-US" altLang="zh-CN" sz="12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Count</a:t>
            </a: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(%)  Event rate  </a:t>
            </a:r>
            <a:r>
              <a:rPr lang="en-US" altLang="zh-CN" sz="12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Mortality_rate</a:t>
            </a:r>
            <a:endParaRPr lang="en-US" altLang="zh-CN" sz="1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   (-inf, -4.15)   1426   0.064957    0.441094        0.003815</a:t>
            </a: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  [-4.15, -3.65)   1381   0.062907    0.193338        0.001771</a:t>
            </a: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  [-3.65, -2.15)   8071   0.367649    0.189815        0.001153</a:t>
            </a: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  [-2.15, -1.75)   1532   0.069785    0.182115        0.001093</a:t>
            </a: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4  [-1.75, -1.28)   1254   0.057122    0.163477        0.001042</a:t>
            </a: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5    [-1.28, inf)   2170   0.098848    0.119816        0.000980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4C53B4-271D-5DC9-FFF2-97963FD11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52" y="1480457"/>
            <a:ext cx="5497719" cy="4130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030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5A627-D79D-7975-5872-78FD1AECF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AEA942B-ECAA-7EFC-CDFC-A9C6029060FF}"/>
              </a:ext>
            </a:extLst>
          </p:cNvPr>
          <p:cNvSpPr txBox="1"/>
          <p:nvPr/>
        </p:nvSpPr>
        <p:spPr>
          <a:xfrm>
            <a:off x="5982439" y="2671971"/>
            <a:ext cx="620956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Bin  Count  </a:t>
            </a:r>
            <a:r>
              <a:rPr lang="en-US" altLang="zh-CN" sz="12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Count</a:t>
            </a: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(%)  Event rate  </a:t>
            </a:r>
            <a:r>
              <a:rPr lang="en-US" altLang="zh-CN" sz="12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Mortality_rate</a:t>
            </a:r>
            <a:endParaRPr lang="en-US" altLang="zh-CN" sz="1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     (-inf, 5.50)   1126   0.051291    0.258437        0.001553</a:t>
            </a: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     [5.50, 8.50)   1778   0.080991    0.309899        0.001948</a:t>
            </a: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    [8.50, 10.50)   2370   0.107958    0.259072        0.001579</a:t>
            </a: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   [10.50, 12.50)   1569   0.071471    0.247929        0.001637</a:t>
            </a: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4   [12.50, 15.50)   1739   0.079215    0.222542        0.001342</a:t>
            </a: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5   [15.50, 22.50)   3647   0.166128    0.198519        0.001293</a:t>
            </a: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6   [22.50, 32.50)   4093   0.186444    0.175421        0.001318</a:t>
            </a: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7     [32.50, inf)   3048   0.138842    0.149934        0.001180</a:t>
            </a: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8</a:t>
            </a:r>
            <a:endParaRPr lang="zh-CN" altLang="en-US" sz="12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081AED0-4A71-1B18-BFDE-B7E096EEF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8308"/>
            <a:ext cx="5746946" cy="4157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020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FFCCC-51E9-9C8E-FA8A-3D2B2B888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0C6BC68-74E3-8780-0722-44E35C058C8C}"/>
              </a:ext>
            </a:extLst>
          </p:cNvPr>
          <p:cNvSpPr txBox="1"/>
          <p:nvPr/>
        </p:nvSpPr>
        <p:spPr>
          <a:xfrm>
            <a:off x="6177648" y="2671971"/>
            <a:ext cx="539105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Bin  Count  </a:t>
            </a:r>
            <a:r>
              <a:rPr lang="en-US" altLang="zh-CN" sz="12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Count</a:t>
            </a: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(%)  Event rate  </a:t>
            </a:r>
            <a:r>
              <a:rPr lang="en-US" altLang="zh-CN" sz="12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Mortality_rate</a:t>
            </a:r>
            <a:endParaRPr lang="en-US" altLang="zh-CN" sz="1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   (-inf, 0.39)   1336   0.060857    0.351796        0.002600</a:t>
            </a: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   [0.39, 0.46)   1394   0.063499    0.266141        0.001839</a:t>
            </a: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   [0.46, 0.50)   1117   0.050881    0.242614        0.001679</a:t>
            </a: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   [0.50, 0.65)   4076   0.185669    0.195780        0.001342</a:t>
            </a: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4   [0.65, 0.76)   2497   0.113743    0.194233        0.001299</a:t>
            </a: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5   [0.76, 0.84)   1253   0.057076    0.178771        0.001252</a:t>
            </a: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6   [0.84, 1.12)   2372   0.108049    0.145447        0.001025</a:t>
            </a: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7    [1.12, inf)   1881   0.085683    0.123339        0.000979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94D8D19-C11B-6E72-F408-10A864474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299" y="1622733"/>
            <a:ext cx="5114925" cy="3852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0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9B59F-023A-05B7-0520-354CC3F8A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85AFD83-0941-5A38-289F-090CBBEB65E4}"/>
              </a:ext>
            </a:extLst>
          </p:cNvPr>
          <p:cNvSpPr txBox="1"/>
          <p:nvPr/>
        </p:nvSpPr>
        <p:spPr>
          <a:xfrm>
            <a:off x="5982439" y="2671971"/>
            <a:ext cx="620956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Bin  Count  </a:t>
            </a:r>
            <a:r>
              <a:rPr lang="en-US" altLang="zh-CN" sz="12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Count</a:t>
            </a: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(%)  Event rate  </a:t>
            </a:r>
            <a:r>
              <a:rPr lang="en-US" altLang="zh-CN" sz="12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Mortality_rate</a:t>
            </a:r>
            <a:endParaRPr lang="en-US" altLang="zh-CN" sz="1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   (-inf, 0.42)   1453   0.066187    0.133517        0.001029</a:t>
            </a: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   [0.42, 0.75)   4412   0.200975    0.179510        0.001325</a:t>
            </a: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   [0.75, 0.85)   1885   0.085865    0.186737        0.001264</a:t>
            </a: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   [0.85, 0.99)   2550   0.116157    0.198431        0.001364</a:t>
            </a: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4   [0.99, 1.48)   7807   0.355623    0.211989        0.001363</a:t>
            </a: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5   [1.48, 1.65)   1533   0.069831    0.223092        0.001412</a:t>
            </a: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6   [1.65, 1.83)   1172   0.053387    0.233788        0.001506</a:t>
            </a:r>
          </a:p>
          <a:p>
            <a:pPr algn="just">
              <a:buNone/>
            </a:pP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7    [1.83, inf)   1141   0.051975    0.241893        0.001545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8B8146E-DDC1-E6E1-6507-73E75FFA6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405" y="1684641"/>
            <a:ext cx="5021655" cy="3913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576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09A08-E0B0-6F9C-4DDF-427A29A26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7BAB3890-888B-D5D4-2BDF-462D826DC243}"/>
              </a:ext>
            </a:extLst>
          </p:cNvPr>
          <p:cNvSpPr/>
          <p:nvPr/>
        </p:nvSpPr>
        <p:spPr>
          <a:xfrm>
            <a:off x="0" y="591378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6B339226-C606-26AB-6733-498922A514CB}"/>
              </a:ext>
            </a:extLst>
          </p:cNvPr>
          <p:cNvSpPr txBox="1"/>
          <p:nvPr/>
        </p:nvSpPr>
        <p:spPr>
          <a:xfrm>
            <a:off x="313885" y="31758"/>
            <a:ext cx="3277040" cy="6281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7F03747-AF67-C5FD-801D-972C89458E5F}"/>
              </a:ext>
            </a:extLst>
          </p:cNvPr>
          <p:cNvSpPr txBox="1"/>
          <p:nvPr/>
        </p:nvSpPr>
        <p:spPr>
          <a:xfrm>
            <a:off x="551901" y="559215"/>
            <a:ext cx="7249074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固定变量和温度数据对死淘率是否存在影响？</a:t>
            </a: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EC12230D-6FCB-A33F-4AF2-3F245B9E4D57}"/>
              </a:ext>
            </a:extLst>
          </p:cNvPr>
          <p:cNvSpPr txBox="1"/>
          <p:nvPr/>
        </p:nvSpPr>
        <p:spPr>
          <a:xfrm>
            <a:off x="98783" y="-301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C224A0F-E364-A552-582E-B53A2FA3ACCA}"/>
              </a:ext>
            </a:extLst>
          </p:cNvPr>
          <p:cNvSpPr/>
          <p:nvPr/>
        </p:nvSpPr>
        <p:spPr>
          <a:xfrm>
            <a:off x="492981" y="1249209"/>
            <a:ext cx="564032" cy="786613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6E12909-2476-981C-52DD-F0462CFD772F}"/>
              </a:ext>
            </a:extLst>
          </p:cNvPr>
          <p:cNvSpPr/>
          <p:nvPr/>
        </p:nvSpPr>
        <p:spPr>
          <a:xfrm>
            <a:off x="492981" y="1249209"/>
            <a:ext cx="11060104" cy="78661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F8B9F4D6-DEEE-6201-9A18-73BC413FEA35}"/>
              </a:ext>
            </a:extLst>
          </p:cNvPr>
          <p:cNvSpPr txBox="1"/>
          <p:nvPr/>
        </p:nvSpPr>
        <p:spPr>
          <a:xfrm>
            <a:off x="1057013" y="1339235"/>
            <a:ext cx="10642006" cy="690076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以出栏死淘率为目标变量，探索各阶段温度及温度变化对死淘的影响。分季节取样本的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80%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分位数划分高低死淘。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EA103FB-9581-0F72-A607-08940954F408}"/>
              </a:ext>
            </a:extLst>
          </p:cNvPr>
          <p:cNvSpPr/>
          <p:nvPr/>
        </p:nvSpPr>
        <p:spPr>
          <a:xfrm>
            <a:off x="8450290" y="3641161"/>
            <a:ext cx="3102795" cy="9863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见文档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04C0CD5A-3203-E010-884D-71141B7E6E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5020828"/>
              </p:ext>
            </p:extLst>
          </p:nvPr>
        </p:nvGraphicFramePr>
        <p:xfrm>
          <a:off x="1191873" y="3204916"/>
          <a:ext cx="9043839" cy="872490"/>
        </p:xfrm>
        <a:graphic>
          <a:graphicData uri="http://schemas.openxmlformats.org/drawingml/2006/table">
            <a:tbl>
              <a:tblPr firstRow="1" firstCol="1" bandRow="1"/>
              <a:tblGrid>
                <a:gridCol w="1298704">
                  <a:extLst>
                    <a:ext uri="{9D8B030D-6E8A-4147-A177-3AD203B41FA5}">
                      <a16:colId xmlns:a16="http://schemas.microsoft.com/office/drawing/2014/main" val="3801373755"/>
                    </a:ext>
                  </a:extLst>
                </a:gridCol>
                <a:gridCol w="875269">
                  <a:extLst>
                    <a:ext uri="{9D8B030D-6E8A-4147-A177-3AD203B41FA5}">
                      <a16:colId xmlns:a16="http://schemas.microsoft.com/office/drawing/2014/main" val="811401970"/>
                    </a:ext>
                  </a:extLst>
                </a:gridCol>
                <a:gridCol w="1158803">
                  <a:extLst>
                    <a:ext uri="{9D8B030D-6E8A-4147-A177-3AD203B41FA5}">
                      <a16:colId xmlns:a16="http://schemas.microsoft.com/office/drawing/2014/main" val="1679194711"/>
                    </a:ext>
                  </a:extLst>
                </a:gridCol>
                <a:gridCol w="1301989">
                  <a:extLst>
                    <a:ext uri="{9D8B030D-6E8A-4147-A177-3AD203B41FA5}">
                      <a16:colId xmlns:a16="http://schemas.microsoft.com/office/drawing/2014/main" val="3461694118"/>
                    </a:ext>
                  </a:extLst>
                </a:gridCol>
                <a:gridCol w="1132749">
                  <a:extLst>
                    <a:ext uri="{9D8B030D-6E8A-4147-A177-3AD203B41FA5}">
                      <a16:colId xmlns:a16="http://schemas.microsoft.com/office/drawing/2014/main" val="2447547013"/>
                    </a:ext>
                  </a:extLst>
                </a:gridCol>
                <a:gridCol w="1588419">
                  <a:extLst>
                    <a:ext uri="{9D8B030D-6E8A-4147-A177-3AD203B41FA5}">
                      <a16:colId xmlns:a16="http://schemas.microsoft.com/office/drawing/2014/main" val="2128753147"/>
                    </a:ext>
                  </a:extLst>
                </a:gridCol>
                <a:gridCol w="1687906">
                  <a:extLst>
                    <a:ext uri="{9D8B030D-6E8A-4147-A177-3AD203B41FA5}">
                      <a16:colId xmlns:a16="http://schemas.microsoft.com/office/drawing/2014/main" val="995393870"/>
                    </a:ext>
                  </a:extLst>
                </a:gridCol>
              </a:tblGrid>
              <a:tr h="1172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季节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AUC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平衡准确率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F1-Score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验证集</a:t>
                      </a:r>
                      <a:r>
                        <a:rPr lang="en-US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AUC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验证集平衡准确率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验证集</a:t>
                      </a:r>
                      <a:r>
                        <a:rPr lang="en-US" alt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F1-score</a:t>
                      </a:r>
                      <a:endParaRPr lang="zh-CN" sz="1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7880505"/>
                  </a:ext>
                </a:extLst>
              </a:tr>
              <a:tr h="20093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冬季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0.81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endParaRPr lang="en-US" altLang="zh-CN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endParaRPr lang="en-US" altLang="zh-CN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0.72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endParaRPr lang="en-US" altLang="zh-CN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endParaRPr lang="en-US" altLang="zh-CN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902591"/>
                  </a:ext>
                </a:extLst>
              </a:tr>
              <a:tr h="20093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秋季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0.85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endParaRPr lang="en-US" altLang="zh-CN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endParaRPr lang="en-US" altLang="zh-CN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0.74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endParaRPr lang="en-US" altLang="zh-CN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endParaRPr lang="en-US" altLang="zh-CN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1794857"/>
                  </a:ext>
                </a:extLst>
              </a:tr>
              <a:tr h="20093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夏季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0.72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endParaRPr lang="en-US" altLang="zh-CN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endParaRPr lang="en-US" altLang="zh-CN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0.74</a:t>
                      </a: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endParaRPr lang="en-US" altLang="zh-CN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endParaRPr lang="en-US" altLang="zh-CN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9347528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A2B1527F-40C4-868C-6E4A-620A8B33F0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2747319"/>
              </p:ext>
            </p:extLst>
          </p:nvPr>
        </p:nvGraphicFramePr>
        <p:xfrm>
          <a:off x="1199712" y="4927061"/>
          <a:ext cx="6974237" cy="872490"/>
        </p:xfrm>
        <a:graphic>
          <a:graphicData uri="http://schemas.openxmlformats.org/drawingml/2006/table">
            <a:tbl>
              <a:tblPr firstRow="1" firstCol="1" bandRow="1"/>
              <a:tblGrid>
                <a:gridCol w="996845">
                  <a:extLst>
                    <a:ext uri="{9D8B030D-6E8A-4147-A177-3AD203B41FA5}">
                      <a16:colId xmlns:a16="http://schemas.microsoft.com/office/drawing/2014/main" val="3801373755"/>
                    </a:ext>
                  </a:extLst>
                </a:gridCol>
                <a:gridCol w="675505">
                  <a:extLst>
                    <a:ext uri="{9D8B030D-6E8A-4147-A177-3AD203B41FA5}">
                      <a16:colId xmlns:a16="http://schemas.microsoft.com/office/drawing/2014/main" val="811401970"/>
                    </a:ext>
                  </a:extLst>
                </a:gridCol>
                <a:gridCol w="894303">
                  <a:extLst>
                    <a:ext uri="{9D8B030D-6E8A-4147-A177-3AD203B41FA5}">
                      <a16:colId xmlns:a16="http://schemas.microsoft.com/office/drawing/2014/main" val="1679194711"/>
                    </a:ext>
                  </a:extLst>
                </a:gridCol>
                <a:gridCol w="691335">
                  <a:extLst>
                    <a:ext uri="{9D8B030D-6E8A-4147-A177-3AD203B41FA5}">
                      <a16:colId xmlns:a16="http://schemas.microsoft.com/office/drawing/2014/main" val="3461694118"/>
                    </a:ext>
                  </a:extLst>
                </a:gridCol>
                <a:gridCol w="1187707">
                  <a:extLst>
                    <a:ext uri="{9D8B030D-6E8A-4147-A177-3AD203B41FA5}">
                      <a16:colId xmlns:a16="http://schemas.microsoft.com/office/drawing/2014/main" val="2447547013"/>
                    </a:ext>
                  </a:extLst>
                </a:gridCol>
                <a:gridCol w="1225899">
                  <a:extLst>
                    <a:ext uri="{9D8B030D-6E8A-4147-A177-3AD203B41FA5}">
                      <a16:colId xmlns:a16="http://schemas.microsoft.com/office/drawing/2014/main" val="2128753147"/>
                    </a:ext>
                  </a:extLst>
                </a:gridCol>
                <a:gridCol w="1302643">
                  <a:extLst>
                    <a:ext uri="{9D8B030D-6E8A-4147-A177-3AD203B41FA5}">
                      <a16:colId xmlns:a16="http://schemas.microsoft.com/office/drawing/2014/main" val="9953938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zh-CN" altLang="en-US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季节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RMSE</a:t>
                      </a:r>
                      <a:endParaRPr lang="zh-CN" altLang="en-US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MAE</a:t>
                      </a:r>
                      <a:endParaRPr lang="zh-CN" altLang="en-US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zh-CN" altLang="en-US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方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zh-CN" altLang="en-US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验证集</a:t>
                      </a: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RMSE</a:t>
                      </a:r>
                      <a:endParaRPr lang="zh-CN" altLang="en-US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zh-CN" altLang="en-US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验证集</a:t>
                      </a: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MAE</a:t>
                      </a:r>
                      <a:endParaRPr lang="zh-CN" altLang="en-US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zh-CN" altLang="en-US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验证集</a:t>
                      </a: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zh-CN" altLang="en-US" sz="14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方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7880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冬季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endParaRPr lang="en-US" altLang="zh-CN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endParaRPr lang="en-US" altLang="zh-CN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endParaRPr lang="en-US" altLang="zh-CN" sz="1400" kern="10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endParaRPr lang="en-US" altLang="zh-CN" sz="1400" kern="10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endParaRPr lang="en-US" altLang="zh-CN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endParaRPr lang="en-US" altLang="zh-CN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902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秋季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endParaRPr lang="en-US" altLang="zh-CN" sz="1400" kern="10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endParaRPr lang="en-US" altLang="zh-CN" sz="1400" kern="10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endParaRPr lang="en-US" altLang="zh-CN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endParaRPr lang="en-US" altLang="zh-CN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endParaRPr lang="en-US" altLang="zh-CN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endParaRPr lang="en-US" altLang="zh-CN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1794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夏季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endParaRPr lang="en-US" altLang="zh-CN" sz="1400" kern="10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endParaRPr lang="en-US" altLang="zh-CN" sz="1400" kern="10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endParaRPr lang="en-US" altLang="zh-CN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endParaRPr lang="en-US" altLang="zh-CN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endParaRPr lang="en-US" altLang="zh-CN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endParaRPr lang="en-US" altLang="zh-CN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9347528"/>
                  </a:ext>
                </a:extLst>
              </a:tr>
            </a:tbl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B8300713-FA24-DA28-2DEB-FB57447C7B9E}"/>
              </a:ext>
            </a:extLst>
          </p:cNvPr>
          <p:cNvSpPr/>
          <p:nvPr/>
        </p:nvSpPr>
        <p:spPr>
          <a:xfrm>
            <a:off x="1199713" y="2660206"/>
            <a:ext cx="1029137" cy="3679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二分类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B5362A5-949D-EB38-C422-462289C911A3}"/>
              </a:ext>
            </a:extLst>
          </p:cNvPr>
          <p:cNvSpPr/>
          <p:nvPr/>
        </p:nvSpPr>
        <p:spPr>
          <a:xfrm>
            <a:off x="1199712" y="4353559"/>
            <a:ext cx="1029137" cy="3679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回归</a:t>
            </a:r>
          </a:p>
        </p:txBody>
      </p:sp>
    </p:spTree>
    <p:extLst>
      <p:ext uri="{BB962C8B-B14F-4D97-AF65-F5344CB8AC3E}">
        <p14:creationId xmlns:p14="http://schemas.microsoft.com/office/powerpoint/2010/main" val="3007209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6348A3F-20FC-3834-2475-8CCB607D0C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9657237"/>
              </p:ext>
            </p:extLst>
          </p:nvPr>
        </p:nvGraphicFramePr>
        <p:xfrm>
          <a:off x="436892" y="1624662"/>
          <a:ext cx="10459302" cy="3386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8062">
                  <a:extLst>
                    <a:ext uri="{9D8B030D-6E8A-4147-A177-3AD203B41FA5}">
                      <a16:colId xmlns:a16="http://schemas.microsoft.com/office/drawing/2014/main" val="2649439620"/>
                    </a:ext>
                  </a:extLst>
                </a:gridCol>
                <a:gridCol w="498062">
                  <a:extLst>
                    <a:ext uri="{9D8B030D-6E8A-4147-A177-3AD203B41FA5}">
                      <a16:colId xmlns:a16="http://schemas.microsoft.com/office/drawing/2014/main" val="3607642644"/>
                    </a:ext>
                  </a:extLst>
                </a:gridCol>
                <a:gridCol w="498062">
                  <a:extLst>
                    <a:ext uri="{9D8B030D-6E8A-4147-A177-3AD203B41FA5}">
                      <a16:colId xmlns:a16="http://schemas.microsoft.com/office/drawing/2014/main" val="1277106473"/>
                    </a:ext>
                  </a:extLst>
                </a:gridCol>
                <a:gridCol w="498062">
                  <a:extLst>
                    <a:ext uri="{9D8B030D-6E8A-4147-A177-3AD203B41FA5}">
                      <a16:colId xmlns:a16="http://schemas.microsoft.com/office/drawing/2014/main" val="381312640"/>
                    </a:ext>
                  </a:extLst>
                </a:gridCol>
                <a:gridCol w="498062">
                  <a:extLst>
                    <a:ext uri="{9D8B030D-6E8A-4147-A177-3AD203B41FA5}">
                      <a16:colId xmlns:a16="http://schemas.microsoft.com/office/drawing/2014/main" val="2966535045"/>
                    </a:ext>
                  </a:extLst>
                </a:gridCol>
                <a:gridCol w="498062">
                  <a:extLst>
                    <a:ext uri="{9D8B030D-6E8A-4147-A177-3AD203B41FA5}">
                      <a16:colId xmlns:a16="http://schemas.microsoft.com/office/drawing/2014/main" val="268873095"/>
                    </a:ext>
                  </a:extLst>
                </a:gridCol>
                <a:gridCol w="498062">
                  <a:extLst>
                    <a:ext uri="{9D8B030D-6E8A-4147-A177-3AD203B41FA5}">
                      <a16:colId xmlns:a16="http://schemas.microsoft.com/office/drawing/2014/main" val="2996464670"/>
                    </a:ext>
                  </a:extLst>
                </a:gridCol>
                <a:gridCol w="498062">
                  <a:extLst>
                    <a:ext uri="{9D8B030D-6E8A-4147-A177-3AD203B41FA5}">
                      <a16:colId xmlns:a16="http://schemas.microsoft.com/office/drawing/2014/main" val="3923853797"/>
                    </a:ext>
                  </a:extLst>
                </a:gridCol>
                <a:gridCol w="498062">
                  <a:extLst>
                    <a:ext uri="{9D8B030D-6E8A-4147-A177-3AD203B41FA5}">
                      <a16:colId xmlns:a16="http://schemas.microsoft.com/office/drawing/2014/main" val="1872641418"/>
                    </a:ext>
                  </a:extLst>
                </a:gridCol>
                <a:gridCol w="498062">
                  <a:extLst>
                    <a:ext uri="{9D8B030D-6E8A-4147-A177-3AD203B41FA5}">
                      <a16:colId xmlns:a16="http://schemas.microsoft.com/office/drawing/2014/main" val="1381106137"/>
                    </a:ext>
                  </a:extLst>
                </a:gridCol>
                <a:gridCol w="498062">
                  <a:extLst>
                    <a:ext uri="{9D8B030D-6E8A-4147-A177-3AD203B41FA5}">
                      <a16:colId xmlns:a16="http://schemas.microsoft.com/office/drawing/2014/main" val="1494913897"/>
                    </a:ext>
                  </a:extLst>
                </a:gridCol>
                <a:gridCol w="498062">
                  <a:extLst>
                    <a:ext uri="{9D8B030D-6E8A-4147-A177-3AD203B41FA5}">
                      <a16:colId xmlns:a16="http://schemas.microsoft.com/office/drawing/2014/main" val="3628458899"/>
                    </a:ext>
                  </a:extLst>
                </a:gridCol>
                <a:gridCol w="498062">
                  <a:extLst>
                    <a:ext uri="{9D8B030D-6E8A-4147-A177-3AD203B41FA5}">
                      <a16:colId xmlns:a16="http://schemas.microsoft.com/office/drawing/2014/main" val="2516147968"/>
                    </a:ext>
                  </a:extLst>
                </a:gridCol>
                <a:gridCol w="498062">
                  <a:extLst>
                    <a:ext uri="{9D8B030D-6E8A-4147-A177-3AD203B41FA5}">
                      <a16:colId xmlns:a16="http://schemas.microsoft.com/office/drawing/2014/main" val="3316521455"/>
                    </a:ext>
                  </a:extLst>
                </a:gridCol>
                <a:gridCol w="498062">
                  <a:extLst>
                    <a:ext uri="{9D8B030D-6E8A-4147-A177-3AD203B41FA5}">
                      <a16:colId xmlns:a16="http://schemas.microsoft.com/office/drawing/2014/main" val="2952798753"/>
                    </a:ext>
                  </a:extLst>
                </a:gridCol>
                <a:gridCol w="498062">
                  <a:extLst>
                    <a:ext uri="{9D8B030D-6E8A-4147-A177-3AD203B41FA5}">
                      <a16:colId xmlns:a16="http://schemas.microsoft.com/office/drawing/2014/main" val="4113144650"/>
                    </a:ext>
                  </a:extLst>
                </a:gridCol>
                <a:gridCol w="498062">
                  <a:extLst>
                    <a:ext uri="{9D8B030D-6E8A-4147-A177-3AD203B41FA5}">
                      <a16:colId xmlns:a16="http://schemas.microsoft.com/office/drawing/2014/main" val="2663236501"/>
                    </a:ext>
                  </a:extLst>
                </a:gridCol>
                <a:gridCol w="498062">
                  <a:extLst>
                    <a:ext uri="{9D8B030D-6E8A-4147-A177-3AD203B41FA5}">
                      <a16:colId xmlns:a16="http://schemas.microsoft.com/office/drawing/2014/main" val="3355882246"/>
                    </a:ext>
                  </a:extLst>
                </a:gridCol>
                <a:gridCol w="498062">
                  <a:extLst>
                    <a:ext uri="{9D8B030D-6E8A-4147-A177-3AD203B41FA5}">
                      <a16:colId xmlns:a16="http://schemas.microsoft.com/office/drawing/2014/main" val="3864947581"/>
                    </a:ext>
                  </a:extLst>
                </a:gridCol>
                <a:gridCol w="498062">
                  <a:extLst>
                    <a:ext uri="{9D8B030D-6E8A-4147-A177-3AD203B41FA5}">
                      <a16:colId xmlns:a16="http://schemas.microsoft.com/office/drawing/2014/main" val="4050083708"/>
                    </a:ext>
                  </a:extLst>
                </a:gridCol>
                <a:gridCol w="498062">
                  <a:extLst>
                    <a:ext uri="{9D8B030D-6E8A-4147-A177-3AD203B41FA5}">
                      <a16:colId xmlns:a16="http://schemas.microsoft.com/office/drawing/2014/main" val="1738220129"/>
                    </a:ext>
                  </a:extLst>
                </a:gridCol>
              </a:tblGrid>
              <a:tr h="84666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4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5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6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7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8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9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10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11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12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13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14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15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16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17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18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19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20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9147759"/>
                  </a:ext>
                </a:extLst>
              </a:tr>
              <a:tr h="8466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冬</a:t>
                      </a:r>
                      <a:endParaRPr lang="en-US" altLang="zh-CN" sz="1400" b="1" dirty="0"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106247"/>
                  </a:ext>
                </a:extLst>
              </a:tr>
              <a:tr h="8466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夏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0513143"/>
                  </a:ext>
                </a:extLst>
              </a:tr>
              <a:tr h="8466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秋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41036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1065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528EFFD-C58B-3063-9452-82E903482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385" y="1153711"/>
            <a:ext cx="6016964" cy="455057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B6BAEC2-8FBF-4569-E150-69F5DE77AC81}"/>
              </a:ext>
            </a:extLst>
          </p:cNvPr>
          <p:cNvSpPr txBox="1"/>
          <p:nvPr/>
        </p:nvSpPr>
        <p:spPr>
          <a:xfrm>
            <a:off x="7137971" y="2248735"/>
            <a:ext cx="491361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 Bin  Count  Count (%)  Event rate  MORTALITY_RATE</a:t>
            </a:r>
          </a:p>
          <a:p>
            <a:r>
              <a:rPr lang="zh-CN" altLang="en-US" sz="1600" dirty="0"/>
              <a:t>0  (-inf, 2.75)     93   0.230198    0.365591        0.114313</a:t>
            </a:r>
          </a:p>
          <a:p>
            <a:r>
              <a:rPr lang="zh-CN" altLang="en-US" sz="1600" dirty="0"/>
              <a:t>1  [2.75, 4.05)     53   0.131188    0.358491        0.105203</a:t>
            </a:r>
          </a:p>
          <a:p>
            <a:r>
              <a:rPr lang="zh-CN" altLang="en-US" sz="1600" dirty="0"/>
              <a:t>2  [4.05, 5.25)     43   0.106436    0.279070        0.099586</a:t>
            </a:r>
          </a:p>
          <a:p>
            <a:r>
              <a:rPr lang="zh-CN" altLang="en-US" sz="1600" dirty="0"/>
              <a:t>3  [5.25, 7.17)     87   0.215347    0.103448        0.074797</a:t>
            </a:r>
          </a:p>
          <a:p>
            <a:r>
              <a:rPr lang="zh-CN" altLang="en-US" sz="1600" dirty="0"/>
              <a:t>4  [7.17, 9.43)     68   0.168317    0.014706        0.070927</a:t>
            </a:r>
          </a:p>
          <a:p>
            <a:r>
              <a:rPr lang="zh-CN" altLang="en-US" sz="1600" dirty="0"/>
              <a:t>5   [9.43, inf)     60   0.148515    0.100000        0.074787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8F3C3AE-B4C6-7F86-C6BC-E8676C6A5430}"/>
              </a:ext>
            </a:extLst>
          </p:cNvPr>
          <p:cNvSpPr/>
          <p:nvPr/>
        </p:nvSpPr>
        <p:spPr>
          <a:xfrm>
            <a:off x="8543806" y="787476"/>
            <a:ext cx="3102795" cy="7324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冬季</a:t>
            </a:r>
          </a:p>
        </p:txBody>
      </p:sp>
    </p:spTree>
    <p:extLst>
      <p:ext uri="{BB962C8B-B14F-4D97-AF65-F5344CB8AC3E}">
        <p14:creationId xmlns:p14="http://schemas.microsoft.com/office/powerpoint/2010/main" val="4084004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F3C60-4C7C-5D53-6BEE-01DE76A87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7294775A-7749-9406-37F7-C0858D5C44A4}"/>
              </a:ext>
            </a:extLst>
          </p:cNvPr>
          <p:cNvSpPr txBox="1"/>
          <p:nvPr/>
        </p:nvSpPr>
        <p:spPr>
          <a:xfrm>
            <a:off x="7158519" y="2856566"/>
            <a:ext cx="557116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 </a:t>
            </a:r>
            <a:r>
              <a:rPr lang="en-US" altLang="zh-CN" sz="1600" dirty="0"/>
              <a:t>  Bin  Count  </a:t>
            </a:r>
            <a:r>
              <a:rPr lang="en-US" altLang="zh-CN" sz="1600" dirty="0" err="1"/>
              <a:t>Count</a:t>
            </a:r>
            <a:r>
              <a:rPr lang="en-US" altLang="zh-CN" sz="1600" dirty="0"/>
              <a:t> (%)  Event rate  MORTALITY_RATE</a:t>
            </a:r>
          </a:p>
          <a:p>
            <a:r>
              <a:rPr lang="en-US" altLang="zh-CN" sz="1600" dirty="0"/>
              <a:t>0  (-inf, 0.70)     21   0.051980    0.523810        0.123838</a:t>
            </a:r>
          </a:p>
          <a:p>
            <a:r>
              <a:rPr lang="en-US" altLang="zh-CN" sz="1600" dirty="0"/>
              <a:t>1  [0.70, 0.84)     65   0.160891    0.338462        0.106793</a:t>
            </a:r>
          </a:p>
          <a:p>
            <a:r>
              <a:rPr lang="en-US" altLang="zh-CN" sz="1600" dirty="0"/>
              <a:t>2  [0.84, 0.91)     45   0.111386    0.177778        0.088333</a:t>
            </a:r>
          </a:p>
          <a:p>
            <a:r>
              <a:rPr lang="en-US" altLang="zh-CN" sz="1600" dirty="0"/>
              <a:t>3  [0.91, 1.13)    127   0.314356    0.173228        0.088995</a:t>
            </a:r>
          </a:p>
          <a:p>
            <a:r>
              <a:rPr lang="en-US" altLang="zh-CN" sz="1600" dirty="0"/>
              <a:t>4  [1.13, 1.31)     70   0.173267    0.171429        0.081379</a:t>
            </a:r>
          </a:p>
          <a:p>
            <a:r>
              <a:rPr lang="en-US" altLang="zh-CN" sz="1600" dirty="0"/>
              <a:t>5  [1.31, 1.36)     23   0.056931    0.086957        0.084456</a:t>
            </a:r>
          </a:p>
          <a:p>
            <a:r>
              <a:rPr lang="en-US" altLang="zh-CN" sz="1600" dirty="0"/>
              <a:t>6   [1.36, inf)     53   0.131188    0.075472        0.072606</a:t>
            </a:r>
            <a:endParaRPr lang="zh-CN" altLang="en-US" sz="16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2291605-D8CD-522E-BD13-8D47F7E14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492" y="1541124"/>
            <a:ext cx="6023598" cy="469298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371BBD9-E086-2F12-87C1-BF56FB5AFA32}"/>
              </a:ext>
            </a:extLst>
          </p:cNvPr>
          <p:cNvSpPr/>
          <p:nvPr/>
        </p:nvSpPr>
        <p:spPr>
          <a:xfrm>
            <a:off x="8543806" y="787476"/>
            <a:ext cx="3102795" cy="7324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冬季</a:t>
            </a:r>
          </a:p>
        </p:txBody>
      </p:sp>
    </p:spTree>
    <p:extLst>
      <p:ext uri="{BB962C8B-B14F-4D97-AF65-F5344CB8AC3E}">
        <p14:creationId xmlns:p14="http://schemas.microsoft.com/office/powerpoint/2010/main" val="272082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91197-6477-394E-43F4-030A05C5C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C878B9ED-680B-40E0-95A5-B141752BAD52}"/>
              </a:ext>
            </a:extLst>
          </p:cNvPr>
          <p:cNvSpPr txBox="1"/>
          <p:nvPr/>
        </p:nvSpPr>
        <p:spPr>
          <a:xfrm>
            <a:off x="6747553" y="2644170"/>
            <a:ext cx="557116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 </a:t>
            </a:r>
            <a:r>
              <a:rPr lang="en-US" altLang="zh-CN" sz="1600" dirty="0"/>
              <a:t>  Bin  Count  </a:t>
            </a:r>
            <a:r>
              <a:rPr lang="en-US" altLang="zh-CN" sz="1600" dirty="0" err="1"/>
              <a:t>Count</a:t>
            </a:r>
            <a:r>
              <a:rPr lang="en-US" altLang="zh-CN" sz="1600" dirty="0"/>
              <a:t> (%)  Event rate  MORTALITY_RATE</a:t>
            </a:r>
          </a:p>
          <a:p>
            <a:r>
              <a:rPr lang="en-US" altLang="zh-CN" sz="1600" dirty="0"/>
              <a:t>0   (-inf, 10.13)    210   0.519802    0.276190        0.100248</a:t>
            </a:r>
          </a:p>
          <a:p>
            <a:r>
              <a:rPr lang="en-US" altLang="zh-CN" sz="1600" dirty="0"/>
              <a:t>1  [10.13, 12.55)     53   0.131188    0.150943        0.085784</a:t>
            </a:r>
          </a:p>
          <a:p>
            <a:r>
              <a:rPr lang="en-US" altLang="zh-CN" sz="1600" dirty="0"/>
              <a:t>2  [12.55, 15.02)     41   0.101485    0.121951        0.076452</a:t>
            </a:r>
          </a:p>
          <a:p>
            <a:r>
              <a:rPr lang="en-US" altLang="zh-CN" sz="1600" dirty="0"/>
              <a:t>3  [15.02, 15.94)     21   0.051980    0.047619        0.067034</a:t>
            </a:r>
          </a:p>
          <a:p>
            <a:r>
              <a:rPr lang="en-US" altLang="zh-CN" sz="1600" dirty="0"/>
              <a:t>4    [15.94, inf)     79   0.195545    0.113924        0.078049</a:t>
            </a:r>
            <a:endParaRPr lang="zh-CN" altLang="en-US" sz="16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B17B2B5-A0D9-0E7D-B9E0-41914496A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68" y="1805148"/>
            <a:ext cx="5752190" cy="4252271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589B3EA-14C0-9FEC-9449-8B29DA16D679}"/>
              </a:ext>
            </a:extLst>
          </p:cNvPr>
          <p:cNvSpPr/>
          <p:nvPr/>
        </p:nvSpPr>
        <p:spPr>
          <a:xfrm>
            <a:off x="8543806" y="787476"/>
            <a:ext cx="3102795" cy="7324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冬季</a:t>
            </a:r>
          </a:p>
        </p:txBody>
      </p:sp>
    </p:spTree>
    <p:extLst>
      <p:ext uri="{BB962C8B-B14F-4D97-AF65-F5344CB8AC3E}">
        <p14:creationId xmlns:p14="http://schemas.microsoft.com/office/powerpoint/2010/main" val="3631697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47FC9-5CAD-0BCB-513A-DBF161F80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B7F3B76-3395-3627-406B-5D8518E388FE}"/>
              </a:ext>
            </a:extLst>
          </p:cNvPr>
          <p:cNvSpPr txBox="1"/>
          <p:nvPr/>
        </p:nvSpPr>
        <p:spPr>
          <a:xfrm>
            <a:off x="6747553" y="2644170"/>
            <a:ext cx="557116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 </a:t>
            </a:r>
            <a:r>
              <a:rPr lang="en-US" altLang="zh-CN" sz="1600" dirty="0"/>
              <a:t>  Bin  Count  </a:t>
            </a:r>
            <a:r>
              <a:rPr lang="en-US" altLang="zh-CN" sz="1600" dirty="0" err="1"/>
              <a:t>Count</a:t>
            </a:r>
            <a:r>
              <a:rPr lang="en-US" altLang="zh-CN" sz="1600" dirty="0"/>
              <a:t> (%)  Event rate  MORTALITY_RATE</a:t>
            </a:r>
          </a:p>
          <a:p>
            <a:r>
              <a:rPr lang="en-US" altLang="zh-CN" sz="1600" dirty="0"/>
              <a:t>0   (-inf, 10.13)    210   0.519802    0.276190        0.100248</a:t>
            </a:r>
          </a:p>
          <a:p>
            <a:r>
              <a:rPr lang="en-US" altLang="zh-CN" sz="1600" dirty="0"/>
              <a:t>1  [10.13, 12.55)     53   0.131188    0.150943        0.085784</a:t>
            </a:r>
          </a:p>
          <a:p>
            <a:r>
              <a:rPr lang="en-US" altLang="zh-CN" sz="1600" dirty="0"/>
              <a:t>2  [12.55, 15.02)     41   0.101485    0.121951        0.076452</a:t>
            </a:r>
          </a:p>
          <a:p>
            <a:r>
              <a:rPr lang="en-US" altLang="zh-CN" sz="1600" dirty="0"/>
              <a:t>3  [15.02, 15.94)     21   0.051980    0.047619        0.067034</a:t>
            </a:r>
          </a:p>
          <a:p>
            <a:r>
              <a:rPr lang="en-US" altLang="zh-CN" sz="1600" dirty="0"/>
              <a:t>4    [15.94, inf)     79   0.195545    0.113924        0.078049</a:t>
            </a:r>
            <a:endParaRPr lang="zh-CN" altLang="en-US" sz="16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FF279DA-0FDC-0D0E-78AE-983671A5D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68" y="1805148"/>
            <a:ext cx="5752190" cy="4252271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2B28B33-1AC1-D451-AF87-8717B798F7B7}"/>
              </a:ext>
            </a:extLst>
          </p:cNvPr>
          <p:cNvSpPr/>
          <p:nvPr/>
        </p:nvSpPr>
        <p:spPr>
          <a:xfrm>
            <a:off x="8543806" y="787476"/>
            <a:ext cx="3102795" cy="7324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冬季</a:t>
            </a:r>
          </a:p>
        </p:txBody>
      </p:sp>
    </p:spTree>
    <p:extLst>
      <p:ext uri="{BB962C8B-B14F-4D97-AF65-F5344CB8AC3E}">
        <p14:creationId xmlns:p14="http://schemas.microsoft.com/office/powerpoint/2010/main" val="3572903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083C07E-ED31-1655-4781-4FB905135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746" y="1305781"/>
            <a:ext cx="5605254" cy="407787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CAAA9FC-124D-AE80-EA55-4559DA798A52}"/>
              </a:ext>
            </a:extLst>
          </p:cNvPr>
          <p:cNvSpPr txBox="1"/>
          <p:nvPr/>
        </p:nvSpPr>
        <p:spPr>
          <a:xfrm>
            <a:off x="6470150" y="2644170"/>
            <a:ext cx="609771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 Bin  Count  Count (%)  Event rate  MORTALITY_RATE</a:t>
            </a:r>
          </a:p>
          <a:p>
            <a:r>
              <a:rPr lang="zh-CN" altLang="en-US" sz="1600" dirty="0"/>
              <a:t>0  (-inf, 0.50)     35   0.128676    0.057143        0.039928</a:t>
            </a:r>
          </a:p>
          <a:p>
            <a:r>
              <a:rPr lang="zh-CN" altLang="en-US" sz="1600" dirty="0"/>
              <a:t>1  [0.50, 0.59)     26   0.095588    0.038462        0.046201</a:t>
            </a:r>
          </a:p>
          <a:p>
            <a:r>
              <a:rPr lang="zh-CN" altLang="en-US" sz="1600" dirty="0"/>
              <a:t>2  [0.59, 0.71)     36   0.132353    0.166667        0.046477</a:t>
            </a:r>
          </a:p>
          <a:p>
            <a:r>
              <a:rPr lang="zh-CN" altLang="en-US" sz="1600" dirty="0"/>
              <a:t>3  [0.71, 1.06)    117   0.430147    0.188034        0.050446</a:t>
            </a:r>
          </a:p>
          <a:p>
            <a:r>
              <a:rPr lang="zh-CN" altLang="en-US" sz="1600" dirty="0"/>
              <a:t>4   [1.06, inf)     58   0.213235    0.413793        0.062888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E4E1477-9DAF-E801-A3BE-4718335A93D7}"/>
              </a:ext>
            </a:extLst>
          </p:cNvPr>
          <p:cNvSpPr/>
          <p:nvPr/>
        </p:nvSpPr>
        <p:spPr>
          <a:xfrm>
            <a:off x="8543806" y="787476"/>
            <a:ext cx="3102795" cy="7324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秋季</a:t>
            </a:r>
          </a:p>
        </p:txBody>
      </p:sp>
    </p:spTree>
    <p:extLst>
      <p:ext uri="{BB962C8B-B14F-4D97-AF65-F5344CB8AC3E}">
        <p14:creationId xmlns:p14="http://schemas.microsoft.com/office/powerpoint/2010/main" val="2176316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840A1-F101-DA53-3382-73CE4BA9A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228A80C-7BB1-D71C-C754-01D377A5A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55" y="1632182"/>
            <a:ext cx="4926964" cy="359363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47A3E9A-83CD-FA95-3955-D87D1665963F}"/>
              </a:ext>
            </a:extLst>
          </p:cNvPr>
          <p:cNvSpPr txBox="1"/>
          <p:nvPr/>
        </p:nvSpPr>
        <p:spPr>
          <a:xfrm>
            <a:off x="5946169" y="2521059"/>
            <a:ext cx="609771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 Bin  Count  Count (%)  Event rate  MORTALITY_RATE</a:t>
            </a:r>
          </a:p>
          <a:p>
            <a:r>
              <a:rPr lang="zh-CN" altLang="en-US" sz="1600" dirty="0"/>
              <a:t>0   (-inf, 28.49)     38   0.139706    0.447368        0.057892</a:t>
            </a:r>
          </a:p>
          <a:p>
            <a:r>
              <a:rPr lang="zh-CN" altLang="en-US" sz="1600" dirty="0"/>
              <a:t>1  [28.49, 28.89)     73   0.268382    0.342466        0.058900</a:t>
            </a:r>
          </a:p>
          <a:p>
            <a:r>
              <a:rPr lang="zh-CN" altLang="en-US" sz="1600" dirty="0"/>
              <a:t>2  [28.89, 29.12)     50   0.183824    0.160000        0.052414</a:t>
            </a:r>
          </a:p>
          <a:p>
            <a:r>
              <a:rPr lang="zh-CN" altLang="en-US" sz="1600" dirty="0"/>
              <a:t>3  [29.12, 29.69)     51   0.187500    0.058824        0.045269</a:t>
            </a:r>
          </a:p>
          <a:p>
            <a:r>
              <a:rPr lang="zh-CN" altLang="en-US" sz="1600" dirty="0"/>
              <a:t>4  [29.69, 30.64)     41   0.150735    0.024390        0.042168</a:t>
            </a:r>
          </a:p>
          <a:p>
            <a:r>
              <a:rPr lang="zh-CN" altLang="en-US" sz="1600" dirty="0"/>
              <a:t>5    [30.64, inf)     19   0.069853    0.052632        0.034932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45E734B-8D66-BCAE-A185-E58A4F1411CB}"/>
              </a:ext>
            </a:extLst>
          </p:cNvPr>
          <p:cNvSpPr/>
          <p:nvPr/>
        </p:nvSpPr>
        <p:spPr>
          <a:xfrm>
            <a:off x="8543806" y="787476"/>
            <a:ext cx="3102795" cy="7324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秋季</a:t>
            </a:r>
          </a:p>
        </p:txBody>
      </p:sp>
    </p:spTree>
    <p:extLst>
      <p:ext uri="{BB962C8B-B14F-4D97-AF65-F5344CB8AC3E}">
        <p14:creationId xmlns:p14="http://schemas.microsoft.com/office/powerpoint/2010/main" val="58261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FA920E2-46F3-AE6D-08BA-DCACB0E48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27" y="2062088"/>
            <a:ext cx="4846566" cy="352020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E76D35E-B2D7-8FC1-955D-54E42C66E4E7}"/>
              </a:ext>
            </a:extLst>
          </p:cNvPr>
          <p:cNvSpPr txBox="1"/>
          <p:nvPr/>
        </p:nvSpPr>
        <p:spPr>
          <a:xfrm>
            <a:off x="6096000" y="2544917"/>
            <a:ext cx="540677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 Bin  Count  Count (%)  Event rate  MORTALITY_RATE</a:t>
            </a:r>
          </a:p>
          <a:p>
            <a:r>
              <a:rPr lang="zh-CN" altLang="en-US" sz="1600" dirty="0"/>
              <a:t>0    (-inf, 0.51)     18   0.066176    0.055556        0.047555</a:t>
            </a:r>
          </a:p>
          <a:p>
            <a:r>
              <a:rPr lang="zh-CN" altLang="en-US" sz="1600" dirty="0"/>
              <a:t>1    [0.51, 2.26)     69   0.253676    0.086957        0.043791</a:t>
            </a:r>
          </a:p>
          <a:p>
            <a:r>
              <a:rPr lang="zh-CN" altLang="en-US" sz="1600" dirty="0"/>
              <a:t>2    [2.26, 3.57)     36   0.132353    0.166667        0.047692</a:t>
            </a:r>
          </a:p>
          <a:p>
            <a:r>
              <a:rPr lang="zh-CN" altLang="en-US" sz="1600" dirty="0"/>
              <a:t>3    [3.57, 5.48)     36   0.132353    0.222222        0.052449</a:t>
            </a:r>
          </a:p>
          <a:p>
            <a:r>
              <a:rPr lang="zh-CN" altLang="en-US" sz="1600" dirty="0"/>
              <a:t>4    [5.48, 7.25)     28   0.102941    0.285714        0.053670</a:t>
            </a:r>
          </a:p>
          <a:p>
            <a:r>
              <a:rPr lang="zh-CN" altLang="en-US" sz="1600" dirty="0"/>
              <a:t>5    [7.25, 8.35)     20   0.073529    0.300000        0.058412</a:t>
            </a:r>
          </a:p>
          <a:p>
            <a:r>
              <a:rPr lang="zh-CN" altLang="en-US" sz="1600" dirty="0"/>
              <a:t>6    [8.35, 9.39)     14   0.051471    0.428571        0.059269</a:t>
            </a:r>
          </a:p>
          <a:p>
            <a:r>
              <a:rPr lang="zh-CN" altLang="en-US" sz="1600" dirty="0"/>
              <a:t>7   [9.39, 12.78)     29   0.106618    0.275862        0.056544</a:t>
            </a:r>
          </a:p>
          <a:p>
            <a:r>
              <a:rPr lang="zh-CN" altLang="en-US" sz="1600" dirty="0"/>
              <a:t>8    [12.78, inf)     22   0.080882    0.272727        0.054472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7115946-F8EB-9DEF-463B-0E3D763CA6A3}"/>
              </a:ext>
            </a:extLst>
          </p:cNvPr>
          <p:cNvSpPr/>
          <p:nvPr/>
        </p:nvSpPr>
        <p:spPr>
          <a:xfrm>
            <a:off x="8543806" y="787476"/>
            <a:ext cx="3102795" cy="7324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秋季</a:t>
            </a:r>
          </a:p>
        </p:txBody>
      </p:sp>
    </p:spTree>
    <p:extLst>
      <p:ext uri="{BB962C8B-B14F-4D97-AF65-F5344CB8AC3E}">
        <p14:creationId xmlns:p14="http://schemas.microsoft.com/office/powerpoint/2010/main" val="306827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E84496B-A6E7-0576-0835-2EC1E8B76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36" y="1592088"/>
            <a:ext cx="5406614" cy="406388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1D85386-DD05-0222-888C-77A2F0F475DD}"/>
              </a:ext>
            </a:extLst>
          </p:cNvPr>
          <p:cNvSpPr txBox="1"/>
          <p:nvPr/>
        </p:nvSpPr>
        <p:spPr>
          <a:xfrm>
            <a:off x="6675634" y="2978201"/>
            <a:ext cx="6097712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 Bin  Count  Count (%)  Event rate  MORTALITY_RATE</a:t>
            </a:r>
          </a:p>
          <a:p>
            <a:r>
              <a:rPr lang="zh-CN" altLang="en-US" sz="1400" dirty="0"/>
              <a:t>0  (-inf, 0.65)     15   0.055147    0.533333        0.065301</a:t>
            </a:r>
          </a:p>
          <a:p>
            <a:r>
              <a:rPr lang="zh-CN" altLang="en-US" sz="1400" dirty="0"/>
              <a:t>1  [0.65, 1.02)    122   0.448529    0.303279        0.056893</a:t>
            </a:r>
          </a:p>
          <a:p>
            <a:r>
              <a:rPr lang="zh-CN" altLang="en-US" sz="1400" dirty="0"/>
              <a:t>2  [1.02, 1.07)     21   0.077206    0.190476        0.052183</a:t>
            </a:r>
          </a:p>
          <a:p>
            <a:r>
              <a:rPr lang="zh-CN" altLang="en-US" sz="1400" dirty="0"/>
              <a:t>3  [1.07, 1.27)     36   0.132353    0.027778        0.042166</a:t>
            </a:r>
          </a:p>
          <a:p>
            <a:r>
              <a:rPr lang="zh-CN" altLang="en-US" sz="1400" dirty="0"/>
              <a:t>4  [1.27, 1.39)     17   0.062500    0.058824        0.043176</a:t>
            </a:r>
          </a:p>
          <a:p>
            <a:r>
              <a:rPr lang="zh-CN" altLang="en-US" sz="1400" dirty="0"/>
              <a:t>5   [1.39, inf)     61   0.224265    0.065574        0.041858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24760B5-AEED-B884-3B08-3BEB9A404DFF}"/>
              </a:ext>
            </a:extLst>
          </p:cNvPr>
          <p:cNvSpPr/>
          <p:nvPr/>
        </p:nvSpPr>
        <p:spPr>
          <a:xfrm>
            <a:off x="8277106" y="663651"/>
            <a:ext cx="3102795" cy="7324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秋季</a:t>
            </a:r>
          </a:p>
        </p:txBody>
      </p:sp>
    </p:spTree>
    <p:extLst>
      <p:ext uri="{BB962C8B-B14F-4D97-AF65-F5344CB8AC3E}">
        <p14:creationId xmlns:p14="http://schemas.microsoft.com/office/powerpoint/2010/main" val="333653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E1759-B493-67DE-1F9E-D3F539CEB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7F18B6-B26F-09DF-E000-A7BF0AD0D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226" y="957768"/>
            <a:ext cx="8082481" cy="861774"/>
          </a:xfrm>
        </p:spPr>
        <p:txBody>
          <a:bodyPr/>
          <a:lstStyle/>
          <a:p>
            <a:r>
              <a:rPr lang="zh-CN" altLang="en-US" sz="4400" dirty="0">
                <a:latin typeface="等线" panose="02010600030101010101" pitchFamily="2" charset="-122"/>
                <a:ea typeface="等线" panose="02010600030101010101" pitchFamily="2" charset="-122"/>
              </a:rPr>
              <a:t>下周计划</a:t>
            </a:r>
            <a:endParaRPr lang="en-US" sz="4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344FB5-5D1A-25EB-41D1-35CC3CFE31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1994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2020-TEMPLATE-EXTERNAL" val="pdtUH84H"/>
  <p:tag name="ARTICULATE_DESIGN_ID_SAS-EXTERNAL-16X9-2023" val="CJxW6PTk"/>
  <p:tag name="ARTICULATE_DESIGN_ID_1_NDA" val="5KPCLKMf"/>
  <p:tag name="ARTICULATE_DESIGN_ID_1_SAS-EXTERNAL-16X9-2023" val="OvZPFYIY"/>
  <p:tag name="ARTICULATE_DESIGN_ID_SAS - EXTERNAL - 16X9 - 2023" val="iju6vBOG"/>
  <p:tag name="ARTICULATE_DESIGN_ID_SAS - EXTERNAL" val="IZ9bNYet"/>
  <p:tag name="ARTICULATE_DESIGN_ID_SAS - EXTERNAL - NDA" val="RR4fBfJW"/>
  <p:tag name="ARTICULATE_SLIDE_THUMBNAIL_REFRESH" val="1"/>
  <p:tag name="ARTICULATE_DESIGN_ID_CUSTOM DESIGN" val="WASRYxhz"/>
  <p:tag name="ARTICULATE_SLIDE_COUNT" val="11"/>
  <p:tag name="ARTICULATE_PROJECT_OPEN" val="0"/>
  <p:tag name="COMMONDATA" val="eyJoZGlkIjoiY2FmNGJlNDAzN2U1NmMyNzMzZTc0YjA1YWNhMzZlNT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AS - EXTERNAL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AS - EXTERNAL - NDA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52B48C136D414EB12EC6609A2B4A69" ma:contentTypeVersion="5" ma:contentTypeDescription="Create a new document." ma:contentTypeScope="" ma:versionID="c506d0840867f1adddbc926f9a8dfc6f">
  <xsd:schema xmlns:xsd="http://www.w3.org/2001/XMLSchema" xmlns:xs="http://www.w3.org/2001/XMLSchema" xmlns:p="http://schemas.microsoft.com/office/2006/metadata/properties" xmlns:ns2="d21cdafc-5a3a-425e-9674-4fb06b514c0e" xmlns:ns3="6e647c50-2143-4825-9865-d236e7692e65" targetNamespace="http://schemas.microsoft.com/office/2006/metadata/properties" ma:root="true" ma:fieldsID="0df08590ed69fcf4c72a3fc3581b1869" ns2:_="" ns3:_="">
    <xsd:import namespace="d21cdafc-5a3a-425e-9674-4fb06b514c0e"/>
    <xsd:import namespace="6e647c50-2143-4825-9865-d236e7692e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1cdafc-5a3a-425e-9674-4fb06b514c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47c50-2143-4825-9865-d236e7692e65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1779852-367B-483D-8C46-CF2C7DC5D261}">
  <ds:schemaRefs/>
</ds:datastoreItem>
</file>

<file path=customXml/itemProps2.xml><?xml version="1.0" encoding="utf-8"?>
<ds:datastoreItem xmlns:ds="http://schemas.openxmlformats.org/officeDocument/2006/customXml" ds:itemID="{E2663518-7548-4643-8219-608BFF0DFA0C}">
  <ds:schemaRefs/>
</ds:datastoreItem>
</file>

<file path=customXml/itemProps3.xml><?xml version="1.0" encoding="utf-8"?>
<ds:datastoreItem xmlns:ds="http://schemas.openxmlformats.org/officeDocument/2006/customXml" ds:itemID="{E3E925E4-5239-4639-A029-07B3CFD6A3F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EXTERNAL_Template_2023</Template>
  <TotalTime>3221</TotalTime>
  <Words>2568</Words>
  <Application>Microsoft Office PowerPoint</Application>
  <PresentationFormat>宽屏</PresentationFormat>
  <Paragraphs>295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34" baseType="lpstr">
      <vt:lpstr>Anova Bold</vt:lpstr>
      <vt:lpstr>Anova Light</vt:lpstr>
      <vt:lpstr>等线</vt:lpstr>
      <vt:lpstr>等线</vt:lpstr>
      <vt:lpstr>等线 Light</vt:lpstr>
      <vt:lpstr>Calibri</vt:lpstr>
      <vt:lpstr>Wingdings</vt:lpstr>
      <vt:lpstr>Wingdings 2</vt:lpstr>
      <vt:lpstr>SAS - EXTERNAL</vt:lpstr>
      <vt:lpstr>SAS - EXTERNAL - NDA</vt:lpstr>
      <vt:lpstr>数智驱动的肉鸡养殖根因分析实施方案  第四周成果汇报</vt:lpstr>
      <vt:lpstr>PowerPoint 演示文稿</vt:lpstr>
      <vt:lpstr>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下周计划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Plus Solution assist Value</dc:title>
  <dc:creator>Alex Zhang</dc:creator>
  <cp:lastModifiedBy>渊琰 肖</cp:lastModifiedBy>
  <cp:revision>186</cp:revision>
  <dcterms:created xsi:type="dcterms:W3CDTF">2023-10-08T03:09:00Z</dcterms:created>
  <dcterms:modified xsi:type="dcterms:W3CDTF">2025-05-22T01:50:54Z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451006F2-8E20-4D4E-B05C-4B5D02827FD6</vt:lpwstr>
  </property>
  <property fmtid="{D5CDD505-2E9C-101B-9397-08002B2CF9AE}" pid="3" name="ArticulatePath">
    <vt:lpwstr>2020-Template-External</vt:lpwstr>
  </property>
  <property fmtid="{D5CDD505-2E9C-101B-9397-08002B2CF9AE}" pid="4" name="ContentTypeId">
    <vt:lpwstr>0x0101008252B48C136D414EB12EC6609A2B4A69</vt:lpwstr>
  </property>
  <property fmtid="{D5CDD505-2E9C-101B-9397-08002B2CF9AE}" pid="5" name="ICV">
    <vt:lpwstr>5DA87FED2261458DA9A831FC15E03DC4_13</vt:lpwstr>
  </property>
  <property fmtid="{D5CDD505-2E9C-101B-9397-08002B2CF9AE}" pid="6" name="KSOProductBuildVer">
    <vt:lpwstr>2052-12.1.0.20784</vt:lpwstr>
  </property>
</Properties>
</file>