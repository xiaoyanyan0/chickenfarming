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  <p:sldMasterId id="2147483660" r:id="rId5"/>
  </p:sldMasterIdLst>
  <p:notesMasterIdLst>
    <p:notesMasterId r:id="rId38"/>
  </p:notesMasterIdLst>
  <p:handoutMasterIdLst>
    <p:handoutMasterId r:id="rId39"/>
  </p:handoutMasterIdLst>
  <p:sldIdLst>
    <p:sldId id="16771194" r:id="rId6"/>
    <p:sldId id="16771204" r:id="rId7"/>
    <p:sldId id="2147477425" r:id="rId8"/>
    <p:sldId id="2147477458" r:id="rId9"/>
    <p:sldId id="2147477468" r:id="rId10"/>
    <p:sldId id="2147477469" r:id="rId11"/>
    <p:sldId id="2147477470" r:id="rId12"/>
    <p:sldId id="2147477472" r:id="rId13"/>
    <p:sldId id="2147477471" r:id="rId14"/>
    <p:sldId id="2147477473" r:id="rId15"/>
    <p:sldId id="2147477476" r:id="rId16"/>
    <p:sldId id="2147477474" r:id="rId17"/>
    <p:sldId id="2147477475" r:id="rId18"/>
    <p:sldId id="2147477477" r:id="rId19"/>
    <p:sldId id="2147477481" r:id="rId20"/>
    <p:sldId id="2147477478" r:id="rId21"/>
    <p:sldId id="2147477479" r:id="rId22"/>
    <p:sldId id="2147477480" r:id="rId23"/>
    <p:sldId id="2147477495" r:id="rId24"/>
    <p:sldId id="2147477496" r:id="rId25"/>
    <p:sldId id="2147477484" r:id="rId26"/>
    <p:sldId id="2147477485" r:id="rId27"/>
    <p:sldId id="2147477486" r:id="rId28"/>
    <p:sldId id="2147477487" r:id="rId29"/>
    <p:sldId id="2147477488" r:id="rId30"/>
    <p:sldId id="2147477489" r:id="rId31"/>
    <p:sldId id="2147477490" r:id="rId32"/>
    <p:sldId id="2147477491" r:id="rId33"/>
    <p:sldId id="2147477492" r:id="rId34"/>
    <p:sldId id="2147477493" r:id="rId35"/>
    <p:sldId id="2147477494" r:id="rId36"/>
    <p:sldId id="2147477430" r:id="rId37"/>
  </p:sldIdLst>
  <p:sldSz cx="12192000" cy="6858000"/>
  <p:notesSz cx="6858000" cy="9144000"/>
  <p:custDataLst>
    <p:tags r:id="rId40"/>
  </p:custDataLst>
  <p:defaultTextStyle>
    <a:defPPr>
      <a:defRPr lang="en-US"/>
    </a:defPPr>
    <a:lvl1pPr marL="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5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1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9C3829F-2C56-4915-AA34-5F93EE359221}">
          <p14:sldIdLst>
            <p14:sldId id="16771194"/>
            <p14:sldId id="16771204"/>
            <p14:sldId id="2147477425"/>
          </p14:sldIdLst>
        </p14:section>
        <p14:section name="数据" id="{2FECDC8B-DE91-4323-AA2B-D801C56C963D}">
          <p14:sldIdLst>
            <p14:sldId id="2147477458"/>
          </p14:sldIdLst>
        </p14:section>
        <p14:section name="死淘" id="{132B593A-E1D9-4DD8-8D75-8389B5773F71}">
          <p14:sldIdLst>
            <p14:sldId id="2147477468"/>
            <p14:sldId id="2147477469"/>
            <p14:sldId id="2147477470"/>
            <p14:sldId id="2147477472"/>
            <p14:sldId id="2147477471"/>
            <p14:sldId id="2147477473"/>
            <p14:sldId id="2147477476"/>
            <p14:sldId id="2147477474"/>
            <p14:sldId id="2147477475"/>
            <p14:sldId id="2147477477"/>
            <p14:sldId id="2147477481"/>
            <p14:sldId id="2147477478"/>
            <p14:sldId id="2147477479"/>
            <p14:sldId id="2147477480"/>
            <p14:sldId id="2147477495"/>
            <p14:sldId id="2147477496"/>
            <p14:sldId id="2147477484"/>
            <p14:sldId id="2147477485"/>
            <p14:sldId id="2147477486"/>
            <p14:sldId id="2147477487"/>
          </p14:sldIdLst>
        </p14:section>
        <p14:section name="eef" id="{0CBA3FCE-B567-4F49-936C-7A69C0064915}">
          <p14:sldIdLst>
            <p14:sldId id="2147477488"/>
            <p14:sldId id="2147477489"/>
            <p14:sldId id="2147477490"/>
            <p14:sldId id="2147477491"/>
            <p14:sldId id="2147477492"/>
            <p14:sldId id="2147477493"/>
            <p14:sldId id="2147477494"/>
          </p14:sldIdLst>
        </p14:section>
        <p14:section name="下周计划" id="{AAB4484A-A58E-4FF9-9CE2-A3928016DD34}">
          <p14:sldIdLst>
            <p14:sldId id="214747743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03" userDrawn="1">
          <p15:clr>
            <a:srgbClr val="A4A3A4"/>
          </p15:clr>
        </p15:guide>
        <p15:guide id="2" pos="254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FFFFF"/>
    <a:srgbClr val="F1F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92" autoAdjust="0"/>
    <p:restoredTop sz="93438" autoAdjust="0"/>
  </p:normalViewPr>
  <p:slideViewPr>
    <p:cSldViewPr snapToGrid="0" showGuides="1">
      <p:cViewPr>
        <p:scale>
          <a:sx n="75" d="100"/>
          <a:sy n="75" d="100"/>
        </p:scale>
        <p:origin x="828" y="194"/>
      </p:cViewPr>
      <p:guideLst>
        <p:guide orient="horz" pos="2103"/>
        <p:guide pos="254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134" y="8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tags" Target="tags/tag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CE34E3-7E5C-436A-9E6D-2FFC8FFCFCBF}" type="datetimeFigureOut">
              <a:rPr lang="en-US" smtClean="0">
                <a:latin typeface="Anova Light" panose="020B0403020203020204" pitchFamily="34" charset="0"/>
              </a:rPr>
              <a:t>5/22/2025</a:t>
            </a:fld>
            <a:endParaRPr lang="en-US" dirty="0">
              <a:latin typeface="Anova Light" panose="020B0403020203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0" y="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l"/>
            <a:fld id="{C4EF46A2-9381-4C51-8277-3C7F2938E9F9}" type="slidenum">
              <a:rPr lang="en-US" smtClean="0">
                <a:latin typeface="Anova Light" panose="020B0403020203020204" pitchFamily="34" charset="0"/>
              </a:rPr>
              <a:t>‹#›</a:t>
            </a:fld>
            <a:endParaRPr lang="en-US" dirty="0">
              <a:latin typeface="Anova Light" panose="020B04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solidFill>
                  <a:schemeClr val="tx1"/>
                </a:solidFill>
                <a:latin typeface="Anova Light" panose="020B0403020203020204" pitchFamily="34" charset="0"/>
              </a:defRPr>
            </a:lvl1pPr>
          </a:lstStyle>
          <a:p>
            <a:fld id="{D46682E9-A1D3-F04F-A14F-ABAA4D2618F2}" type="datetimeFigureOut">
              <a:rPr lang="en-US" smtClean="0"/>
              <a:t>5/22/2025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685800" y="8879554"/>
            <a:ext cx="2514600" cy="169277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27432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00" b="0" i="0" u="none" strike="noStrike" kern="300" cap="none" spc="50" normalizeH="0" baseline="0" noProof="0" dirty="0">
                <a:ln>
                  <a:noFill/>
                </a:ln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5"/>
          </p:nvPr>
        </p:nvSpPr>
        <p:spPr>
          <a:xfrm>
            <a:off x="0" y="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solidFill>
                  <a:schemeClr val="tx1"/>
                </a:solidFill>
                <a:latin typeface="Anova Light" panose="020B0403020203020204" pitchFamily="34" charset="0"/>
              </a:defRPr>
            </a:lvl1pPr>
          </a:lstStyle>
          <a:p>
            <a:pPr algn="l"/>
            <a:fld id="{C4EF46A2-9381-4C51-8277-3C7F2938E9F9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2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992336" y="8788172"/>
            <a:ext cx="627951" cy="260659"/>
          </a:xfrm>
          <a:prstGeom prst="rect">
            <a:avLst/>
          </a:prstGeom>
        </p:spPr>
      </p:pic>
      <p:sp>
        <p:nvSpPr>
          <p:cNvPr id="6" name="TextBox 2"/>
          <p:cNvSpPr txBox="1"/>
          <p:nvPr/>
        </p:nvSpPr>
        <p:spPr>
          <a:xfrm>
            <a:off x="2493335" y="8732520"/>
            <a:ext cx="1871330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 defTabSz="182880"/>
            <a:r>
              <a:rPr lang="en-US" sz="800" dirty="0">
                <a:solidFill>
                  <a:schemeClr val="tx1"/>
                </a:solidFill>
                <a:latin typeface="Anova Light" panose="020B0403020203020204" pitchFamily="34" charset="0"/>
              </a:rPr>
              <a:t>sas.com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2286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1600" b="0" i="0" kern="1200">
        <a:solidFill>
          <a:schemeClr val="tx1"/>
        </a:solidFill>
        <a:latin typeface="+mn-lt"/>
        <a:ea typeface="+mn-ea"/>
        <a:cs typeface="+mn-cs"/>
      </a:defRPr>
    </a:lvl1pPr>
    <a:lvl2pPr marL="8382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–"/>
      <a:defRPr sz="1335" b="0" i="0" kern="1200">
        <a:solidFill>
          <a:schemeClr val="tx1"/>
        </a:solidFill>
        <a:latin typeface="+mn-lt"/>
        <a:ea typeface="+mn-ea"/>
        <a:cs typeface="+mn-cs"/>
      </a:defRPr>
    </a:lvl2pPr>
    <a:lvl3pPr marL="14478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1200" b="0" i="0" kern="1200">
        <a:solidFill>
          <a:schemeClr val="tx1"/>
        </a:solidFill>
        <a:latin typeface="+mn-lt"/>
        <a:ea typeface="+mn-ea"/>
        <a:cs typeface="+mn-cs"/>
      </a:defRPr>
    </a:lvl3pPr>
    <a:lvl4pPr marL="20574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–"/>
      <a:defRPr sz="1065" b="0" i="0" kern="1200">
        <a:solidFill>
          <a:schemeClr val="tx1"/>
        </a:solidFill>
        <a:latin typeface="+mn-lt"/>
        <a:ea typeface="+mn-ea"/>
        <a:cs typeface="+mn-cs"/>
      </a:defRPr>
    </a:lvl4pPr>
    <a:lvl5pPr marL="26670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935" b="0" i="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5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1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4" y="1890117"/>
            <a:ext cx="10518846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4" y="2813447"/>
            <a:ext cx="10518846" cy="615553"/>
          </a:xfrm>
        </p:spPr>
        <p:txBody>
          <a:bodyPr wrap="square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accent3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Slideshow Subtitle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Presenter Info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Secti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505670"/>
            <a:ext cx="8082481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3561836"/>
            <a:ext cx="8082481" cy="615553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bg1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Section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AS - Title &amp;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5767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/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idx="1"/>
          </p:nvPr>
        </p:nvSpPr>
        <p:spPr>
          <a:xfrm>
            <a:off x="838199" y="1600201"/>
            <a:ext cx="5161231" cy="45767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1"/>
          </p:nvPr>
        </p:nvSpPr>
        <p:spPr>
          <a:xfrm>
            <a:off x="6192571" y="1600201"/>
            <a:ext cx="5161232" cy="45767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 Only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2911937"/>
            <a:ext cx="2952184" cy="103412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&amp; Subtitle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3947330"/>
            <a:ext cx="3336233" cy="3662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834955" y="2768821"/>
            <a:ext cx="3334512" cy="1034386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/>
            </a:lvl1pPr>
          </a:lstStyle>
          <a:p>
            <a:pPr marL="0"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967336"/>
            <a:ext cx="8708755" cy="923330"/>
          </a:xfrm>
          <a:prstGeom prst="rect">
            <a:avLst/>
          </a:prstGeom>
        </p:spPr>
        <p:txBody>
          <a:bodyPr vert="horz" wrap="square" lIns="0" tIns="0" rIns="0" bIns="182880" rtlCol="0" anchor="ctr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Closing</a:t>
            </a:r>
          </a:p>
        </p:txBody>
      </p:sp>
      <p:sp>
        <p:nvSpPr>
          <p:cNvPr id="2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a website or email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AS - 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AS - Vide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2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42533" y="5517984"/>
            <a:ext cx="1711268" cy="705016"/>
          </a:xfrm>
          <a:prstGeom prst="rect">
            <a:avLst/>
          </a:prstGeom>
        </p:spPr>
      </p:pic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1890117"/>
            <a:ext cx="10521696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2813447"/>
            <a:ext cx="10521696" cy="615553"/>
          </a:xfrm>
        </p:spPr>
        <p:txBody>
          <a:bodyPr wrap="square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accent3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Slideshow Subtitle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Presenter Info</a:t>
            </a:r>
          </a:p>
        </p:txBody>
      </p:sp>
      <p:sp>
        <p:nvSpPr>
          <p:cNvPr id="2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Secti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505670"/>
            <a:ext cx="8082481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3561836"/>
            <a:ext cx="8082481" cy="615553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bg1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Section Subtitle</a:t>
            </a:r>
          </a:p>
        </p:txBody>
      </p:sp>
      <p:sp>
        <p:nvSpPr>
          <p:cNvPr id="2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>
                    <a:lumMod val="20000"/>
                    <a:lumOff val="80000"/>
                  </a:schemeClr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3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S - 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/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accent1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idx="1"/>
          </p:nvPr>
        </p:nvSpPr>
        <p:spPr>
          <a:xfrm>
            <a:off x="838199" y="1600200"/>
            <a:ext cx="5161231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1"/>
          </p:nvPr>
        </p:nvSpPr>
        <p:spPr>
          <a:xfrm>
            <a:off x="6192571" y="1600200"/>
            <a:ext cx="5161232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Only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2911937"/>
            <a:ext cx="2952184" cy="103412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&amp; Subtitle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3947330"/>
            <a:ext cx="3336233" cy="3662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834955" y="2768821"/>
            <a:ext cx="3334512" cy="1034386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/>
            </a:lvl1pPr>
          </a:lstStyle>
          <a:p>
            <a:pPr marL="0"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967336"/>
            <a:ext cx="8708755" cy="923330"/>
          </a:xfrm>
          <a:prstGeom prst="rect">
            <a:avLst/>
          </a:prstGeom>
        </p:spPr>
        <p:txBody>
          <a:bodyPr vert="horz" wrap="square" lIns="0" tIns="0" rIns="0" bIns="182880" rtlCol="0" anchor="ctr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Closing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42533" y="5517984"/>
            <a:ext cx="1711268" cy="705016"/>
          </a:xfrm>
          <a:prstGeom prst="rect">
            <a:avLst/>
          </a:prstGeom>
        </p:spPr>
      </p:pic>
      <p:sp>
        <p:nvSpPr>
          <p:cNvPr id="2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a website or email</a:t>
            </a:r>
          </a:p>
        </p:txBody>
      </p:sp>
      <p:sp>
        <p:nvSpPr>
          <p:cNvPr id="3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AS - 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S - Vide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ags" Target="../tags/tag3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5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4955" y="1600200"/>
            <a:ext cx="10515600" cy="45767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4955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Add Slide Title</a:t>
            </a:r>
          </a:p>
        </p:txBody>
      </p:sp>
      <p:pic>
        <p:nvPicPr>
          <p:cNvPr id="5" name="Picture 6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242570" y="4400550"/>
            <a:ext cx="4064000" cy="3689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735" b="1" i="0" kern="1200">
          <a:solidFill>
            <a:schemeClr val="accent5"/>
          </a:solidFill>
          <a:latin typeface="Anova Bold" panose="020B0703020203020204" pitchFamily="34" charset="0"/>
          <a:ea typeface="+mj-ea"/>
          <a:cs typeface="+mj-cs"/>
        </a:defRPr>
      </a:lvl1pPr>
    </p:titleStyle>
    <p:bodyStyle>
      <a:lvl1pPr marL="24384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–"/>
        <a:defRPr sz="1865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0984752" y="6096000"/>
            <a:ext cx="1207248" cy="76200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096000"/>
            <a:ext cx="10984752" cy="762001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4955" y="1600200"/>
            <a:ext cx="10515600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4955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Add Slide Title</a:t>
            </a:r>
          </a:p>
        </p:txBody>
      </p:sp>
      <p:sp>
        <p:nvSpPr>
          <p:cNvPr id="8" name="TextBox 4"/>
          <p:cNvSpPr txBox="1"/>
          <p:nvPr userDrawn="1"/>
        </p:nvSpPr>
        <p:spPr>
          <a:xfrm>
            <a:off x="834955" y="6180007"/>
            <a:ext cx="5725995" cy="420564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2135" b="1" i="0" u="none" strike="noStrike" kern="300" cap="none" spc="67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nova Bold" panose="020B07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CONFIDENTIAL — DO NOT DISCLOSE</a:t>
            </a:r>
          </a:p>
        </p:txBody>
      </p:sp>
      <p:sp>
        <p:nvSpPr>
          <p:cNvPr id="10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4" name="Picture 6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735" b="1" i="0" kern="1200">
          <a:solidFill>
            <a:schemeClr val="accent5"/>
          </a:solidFill>
          <a:latin typeface="Anova Bold" panose="020B0703020203020204" pitchFamily="34" charset="0"/>
          <a:ea typeface="+mj-ea"/>
          <a:cs typeface="+mj-cs"/>
        </a:defRPr>
      </a:lvl1pPr>
    </p:titleStyle>
    <p:bodyStyle>
      <a:lvl1pPr marL="24384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–"/>
        <a:defRPr sz="1865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45419" y="1213071"/>
            <a:ext cx="10518846" cy="2400657"/>
          </a:xfrm>
        </p:spPr>
        <p:txBody>
          <a:bodyPr/>
          <a:lstStyle/>
          <a:p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数智驱动的肉鸡养殖根因分析实施方案</a:t>
            </a:r>
            <a:b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</a:br>
            <a:b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</a:b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第四周成果汇报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>
          <a:xfrm>
            <a:off x="834955" y="4308945"/>
            <a:ext cx="8082481" cy="705015"/>
          </a:xfrm>
        </p:spPr>
        <p:txBody>
          <a:bodyPr/>
          <a:lstStyle/>
          <a:p>
            <a:r>
              <a:rPr lang="en-US" altLang="zh-CN" dirty="0"/>
              <a:t>2025.05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组合 87"/>
          <p:cNvGrpSpPr/>
          <p:nvPr/>
        </p:nvGrpSpPr>
        <p:grpSpPr>
          <a:xfrm>
            <a:off x="2689795" y="1304579"/>
            <a:ext cx="9182857" cy="5080787"/>
            <a:chOff x="2689795" y="1304579"/>
            <a:chExt cx="9182857" cy="5080787"/>
          </a:xfrm>
        </p:grpSpPr>
        <p:cxnSp>
          <p:nvCxnSpPr>
            <p:cNvPr id="50" name="直接连接符 49"/>
            <p:cNvCxnSpPr/>
            <p:nvPr/>
          </p:nvCxnSpPr>
          <p:spPr>
            <a:xfrm>
              <a:off x="2689795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58" name="直接连接符 57"/>
            <p:cNvCxnSpPr/>
            <p:nvPr/>
          </p:nvCxnSpPr>
          <p:spPr>
            <a:xfrm>
              <a:off x="5215019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59" name="直接连接符 58"/>
            <p:cNvCxnSpPr/>
            <p:nvPr/>
          </p:nvCxnSpPr>
          <p:spPr>
            <a:xfrm>
              <a:off x="6477631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60" name="直接连接符 59"/>
            <p:cNvCxnSpPr/>
            <p:nvPr/>
          </p:nvCxnSpPr>
          <p:spPr>
            <a:xfrm>
              <a:off x="10265467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68" name="直接连接符 67"/>
            <p:cNvCxnSpPr/>
            <p:nvPr/>
          </p:nvCxnSpPr>
          <p:spPr>
            <a:xfrm>
              <a:off x="9002855" y="1442480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77" name="直接连接符 76"/>
            <p:cNvCxnSpPr/>
            <p:nvPr/>
          </p:nvCxnSpPr>
          <p:spPr>
            <a:xfrm>
              <a:off x="3952407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83" name="直接连接符 82"/>
            <p:cNvCxnSpPr/>
            <p:nvPr/>
          </p:nvCxnSpPr>
          <p:spPr>
            <a:xfrm>
              <a:off x="11528078" y="1304579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pic>
          <p:nvPicPr>
            <p:cNvPr id="84" name="图形 83" descr="鲤鱼旗 纯色填充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497028" y="1404375"/>
              <a:ext cx="375624" cy="360000"/>
            </a:xfrm>
            <a:prstGeom prst="rect">
              <a:avLst/>
            </a:prstGeom>
          </p:spPr>
        </p:pic>
        <p:cxnSp>
          <p:nvCxnSpPr>
            <p:cNvPr id="87" name="直接连接符 86"/>
            <p:cNvCxnSpPr/>
            <p:nvPr/>
          </p:nvCxnSpPr>
          <p:spPr>
            <a:xfrm>
              <a:off x="7740243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</p:grpSp>
      <p:cxnSp>
        <p:nvCxnSpPr>
          <p:cNvPr id="49" name="直接连接符 48"/>
          <p:cNvCxnSpPr/>
          <p:nvPr/>
        </p:nvCxnSpPr>
        <p:spPr>
          <a:xfrm>
            <a:off x="11526134" y="1453366"/>
            <a:ext cx="0" cy="4932000"/>
          </a:xfrm>
          <a:prstGeom prst="line">
            <a:avLst/>
          </a:prstGeom>
          <a:noFill/>
          <a:ln w="6350" cap="flat" cmpd="sng" algn="ctr">
            <a:solidFill>
              <a:srgbClr val="FFFFFF">
                <a:lumMod val="65000"/>
              </a:srgbClr>
            </a:solidFill>
            <a:prstDash val="lgDash"/>
            <a:miter lim="800000"/>
          </a:ln>
          <a:effectLst/>
        </p:spPr>
      </p:cxnSp>
      <p:sp>
        <p:nvSpPr>
          <p:cNvPr id="2" name="标题 1"/>
          <p:cNvSpPr txBox="1"/>
          <p:nvPr/>
        </p:nvSpPr>
        <p:spPr>
          <a:xfrm>
            <a:off x="552010" y="27333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基于前期沟通，制定了详细合理的工作实施计划，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PoC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预计整体周期为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7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周，具体实施过程中采用多任务同步推进，串行和并行相结合的方式进行，有效推进项目快速落地</a:t>
            </a:r>
          </a:p>
        </p:txBody>
      </p:sp>
      <p:sp>
        <p:nvSpPr>
          <p:cNvPr id="6" name="Freeform 60"/>
          <p:cNvSpPr/>
          <p:nvPr/>
        </p:nvSpPr>
        <p:spPr bwMode="auto">
          <a:xfrm>
            <a:off x="1358471" y="1349215"/>
            <a:ext cx="10363180" cy="73919"/>
          </a:xfrm>
          <a:custGeom>
            <a:avLst/>
            <a:gdLst>
              <a:gd name="T0" fmla="*/ 0 w 4490"/>
              <a:gd name="T1" fmla="*/ 2147483647 h 91"/>
              <a:gd name="T2" fmla="*/ 0 w 4490"/>
              <a:gd name="T3" fmla="*/ 0 h 91"/>
              <a:gd name="T4" fmla="*/ 2147483647 w 4490"/>
              <a:gd name="T5" fmla="*/ 0 h 91"/>
              <a:gd name="T6" fmla="*/ 2147483647 w 4490"/>
              <a:gd name="T7" fmla="*/ 2147483647 h 91"/>
              <a:gd name="T8" fmla="*/ 0 60000 65536"/>
              <a:gd name="T9" fmla="*/ 0 60000 65536"/>
              <a:gd name="T10" fmla="*/ 0 60000 65536"/>
              <a:gd name="T11" fmla="*/ 0 60000 65536"/>
              <a:gd name="T12" fmla="*/ 0 w 4490"/>
              <a:gd name="T13" fmla="*/ 0 h 91"/>
              <a:gd name="T14" fmla="*/ 4490 w 4490"/>
              <a:gd name="T15" fmla="*/ 91 h 9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4490" h="91">
                <a:moveTo>
                  <a:pt x="0" y="91"/>
                </a:moveTo>
                <a:lnTo>
                  <a:pt x="0" y="0"/>
                </a:lnTo>
                <a:lnTo>
                  <a:pt x="4490" y="0"/>
                </a:lnTo>
                <a:lnTo>
                  <a:pt x="4490" y="91"/>
                </a:lnTo>
              </a:path>
            </a:pathLst>
          </a:custGeom>
          <a:noFill/>
          <a:ln w="6350">
            <a:solidFill>
              <a:srgbClr val="BBBCBC"/>
            </a:solidFill>
            <a:round/>
          </a:ln>
        </p:spPr>
        <p:txBody>
          <a:bodyPr wrap="none" lIns="0" tIns="0" rIns="0" bIns="0" anchor="ctr"/>
          <a:lstStyle/>
          <a:p>
            <a:pPr marL="0" marR="0" lvl="0" indent="0" algn="l" defTabSz="609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65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685505" y="1442480"/>
            <a:ext cx="619678" cy="749660"/>
            <a:chOff x="427051" y="1660594"/>
            <a:chExt cx="593903" cy="749660"/>
          </a:xfrm>
        </p:grpSpPr>
        <p:sp>
          <p:nvSpPr>
            <p:cNvPr id="32" name="矩形 31"/>
            <p:cNvSpPr/>
            <p:nvPr/>
          </p:nvSpPr>
          <p:spPr>
            <a:xfrm>
              <a:off x="520023" y="1660594"/>
              <a:ext cx="500931" cy="7496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zh-CN" alt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等线" panose="02010600030101010101" pitchFamily="2" charset="-122"/>
                  <a:ea typeface="等线" panose="02010600030101010101" pitchFamily="2" charset="-122"/>
                  <a:cs typeface="+mn-cs"/>
                </a:rPr>
                <a:t>前期准备</a:t>
              </a:r>
            </a:p>
          </p:txBody>
        </p:sp>
        <p:sp>
          <p:nvSpPr>
            <p:cNvPr id="33" name="Oval 20"/>
            <p:cNvSpPr/>
            <p:nvPr/>
          </p:nvSpPr>
          <p:spPr bwMode="gray">
            <a:xfrm>
              <a:off x="427051" y="1943984"/>
              <a:ext cx="182880" cy="182880"/>
            </a:xfrm>
            <a:prstGeom prst="ellipse">
              <a:avLst/>
            </a:prstGeom>
            <a:solidFill>
              <a:schemeClr val="tx1"/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680726" y="2284224"/>
            <a:ext cx="616963" cy="3575538"/>
            <a:chOff x="446496" y="2370258"/>
            <a:chExt cx="591301" cy="3575538"/>
          </a:xfrm>
        </p:grpSpPr>
        <p:sp>
          <p:nvSpPr>
            <p:cNvPr id="35" name="矩形 34"/>
            <p:cNvSpPr/>
            <p:nvPr/>
          </p:nvSpPr>
          <p:spPr>
            <a:xfrm>
              <a:off x="528856" y="2370258"/>
              <a:ext cx="508941" cy="35755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lang="zh-CN" altLang="en-US" sz="1100" b="1" dirty="0">
                  <a:solidFill>
                    <a:prstClr val="black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主体实施</a:t>
              </a:r>
              <a:endPara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6" name="Oval 20"/>
            <p:cNvSpPr/>
            <p:nvPr/>
          </p:nvSpPr>
          <p:spPr bwMode="gray">
            <a:xfrm>
              <a:off x="446496" y="3822520"/>
              <a:ext cx="182880" cy="182880"/>
            </a:xfrm>
            <a:prstGeom prst="ellipse">
              <a:avLst/>
            </a:prstGeom>
            <a:solidFill>
              <a:schemeClr val="tx1"/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pitchFamily="2" charset="-122"/>
                  <a:ea typeface="等线" panose="02010600030101010101" pitchFamily="2" charset="-122"/>
                  <a:cs typeface="+mn-cs"/>
                </a:rPr>
                <a:t>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687104" y="5910770"/>
            <a:ext cx="618080" cy="453681"/>
            <a:chOff x="406210" y="5558612"/>
            <a:chExt cx="592371" cy="453681"/>
          </a:xfrm>
        </p:grpSpPr>
        <p:sp>
          <p:nvSpPr>
            <p:cNvPr id="38" name="矩形 37"/>
            <p:cNvSpPr/>
            <p:nvPr/>
          </p:nvSpPr>
          <p:spPr>
            <a:xfrm>
              <a:off x="485637" y="5558612"/>
              <a:ext cx="512944" cy="4536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lang="zh-CN" altLang="en-US" sz="1100" b="1" dirty="0">
                  <a:solidFill>
                    <a:prstClr val="black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分析交付</a:t>
              </a:r>
              <a:endPara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9" name="Oval 20"/>
            <p:cNvSpPr/>
            <p:nvPr/>
          </p:nvSpPr>
          <p:spPr bwMode="gray">
            <a:xfrm>
              <a:off x="406210" y="5710478"/>
              <a:ext cx="182880" cy="182880"/>
            </a:xfrm>
            <a:prstGeom prst="ellipse">
              <a:avLst/>
            </a:prstGeom>
            <a:solidFill>
              <a:schemeClr val="tx1"/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pitchFamily="2" charset="-122"/>
                  <a:ea typeface="等线" panose="02010600030101010101" pitchFamily="2" charset="-122"/>
                  <a:cs typeface="+mn-cs"/>
                </a:rPr>
                <a:t>3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0" name="矩形 39"/>
          <p:cNvSpPr/>
          <p:nvPr/>
        </p:nvSpPr>
        <p:spPr bwMode="gray">
          <a:xfrm>
            <a:off x="1358471" y="1442481"/>
            <a:ext cx="10363182" cy="750507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1203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n-cs"/>
              </a:rPr>
              <a:t>环境和数据准备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01203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AutoShape 95"/>
          <p:cNvSpPr>
            <a:spLocks noChangeArrowheads="1"/>
          </p:cNvSpPr>
          <p:nvPr/>
        </p:nvSpPr>
        <p:spPr bwMode="auto">
          <a:xfrm>
            <a:off x="343949" y="1442480"/>
            <a:ext cx="264859" cy="4921972"/>
          </a:xfrm>
          <a:prstGeom prst="rect">
            <a:avLst/>
          </a:prstGeom>
          <a:pattFill prst="dkDnDiag">
            <a:fgClr>
              <a:schemeClr val="tx2">
                <a:lumMod val="10000"/>
                <a:lumOff val="90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 lIns="0" tIns="88900" rIns="0" bIns="88900" anchor="ctr"/>
          <a:lstStyle>
            <a:lvl1pPr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60833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1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时间计划安排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 bwMode="gray">
          <a:xfrm>
            <a:off x="1358469" y="2284223"/>
            <a:ext cx="10363182" cy="1512401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数据质量检查</a:t>
            </a:r>
          </a:p>
        </p:txBody>
      </p:sp>
      <p:sp>
        <p:nvSpPr>
          <p:cNvPr id="45" name="矩形 44"/>
          <p:cNvSpPr/>
          <p:nvPr/>
        </p:nvSpPr>
        <p:spPr bwMode="gray">
          <a:xfrm>
            <a:off x="1358469" y="5912872"/>
            <a:ext cx="10363182" cy="453681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defTabSz="914400"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成果分析和报表交付</a:t>
            </a:r>
            <a:endParaRPr lang="en-US" altLang="zh-CN" sz="1000" b="1" dirty="0">
              <a:solidFill>
                <a:srgbClr val="012036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pSp>
        <p:nvGrpSpPr>
          <p:cNvPr id="61" name="组合 60"/>
          <p:cNvGrpSpPr/>
          <p:nvPr/>
        </p:nvGrpSpPr>
        <p:grpSpPr>
          <a:xfrm>
            <a:off x="4774317" y="980093"/>
            <a:ext cx="848804" cy="442535"/>
            <a:chOff x="3224585" y="980599"/>
            <a:chExt cx="848804" cy="442535"/>
          </a:xfrm>
        </p:grpSpPr>
        <p:sp>
          <p:nvSpPr>
            <p:cNvPr id="5" name="Text Box 49"/>
            <p:cNvSpPr txBox="1">
              <a:spLocks noChangeArrowheads="1"/>
            </p:cNvSpPr>
            <p:nvPr/>
          </p:nvSpPr>
          <p:spPr bwMode="auto">
            <a:xfrm>
              <a:off x="3224585" y="980599"/>
              <a:ext cx="848804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1400" b="1" dirty="0">
                  <a:solidFill>
                    <a:srgbClr val="53565A"/>
                  </a:solidFill>
                  <a:latin typeface="Calibri" panose="020F0502020204030204"/>
                  <a:ea typeface="MS PGothic" panose="020B0600070205080204" charset="-128"/>
                </a:rPr>
                <a:t>W2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  <p:sp>
          <p:nvSpPr>
            <p:cNvPr id="7" name="Oval 61"/>
            <p:cNvSpPr>
              <a:spLocks noChangeArrowheads="1"/>
            </p:cNvSpPr>
            <p:nvPr/>
          </p:nvSpPr>
          <p:spPr bwMode="auto">
            <a:xfrm>
              <a:off x="3567418" y="1274544"/>
              <a:ext cx="163142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6036054" y="980093"/>
            <a:ext cx="848804" cy="442535"/>
            <a:chOff x="2362212" y="980599"/>
            <a:chExt cx="773093" cy="442535"/>
          </a:xfrm>
        </p:grpSpPr>
        <p:sp>
          <p:nvSpPr>
            <p:cNvPr id="9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W3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7297791" y="980093"/>
            <a:ext cx="848804" cy="442535"/>
            <a:chOff x="2362212" y="980599"/>
            <a:chExt cx="773093" cy="442535"/>
          </a:xfrm>
        </p:grpSpPr>
        <p:sp>
          <p:nvSpPr>
            <p:cNvPr id="12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W4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8559528" y="980093"/>
            <a:ext cx="848804" cy="442535"/>
            <a:chOff x="2362212" y="980599"/>
            <a:chExt cx="773093" cy="442535"/>
          </a:xfrm>
        </p:grpSpPr>
        <p:sp>
          <p:nvSpPr>
            <p:cNvPr id="15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W5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11083005" y="980093"/>
            <a:ext cx="848804" cy="442535"/>
            <a:chOff x="2362212" y="980599"/>
            <a:chExt cx="773093" cy="442535"/>
          </a:xfrm>
        </p:grpSpPr>
        <p:sp>
          <p:nvSpPr>
            <p:cNvPr id="18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W7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62" name="组合 61"/>
          <p:cNvGrpSpPr/>
          <p:nvPr/>
        </p:nvGrpSpPr>
        <p:grpSpPr>
          <a:xfrm>
            <a:off x="2293002" y="981073"/>
            <a:ext cx="806645" cy="440575"/>
            <a:chOff x="1890330" y="982705"/>
            <a:chExt cx="806645" cy="440575"/>
          </a:xfrm>
        </p:grpSpPr>
        <p:sp>
          <p:nvSpPr>
            <p:cNvPr id="46" name="Text Box 49"/>
            <p:cNvSpPr txBox="1">
              <a:spLocks noChangeArrowheads="1"/>
            </p:cNvSpPr>
            <p:nvPr/>
          </p:nvSpPr>
          <p:spPr bwMode="auto">
            <a:xfrm>
              <a:off x="1890330" y="982705"/>
              <a:ext cx="806645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1400" b="1" dirty="0">
                  <a:solidFill>
                    <a:srgbClr val="53565A"/>
                  </a:solidFill>
                  <a:latin typeface="Calibri" panose="020F0502020204030204"/>
                  <a:ea typeface="MS PGothic" panose="020B0600070205080204" charset="-128"/>
                </a:rPr>
                <a:t>W0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  <p:sp>
          <p:nvSpPr>
            <p:cNvPr id="43" name="Oval 61"/>
            <p:cNvSpPr>
              <a:spLocks noChangeArrowheads="1"/>
            </p:cNvSpPr>
            <p:nvPr/>
          </p:nvSpPr>
          <p:spPr bwMode="auto">
            <a:xfrm>
              <a:off x="2216133" y="1274690"/>
              <a:ext cx="163142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1" name="矩形 50"/>
          <p:cNvSpPr/>
          <p:nvPr/>
        </p:nvSpPr>
        <p:spPr>
          <a:xfrm>
            <a:off x="2708293" y="2353974"/>
            <a:ext cx="1226315" cy="25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3" name="矩形 22"/>
          <p:cNvSpPr/>
          <p:nvPr/>
        </p:nvSpPr>
        <p:spPr>
          <a:xfrm>
            <a:off x="2695012" y="1577056"/>
            <a:ext cx="1255450" cy="1644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6" name="矩形 25"/>
          <p:cNvSpPr/>
          <p:nvPr/>
        </p:nvSpPr>
        <p:spPr>
          <a:xfrm>
            <a:off x="3985506" y="2565788"/>
            <a:ext cx="1226316" cy="25391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7" name="矩形 26"/>
          <p:cNvSpPr/>
          <p:nvPr/>
        </p:nvSpPr>
        <p:spPr>
          <a:xfrm>
            <a:off x="3990303" y="3224220"/>
            <a:ext cx="1216722" cy="25391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8" name="矩形 27"/>
          <p:cNvSpPr/>
          <p:nvPr/>
        </p:nvSpPr>
        <p:spPr>
          <a:xfrm>
            <a:off x="5243656" y="3919366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9" name="矩形 28"/>
          <p:cNvSpPr/>
          <p:nvPr/>
        </p:nvSpPr>
        <p:spPr>
          <a:xfrm>
            <a:off x="5243656" y="4378978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30" name="矩形 29"/>
          <p:cNvSpPr/>
          <p:nvPr/>
        </p:nvSpPr>
        <p:spPr>
          <a:xfrm>
            <a:off x="6506738" y="4912799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52" name="文本框 51"/>
          <p:cNvSpPr txBox="1"/>
          <p:nvPr/>
        </p:nvSpPr>
        <p:spPr>
          <a:xfrm>
            <a:off x="2638643" y="2597966"/>
            <a:ext cx="14754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2.1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环控数据和生产数据盘点</a:t>
            </a:r>
          </a:p>
        </p:txBody>
      </p:sp>
      <p:sp>
        <p:nvSpPr>
          <p:cNvPr id="53" name="矩形 52"/>
          <p:cNvSpPr/>
          <p:nvPr/>
        </p:nvSpPr>
        <p:spPr>
          <a:xfrm>
            <a:off x="10297042" y="5927268"/>
            <a:ext cx="1349027" cy="253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54" name="文本框 53"/>
          <p:cNvSpPr txBox="1"/>
          <p:nvPr/>
        </p:nvSpPr>
        <p:spPr>
          <a:xfrm>
            <a:off x="10095058" y="6152892"/>
            <a:ext cx="175299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5.1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报告交付和现场汇报</a:t>
            </a:r>
          </a:p>
        </p:txBody>
      </p:sp>
      <p:sp>
        <p:nvSpPr>
          <p:cNvPr id="56" name="文本框 55"/>
          <p:cNvSpPr txBox="1"/>
          <p:nvPr/>
        </p:nvSpPr>
        <p:spPr>
          <a:xfrm>
            <a:off x="3968224" y="2832674"/>
            <a:ext cx="227509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2.2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数据完整性、准确性、有效性、一致性、时效性检验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3968224" y="3420745"/>
            <a:ext cx="127552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2.3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数据缺失率、极值、异常值检查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5243656" y="4154744"/>
            <a:ext cx="1216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3.1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变量分布分析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5171820" y="4603222"/>
            <a:ext cx="25075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3.2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变量趋势分析及异常模式探查</a:t>
            </a:r>
          </a:p>
        </p:txBody>
      </p:sp>
      <p:sp>
        <p:nvSpPr>
          <p:cNvPr id="66" name="文本框 65"/>
          <p:cNvSpPr txBox="1"/>
          <p:nvPr/>
        </p:nvSpPr>
        <p:spPr>
          <a:xfrm>
            <a:off x="6425581" y="5130637"/>
            <a:ext cx="177769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4.1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自变量间相关性探查</a:t>
            </a:r>
          </a:p>
        </p:txBody>
      </p:sp>
      <p:sp>
        <p:nvSpPr>
          <p:cNvPr id="48" name="文本框 47"/>
          <p:cNvSpPr txBox="1"/>
          <p:nvPr/>
        </p:nvSpPr>
        <p:spPr>
          <a:xfrm>
            <a:off x="2636350" y="1938224"/>
            <a:ext cx="177372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1.2 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分析环境搭建</a:t>
            </a:r>
          </a:p>
        </p:txBody>
      </p:sp>
      <p:sp>
        <p:nvSpPr>
          <p:cNvPr id="22" name="矩形 21"/>
          <p:cNvSpPr/>
          <p:nvPr/>
        </p:nvSpPr>
        <p:spPr bwMode="gray">
          <a:xfrm>
            <a:off x="1358469" y="3840667"/>
            <a:ext cx="10363182" cy="969279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现状分析</a:t>
            </a:r>
          </a:p>
        </p:txBody>
      </p:sp>
      <p:grpSp>
        <p:nvGrpSpPr>
          <p:cNvPr id="25" name="组合 24"/>
          <p:cNvGrpSpPr/>
          <p:nvPr/>
        </p:nvGrpSpPr>
        <p:grpSpPr>
          <a:xfrm>
            <a:off x="3512580" y="980093"/>
            <a:ext cx="848804" cy="442535"/>
            <a:chOff x="3224585" y="980599"/>
            <a:chExt cx="848804" cy="442535"/>
          </a:xfrm>
        </p:grpSpPr>
        <p:sp>
          <p:nvSpPr>
            <p:cNvPr id="42" name="Text Box 49"/>
            <p:cNvSpPr txBox="1">
              <a:spLocks noChangeArrowheads="1"/>
            </p:cNvSpPr>
            <p:nvPr/>
          </p:nvSpPr>
          <p:spPr bwMode="auto">
            <a:xfrm>
              <a:off x="3224585" y="980599"/>
              <a:ext cx="848804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1400" b="1" dirty="0">
                  <a:solidFill>
                    <a:srgbClr val="53565A"/>
                  </a:solidFill>
                  <a:latin typeface="Calibri" panose="020F0502020204030204"/>
                  <a:ea typeface="MS PGothic" panose="020B0600070205080204" charset="-128"/>
                </a:rPr>
                <a:t>W1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  <p:sp>
          <p:nvSpPr>
            <p:cNvPr id="47" name="Oval 61"/>
            <p:cNvSpPr>
              <a:spLocks noChangeArrowheads="1"/>
            </p:cNvSpPr>
            <p:nvPr/>
          </p:nvSpPr>
          <p:spPr bwMode="auto">
            <a:xfrm>
              <a:off x="3567418" y="1274544"/>
              <a:ext cx="163142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9821265" y="980093"/>
            <a:ext cx="848804" cy="442535"/>
            <a:chOff x="2362212" y="980599"/>
            <a:chExt cx="773093" cy="442535"/>
          </a:xfrm>
        </p:grpSpPr>
        <p:sp>
          <p:nvSpPr>
            <p:cNvPr id="85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W6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sp>
        <p:nvSpPr>
          <p:cNvPr id="89" name="文本框 88"/>
          <p:cNvSpPr txBox="1"/>
          <p:nvPr/>
        </p:nvSpPr>
        <p:spPr>
          <a:xfrm>
            <a:off x="2636350" y="1735802"/>
            <a:ext cx="15710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1.1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需求确认及数据准备</a:t>
            </a:r>
          </a:p>
        </p:txBody>
      </p:sp>
      <p:sp>
        <p:nvSpPr>
          <p:cNvPr id="90" name="矩形 89"/>
          <p:cNvSpPr/>
          <p:nvPr/>
        </p:nvSpPr>
        <p:spPr>
          <a:xfrm>
            <a:off x="5243734" y="3293787"/>
            <a:ext cx="1216722" cy="25391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91" name="文本框 90"/>
          <p:cNvSpPr txBox="1"/>
          <p:nvPr/>
        </p:nvSpPr>
        <p:spPr>
          <a:xfrm>
            <a:off x="5202998" y="3549910"/>
            <a:ext cx="14640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2.4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数据质量检查报告</a:t>
            </a:r>
          </a:p>
        </p:txBody>
      </p:sp>
      <p:sp>
        <p:nvSpPr>
          <p:cNvPr id="92" name="矩形 91"/>
          <p:cNvSpPr/>
          <p:nvPr/>
        </p:nvSpPr>
        <p:spPr bwMode="gray">
          <a:xfrm>
            <a:off x="1358469" y="4890483"/>
            <a:ext cx="10363182" cy="969279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效应分析</a:t>
            </a:r>
          </a:p>
        </p:txBody>
      </p:sp>
      <p:sp>
        <p:nvSpPr>
          <p:cNvPr id="93" name="矩形 92"/>
          <p:cNvSpPr/>
          <p:nvPr/>
        </p:nvSpPr>
        <p:spPr>
          <a:xfrm>
            <a:off x="6508510" y="5365777"/>
            <a:ext cx="2447835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2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94" name="文本框 93"/>
          <p:cNvSpPr txBox="1"/>
          <p:nvPr/>
        </p:nvSpPr>
        <p:spPr>
          <a:xfrm>
            <a:off x="6425581" y="5583615"/>
            <a:ext cx="2718419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4.2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自变量与目标变量之间影响效应分析</a:t>
            </a:r>
            <a:endParaRPr lang="zh-CN" altLang="en-US" sz="1050" i="1" dirty="0">
              <a:highlight>
                <a:srgbClr val="F1F2F4"/>
              </a:highlight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95" name="矩形 94"/>
          <p:cNvSpPr/>
          <p:nvPr/>
        </p:nvSpPr>
        <p:spPr>
          <a:xfrm>
            <a:off x="9036391" y="5367174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96" name="文本框 95"/>
          <p:cNvSpPr txBox="1"/>
          <p:nvPr/>
        </p:nvSpPr>
        <p:spPr>
          <a:xfrm>
            <a:off x="8955234" y="5585012"/>
            <a:ext cx="177769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4.3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影响效应分析结果解读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3CEBF6-F5D3-BC53-F5FD-4A16ECA9A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226" y="957768"/>
            <a:ext cx="8082481" cy="861774"/>
          </a:xfrm>
        </p:spPr>
        <p:txBody>
          <a:bodyPr/>
          <a:lstStyle/>
          <a:p>
            <a:r>
              <a:rPr lang="zh-CN" altLang="en-US" sz="4400" dirty="0">
                <a:latin typeface="等线" panose="02010600030101010101" pitchFamily="2" charset="-122"/>
                <a:ea typeface="等线" panose="02010600030101010101" pitchFamily="2" charset="-122"/>
              </a:rPr>
              <a:t>目录</a:t>
            </a:r>
            <a:endParaRPr lang="en-US" sz="4400" dirty="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4D02FC-AB0A-E09A-CFCB-79E270DFCF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92226" y="2105025"/>
            <a:ext cx="10628249" cy="3638550"/>
          </a:xfrm>
        </p:spPr>
        <p:txBody>
          <a:bodyPr/>
          <a:lstStyle/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数据清洗与整合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死淘相关分析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相关分析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下周计划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10086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BEA8-C0F7-9E9C-952C-C282FB79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ED749DB9-B7AF-D595-8D22-56A20501B2F7}"/>
              </a:ext>
            </a:extLst>
          </p:cNvPr>
          <p:cNvSpPr txBox="1"/>
          <p:nvPr/>
        </p:nvSpPr>
        <p:spPr>
          <a:xfrm>
            <a:off x="339052" y="280917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 Light" panose="02010600030101010101" pitchFamily="2" charset="-122"/>
                <a:ea typeface="等线 Light" panose="02010600030101010101" pitchFamily="2" charset="-122"/>
              </a:rPr>
              <a:t>环控数据清洗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 Light" panose="02010600030101010101" pitchFamily="2" charset="-122"/>
              <a:ea typeface="等线 Light" panose="02010600030101010101" pitchFamily="2" charset="-122"/>
              <a:cs typeface="+mj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27BB076-22CB-2B3F-8D04-4366DC5ADEE2}"/>
              </a:ext>
            </a:extLst>
          </p:cNvPr>
          <p:cNvSpPr txBox="1"/>
          <p:nvPr/>
        </p:nvSpPr>
        <p:spPr>
          <a:xfrm>
            <a:off x="1242279" y="1394239"/>
            <a:ext cx="8733393" cy="605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 fontAlgn="base">
              <a:lnSpc>
                <a:spcPts val="1308"/>
              </a:lnSpc>
              <a:buFont typeface="+mj-lt"/>
              <a:buAutoNum type="arabicPeriod"/>
            </a:pPr>
            <a:r>
              <a:rPr lang="zh-CN" altLang="en-US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缺失值处理。取日龄</a:t>
            </a:r>
            <a:r>
              <a:rPr lang="en-US" altLang="zh-CN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0-25</a:t>
            </a:r>
            <a:r>
              <a:rPr lang="zh-CN" altLang="en-US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天的数据，去除日龄缺失超过一半的样本，并以同一农场日龄下的平均值进行缺失值的补充。最终样本量由</a:t>
            </a:r>
            <a:r>
              <a:rPr lang="en-US" altLang="zh-CN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1257</a:t>
            </a:r>
            <a:r>
              <a:rPr lang="zh-CN" altLang="en-US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降至</a:t>
            </a:r>
            <a:r>
              <a:rPr lang="en-US" altLang="zh-CN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989</a:t>
            </a:r>
            <a:r>
              <a:rPr lang="zh-CN" altLang="en-US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。日龄维度的样本数量为</a:t>
            </a:r>
            <a:r>
              <a:rPr lang="en-US" altLang="zh-CN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21953</a:t>
            </a:r>
            <a:r>
              <a:rPr lang="zh-CN" altLang="en-US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 </a:t>
            </a:r>
          </a:p>
          <a:p>
            <a:pPr algn="just" rtl="0" fontAlgn="base">
              <a:lnSpc>
                <a:spcPts val="1308"/>
              </a:lnSpc>
              <a:buFont typeface="+mj-lt"/>
              <a:buAutoNum type="arabicPeriod" startAt="2"/>
            </a:pPr>
            <a:r>
              <a:rPr lang="zh-CN" altLang="en-US" sz="1400" b="0" i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</a:rPr>
              <a:t>日报数据读取</a:t>
            </a:r>
            <a:endParaRPr lang="zh-CN" altLang="en-US" sz="1400" b="0" i="0" dirty="0">
              <a:solidFill>
                <a:srgbClr val="000000"/>
              </a:solidFill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6F330B4-1284-20EE-5956-5529C0DDABD9}"/>
              </a:ext>
            </a:extLst>
          </p:cNvPr>
          <p:cNvSpPr txBox="1"/>
          <p:nvPr/>
        </p:nvSpPr>
        <p:spPr>
          <a:xfrm>
            <a:off x="2047875" y="2710488"/>
            <a:ext cx="609600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Winter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分位数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0.1223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Winter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404,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正样本比例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20.05%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Spring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分位数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0.1394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Spring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135,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正样本比例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20.00%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Summer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分位数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0.0441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Summer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178,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正样本比例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20.22%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Autumn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分位数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0.0643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Autumn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272,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正样本比例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20.22%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总样本分布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9     163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12    148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10    142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3     135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11    130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1     128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2     128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8      15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858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202-4BF3-2015-5A6F-CAB28DC72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53B57754-EB67-1543-424E-A82158D49A87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6B1447B-612E-1B24-99A2-C7B20808815B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8661442-02AE-9CD8-3722-18762DD36811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06F084B5-E5D8-7921-5966-51D0BD86121D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BAB5ED-040B-2760-028B-2BA21E40D7FD}"/>
              </a:ext>
            </a:extLst>
          </p:cNvPr>
          <p:cNvSpPr/>
          <p:nvPr/>
        </p:nvSpPr>
        <p:spPr>
          <a:xfrm>
            <a:off x="492981" y="1249209"/>
            <a:ext cx="564032" cy="78661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946470-2696-18D4-1DAD-3271D445C987}"/>
              </a:ext>
            </a:extLst>
          </p:cNvPr>
          <p:cNvSpPr/>
          <p:nvPr/>
        </p:nvSpPr>
        <p:spPr>
          <a:xfrm>
            <a:off x="492981" y="1249209"/>
            <a:ext cx="11060104" cy="78661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FDAE2BB4-3695-0CF0-068B-EB844D1A5295}"/>
              </a:ext>
            </a:extLst>
          </p:cNvPr>
          <p:cNvSpPr txBox="1"/>
          <p:nvPr/>
        </p:nvSpPr>
        <p:spPr>
          <a:xfrm>
            <a:off x="1057013" y="1339235"/>
            <a:ext cx="10642006" cy="690076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以每日龄的死淘率为目标变量，探索温度和饮水相关因素，包括当天温度，前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天温度等指标和指标变化对死淘率的影响。取全量样本的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80%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分位数划分高低死淘。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4E5F8C5-C6C6-0747-2AB2-6BCAFD4E3744}"/>
              </a:ext>
            </a:extLst>
          </p:cNvPr>
          <p:cNvSpPr txBox="1"/>
          <p:nvPr/>
        </p:nvSpPr>
        <p:spPr>
          <a:xfrm>
            <a:off x="4943475" y="3374884"/>
            <a:ext cx="660961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Lowest_Temn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'Water_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天变化百分比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'Feed_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天变化百分比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Lowest_Temn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'Water',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Lowest_Temn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Highest_Temp_Outside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Highest_Temn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Highest_humidity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Lowest_Temp_Outside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天变化百分比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Lowest_Temn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Highest_Temn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Lowest_Temp_Outside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天变化百分比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每日温差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平均温度变化率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最高温度变化率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Highest_Temp_Outside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天变化百分</a:t>
            </a:r>
          </a:p>
          <a:p>
            <a:pPr algn="just">
              <a:buNone/>
            </a:pP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比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</a:t>
            </a:r>
            <a:r>
              <a:rPr lang="en-US" altLang="zh-CN" sz="14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Highest_Temn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'Water_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'Water_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A1AECA7-4270-1C27-7862-49D73E476744}"/>
              </a:ext>
            </a:extLst>
          </p:cNvPr>
          <p:cNvSpPr txBox="1"/>
          <p:nvPr/>
        </p:nvSpPr>
        <p:spPr>
          <a:xfrm>
            <a:off x="1127582" y="2399579"/>
            <a:ext cx="355743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CN" altLang="en-US" sz="1200" dirty="0"/>
          </a:p>
          <a:p>
            <a:r>
              <a:rPr lang="zh-CN" altLang="en-US" sz="1200" dirty="0"/>
              <a:t>=== 测试集评估 ===</a:t>
            </a:r>
          </a:p>
          <a:p>
            <a:r>
              <a:rPr lang="zh-CN" altLang="en-US" sz="1200" dirty="0"/>
              <a:t>AUC Score: 0.7613720313059216</a:t>
            </a:r>
          </a:p>
          <a:p>
            <a:r>
              <a:rPr lang="zh-CN" altLang="en-US" sz="1200" dirty="0"/>
              <a:t>Balanced Accuracy: 0.6673229250373092</a:t>
            </a:r>
          </a:p>
          <a:p>
            <a:r>
              <a:rPr lang="zh-CN" altLang="en-US" sz="1200" dirty="0"/>
              <a:t>F1-Score: 0.46774193548387094</a:t>
            </a:r>
          </a:p>
          <a:p>
            <a:r>
              <a:rPr lang="zh-CN" altLang="en-US" sz="1200" dirty="0"/>
              <a:t>MCC: 0.3346458500746183</a:t>
            </a:r>
          </a:p>
          <a:p>
            <a:r>
              <a:rPr lang="zh-CN" altLang="en-US" sz="1200" dirty="0"/>
              <a:t>Confusion Matrix:</a:t>
            </a:r>
          </a:p>
          <a:p>
            <a:r>
              <a:rPr lang="zh-CN" altLang="en-US" sz="1200" dirty="0"/>
              <a:t> [[3654  561]</a:t>
            </a:r>
          </a:p>
          <a:p>
            <a:r>
              <a:rPr lang="zh-CN" altLang="en-US" sz="1200" dirty="0"/>
              <a:t> [ 561  493]]</a:t>
            </a:r>
          </a:p>
          <a:p>
            <a:endParaRPr lang="zh-CN" altLang="en-US" sz="1200" dirty="0"/>
          </a:p>
          <a:p>
            <a:r>
              <a:rPr lang="zh-CN" altLang="en-US" sz="1200" dirty="0"/>
              <a:t>=== 跨期验证集评估 ===</a:t>
            </a:r>
          </a:p>
          <a:p>
            <a:r>
              <a:rPr lang="zh-CN" altLang="en-US" sz="1200" dirty="0"/>
              <a:t>Validation AUC Score: 0.7658718965741953</a:t>
            </a:r>
          </a:p>
          <a:p>
            <a:r>
              <a:rPr lang="zh-CN" altLang="en-US" sz="1200" dirty="0"/>
              <a:t>Validation Balanced Accuracy: 0.662603334053081</a:t>
            </a:r>
          </a:p>
          <a:p>
            <a:r>
              <a:rPr lang="zh-CN" altLang="en-US" sz="1200" dirty="0"/>
              <a:t>Validation F1-Score: 0.46153846153846156</a:t>
            </a:r>
          </a:p>
          <a:p>
            <a:r>
              <a:rPr lang="zh-CN" altLang="en-US" sz="1200" dirty="0"/>
              <a:t>Validation MCC: 0.33099860365190187</a:t>
            </a:r>
          </a:p>
          <a:p>
            <a:r>
              <a:rPr lang="zh-CN" altLang="en-US" sz="1200" dirty="0"/>
              <a:t>Validation Confusion Matrix:</a:t>
            </a:r>
          </a:p>
          <a:p>
            <a:r>
              <a:rPr lang="zh-CN" altLang="en-US" sz="1200" dirty="0"/>
              <a:t> [[3071  442]</a:t>
            </a:r>
          </a:p>
          <a:p>
            <a:r>
              <a:rPr lang="zh-CN" altLang="en-US" sz="1200" dirty="0"/>
              <a:t> [ 482  396]]</a:t>
            </a:r>
          </a:p>
        </p:txBody>
      </p:sp>
    </p:spTree>
    <p:extLst>
      <p:ext uri="{BB962C8B-B14F-4D97-AF65-F5344CB8AC3E}">
        <p14:creationId xmlns:p14="http://schemas.microsoft.com/office/powerpoint/2010/main" val="1407160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箭头: 五边形 1">
            <a:extLst>
              <a:ext uri="{FF2B5EF4-FFF2-40B4-BE49-F238E27FC236}">
                <a16:creationId xmlns:a16="http://schemas.microsoft.com/office/drawing/2014/main" id="{1CD9E0D2-EDD7-7D83-AC65-A323B41782D6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813EE228-3BCB-2648-AFE4-D96619F40809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C2C9EB-B2AE-523A-8DEF-B1091515A6B0}"/>
              </a:ext>
            </a:extLst>
          </p:cNvPr>
          <p:cNvSpPr/>
          <p:nvPr/>
        </p:nvSpPr>
        <p:spPr>
          <a:xfrm>
            <a:off x="492981" y="1249209"/>
            <a:ext cx="564032" cy="78661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5B7AB-2E0A-074C-2FF4-04B4ACE13E09}"/>
              </a:ext>
            </a:extLst>
          </p:cNvPr>
          <p:cNvSpPr/>
          <p:nvPr/>
        </p:nvSpPr>
        <p:spPr>
          <a:xfrm>
            <a:off x="492981" y="1249209"/>
            <a:ext cx="11060104" cy="78661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1205CB38-DF29-4D7F-E1FD-FC7D98629388}"/>
              </a:ext>
            </a:extLst>
          </p:cNvPr>
          <p:cNvSpPr txBox="1"/>
          <p:nvPr/>
        </p:nvSpPr>
        <p:spPr>
          <a:xfrm>
            <a:off x="1057013" y="1339235"/>
            <a:ext cx="10642006" cy="690076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以每日龄的死淘率为目标变量，探索温度和饮水相关因素，包括当天温度，前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天温度等指标和指标变化对死淘率的影响。取全量样本的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80%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分位数划分高低死淘。</a:t>
            </a:r>
          </a:p>
        </p:txBody>
      </p:sp>
      <p:pic>
        <p:nvPicPr>
          <p:cNvPr id="11" name="图片 10" descr="图表, 条形图&#10;&#10;AI 生成的内容可能不正确。">
            <a:extLst>
              <a:ext uri="{FF2B5EF4-FFF2-40B4-BE49-F238E27FC236}">
                <a16:creationId xmlns:a16="http://schemas.microsoft.com/office/drawing/2014/main" id="{C73BBCFB-A754-0EAC-3D9B-F45F9D234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51" y="2581275"/>
            <a:ext cx="6039400" cy="3141128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EE5877AB-2816-828F-538D-0F5E0B665706}"/>
              </a:ext>
            </a:extLst>
          </p:cNvPr>
          <p:cNvSpPr txBox="1"/>
          <p:nvPr/>
        </p:nvSpPr>
        <p:spPr>
          <a:xfrm>
            <a:off x="6746274" y="3204615"/>
            <a:ext cx="572195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===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变量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Water_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前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天变化百分比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===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     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   (-inf, 49.10)   2660   0.121168    0.139474        0.001029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 [49.10, 61.89)   1711   0.077939    0.144360        0.000988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[61.89, 140.00)   8413   0.383228    0.176631        0.001066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[140.00, 164.34)   1299   0.059172    0.187067        0.001540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   [164.34, inf)   1680   0.076527    0.480357        0.004008</a:t>
            </a:r>
          </a:p>
        </p:txBody>
      </p:sp>
    </p:spTree>
    <p:extLst>
      <p:ext uri="{BB962C8B-B14F-4D97-AF65-F5344CB8AC3E}">
        <p14:creationId xmlns:p14="http://schemas.microsoft.com/office/powerpoint/2010/main" val="681365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1DB4-A04D-06BE-920D-E31569375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箭头: 五边形 1">
            <a:extLst>
              <a:ext uri="{FF2B5EF4-FFF2-40B4-BE49-F238E27FC236}">
                <a16:creationId xmlns:a16="http://schemas.microsoft.com/office/drawing/2014/main" id="{0551EFBC-A4DC-C05B-D0FD-7F6F01BC3118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4EFB70F6-F394-F162-37BF-AD7590481754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2A28962-99C9-9D99-7D04-45285218A4FF}"/>
              </a:ext>
            </a:extLst>
          </p:cNvPr>
          <p:cNvSpPr/>
          <p:nvPr/>
        </p:nvSpPr>
        <p:spPr>
          <a:xfrm>
            <a:off x="492981" y="1249209"/>
            <a:ext cx="564032" cy="78661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E50B49-4213-7823-10C6-3204A7693B11}"/>
              </a:ext>
            </a:extLst>
          </p:cNvPr>
          <p:cNvSpPr/>
          <p:nvPr/>
        </p:nvSpPr>
        <p:spPr>
          <a:xfrm>
            <a:off x="492981" y="1249209"/>
            <a:ext cx="11060104" cy="78661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4E11B337-AA7D-FC18-E19A-F24AB76A27D0}"/>
              </a:ext>
            </a:extLst>
          </p:cNvPr>
          <p:cNvSpPr txBox="1"/>
          <p:nvPr/>
        </p:nvSpPr>
        <p:spPr>
          <a:xfrm>
            <a:off x="1057013" y="1339235"/>
            <a:ext cx="10642006" cy="690076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以每日龄的死淘率为目标变量，探索温度和饮水相关因素，包括当天温度，前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天温度等指标和指标变化对死淘率的影响。取全量样本的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80%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分位数划分高低死淘。</a:t>
            </a:r>
          </a:p>
        </p:txBody>
      </p:sp>
      <p:pic>
        <p:nvPicPr>
          <p:cNvPr id="7" name="图片 6" descr="图表, 条形图&#10;&#10;AI 生成的内容可能不正确。">
            <a:extLst>
              <a:ext uri="{FF2B5EF4-FFF2-40B4-BE49-F238E27FC236}">
                <a16:creationId xmlns:a16="http://schemas.microsoft.com/office/drawing/2014/main" id="{045D1631-2C59-5CC6-3BA6-816027EDA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47" y="2683827"/>
            <a:ext cx="5693637" cy="292496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5893D85D-F747-AD1B-38DA-8CF5051146D8}"/>
              </a:ext>
            </a:extLst>
          </p:cNvPr>
          <p:cNvSpPr txBox="1"/>
          <p:nvPr/>
        </p:nvSpPr>
        <p:spPr>
          <a:xfrm>
            <a:off x="5915024" y="3269146"/>
            <a:ext cx="62095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   (-inf, 49.10)   2665   0.121396    0.139212        0.001029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 [49.10, 60.32)   1500   0.068328    0.142667        0.000990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[60.32, 140.12)   8624   0.392839    0.176020        0.001064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[140.12, 164.43)   1297   0.059081    0.188897        0.001548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   [164.43, inf)   1675   0.076299    0.480000        0.004002</a:t>
            </a:r>
          </a:p>
        </p:txBody>
      </p:sp>
    </p:spTree>
    <p:extLst>
      <p:ext uri="{BB962C8B-B14F-4D97-AF65-F5344CB8AC3E}">
        <p14:creationId xmlns:p14="http://schemas.microsoft.com/office/powerpoint/2010/main" val="3702344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B963D-3099-D913-8A0F-614B1FDE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箭头: 五边形 1">
            <a:extLst>
              <a:ext uri="{FF2B5EF4-FFF2-40B4-BE49-F238E27FC236}">
                <a16:creationId xmlns:a16="http://schemas.microsoft.com/office/drawing/2014/main" id="{690911AE-9960-55E1-B9E2-16153570B463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51A0C4CF-5BF8-FD7A-5953-6F5C891CC01D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56EB38F-CBD3-C2A4-4647-AEF9CA38D518}"/>
              </a:ext>
            </a:extLst>
          </p:cNvPr>
          <p:cNvSpPr/>
          <p:nvPr/>
        </p:nvSpPr>
        <p:spPr>
          <a:xfrm>
            <a:off x="492981" y="1249209"/>
            <a:ext cx="564032" cy="78661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249CA7-560F-474B-7E93-3A4CC1B40E0E}"/>
              </a:ext>
            </a:extLst>
          </p:cNvPr>
          <p:cNvSpPr/>
          <p:nvPr/>
        </p:nvSpPr>
        <p:spPr>
          <a:xfrm>
            <a:off x="492981" y="1249209"/>
            <a:ext cx="11060104" cy="78661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595DAA8B-14A8-668E-29AE-6B3D51C0C2C8}"/>
              </a:ext>
            </a:extLst>
          </p:cNvPr>
          <p:cNvSpPr txBox="1"/>
          <p:nvPr/>
        </p:nvSpPr>
        <p:spPr>
          <a:xfrm>
            <a:off x="1057013" y="1339235"/>
            <a:ext cx="10642006" cy="690076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以每日龄的死淘率为目标变量，探索温度和饮水相关因素，包括当天温度，前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天温度，前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天温度等指标和指标变化对死淘率的影响。取全量样本的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80%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分位数划分高低死淘。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728E1F-002F-CA54-636F-93A1E4093158}"/>
              </a:ext>
            </a:extLst>
          </p:cNvPr>
          <p:cNvSpPr txBox="1"/>
          <p:nvPr/>
        </p:nvSpPr>
        <p:spPr>
          <a:xfrm>
            <a:off x="5915024" y="3269146"/>
            <a:ext cx="620956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   (-inf, -115.48)   1989   0.090603    0.299145        0.001897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[-115.48, -73.21)   1590   0.072427    0.271069        0.001564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 [-73.21, -47.34)   1314   0.059855    0.204718        0.001345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    [-47.34, 3.77)   7876   0.358766    0.184738        0.001317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      [3.77, 8.17)   1246   0.056758    0.142857        0.001209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       [8.17, 24.04)   1158   0.052749    0.170984        0.001175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6      [24.04, 93.75)   1487   0.067736    0.207128        0.001427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        [93.75, inf)   1593   0.072564    0.270559        0.001579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             Special      0   0.000000    0.000000           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NaN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9             Missing   3700   0.168542    0.142162        0.000982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10                     21953   1.000000    0.200018           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NaN</a:t>
            </a:r>
            <a:endParaRPr lang="zh-CN" altLang="en-US" sz="1200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C6F70BD-EC9E-1E0D-8DA4-40D7334CC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437572"/>
            <a:ext cx="5189897" cy="382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831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2EEC401-5863-3901-C301-BC2C9DAB6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1914525"/>
            <a:ext cx="4868129" cy="363855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EC64A0D-FA29-5EB0-2B7B-862F01ED8463}"/>
              </a:ext>
            </a:extLst>
          </p:cNvPr>
          <p:cNvSpPr txBox="1"/>
          <p:nvPr/>
        </p:nvSpPr>
        <p:spPr>
          <a:xfrm>
            <a:off x="5982439" y="2671971"/>
            <a:ext cx="62095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(-inf, 0.63)   1317   0.059992    0.318147        0.001698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[0.63, 0.74)   2881   0.131235    0.282194        0.001911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[0.74, 0.76)   1641   0.074751    0.253504        0.001582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[0.76, 0.81)   2947   0.134241    0.243638        0.001517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[0.81, 0.83)   2289   0.104268    0.197029        0.001321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  [0.83, 0.94)   6917   0.315082    0.158016        0.001173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6   [0.94, inf)   1290   0.058762    0.152713        0.001151</a:t>
            </a:r>
          </a:p>
        </p:txBody>
      </p:sp>
    </p:spTree>
    <p:extLst>
      <p:ext uri="{BB962C8B-B14F-4D97-AF65-F5344CB8AC3E}">
        <p14:creationId xmlns:p14="http://schemas.microsoft.com/office/powerpoint/2010/main" val="4004121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A9F4A-2803-FD96-DB7E-46C25952D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99EC259-C0F5-CAEA-F0C4-3A5178E13FE8}"/>
              </a:ext>
            </a:extLst>
          </p:cNvPr>
          <p:cNvSpPr txBox="1"/>
          <p:nvPr/>
        </p:nvSpPr>
        <p:spPr>
          <a:xfrm>
            <a:off x="5982439" y="2671971"/>
            <a:ext cx="620956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 (-inf, -4.15)   1426   0.064957    0.441094        0.003815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[-4.15, -3.65)   1381   0.062907    0.193338        0.001771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[-3.65, -2.15)   8071   0.367649    0.189815        0.001153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[-2.15, -1.75)   1532   0.069785    0.182115        0.001093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[-1.75, -1.28)   1254   0.057122    0.163477        0.001042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    [-1.28, inf)   2170   0.098848    0.119816        0.000980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94C53B4-271D-5DC9-FFF2-97963FD11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52" y="1480457"/>
            <a:ext cx="5497719" cy="413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030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5A627-D79D-7975-5872-78FD1AEC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AEA942B-ECAA-7EFC-CDFC-A9C6029060FF}"/>
              </a:ext>
            </a:extLst>
          </p:cNvPr>
          <p:cNvSpPr txBox="1"/>
          <p:nvPr/>
        </p:nvSpPr>
        <p:spPr>
          <a:xfrm>
            <a:off x="5982439" y="2671971"/>
            <a:ext cx="620956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   (-inf, 5.50)   1126   0.051291    0.258437        0.001553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  [5.50, 8.50)   1778   0.080991    0.309899        0.001948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 [8.50, 10.50)   2370   0.107958    0.259072        0.001579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 [10.50, 12.50)   1569   0.071471    0.247929        0.001637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 [12.50, 15.50)   1739   0.079215    0.222542        0.001342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   [15.50, 22.50)   3647   0.166128    0.198519        0.001293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6   [22.50, 32.50)   4093   0.186444    0.175421        0.001318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     [32.50, inf)   3048   0.138842    0.149934        0.001180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sz="12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081AED0-4A71-1B18-BFDE-B7E096EEF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8308"/>
            <a:ext cx="5746946" cy="415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020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FFCCC-51E9-9C8E-FA8A-3D2B2B888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0C6BC68-74E3-8780-0722-44E35C058C8C}"/>
              </a:ext>
            </a:extLst>
          </p:cNvPr>
          <p:cNvSpPr txBox="1"/>
          <p:nvPr/>
        </p:nvSpPr>
        <p:spPr>
          <a:xfrm>
            <a:off x="6177648" y="2671971"/>
            <a:ext cx="539105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 (-inf, 0.39)   1336   0.060857    0.351796        0.002600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[0.39, 0.46)   1394   0.063499    0.266141        0.001839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[0.46, 0.50)   1117   0.050881    0.242614        0.001679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 [0.50, 0.65)   4076   0.185669    0.195780        0.001342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 [0.65, 0.76)   2497   0.113743    0.194233        0.001299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   [0.76, 0.84)   1253   0.057076    0.178771        0.001252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6   [0.84, 1.12)   2372   0.108049    0.145447        0.001025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    [1.12, inf)   1881   0.085683    0.123339        0.000979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94D8D19-C11B-6E72-F408-10A864474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99" y="1622733"/>
            <a:ext cx="5114925" cy="385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0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9B59F-023A-05B7-0520-354CC3F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85AFD83-0941-5A38-289F-090CBBEB65E4}"/>
              </a:ext>
            </a:extLst>
          </p:cNvPr>
          <p:cNvSpPr txBox="1"/>
          <p:nvPr/>
        </p:nvSpPr>
        <p:spPr>
          <a:xfrm>
            <a:off x="5982439" y="2671971"/>
            <a:ext cx="620956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Bin  Count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(%)  Event rate 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Mortality_rate</a:t>
            </a:r>
            <a:endParaRPr lang="en-US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  (-inf, 0.42)   1453   0.066187    0.133517        0.001029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[0.42, 0.75)   4412   0.200975    0.179510        0.001325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[0.75, 0.85)   1885   0.085865    0.186737        0.001264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 [0.85, 0.99)   2550   0.116157    0.198431        0.001364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  [0.99, 1.48)   7807   0.355623    0.211989        0.001363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   [1.48, 1.65)   1533   0.069831    0.223092        0.001412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6   [1.65, 1.83)   1172   0.053387    0.233788        0.001506</a:t>
            </a: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    [1.83, inf)   1141   0.051975    0.241893        0.001545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8B8146E-DDC1-E6E1-6507-73E75FFA6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405" y="1684641"/>
            <a:ext cx="5021655" cy="3913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576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09A08-E0B0-6F9C-4DDF-427A29A2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7BAB3890-888B-D5D4-2BDF-462D826DC243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6B339226-C606-26AB-6733-498922A514CB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7F03747-AF67-C5FD-801D-972C89458E5F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EC12230D-6FCB-A33F-4AF2-3F245B9E4D57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224A0F-E364-A552-582E-B53A2FA3ACCA}"/>
              </a:ext>
            </a:extLst>
          </p:cNvPr>
          <p:cNvSpPr/>
          <p:nvPr/>
        </p:nvSpPr>
        <p:spPr>
          <a:xfrm>
            <a:off x="492981" y="1249209"/>
            <a:ext cx="564032" cy="78661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6E12909-2476-981C-52DD-F0462CFD772F}"/>
              </a:ext>
            </a:extLst>
          </p:cNvPr>
          <p:cNvSpPr/>
          <p:nvPr/>
        </p:nvSpPr>
        <p:spPr>
          <a:xfrm>
            <a:off x="492981" y="1249209"/>
            <a:ext cx="11060104" cy="78661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F8B9F4D6-DEEE-6201-9A18-73BC413FEA35}"/>
              </a:ext>
            </a:extLst>
          </p:cNvPr>
          <p:cNvSpPr txBox="1"/>
          <p:nvPr/>
        </p:nvSpPr>
        <p:spPr>
          <a:xfrm>
            <a:off x="1057013" y="1339235"/>
            <a:ext cx="10642006" cy="690076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以出栏死淘率为目标变量，探索各阶段温度及温度变化对死淘的影响。分季节取样本的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80%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分位数划分高低死淘。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EA103FB-9581-0F72-A607-08940954F408}"/>
              </a:ext>
            </a:extLst>
          </p:cNvPr>
          <p:cNvSpPr/>
          <p:nvPr/>
        </p:nvSpPr>
        <p:spPr>
          <a:xfrm>
            <a:off x="8450290" y="3641161"/>
            <a:ext cx="3102795" cy="9863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见文档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04C0CD5A-3203-E010-884D-71141B7E6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020828"/>
              </p:ext>
            </p:extLst>
          </p:nvPr>
        </p:nvGraphicFramePr>
        <p:xfrm>
          <a:off x="1191873" y="3204916"/>
          <a:ext cx="9043839" cy="872490"/>
        </p:xfrm>
        <a:graphic>
          <a:graphicData uri="http://schemas.openxmlformats.org/drawingml/2006/table">
            <a:tbl>
              <a:tblPr firstRow="1" firstCol="1" bandRow="1"/>
              <a:tblGrid>
                <a:gridCol w="1298704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875269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11588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301989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1132749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58841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687906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11720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平衡准确率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验证集平衡准确率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20093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0.81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20093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0.85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0.74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20093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0.74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B1527F-40C4-868C-6E4A-620A8B33F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747319"/>
              </p:ext>
            </p:extLst>
          </p:nvPr>
        </p:nvGraphicFramePr>
        <p:xfrm>
          <a:off x="1199712" y="4927061"/>
          <a:ext cx="6974237" cy="872490"/>
        </p:xfrm>
        <a:graphic>
          <a:graphicData uri="http://schemas.openxmlformats.org/drawingml/2006/table">
            <a:tbl>
              <a:tblPr firstRow="1" firstCol="1" bandRow="1"/>
              <a:tblGrid>
                <a:gridCol w="996845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6913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11877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sp>
        <p:nvSpPr>
          <p:cNvPr id="11" name="矩形 10">
            <a:extLst>
              <a:ext uri="{FF2B5EF4-FFF2-40B4-BE49-F238E27FC236}">
                <a16:creationId xmlns:a16="http://schemas.microsoft.com/office/drawing/2014/main" id="{B8300713-FA24-DA28-2DEB-FB57447C7B9E}"/>
              </a:ext>
            </a:extLst>
          </p:cNvPr>
          <p:cNvSpPr/>
          <p:nvPr/>
        </p:nvSpPr>
        <p:spPr>
          <a:xfrm>
            <a:off x="1199713" y="2660206"/>
            <a:ext cx="1029137" cy="367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latin typeface="等线" panose="02010600030101010101" pitchFamily="2" charset="-122"/>
                <a:ea typeface="等线" panose="02010600030101010101" pitchFamily="2" charset="-122"/>
              </a:rPr>
              <a:t>二分类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B5362A5-949D-EB38-C422-462289C911A3}"/>
              </a:ext>
            </a:extLst>
          </p:cNvPr>
          <p:cNvSpPr/>
          <p:nvPr/>
        </p:nvSpPr>
        <p:spPr>
          <a:xfrm>
            <a:off x="1199712" y="4353559"/>
            <a:ext cx="1029137" cy="367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latin typeface="等线" panose="02010600030101010101" pitchFamily="2" charset="-122"/>
                <a:ea typeface="等线" panose="02010600030101010101" pitchFamily="2" charset="-122"/>
              </a:rPr>
              <a:t>回归</a:t>
            </a:r>
          </a:p>
        </p:txBody>
      </p:sp>
    </p:spTree>
    <p:extLst>
      <p:ext uri="{BB962C8B-B14F-4D97-AF65-F5344CB8AC3E}">
        <p14:creationId xmlns:p14="http://schemas.microsoft.com/office/powerpoint/2010/main" val="3007209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6348A3F-20FC-3834-2475-8CCB607D0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657237"/>
              </p:ext>
            </p:extLst>
          </p:nvPr>
        </p:nvGraphicFramePr>
        <p:xfrm>
          <a:off x="436892" y="1624662"/>
          <a:ext cx="10459302" cy="3386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8062">
                  <a:extLst>
                    <a:ext uri="{9D8B030D-6E8A-4147-A177-3AD203B41FA5}">
                      <a16:colId xmlns:a16="http://schemas.microsoft.com/office/drawing/2014/main" val="2649439620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3607642644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1277106473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381312640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2966535045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268873095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2996464670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3923853797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1872641418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1381106137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1494913897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3628458899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2516147968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3316521455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2952798753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4113144650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2663236501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3355882246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3864947581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4050083708"/>
                    </a:ext>
                  </a:extLst>
                </a:gridCol>
                <a:gridCol w="498062">
                  <a:extLst>
                    <a:ext uri="{9D8B030D-6E8A-4147-A177-3AD203B41FA5}">
                      <a16:colId xmlns:a16="http://schemas.microsoft.com/office/drawing/2014/main" val="1738220129"/>
                    </a:ext>
                  </a:extLst>
                </a:gridCol>
              </a:tblGrid>
              <a:tr h="846660"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3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4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5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6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7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8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9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10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11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12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13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14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15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16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17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18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19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20</a:t>
                      </a:r>
                      <a:endParaRPr lang="zh-CN" altLang="en-US" sz="16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47759"/>
                  </a:ext>
                </a:extLst>
              </a:tr>
              <a:tr h="8466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冬</a:t>
                      </a:r>
                      <a:endParaRPr lang="en-US" altLang="zh-CN" sz="1400" b="1" dirty="0"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0106247"/>
                  </a:ext>
                </a:extLst>
              </a:tr>
              <a:tr h="8466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夏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0513143"/>
                  </a:ext>
                </a:extLst>
              </a:tr>
              <a:tr h="8466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秋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altLang="zh-CN" sz="105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41036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1065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528EFFD-C58B-3063-9452-82E903482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19" y="1568487"/>
            <a:ext cx="5468529" cy="413580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B6BAEC2-8FBF-4569-E150-69F5DE77AC81}"/>
              </a:ext>
            </a:extLst>
          </p:cNvPr>
          <p:cNvSpPr txBox="1"/>
          <p:nvPr/>
        </p:nvSpPr>
        <p:spPr>
          <a:xfrm>
            <a:off x="7137971" y="2248735"/>
            <a:ext cx="491361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Bin  Count  Count (%)  Event rate  MORTALITY_RATE</a:t>
            </a:r>
          </a:p>
          <a:p>
            <a:r>
              <a:rPr lang="zh-CN" altLang="en-US" sz="1600" dirty="0"/>
              <a:t>0  (-inf, 2.75)     93   0.230198    0.365591        0.114313</a:t>
            </a:r>
          </a:p>
          <a:p>
            <a:r>
              <a:rPr lang="zh-CN" altLang="en-US" sz="1600" dirty="0"/>
              <a:t>1  [2.75, 4.05)     53   0.131188    0.358491        0.105203</a:t>
            </a:r>
          </a:p>
          <a:p>
            <a:r>
              <a:rPr lang="zh-CN" altLang="en-US" sz="1600" dirty="0"/>
              <a:t>2  [4.05, 5.25)     43   0.106436    0.279070        0.099586</a:t>
            </a:r>
          </a:p>
          <a:p>
            <a:r>
              <a:rPr lang="zh-CN" altLang="en-US" sz="1600" dirty="0"/>
              <a:t>3  [5.25, 7.17)     87   0.215347    0.103448        0.074797</a:t>
            </a:r>
          </a:p>
          <a:p>
            <a:r>
              <a:rPr lang="zh-CN" altLang="en-US" sz="1600" dirty="0"/>
              <a:t>4  [7.17, 9.43)     68   0.168317    0.014706        0.070927</a:t>
            </a:r>
          </a:p>
          <a:p>
            <a:r>
              <a:rPr lang="zh-CN" altLang="en-US" sz="1600" dirty="0"/>
              <a:t>5   [9.43, inf)     60   0.148515    0.100000        0.074787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8F3C3AE-B4C6-7F86-C6BC-E8676C6A5430}"/>
              </a:ext>
            </a:extLst>
          </p:cNvPr>
          <p:cNvSpPr/>
          <p:nvPr/>
        </p:nvSpPr>
        <p:spPr>
          <a:xfrm>
            <a:off x="8543806" y="787476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冬季</a:t>
            </a:r>
          </a:p>
        </p:txBody>
      </p:sp>
    </p:spTree>
    <p:extLst>
      <p:ext uri="{BB962C8B-B14F-4D97-AF65-F5344CB8AC3E}">
        <p14:creationId xmlns:p14="http://schemas.microsoft.com/office/powerpoint/2010/main" val="4084004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F3C60-4C7C-5D53-6BEE-01DE76A87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294775A-7749-9406-37F7-C0858D5C44A4}"/>
              </a:ext>
            </a:extLst>
          </p:cNvPr>
          <p:cNvSpPr txBox="1"/>
          <p:nvPr/>
        </p:nvSpPr>
        <p:spPr>
          <a:xfrm>
            <a:off x="7158519" y="2856566"/>
            <a:ext cx="557116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</a:t>
            </a:r>
            <a:r>
              <a:rPr lang="en-US" altLang="zh-CN" sz="1600" dirty="0"/>
              <a:t>  Bin  Count  </a:t>
            </a:r>
            <a:r>
              <a:rPr lang="en-US" altLang="zh-CN" sz="1600" dirty="0" err="1"/>
              <a:t>Count</a:t>
            </a:r>
            <a:r>
              <a:rPr lang="en-US" altLang="zh-CN" sz="1600" dirty="0"/>
              <a:t> (%)  Event rate  MORTALITY_RATE</a:t>
            </a:r>
          </a:p>
          <a:p>
            <a:r>
              <a:rPr lang="en-US" altLang="zh-CN" sz="1600" dirty="0"/>
              <a:t>0  (-inf, 0.70)     21   0.051980    0.523810        0.123838</a:t>
            </a:r>
          </a:p>
          <a:p>
            <a:r>
              <a:rPr lang="en-US" altLang="zh-CN" sz="1600" dirty="0"/>
              <a:t>1  [0.70, 0.84)     65   0.160891    0.338462        0.106793</a:t>
            </a:r>
          </a:p>
          <a:p>
            <a:r>
              <a:rPr lang="en-US" altLang="zh-CN" sz="1600" dirty="0"/>
              <a:t>2  [0.84, 0.91)     45   0.111386    0.177778        0.088333</a:t>
            </a:r>
          </a:p>
          <a:p>
            <a:r>
              <a:rPr lang="en-US" altLang="zh-CN" sz="1600" dirty="0"/>
              <a:t>3  [0.91, 1.13)    127   0.314356    0.173228        0.088995</a:t>
            </a:r>
          </a:p>
          <a:p>
            <a:r>
              <a:rPr lang="en-US" altLang="zh-CN" sz="1600" dirty="0"/>
              <a:t>4  [1.13, 1.31)     70   0.173267    0.171429        0.081379</a:t>
            </a:r>
          </a:p>
          <a:p>
            <a:r>
              <a:rPr lang="en-US" altLang="zh-CN" sz="1600" dirty="0"/>
              <a:t>5  [1.31, 1.36)     23   0.056931    0.086957        0.084456</a:t>
            </a:r>
          </a:p>
          <a:p>
            <a:r>
              <a:rPr lang="en-US" altLang="zh-CN" sz="1600" dirty="0"/>
              <a:t>6   [1.36, inf)     53   0.131188    0.075472        0.072606</a:t>
            </a:r>
            <a:endParaRPr lang="zh-CN" altLang="en-US" sz="1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2291605-D8CD-522E-BD13-8D47F7E14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492" y="1541124"/>
            <a:ext cx="6023598" cy="469298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F371BBD9-E086-2F12-87C1-BF56FB5AFA32}"/>
              </a:ext>
            </a:extLst>
          </p:cNvPr>
          <p:cNvSpPr/>
          <p:nvPr/>
        </p:nvSpPr>
        <p:spPr>
          <a:xfrm>
            <a:off x="8543806" y="787476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冬季</a:t>
            </a:r>
          </a:p>
        </p:txBody>
      </p:sp>
    </p:spTree>
    <p:extLst>
      <p:ext uri="{BB962C8B-B14F-4D97-AF65-F5344CB8AC3E}">
        <p14:creationId xmlns:p14="http://schemas.microsoft.com/office/powerpoint/2010/main" val="272082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91197-6477-394E-43F4-030A05C5C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C878B9ED-680B-40E0-95A5-B141752BAD52}"/>
              </a:ext>
            </a:extLst>
          </p:cNvPr>
          <p:cNvSpPr txBox="1"/>
          <p:nvPr/>
        </p:nvSpPr>
        <p:spPr>
          <a:xfrm>
            <a:off x="6747553" y="2644170"/>
            <a:ext cx="557116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</a:t>
            </a:r>
            <a:r>
              <a:rPr lang="en-US" altLang="zh-CN" sz="1600" dirty="0"/>
              <a:t>  Bin  Count  </a:t>
            </a:r>
            <a:r>
              <a:rPr lang="en-US" altLang="zh-CN" sz="1600" dirty="0" err="1"/>
              <a:t>Count</a:t>
            </a:r>
            <a:r>
              <a:rPr lang="en-US" altLang="zh-CN" sz="1600" dirty="0"/>
              <a:t> (%)  Event rate  MORTALITY_RATE</a:t>
            </a:r>
          </a:p>
          <a:p>
            <a:r>
              <a:rPr lang="en-US" altLang="zh-CN" sz="1600" dirty="0"/>
              <a:t>0   (-inf, 10.13)    210   0.519802    0.276190        0.100248</a:t>
            </a:r>
          </a:p>
          <a:p>
            <a:r>
              <a:rPr lang="en-US" altLang="zh-CN" sz="1600" dirty="0"/>
              <a:t>1  [10.13, 12.55)     53   0.131188    0.150943        0.085784</a:t>
            </a:r>
          </a:p>
          <a:p>
            <a:r>
              <a:rPr lang="en-US" altLang="zh-CN" sz="1600" dirty="0"/>
              <a:t>2  [12.55, 15.02)     41   0.101485    0.121951        0.076452</a:t>
            </a:r>
          </a:p>
          <a:p>
            <a:r>
              <a:rPr lang="en-US" altLang="zh-CN" sz="1600" dirty="0"/>
              <a:t>3  [15.02, 15.94)     21   0.051980    0.047619        0.067034</a:t>
            </a:r>
          </a:p>
          <a:p>
            <a:r>
              <a:rPr lang="en-US" altLang="zh-CN" sz="1600" dirty="0"/>
              <a:t>4    [15.94, inf)     79   0.195545    0.113924        0.078049</a:t>
            </a:r>
            <a:endParaRPr lang="zh-CN" altLang="en-US" sz="16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B17B2B5-A0D9-0E7D-B9E0-41914496A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68" y="1805148"/>
            <a:ext cx="5752190" cy="425227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589B3EA-14C0-9FEC-9449-8B29DA16D679}"/>
              </a:ext>
            </a:extLst>
          </p:cNvPr>
          <p:cNvSpPr/>
          <p:nvPr/>
        </p:nvSpPr>
        <p:spPr>
          <a:xfrm>
            <a:off x="8543806" y="787476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冬季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B4A65-0EC6-CC6B-7581-41744F40DB27}"/>
              </a:ext>
            </a:extLst>
          </p:cNvPr>
          <p:cNvSpPr/>
          <p:nvPr/>
        </p:nvSpPr>
        <p:spPr>
          <a:xfrm>
            <a:off x="545399" y="570077"/>
            <a:ext cx="2414954" cy="11672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根据下页更改</a:t>
            </a:r>
          </a:p>
        </p:txBody>
      </p:sp>
    </p:spTree>
    <p:extLst>
      <p:ext uri="{BB962C8B-B14F-4D97-AF65-F5344CB8AC3E}">
        <p14:creationId xmlns:p14="http://schemas.microsoft.com/office/powerpoint/2010/main" val="3631697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D1D66EA-262A-5F85-25AC-EF1438479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9" y="95249"/>
            <a:ext cx="2345405" cy="164424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6BBF516-1A83-AD76-6AEE-D699D8F45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951" y="95249"/>
            <a:ext cx="2277226" cy="163967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FEF4BE6-A66F-8D7C-3D75-F486D4209E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501" y="1734924"/>
            <a:ext cx="2316823" cy="163967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C383971-BE34-449B-3876-3CE234A166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2354" y="1720662"/>
            <a:ext cx="2316823" cy="163643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99B74F0-8117-B60C-1202-5DC6AB5F1A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918" y="3343957"/>
            <a:ext cx="2345406" cy="167031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9A37B85-1375-D2AA-B06C-AC1E4CF59A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150" y="3374599"/>
            <a:ext cx="2280418" cy="1607909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D82D2D81-5188-66C3-6FBD-6029A3F2DB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0661" y="4964340"/>
            <a:ext cx="2319663" cy="160791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F13F1AA4-5222-04E0-E34A-EDDB30B534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631" y="4964339"/>
            <a:ext cx="2277634" cy="160791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2C21F09F-0D51-EA93-264F-DB26AC4C3D27}"/>
              </a:ext>
            </a:extLst>
          </p:cNvPr>
          <p:cNvSpPr txBox="1"/>
          <p:nvPr/>
        </p:nvSpPr>
        <p:spPr>
          <a:xfrm>
            <a:off x="2639921" y="394878"/>
            <a:ext cx="3514725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/>
              <a:t> Bin  Count  Count (%)  Event rate  MORTALITY_RATE</a:t>
            </a:r>
          </a:p>
          <a:p>
            <a:r>
              <a:rPr lang="zh-CN" altLang="en-US" sz="1050" dirty="0"/>
              <a:t>0   (-inf, 10.15)    210   0.519802    0.276190        0.100248</a:t>
            </a:r>
          </a:p>
          <a:p>
            <a:r>
              <a:rPr lang="zh-CN" altLang="en-US" sz="1050" dirty="0"/>
              <a:t>1  [10.15, 12.55)     53   0.131188    0.150943        0.085784</a:t>
            </a:r>
          </a:p>
          <a:p>
            <a:r>
              <a:rPr lang="zh-CN" altLang="en-US" sz="1050" dirty="0"/>
              <a:t>2  [12.55, 15.05)     42   0.103960    0.119048        0.075874</a:t>
            </a:r>
          </a:p>
          <a:p>
            <a:r>
              <a:rPr lang="zh-CN" altLang="en-US" sz="1050" dirty="0"/>
              <a:t>3  [15.05, 16.05)     24   0.059406    0.041667        0.068712</a:t>
            </a:r>
          </a:p>
          <a:p>
            <a:r>
              <a:rPr lang="zh-CN" altLang="en-US" sz="1050" dirty="0"/>
              <a:t>4    [16.05, inf)     75   0.185644    0.120000        0.078298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3E0DAE6-93F4-55E9-E50F-CDA882916E7D}"/>
              </a:ext>
            </a:extLst>
          </p:cNvPr>
          <p:cNvSpPr txBox="1"/>
          <p:nvPr/>
        </p:nvSpPr>
        <p:spPr>
          <a:xfrm>
            <a:off x="8433568" y="38782"/>
            <a:ext cx="3648069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  (-inf, 1.25)     32   0.079208    0.093750        0.082962</a:t>
            </a:r>
          </a:p>
          <a:p>
            <a:r>
              <a:rPr lang="zh-CN" altLang="en-US" sz="1100" dirty="0"/>
              <a:t>1     [1.25, 4.15)     60   0.148515    0.233333        0.095760</a:t>
            </a:r>
          </a:p>
          <a:p>
            <a:r>
              <a:rPr lang="zh-CN" altLang="en-US" sz="1100" dirty="0"/>
              <a:t>2     [4.15, 6.45)     79   0.195545    0.303797        0.098962</a:t>
            </a:r>
          </a:p>
          <a:p>
            <a:r>
              <a:rPr lang="zh-CN" altLang="en-US" sz="1100" dirty="0"/>
              <a:t>3     [6.45, 8.35)     36   0.089109    0.361111        0.110499</a:t>
            </a:r>
          </a:p>
          <a:p>
            <a:r>
              <a:rPr lang="zh-CN" altLang="en-US" sz="1100" dirty="0"/>
              <a:t>4     [8.35, 9.75)     22   0.054455    0.454545        0.107399</a:t>
            </a:r>
          </a:p>
          <a:p>
            <a:r>
              <a:rPr lang="zh-CN" altLang="en-US" sz="1100" dirty="0"/>
              <a:t>5    [9.75, 11.25)     47   0.116337    0.148936        0.091852</a:t>
            </a:r>
          </a:p>
          <a:p>
            <a:r>
              <a:rPr lang="zh-CN" altLang="en-US" sz="1100" dirty="0"/>
              <a:t>6   [11.25, 14.85)     49   0.121287    0.081633        0.075532</a:t>
            </a:r>
          </a:p>
          <a:p>
            <a:r>
              <a:rPr lang="zh-CN" altLang="en-US" sz="1100" dirty="0"/>
              <a:t>7     [14.85, inf)     79   0.195545    0.075949        0.072525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30EFAA4-B160-60FF-0D68-F6E4A928C8E5}"/>
              </a:ext>
            </a:extLst>
          </p:cNvPr>
          <p:cNvSpPr txBox="1"/>
          <p:nvPr/>
        </p:nvSpPr>
        <p:spPr>
          <a:xfrm>
            <a:off x="2600324" y="2000763"/>
            <a:ext cx="376237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5.25)    151   0.373762    0.324503        0.104965</a:t>
            </a:r>
          </a:p>
          <a:p>
            <a:r>
              <a:rPr lang="zh-CN" altLang="en-US" sz="1100" dirty="0"/>
              <a:t>1   [5.25, 6.95)     60   0.148515    0.250000        0.103708</a:t>
            </a:r>
          </a:p>
          <a:p>
            <a:r>
              <a:rPr lang="zh-CN" altLang="en-US" sz="1100" dirty="0"/>
              <a:t>2   [6.95, 9.35)     65   0.160891    0.123077        0.073654</a:t>
            </a:r>
          </a:p>
          <a:p>
            <a:r>
              <a:rPr lang="zh-CN" altLang="en-US" sz="1100" dirty="0"/>
              <a:t>3  [9.35, 17.65)    100   0.247525    0.030000        0.068183</a:t>
            </a:r>
          </a:p>
          <a:p>
            <a:r>
              <a:rPr lang="zh-CN" altLang="en-US" sz="1100" dirty="0"/>
              <a:t>4   [17.65, inf)     28   0.069307    0.214286        0.093885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E573F19-FB3C-9FD4-1EAA-7C341B8452B0}"/>
              </a:ext>
            </a:extLst>
          </p:cNvPr>
          <p:cNvSpPr txBox="1"/>
          <p:nvPr/>
        </p:nvSpPr>
        <p:spPr>
          <a:xfrm>
            <a:off x="8433568" y="1960606"/>
            <a:ext cx="376237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 (-inf, 5.95)    197   0.487624    0.329949        0.107700</a:t>
            </a:r>
          </a:p>
          <a:p>
            <a:r>
              <a:rPr lang="zh-CN" altLang="en-US" sz="1100" dirty="0"/>
              <a:t>1    [5.95, 8.15)     59   0.146040    0.084746        0.077403</a:t>
            </a:r>
          </a:p>
          <a:p>
            <a:r>
              <a:rPr lang="zh-CN" altLang="en-US" sz="1100" dirty="0"/>
              <a:t>2   [8.15, 10.70)     71   0.175743    0.028169        0.063527</a:t>
            </a:r>
          </a:p>
          <a:p>
            <a:r>
              <a:rPr lang="zh-CN" altLang="en-US" sz="1100" dirty="0"/>
              <a:t>3  [10.70, 15.95)     54   0.133663    0.037037        0.066473</a:t>
            </a:r>
          </a:p>
          <a:p>
            <a:r>
              <a:rPr lang="zh-CN" altLang="en-US" sz="1100" dirty="0"/>
              <a:t>4    [15.95, inf)     23   0.056931    0.304348        0.105351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2337E0E-A0FB-C0B7-B22F-8F2ADF54405D}"/>
              </a:ext>
            </a:extLst>
          </p:cNvPr>
          <p:cNvSpPr txBox="1"/>
          <p:nvPr/>
        </p:nvSpPr>
        <p:spPr>
          <a:xfrm>
            <a:off x="2600324" y="3455278"/>
            <a:ext cx="352162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(-inf, 2.15)     54   0.133663    0.259259        0.098866</a:t>
            </a:r>
          </a:p>
          <a:p>
            <a:r>
              <a:rPr lang="zh-CN" altLang="en-US" sz="1100" dirty="0"/>
              <a:t>1  [2.15, 3.15)     42   0.103960    0.500000        0.115316</a:t>
            </a:r>
          </a:p>
          <a:p>
            <a:r>
              <a:rPr lang="zh-CN" altLang="en-US" sz="1100" dirty="0"/>
              <a:t>2  [3.15, 4.55)     64   0.158416    0.265625        0.102329</a:t>
            </a:r>
          </a:p>
          <a:p>
            <a:r>
              <a:rPr lang="zh-CN" altLang="en-US" sz="1100" dirty="0"/>
              <a:t>3  [4.55, 4.95)     21   0.051980    0.190476        0.102084</a:t>
            </a:r>
          </a:p>
          <a:p>
            <a:r>
              <a:rPr lang="zh-CN" altLang="en-US" sz="1100" dirty="0"/>
              <a:t>4  [4.95, 6.25)     59   0.146040    0.186441        0.089334</a:t>
            </a:r>
          </a:p>
          <a:p>
            <a:r>
              <a:rPr lang="zh-CN" altLang="en-US" sz="1100" dirty="0"/>
              <a:t>5  [6.25, 8.60)     51   0.126238    0.137255        0.077110</a:t>
            </a:r>
          </a:p>
          <a:p>
            <a:r>
              <a:rPr lang="zh-CN" altLang="en-US" sz="1100" dirty="0"/>
              <a:t>6   [8.60, inf)    113   0.279703    0.061947        0.072818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DD31F9C-C5C5-6F34-6C87-CAEF205F1DDA}"/>
              </a:ext>
            </a:extLst>
          </p:cNvPr>
          <p:cNvSpPr txBox="1"/>
          <p:nvPr/>
        </p:nvSpPr>
        <p:spPr>
          <a:xfrm>
            <a:off x="8433568" y="3455278"/>
            <a:ext cx="351472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(-inf, 2.75)     93   0.230198    0.365591        0.114313</a:t>
            </a:r>
          </a:p>
          <a:p>
            <a:r>
              <a:rPr lang="zh-CN" altLang="en-US" sz="1100" dirty="0"/>
              <a:t>1  [2.75, 4.05)     54   0.133663    0.351852        0.104692</a:t>
            </a:r>
          </a:p>
          <a:p>
            <a:r>
              <a:rPr lang="zh-CN" altLang="en-US" sz="1100" dirty="0"/>
              <a:t>2  [4.05, 5.25)     42   0.103960    0.285714        0.100109</a:t>
            </a:r>
          </a:p>
          <a:p>
            <a:r>
              <a:rPr lang="zh-CN" altLang="en-US" sz="1100" dirty="0"/>
              <a:t>3  [5.25, 7.25)     89   0.220297    0.101124        0.074813</a:t>
            </a:r>
          </a:p>
          <a:p>
            <a:r>
              <a:rPr lang="zh-CN" altLang="en-US" sz="1100" dirty="0"/>
              <a:t>4  [7.25, 9.35)     63   0.155941    0.015873        0.070924</a:t>
            </a:r>
          </a:p>
          <a:p>
            <a:r>
              <a:rPr lang="zh-CN" altLang="en-US" sz="1100" dirty="0"/>
              <a:t>5   [9.35, inf)     63   0.155941    0.095238        0.074461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1AD97CB-2152-FEC6-14AE-873BA3038E40}"/>
              </a:ext>
            </a:extLst>
          </p:cNvPr>
          <p:cNvSpPr txBox="1"/>
          <p:nvPr/>
        </p:nvSpPr>
        <p:spPr>
          <a:xfrm>
            <a:off x="2600324" y="5229297"/>
            <a:ext cx="352857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3.65)    141   0.349010    0.312057        0.108052</a:t>
            </a:r>
          </a:p>
          <a:p>
            <a:r>
              <a:rPr lang="zh-CN" altLang="en-US" sz="1100" dirty="0"/>
              <a:t>1   [3.65, 4.55)     55   0.136139    0.254545        0.091386</a:t>
            </a:r>
          </a:p>
          <a:p>
            <a:r>
              <a:rPr lang="zh-CN" altLang="en-US" sz="1100" dirty="0"/>
              <a:t>2   [4.55, 6.25)     78   0.193069    0.153846        0.080637</a:t>
            </a:r>
          </a:p>
          <a:p>
            <a:r>
              <a:rPr lang="zh-CN" altLang="en-US" sz="1100" dirty="0"/>
              <a:t>3  [6.25, 10.15)     91   0.225248    0.098901        0.077711</a:t>
            </a:r>
          </a:p>
          <a:p>
            <a:r>
              <a:rPr lang="zh-CN" altLang="en-US" sz="1100" dirty="0"/>
              <a:t>4   [10.15, inf)     39   0.096535    0.051282        0.068813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CCEE27E-F489-B571-57F0-07FD6500F071}"/>
              </a:ext>
            </a:extLst>
          </p:cNvPr>
          <p:cNvSpPr txBox="1"/>
          <p:nvPr/>
        </p:nvSpPr>
        <p:spPr>
          <a:xfrm>
            <a:off x="8423993" y="5229297"/>
            <a:ext cx="36576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Bin  Count  Count (%)  Event rate  MORTALITY_RATE</a:t>
            </a:r>
          </a:p>
          <a:p>
            <a:r>
              <a:rPr lang="zh-CN" altLang="en-US" sz="1100" dirty="0"/>
              <a:t>0  (-inf, 1.95)     87   0.215347    0.264368        0.096700</a:t>
            </a:r>
          </a:p>
          <a:p>
            <a:r>
              <a:rPr lang="zh-CN" altLang="en-US" sz="1100" dirty="0"/>
              <a:t>1  [1.95, 4.65)    137   0.339109    0.240876        0.096499</a:t>
            </a:r>
          </a:p>
          <a:p>
            <a:r>
              <a:rPr lang="zh-CN" altLang="en-US" sz="1100" dirty="0"/>
              <a:t>2  [4.65, 6.45)     81   0.200495    0.222222        0.095717</a:t>
            </a:r>
          </a:p>
          <a:p>
            <a:r>
              <a:rPr lang="zh-CN" altLang="en-US" sz="1100" dirty="0"/>
              <a:t>3  [6.45, 8.65)     43   0.106436    0.093023        0.073012</a:t>
            </a:r>
          </a:p>
          <a:p>
            <a:r>
              <a:rPr lang="zh-CN" altLang="en-US" sz="1100" dirty="0"/>
              <a:t>4   [8.65, inf)     56   0.138614    0.053571        0.067513</a:t>
            </a:r>
          </a:p>
        </p:txBody>
      </p:sp>
    </p:spTree>
    <p:extLst>
      <p:ext uri="{BB962C8B-B14F-4D97-AF65-F5344CB8AC3E}">
        <p14:creationId xmlns:p14="http://schemas.microsoft.com/office/powerpoint/2010/main" val="514309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F772F10-ED34-EB21-1CAA-F19A245EC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62" y="0"/>
            <a:ext cx="2449991" cy="175558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426479F-5F2D-7C98-965A-BF16DB4D5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474" y="0"/>
            <a:ext cx="2449991" cy="168773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DDCB8F2-D611-5DEB-8208-E3FF5B4594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321" y="1715574"/>
            <a:ext cx="2411132" cy="17151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2006C5B-3D22-FA40-137C-E1CA82EB8B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9072" y="1715575"/>
            <a:ext cx="2422793" cy="168749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A204A90-0260-B3F2-7259-2970DEAC0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320" y="3401986"/>
            <a:ext cx="2411131" cy="1663419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49193B5-A8D6-3346-4654-5F72DB9DF8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9072" y="3429630"/>
            <a:ext cx="2411131" cy="167981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3F78882-8FBD-73A9-48D0-283640A24C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318" y="4990822"/>
            <a:ext cx="2418589" cy="171514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C4F2DAB-8D0D-A145-7E46-E69D169F51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5474" y="5126814"/>
            <a:ext cx="2385526" cy="1679816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5686D483-3105-BE83-58CE-DC6BCE367A17}"/>
              </a:ext>
            </a:extLst>
          </p:cNvPr>
          <p:cNvSpPr txBox="1"/>
          <p:nvPr/>
        </p:nvSpPr>
        <p:spPr>
          <a:xfrm>
            <a:off x="2588451" y="69174"/>
            <a:ext cx="365824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 (-inf, 33.05)     34   0.084158    0.088235        0.076695</a:t>
            </a:r>
          </a:p>
          <a:p>
            <a:r>
              <a:rPr lang="zh-CN" altLang="en-US" sz="1100" dirty="0"/>
              <a:t>1   [33.05, 33.25)     23   0.056931    0.130435        0.083993</a:t>
            </a:r>
          </a:p>
          <a:p>
            <a:r>
              <a:rPr lang="zh-CN" altLang="en-US" sz="1100" dirty="0"/>
              <a:t>2   [33.25, 33.55)     70   0.173267    0.185714        0.080204</a:t>
            </a:r>
          </a:p>
          <a:p>
            <a:r>
              <a:rPr lang="zh-CN" altLang="en-US" sz="1100" dirty="0"/>
              <a:t>3   [33.55, 33.65)     59   0.146040    0.186441        0.084923</a:t>
            </a:r>
          </a:p>
          <a:p>
            <a:r>
              <a:rPr lang="zh-CN" altLang="en-US" sz="1100" dirty="0"/>
              <a:t>4   [33.65, 33.85)    101   0.250000    0.188119        0.092970</a:t>
            </a:r>
          </a:p>
          <a:p>
            <a:r>
              <a:rPr lang="zh-CN" altLang="en-US" sz="1100" dirty="0"/>
              <a:t>5   [33.85, 33.95)     43   0.106436    0.209302        0.091942</a:t>
            </a:r>
          </a:p>
          <a:p>
            <a:r>
              <a:rPr lang="zh-CN" altLang="en-US" sz="1100" dirty="0"/>
              <a:t>6   [33.95, 34.15)     42   0.103960    0.261905        0.102060</a:t>
            </a:r>
          </a:p>
          <a:p>
            <a:r>
              <a:rPr lang="zh-CN" altLang="en-US" sz="1100" dirty="0"/>
              <a:t>7     [34.15, inf)     32   0.079208    0.375000        0.109767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A3D3D5D-D396-DC48-05A4-537CCF57C89D}"/>
              </a:ext>
            </a:extLst>
          </p:cNvPr>
          <p:cNvSpPr txBox="1"/>
          <p:nvPr/>
        </p:nvSpPr>
        <p:spPr>
          <a:xfrm>
            <a:off x="8551865" y="120593"/>
            <a:ext cx="365824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30.95)     29   0.071782    0.034483        0.072092</a:t>
            </a:r>
          </a:p>
          <a:p>
            <a:r>
              <a:rPr lang="zh-CN" altLang="en-US" sz="1100" dirty="0"/>
              <a:t>1  [30.95, 31.25)     28   0.069307    0.178571        0.074802</a:t>
            </a:r>
          </a:p>
          <a:p>
            <a:r>
              <a:rPr lang="zh-CN" altLang="en-US" sz="1100" dirty="0"/>
              <a:t>2  [31.25, 31.85)    209   0.517327    0.200957        0.091897</a:t>
            </a:r>
          </a:p>
          <a:p>
            <a:r>
              <a:rPr lang="zh-CN" altLang="en-US" sz="1100" dirty="0"/>
              <a:t>3  [31.85, 31.95)     37   0.091584    0.216216        0.090022</a:t>
            </a:r>
          </a:p>
          <a:p>
            <a:r>
              <a:rPr lang="zh-CN" altLang="en-US" sz="1100" dirty="0"/>
              <a:t>4  [31.95, 32.05)     26   0.064356    0.307692        0.100650</a:t>
            </a:r>
          </a:p>
          <a:p>
            <a:r>
              <a:rPr lang="zh-CN" altLang="en-US" sz="1100" dirty="0"/>
              <a:t>5  [32.05, 32.25)     52   0.128713    0.250000        0.094086</a:t>
            </a:r>
          </a:p>
          <a:p>
            <a:r>
              <a:rPr lang="zh-CN" altLang="en-US" sz="1100" dirty="0"/>
              <a:t>6    [32.25, inf)     23   0.056931    0.173913        0.090215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714C632-739D-0A9D-EF24-A541643C7708}"/>
              </a:ext>
            </a:extLst>
          </p:cNvPr>
          <p:cNvSpPr txBox="1"/>
          <p:nvPr/>
        </p:nvSpPr>
        <p:spPr>
          <a:xfrm>
            <a:off x="2595907" y="1849869"/>
            <a:ext cx="377061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29.15)     51   0.126238    0.058824        0.068412</a:t>
            </a:r>
          </a:p>
          <a:p>
            <a:r>
              <a:rPr lang="zh-CN" altLang="en-US" sz="1100" dirty="0"/>
              <a:t>1  [29.15, 29.45)     55   0.136139    0.127273        0.077225</a:t>
            </a:r>
          </a:p>
          <a:p>
            <a:r>
              <a:rPr lang="zh-CN" altLang="en-US" sz="1100" dirty="0"/>
              <a:t>2  [29.45, 29.75)    103   0.254950    0.184466        0.092664</a:t>
            </a:r>
          </a:p>
          <a:p>
            <a:r>
              <a:rPr lang="zh-CN" altLang="en-US" sz="1100" dirty="0"/>
              <a:t>3  [29.75, 29.95)     58   0.143564    0.206897        0.094285</a:t>
            </a:r>
          </a:p>
          <a:p>
            <a:r>
              <a:rPr lang="zh-CN" altLang="en-US" sz="1100" dirty="0"/>
              <a:t>4  [29.95, 30.05)     27   0.066832    0.407407        0.107271</a:t>
            </a:r>
          </a:p>
          <a:p>
            <a:r>
              <a:rPr lang="zh-CN" altLang="en-US" sz="1100" dirty="0"/>
              <a:t>5  [30.05, 30.25)     45   0.111386    0.288889        0.097879</a:t>
            </a:r>
          </a:p>
          <a:p>
            <a:r>
              <a:rPr lang="zh-CN" altLang="en-US" sz="1100" dirty="0"/>
              <a:t>6    [30.25, inf)     65   0.160891    0.246154        0.096254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CD915A5-0AA1-B147-5387-D2B0275BD036}"/>
              </a:ext>
            </a:extLst>
          </p:cNvPr>
          <p:cNvSpPr txBox="1"/>
          <p:nvPr/>
        </p:nvSpPr>
        <p:spPr>
          <a:xfrm>
            <a:off x="8565465" y="1920686"/>
            <a:ext cx="3658244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27.95)     32   0.079208    0.031250        0.065801</a:t>
            </a:r>
          </a:p>
          <a:p>
            <a:r>
              <a:rPr lang="zh-CN" altLang="en-US" sz="1100" dirty="0"/>
              <a:t>1  [27.95, 28.15)     43   0.106436    0.069767        0.068893</a:t>
            </a:r>
          </a:p>
          <a:p>
            <a:r>
              <a:rPr lang="zh-CN" altLang="en-US" sz="1100" dirty="0"/>
              <a:t>2  [28.15, 28.35)     46   0.113861    0.108696        0.079062</a:t>
            </a:r>
          </a:p>
          <a:p>
            <a:r>
              <a:rPr lang="zh-CN" altLang="en-US" sz="1100" dirty="0"/>
              <a:t>3  [28.35, 28.75)    138   0.341584    0.210145        0.092584</a:t>
            </a:r>
          </a:p>
          <a:p>
            <a:r>
              <a:rPr lang="zh-CN" altLang="en-US" sz="1100" dirty="0"/>
              <a:t>4  [28.75, 29.35)    108   0.267327    0.268519        0.098986</a:t>
            </a:r>
          </a:p>
          <a:p>
            <a:r>
              <a:rPr lang="zh-CN" altLang="en-US" sz="1100" dirty="0"/>
              <a:t>5    [29.35, inf)     37   0.091584    0.378378        0.111746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ACFBB5A-4B40-DD5B-173D-4C5252CD151E}"/>
              </a:ext>
            </a:extLst>
          </p:cNvPr>
          <p:cNvSpPr txBox="1"/>
          <p:nvPr/>
        </p:nvSpPr>
        <p:spPr>
          <a:xfrm>
            <a:off x="2595907" y="3656771"/>
            <a:ext cx="354631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27.15)     96   0.237624    0.083333        0.072373</a:t>
            </a:r>
          </a:p>
          <a:p>
            <a:r>
              <a:rPr lang="zh-CN" altLang="en-US" sz="1100" dirty="0"/>
              <a:t>1  [27.15, 27.55)    125   0.309406    0.176000        0.089379</a:t>
            </a:r>
          </a:p>
          <a:p>
            <a:r>
              <a:rPr lang="zh-CN" altLang="en-US" sz="1100" dirty="0"/>
              <a:t>2  [27.55, 27.65)     22   0.054455    0.181818        0.093767</a:t>
            </a:r>
          </a:p>
          <a:p>
            <a:r>
              <a:rPr lang="zh-CN" altLang="en-US" sz="1100" dirty="0"/>
              <a:t>3  [27.65, 28.45)    137   0.339109    0.262774        0.097189</a:t>
            </a:r>
          </a:p>
          <a:p>
            <a:r>
              <a:rPr lang="zh-CN" altLang="en-US" sz="1100" dirty="0"/>
              <a:t>4    [28.45, inf)     24   0.059406    0.458333        0.117031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B2850C3-03AD-F288-CEC6-5A57C2C6AF4F}"/>
              </a:ext>
            </a:extLst>
          </p:cNvPr>
          <p:cNvSpPr txBox="1"/>
          <p:nvPr/>
        </p:nvSpPr>
        <p:spPr>
          <a:xfrm>
            <a:off x="8565465" y="3510420"/>
            <a:ext cx="365824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25.65)     29   0.071782    0.103448        0.078517</a:t>
            </a:r>
          </a:p>
          <a:p>
            <a:r>
              <a:rPr lang="zh-CN" altLang="en-US" sz="1100" dirty="0"/>
              <a:t>1  [25.65, 25.85)     32   0.079208    0.062500        0.068773</a:t>
            </a:r>
          </a:p>
          <a:p>
            <a:r>
              <a:rPr lang="zh-CN" altLang="en-US" sz="1100" dirty="0"/>
              <a:t>2  [25.85, 25.95)     25   0.061881    0.040000        0.064914</a:t>
            </a:r>
          </a:p>
          <a:p>
            <a:r>
              <a:rPr lang="zh-CN" altLang="en-US" sz="1100" dirty="0"/>
              <a:t>3  [25.95, 26.05)     23   0.056931    0.043478        0.073774</a:t>
            </a:r>
          </a:p>
          <a:p>
            <a:r>
              <a:rPr lang="zh-CN" altLang="en-US" sz="1100" dirty="0"/>
              <a:t>4  [26.05, 26.15)     29   0.071782    0.103448        0.084139</a:t>
            </a:r>
          </a:p>
          <a:p>
            <a:r>
              <a:rPr lang="zh-CN" altLang="en-US" sz="1100" dirty="0"/>
              <a:t>5  [26.15, 26.65)    123   0.304455    0.195122        0.087749</a:t>
            </a:r>
          </a:p>
          <a:p>
            <a:r>
              <a:rPr lang="zh-CN" altLang="en-US" sz="1100" dirty="0"/>
              <a:t>6    [26.65, inf)    143   0.353960    0.328671        0.106826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24BF5EB-B872-2A1C-DE22-35570B0131D0}"/>
              </a:ext>
            </a:extLst>
          </p:cNvPr>
          <p:cNvSpPr txBox="1"/>
          <p:nvPr/>
        </p:nvSpPr>
        <p:spPr>
          <a:xfrm>
            <a:off x="2595907" y="5181897"/>
            <a:ext cx="3546311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24.45)     34   0.084158    0.058824        0.067310</a:t>
            </a:r>
          </a:p>
          <a:p>
            <a:r>
              <a:rPr lang="zh-CN" altLang="en-US" sz="1100" dirty="0"/>
              <a:t>1  [24.45, 25.15)    126   0.311881    0.079365        0.075167</a:t>
            </a:r>
          </a:p>
          <a:p>
            <a:r>
              <a:rPr lang="zh-CN" altLang="en-US" sz="1100" dirty="0"/>
              <a:t>2  [25.15, 25.45)     64   0.158416    0.156250        0.080239</a:t>
            </a:r>
          </a:p>
          <a:p>
            <a:r>
              <a:rPr lang="zh-CN" altLang="en-US" sz="1100" dirty="0"/>
              <a:t>3  [25.45, 25.75)     56   0.138614    0.285714        0.101255</a:t>
            </a:r>
          </a:p>
          <a:p>
            <a:r>
              <a:rPr lang="zh-CN" altLang="en-US" sz="1100" dirty="0"/>
              <a:t>4  [25.75, 26.05)     57   0.141089    0.333333        0.115685</a:t>
            </a:r>
          </a:p>
          <a:p>
            <a:r>
              <a:rPr lang="zh-CN" altLang="en-US" sz="1100" dirty="0"/>
              <a:t>5    [26.05, inf)     67   0.165842    0.358209        0.106678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B9F4BE9-EFD7-B124-7A9C-1224EE2D68F7}"/>
              </a:ext>
            </a:extLst>
          </p:cNvPr>
          <p:cNvSpPr txBox="1"/>
          <p:nvPr/>
        </p:nvSpPr>
        <p:spPr>
          <a:xfrm>
            <a:off x="8578117" y="5317077"/>
            <a:ext cx="365824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MORTALITY_RATE</a:t>
            </a:r>
          </a:p>
          <a:p>
            <a:r>
              <a:rPr lang="zh-CN" altLang="en-US" sz="1100" dirty="0"/>
              <a:t>0   (-inf, 23.15)     32   0.079208    0.062500        0.072143</a:t>
            </a:r>
          </a:p>
          <a:p>
            <a:r>
              <a:rPr lang="zh-CN" altLang="en-US" sz="1100" dirty="0"/>
              <a:t>1  [23.15, 23.95)     76   0.188119    0.013158        0.064684</a:t>
            </a:r>
          </a:p>
          <a:p>
            <a:r>
              <a:rPr lang="zh-CN" altLang="en-US" sz="1100" dirty="0"/>
              <a:t>2  [23.95, 24.55)     83   0.205446    0.144578        0.083970</a:t>
            </a:r>
          </a:p>
          <a:p>
            <a:r>
              <a:rPr lang="zh-CN" altLang="en-US" sz="1100" dirty="0"/>
              <a:t>3  [24.55, 25.85)    187   0.462871    0.299465        0.104482</a:t>
            </a:r>
          </a:p>
          <a:p>
            <a:r>
              <a:rPr lang="zh-CN" altLang="en-US" sz="1100" dirty="0"/>
              <a:t>4    [25.85, inf)     26   0.064356    0.384615        0.099017</a:t>
            </a:r>
          </a:p>
        </p:txBody>
      </p:sp>
    </p:spTree>
    <p:extLst>
      <p:ext uri="{BB962C8B-B14F-4D97-AF65-F5344CB8AC3E}">
        <p14:creationId xmlns:p14="http://schemas.microsoft.com/office/powerpoint/2010/main" val="2072985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083C07E-ED31-1655-4781-4FB905135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46" y="1305781"/>
            <a:ext cx="5605254" cy="40778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CAAA9FC-124D-AE80-EA55-4559DA798A52}"/>
              </a:ext>
            </a:extLst>
          </p:cNvPr>
          <p:cNvSpPr txBox="1"/>
          <p:nvPr/>
        </p:nvSpPr>
        <p:spPr>
          <a:xfrm>
            <a:off x="6470150" y="2644170"/>
            <a:ext cx="609771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Bin  Count  Count (%)  Event rate  MORTALITY_RATE</a:t>
            </a:r>
          </a:p>
          <a:p>
            <a:r>
              <a:rPr lang="zh-CN" altLang="en-US" sz="1600" dirty="0"/>
              <a:t>0  (-inf, 0.50)     35   0.128676    0.057143        0.039928</a:t>
            </a:r>
          </a:p>
          <a:p>
            <a:r>
              <a:rPr lang="zh-CN" altLang="en-US" sz="1600" dirty="0"/>
              <a:t>1  [0.50, 0.59)     26   0.095588    0.038462        0.046201</a:t>
            </a:r>
          </a:p>
          <a:p>
            <a:r>
              <a:rPr lang="zh-CN" altLang="en-US" sz="1600" dirty="0"/>
              <a:t>2  [0.59, 0.71)     36   0.132353    0.166667        0.046477</a:t>
            </a:r>
          </a:p>
          <a:p>
            <a:r>
              <a:rPr lang="zh-CN" altLang="en-US" sz="1600" dirty="0"/>
              <a:t>3  [0.71, 1.06)    117   0.430147    0.188034        0.050446</a:t>
            </a:r>
          </a:p>
          <a:p>
            <a:r>
              <a:rPr lang="zh-CN" altLang="en-US" sz="1600" dirty="0"/>
              <a:t>4   [1.06, inf)     58   0.213235    0.413793        0.062888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4E1477-9DAF-E801-A3BE-4718335A93D7}"/>
              </a:ext>
            </a:extLst>
          </p:cNvPr>
          <p:cNvSpPr/>
          <p:nvPr/>
        </p:nvSpPr>
        <p:spPr>
          <a:xfrm>
            <a:off x="8543806" y="787476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秋季</a:t>
            </a:r>
          </a:p>
        </p:txBody>
      </p:sp>
    </p:spTree>
    <p:extLst>
      <p:ext uri="{BB962C8B-B14F-4D97-AF65-F5344CB8AC3E}">
        <p14:creationId xmlns:p14="http://schemas.microsoft.com/office/powerpoint/2010/main" val="2176316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840A1-F101-DA53-3382-73CE4BA9A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228A80C-7BB1-D71C-C754-01D377A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55" y="1632182"/>
            <a:ext cx="4926964" cy="35936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47A3E9A-83CD-FA95-3955-D87D1665963F}"/>
              </a:ext>
            </a:extLst>
          </p:cNvPr>
          <p:cNvSpPr txBox="1"/>
          <p:nvPr/>
        </p:nvSpPr>
        <p:spPr>
          <a:xfrm>
            <a:off x="5946169" y="2521059"/>
            <a:ext cx="609771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Bin  Count  Count (%)  Event rate  MORTALITY_RATE</a:t>
            </a:r>
          </a:p>
          <a:p>
            <a:r>
              <a:rPr lang="zh-CN" altLang="en-US" sz="1600" dirty="0"/>
              <a:t>0   (-inf, 28.49)     38   0.139706    0.447368        0.057892</a:t>
            </a:r>
          </a:p>
          <a:p>
            <a:r>
              <a:rPr lang="zh-CN" altLang="en-US" sz="1600" dirty="0"/>
              <a:t>1  [28.49, 28.89)     73   0.268382    0.342466        0.058900</a:t>
            </a:r>
          </a:p>
          <a:p>
            <a:r>
              <a:rPr lang="zh-CN" altLang="en-US" sz="1600" dirty="0"/>
              <a:t>2  [28.89, 29.12)     50   0.183824    0.160000        0.052414</a:t>
            </a:r>
          </a:p>
          <a:p>
            <a:r>
              <a:rPr lang="zh-CN" altLang="en-US" sz="1600" dirty="0"/>
              <a:t>3  [29.12, 29.69)     51   0.187500    0.058824        0.045269</a:t>
            </a:r>
          </a:p>
          <a:p>
            <a:r>
              <a:rPr lang="zh-CN" altLang="en-US" sz="1600" dirty="0"/>
              <a:t>4  [29.69, 30.64)     41   0.150735    0.024390        0.042168</a:t>
            </a:r>
          </a:p>
          <a:p>
            <a:r>
              <a:rPr lang="zh-CN" altLang="en-US" sz="1600" dirty="0"/>
              <a:t>5    [30.64, inf)     19   0.069853    0.052632        0.034932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45E734B-8D66-BCAE-A185-E58A4F1411CB}"/>
              </a:ext>
            </a:extLst>
          </p:cNvPr>
          <p:cNvSpPr/>
          <p:nvPr/>
        </p:nvSpPr>
        <p:spPr>
          <a:xfrm>
            <a:off x="8543806" y="787476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秋季</a:t>
            </a:r>
          </a:p>
        </p:txBody>
      </p:sp>
    </p:spTree>
    <p:extLst>
      <p:ext uri="{BB962C8B-B14F-4D97-AF65-F5344CB8AC3E}">
        <p14:creationId xmlns:p14="http://schemas.microsoft.com/office/powerpoint/2010/main" val="58261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FA920E2-46F3-AE6D-08BA-DCACB0E48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27" y="2062088"/>
            <a:ext cx="4846566" cy="352020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E76D35E-B2D7-8FC1-955D-54E42C66E4E7}"/>
              </a:ext>
            </a:extLst>
          </p:cNvPr>
          <p:cNvSpPr txBox="1"/>
          <p:nvPr/>
        </p:nvSpPr>
        <p:spPr>
          <a:xfrm>
            <a:off x="6096000" y="2544917"/>
            <a:ext cx="540677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Bin  Count  Count (%)  Event rate  MORTALITY_RATE</a:t>
            </a:r>
          </a:p>
          <a:p>
            <a:r>
              <a:rPr lang="zh-CN" altLang="en-US" sz="1600" dirty="0"/>
              <a:t>0    (-inf, 0.51)     18   0.066176    0.055556        0.047555</a:t>
            </a:r>
          </a:p>
          <a:p>
            <a:r>
              <a:rPr lang="zh-CN" altLang="en-US" sz="1600" dirty="0"/>
              <a:t>1    [0.51, 2.26)     69   0.253676    0.086957        0.043791</a:t>
            </a:r>
          </a:p>
          <a:p>
            <a:r>
              <a:rPr lang="zh-CN" altLang="en-US" sz="1600" dirty="0"/>
              <a:t>2    [2.26, 3.57)     36   0.132353    0.166667        0.047692</a:t>
            </a:r>
          </a:p>
          <a:p>
            <a:r>
              <a:rPr lang="zh-CN" altLang="en-US" sz="1600" dirty="0"/>
              <a:t>3    [3.57, 5.48)     36   0.132353    0.222222        0.052449</a:t>
            </a:r>
          </a:p>
          <a:p>
            <a:r>
              <a:rPr lang="zh-CN" altLang="en-US" sz="1600" dirty="0"/>
              <a:t>4    [5.48, 7.25)     28   0.102941    0.285714        0.053670</a:t>
            </a:r>
          </a:p>
          <a:p>
            <a:r>
              <a:rPr lang="zh-CN" altLang="en-US" sz="1600" dirty="0"/>
              <a:t>5    [7.25, 8.35)     20   0.073529    0.300000        0.058412</a:t>
            </a:r>
          </a:p>
          <a:p>
            <a:r>
              <a:rPr lang="zh-CN" altLang="en-US" sz="1600" dirty="0"/>
              <a:t>6    [8.35, 9.39)     14   0.051471    0.428571        0.059269</a:t>
            </a:r>
          </a:p>
          <a:p>
            <a:r>
              <a:rPr lang="zh-CN" altLang="en-US" sz="1600" dirty="0"/>
              <a:t>7   [9.39, 12.78)     29   0.106618    0.275862        0.056544</a:t>
            </a:r>
          </a:p>
          <a:p>
            <a:r>
              <a:rPr lang="zh-CN" altLang="en-US" sz="1600" dirty="0"/>
              <a:t>8    [12.78, inf)     22   0.080882    0.272727        0.054472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115946-F8EB-9DEF-463B-0E3D763CA6A3}"/>
              </a:ext>
            </a:extLst>
          </p:cNvPr>
          <p:cNvSpPr/>
          <p:nvPr/>
        </p:nvSpPr>
        <p:spPr>
          <a:xfrm>
            <a:off x="8543806" y="787476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秋季</a:t>
            </a:r>
          </a:p>
        </p:txBody>
      </p:sp>
    </p:spTree>
    <p:extLst>
      <p:ext uri="{BB962C8B-B14F-4D97-AF65-F5344CB8AC3E}">
        <p14:creationId xmlns:p14="http://schemas.microsoft.com/office/powerpoint/2010/main" val="306827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E84496B-A6E7-0576-0835-2EC1E8B76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36" y="1592088"/>
            <a:ext cx="5406614" cy="40638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1D85386-DD05-0222-888C-77A2F0F475DD}"/>
              </a:ext>
            </a:extLst>
          </p:cNvPr>
          <p:cNvSpPr txBox="1"/>
          <p:nvPr/>
        </p:nvSpPr>
        <p:spPr>
          <a:xfrm>
            <a:off x="6675634" y="2978201"/>
            <a:ext cx="609771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 Bin  Count  Count (%)  Event rate  MORTALITY_RATE</a:t>
            </a:r>
          </a:p>
          <a:p>
            <a:r>
              <a:rPr lang="zh-CN" altLang="en-US" sz="1400" dirty="0"/>
              <a:t>0  (-inf, 0.65)     15   0.055147    0.533333        0.065301</a:t>
            </a:r>
          </a:p>
          <a:p>
            <a:r>
              <a:rPr lang="zh-CN" altLang="en-US" sz="1400" dirty="0"/>
              <a:t>1  [0.65, 1.02)    122   0.448529    0.303279        0.056893</a:t>
            </a:r>
          </a:p>
          <a:p>
            <a:r>
              <a:rPr lang="zh-CN" altLang="en-US" sz="1400" dirty="0"/>
              <a:t>2  [1.02, 1.07)     21   0.077206    0.190476        0.052183</a:t>
            </a:r>
          </a:p>
          <a:p>
            <a:r>
              <a:rPr lang="zh-CN" altLang="en-US" sz="1400" dirty="0"/>
              <a:t>3  [1.07, 1.27)     36   0.132353    0.027778        0.042166</a:t>
            </a:r>
          </a:p>
          <a:p>
            <a:r>
              <a:rPr lang="zh-CN" altLang="en-US" sz="1400" dirty="0"/>
              <a:t>4  [1.27, 1.39)     17   0.062500    0.058824        0.043176</a:t>
            </a:r>
          </a:p>
          <a:p>
            <a:r>
              <a:rPr lang="zh-CN" altLang="en-US" sz="1400" dirty="0"/>
              <a:t>5   [1.39, inf)     61   0.224265    0.065574        0.041858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4760B5-AEED-B884-3B08-3BEB9A404DFF}"/>
              </a:ext>
            </a:extLst>
          </p:cNvPr>
          <p:cNvSpPr/>
          <p:nvPr/>
        </p:nvSpPr>
        <p:spPr>
          <a:xfrm>
            <a:off x="8277106" y="663651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秋季</a:t>
            </a:r>
          </a:p>
        </p:txBody>
      </p:sp>
    </p:spTree>
    <p:extLst>
      <p:ext uri="{BB962C8B-B14F-4D97-AF65-F5344CB8AC3E}">
        <p14:creationId xmlns:p14="http://schemas.microsoft.com/office/powerpoint/2010/main" val="333653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BA6F-3D2C-20D7-D43E-E85A7E422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CACE3152-7DC5-9C8E-0A06-CB346A96C5E9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DBAD38D9-5547-0095-D581-6882C80E9117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E37B370-645B-7668-E10A-715E325E0FC0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4BFF91E6-F352-FEA3-D27C-72B655FCAE1F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27878C8-D80C-7B04-A401-DA541A750CCB}"/>
              </a:ext>
            </a:extLst>
          </p:cNvPr>
          <p:cNvSpPr/>
          <p:nvPr/>
        </p:nvSpPr>
        <p:spPr>
          <a:xfrm>
            <a:off x="492981" y="1249209"/>
            <a:ext cx="564032" cy="78661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62506A-533D-2F50-9D6D-B2E37EE1E1D4}"/>
              </a:ext>
            </a:extLst>
          </p:cNvPr>
          <p:cNvSpPr/>
          <p:nvPr/>
        </p:nvSpPr>
        <p:spPr>
          <a:xfrm>
            <a:off x="492981" y="1249209"/>
            <a:ext cx="11060104" cy="78661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7584FD9-7F17-BC4B-3DA4-F90CF66BD536}"/>
              </a:ext>
            </a:extLst>
          </p:cNvPr>
          <p:cNvSpPr txBox="1"/>
          <p:nvPr/>
        </p:nvSpPr>
        <p:spPr>
          <a:xfrm>
            <a:off x="1057013" y="1339235"/>
            <a:ext cx="10642006" cy="690076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以出栏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为目标变量，探索各阶段温度及温度变化对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的影响。分季节取样本的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80%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分位数划分高低</a:t>
            </a:r>
            <a:r>
              <a:rPr lang="en-US" altLang="zh-CN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400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。指标为三天滑窗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A6CC099-A307-B15F-9649-9B0DDC3BBEA3}"/>
              </a:ext>
            </a:extLst>
          </p:cNvPr>
          <p:cNvSpPr/>
          <p:nvPr/>
        </p:nvSpPr>
        <p:spPr>
          <a:xfrm>
            <a:off x="9602815" y="2585930"/>
            <a:ext cx="3102795" cy="9863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见文档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C2BD32D-E8FF-3236-0E4F-18FBD2167560}"/>
              </a:ext>
            </a:extLst>
          </p:cNvPr>
          <p:cNvGraphicFramePr>
            <a:graphicFrameLocks noGrp="1"/>
          </p:cNvGraphicFramePr>
          <p:nvPr/>
        </p:nvGraphicFramePr>
        <p:xfrm>
          <a:off x="1191873" y="3204916"/>
          <a:ext cx="9043839" cy="872490"/>
        </p:xfrm>
        <a:graphic>
          <a:graphicData uri="http://schemas.openxmlformats.org/drawingml/2006/table">
            <a:tbl>
              <a:tblPr firstRow="1" firstCol="1" bandRow="1"/>
              <a:tblGrid>
                <a:gridCol w="1298704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875269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11588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301989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1132749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58841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687906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11720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平衡准确率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验证集平衡准确率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4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20093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0.81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20093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0.85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0.74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20093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0.74</a:t>
                      </a: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9B4818C-5B59-6FB2-770A-BA16A9F7B615}"/>
              </a:ext>
            </a:extLst>
          </p:cNvPr>
          <p:cNvGraphicFramePr>
            <a:graphicFrameLocks noGrp="1"/>
          </p:cNvGraphicFramePr>
          <p:nvPr/>
        </p:nvGraphicFramePr>
        <p:xfrm>
          <a:off x="1199712" y="4927061"/>
          <a:ext cx="6974237" cy="872490"/>
        </p:xfrm>
        <a:graphic>
          <a:graphicData uri="http://schemas.openxmlformats.org/drawingml/2006/table">
            <a:tbl>
              <a:tblPr firstRow="1" firstCol="1" bandRow="1"/>
              <a:tblGrid>
                <a:gridCol w="996845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6913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11877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altLang="en-US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40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4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en-US" altLang="zh-CN" sz="140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430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sp>
        <p:nvSpPr>
          <p:cNvPr id="11" name="矩形 10">
            <a:extLst>
              <a:ext uri="{FF2B5EF4-FFF2-40B4-BE49-F238E27FC236}">
                <a16:creationId xmlns:a16="http://schemas.microsoft.com/office/drawing/2014/main" id="{6F1452B6-3A22-659B-BAB4-8C22D2E7FBCE}"/>
              </a:ext>
            </a:extLst>
          </p:cNvPr>
          <p:cNvSpPr/>
          <p:nvPr/>
        </p:nvSpPr>
        <p:spPr>
          <a:xfrm>
            <a:off x="1199713" y="2660206"/>
            <a:ext cx="1029137" cy="367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latin typeface="等线" panose="02010600030101010101" pitchFamily="2" charset="-122"/>
                <a:ea typeface="等线" panose="02010600030101010101" pitchFamily="2" charset="-122"/>
              </a:rPr>
              <a:t>二分类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F779BA6-9DE8-7C6C-D096-B4C0A45E496D}"/>
              </a:ext>
            </a:extLst>
          </p:cNvPr>
          <p:cNvSpPr/>
          <p:nvPr/>
        </p:nvSpPr>
        <p:spPr>
          <a:xfrm>
            <a:off x="1199712" y="4353559"/>
            <a:ext cx="1029137" cy="367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latin typeface="等线" panose="02010600030101010101" pitchFamily="2" charset="-122"/>
                <a:ea typeface="等线" panose="02010600030101010101" pitchFamily="2" charset="-122"/>
              </a:rPr>
              <a:t>回归</a:t>
            </a:r>
          </a:p>
        </p:txBody>
      </p:sp>
    </p:spTree>
    <p:extLst>
      <p:ext uri="{BB962C8B-B14F-4D97-AF65-F5344CB8AC3E}">
        <p14:creationId xmlns:p14="http://schemas.microsoft.com/office/powerpoint/2010/main" val="1826473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10B67-167D-D557-D8E4-42E71E4C9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36D6F6B-1A11-6046-9B6D-EEFF7C386BD3}"/>
              </a:ext>
            </a:extLst>
          </p:cNvPr>
          <p:cNvSpPr txBox="1"/>
          <p:nvPr/>
        </p:nvSpPr>
        <p:spPr>
          <a:xfrm>
            <a:off x="6747553" y="2644170"/>
            <a:ext cx="557116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</a:t>
            </a:r>
            <a:r>
              <a:rPr lang="en-US" altLang="zh-CN" sz="1600" dirty="0"/>
              <a:t>   Bin  Count  </a:t>
            </a:r>
            <a:r>
              <a:rPr lang="en-US" altLang="zh-CN" sz="1600" dirty="0" err="1"/>
              <a:t>Count</a:t>
            </a:r>
            <a:r>
              <a:rPr lang="en-US" altLang="zh-CN" sz="1600" dirty="0"/>
              <a:t> (%)  Event rate         EEF</a:t>
            </a:r>
          </a:p>
          <a:p>
            <a:r>
              <a:rPr lang="en-US" altLang="zh-CN" sz="1600" dirty="0"/>
              <a:t>0  (-inf, 0.60)     29   0.071782    0.068966  300.897899</a:t>
            </a:r>
          </a:p>
          <a:p>
            <a:r>
              <a:rPr lang="en-US" altLang="zh-CN" sz="1600" dirty="0"/>
              <a:t>1  [0.60, 0.83)    150   0.371287    0.113333  300.651211</a:t>
            </a:r>
          </a:p>
          <a:p>
            <a:r>
              <a:rPr lang="en-US" altLang="zh-CN" sz="1600" dirty="0"/>
              <a:t>2  [0.83, 0.87)     22   0.054455    0.136364  318.850657</a:t>
            </a:r>
          </a:p>
          <a:p>
            <a:r>
              <a:rPr lang="en-US" altLang="zh-CN" sz="1600" dirty="0"/>
              <a:t>3  [0.87, 1.03)     84   0.207921    0.214286  318.844291</a:t>
            </a:r>
          </a:p>
          <a:p>
            <a:r>
              <a:rPr lang="en-US" altLang="zh-CN" sz="1600" dirty="0"/>
              <a:t>4  [1.03, 1.30)     88   0.217822    0.250000  338.249461</a:t>
            </a:r>
          </a:p>
          <a:p>
            <a:r>
              <a:rPr lang="en-US" altLang="zh-CN" sz="1600" dirty="0"/>
              <a:t>5   [1.30, inf)     31   0.076733    0.612903  367.296961</a:t>
            </a:r>
            <a:endParaRPr lang="zh-CN" altLang="en-US" sz="160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85FB7B-4C75-B6F3-32FD-082B779F1F52}"/>
              </a:ext>
            </a:extLst>
          </p:cNvPr>
          <p:cNvSpPr/>
          <p:nvPr/>
        </p:nvSpPr>
        <p:spPr>
          <a:xfrm>
            <a:off x="8543806" y="787476"/>
            <a:ext cx="3102795" cy="73247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冬季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39BCBF-950E-0373-D3C8-B3C40AD6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978" y="1230085"/>
            <a:ext cx="5431422" cy="4066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574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96F9A8C-154F-F0A1-B1B8-0A9D8E087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1890065"/>
            <a:ext cx="5329237" cy="392970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0795AE2-A649-BAA7-C79C-CC35F5E4357B}"/>
              </a:ext>
            </a:extLst>
          </p:cNvPr>
          <p:cNvSpPr txBox="1"/>
          <p:nvPr/>
        </p:nvSpPr>
        <p:spPr>
          <a:xfrm>
            <a:off x="6448426" y="2820502"/>
            <a:ext cx="51816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 Bin  Count  Count (%)  Event rate         EEF</a:t>
            </a:r>
          </a:p>
          <a:p>
            <a:r>
              <a:rPr lang="zh-CN" altLang="en-US" sz="1600" dirty="0"/>
              <a:t>0  (-inf, 0.60)     58   0.143564    0.017241  301.347572</a:t>
            </a:r>
          </a:p>
          <a:p>
            <a:r>
              <a:rPr lang="zh-CN" altLang="en-US" sz="1600" dirty="0"/>
              <a:t>1  [0.60, 0.85)    116   0.287129    0.129310  301.177435</a:t>
            </a:r>
          </a:p>
          <a:p>
            <a:r>
              <a:rPr lang="zh-CN" altLang="en-US" sz="1600" dirty="0"/>
              <a:t>2  [0.85, 1.00)     87   0.215347    0.275862  328.363528</a:t>
            </a:r>
          </a:p>
          <a:p>
            <a:r>
              <a:rPr lang="zh-CN" altLang="en-US" sz="1600" dirty="0"/>
              <a:t>3  [1.00, 1.08)     43   0.106436    0.465116  346.770853</a:t>
            </a:r>
          </a:p>
          <a:p>
            <a:r>
              <a:rPr lang="zh-CN" altLang="en-US" sz="1600" dirty="0"/>
              <a:t>4  [1.08, 1.16)     39   0.096535    0.307692  322.649837</a:t>
            </a:r>
          </a:p>
          <a:p>
            <a:r>
              <a:rPr lang="zh-CN" altLang="en-US" sz="1600" dirty="0"/>
              <a:t>5   [1.16, inf)     61   0.150990    0.147541  332.732053</a:t>
            </a:r>
          </a:p>
        </p:txBody>
      </p:sp>
    </p:spTree>
    <p:extLst>
      <p:ext uri="{BB962C8B-B14F-4D97-AF65-F5344CB8AC3E}">
        <p14:creationId xmlns:p14="http://schemas.microsoft.com/office/powerpoint/2010/main" val="50199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975C2-0D80-D735-6513-CEDD90110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936D3BC-5B8E-260D-777C-8CEA18D64C23}"/>
              </a:ext>
            </a:extLst>
          </p:cNvPr>
          <p:cNvSpPr txBox="1"/>
          <p:nvPr/>
        </p:nvSpPr>
        <p:spPr>
          <a:xfrm>
            <a:off x="6343651" y="2220427"/>
            <a:ext cx="51816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/>
              <a:t> Bin  Count  </a:t>
            </a:r>
            <a:r>
              <a:rPr lang="en-US" altLang="zh-CN" sz="1600" dirty="0" err="1"/>
              <a:t>Count</a:t>
            </a:r>
            <a:r>
              <a:rPr lang="en-US" altLang="zh-CN" sz="1600" dirty="0"/>
              <a:t> (%)  Event rate         EEF</a:t>
            </a:r>
          </a:p>
          <a:p>
            <a:r>
              <a:rPr lang="en-US" altLang="zh-CN" sz="1600" dirty="0"/>
              <a:t>0   (-inf, 0.62)     72   0.178218    0.041667  300.426641</a:t>
            </a:r>
          </a:p>
          <a:p>
            <a:r>
              <a:rPr lang="en-US" altLang="zh-CN" sz="1600" dirty="0"/>
              <a:t>1   [0.62, 0.66)     23   0.056931    0.086957  315.157494</a:t>
            </a:r>
          </a:p>
          <a:p>
            <a:r>
              <a:rPr lang="en-US" altLang="zh-CN" sz="1600" dirty="0"/>
              <a:t>2   [0.66, 0.77)     51   0.126238    0.117647  311.057910</a:t>
            </a:r>
          </a:p>
          <a:p>
            <a:r>
              <a:rPr lang="en-US" altLang="zh-CN" sz="1600" dirty="0"/>
              <a:t>3   [0.77, 0.86)     56   0.138614    0.196429  305.471945</a:t>
            </a:r>
          </a:p>
          <a:p>
            <a:r>
              <a:rPr lang="en-US" altLang="zh-CN" sz="1600" dirty="0"/>
              <a:t>4   [0.86, 1.02)     90   0.222772    0.322222  323.630971</a:t>
            </a:r>
          </a:p>
          <a:p>
            <a:r>
              <a:rPr lang="en-US" altLang="zh-CN" sz="1600" dirty="0"/>
              <a:t>5   [1.02, 1.08)     29   0.071782    0.448276  340.087512</a:t>
            </a:r>
          </a:p>
          <a:p>
            <a:r>
              <a:rPr lang="en-US" altLang="zh-CN" sz="1600" dirty="0"/>
              <a:t>6   [1.08, 1.18)     30   0.074257    0.333333  347.399867</a:t>
            </a:r>
          </a:p>
          <a:p>
            <a:r>
              <a:rPr lang="en-US" altLang="zh-CN" sz="1600" dirty="0"/>
              <a:t>7   [1.18, 1.34)     30   0.074257    0.200000  334.152584</a:t>
            </a:r>
          </a:p>
          <a:p>
            <a:r>
              <a:rPr lang="en-US" altLang="zh-CN" sz="1600" dirty="0"/>
              <a:t>8    [1.34, inf)     23   0.056931    0.043478  325.560536</a:t>
            </a:r>
            <a:endParaRPr lang="zh-CN" altLang="en-US" sz="1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E7642BF-0A22-F75A-4E6B-057675A6F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16" y="1533412"/>
            <a:ext cx="4911159" cy="364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90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00878-76C8-A63E-7DAF-8074C98D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79B9332-7049-A425-59DD-F6ADE4CE5017}"/>
              </a:ext>
            </a:extLst>
          </p:cNvPr>
          <p:cNvSpPr txBox="1"/>
          <p:nvPr/>
        </p:nvSpPr>
        <p:spPr>
          <a:xfrm>
            <a:off x="6343651" y="2220427"/>
            <a:ext cx="51816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/>
              <a:t>  Bin  Count  </a:t>
            </a:r>
            <a:r>
              <a:rPr lang="en-US" altLang="zh-CN" sz="1600" dirty="0" err="1"/>
              <a:t>Count</a:t>
            </a:r>
            <a:r>
              <a:rPr lang="en-US" altLang="zh-CN" sz="1600" dirty="0"/>
              <a:t> (%)  Event rate         EEF</a:t>
            </a:r>
          </a:p>
          <a:p>
            <a:r>
              <a:rPr lang="en-US" altLang="zh-CN" sz="1600" dirty="0"/>
              <a:t>0  (-inf, 0.51)     74   0.183168    0.175676  303.381895</a:t>
            </a:r>
          </a:p>
          <a:p>
            <a:r>
              <a:rPr lang="en-US" altLang="zh-CN" sz="1600" dirty="0"/>
              <a:t>1  [0.51, 0.62)    124   0.306931    0.096774  306.056388</a:t>
            </a:r>
          </a:p>
          <a:p>
            <a:r>
              <a:rPr lang="en-US" altLang="zh-CN" sz="1600" dirty="0"/>
              <a:t>2  [0.62, 0.64)     31   0.076733    0.032258  309.367064</a:t>
            </a:r>
          </a:p>
          <a:p>
            <a:r>
              <a:rPr lang="en-US" altLang="zh-CN" sz="1600" dirty="0"/>
              <a:t>3  [0.64, 0.68)     36   0.089109    0.166667  316.454138</a:t>
            </a:r>
          </a:p>
          <a:p>
            <a:r>
              <a:rPr lang="en-US" altLang="zh-CN" sz="1600" dirty="0"/>
              <a:t>4  [0.68, 0.74)     57   0.141089    0.263158  328.701584</a:t>
            </a:r>
          </a:p>
          <a:p>
            <a:r>
              <a:rPr lang="en-US" altLang="zh-CN" sz="1600" dirty="0"/>
              <a:t>5   [0.74, inf)     82   0.202970    0.414634  349.433457</a:t>
            </a:r>
            <a:endParaRPr lang="zh-CN" altLang="en-US" sz="16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451EEEE-575F-050C-E89C-D324A778E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35" y="1479307"/>
            <a:ext cx="5314206" cy="389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964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FA1E48DA-7B6B-DD2E-A22B-B699B3354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87" y="151277"/>
            <a:ext cx="2199946" cy="164782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E8392C2-B829-8015-261C-ECA00B4E2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111" y="151277"/>
            <a:ext cx="2118090" cy="155733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B2673AC9-7FE6-F846-E909-2C0C9252C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87" y="1773075"/>
            <a:ext cx="2199947" cy="1631749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EC2A78E2-D959-1CDE-E5DB-47D7ED786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4111" y="1735935"/>
            <a:ext cx="2118090" cy="1566154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61642F50-00AE-A27F-7CA2-945AEB007FBC}"/>
              </a:ext>
            </a:extLst>
          </p:cNvPr>
          <p:cNvSpPr txBox="1"/>
          <p:nvPr/>
        </p:nvSpPr>
        <p:spPr>
          <a:xfrm>
            <a:off x="2657383" y="282892"/>
            <a:ext cx="3743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/>
              <a:t> Bin  Count  Count (%)  Event rate         EEF</a:t>
            </a:r>
          </a:p>
          <a:p>
            <a:r>
              <a:rPr lang="zh-CN" altLang="en-US" sz="1050" dirty="0"/>
              <a:t>0   (-inf, 32.95)     25   0.061881    0.240000  332.769032</a:t>
            </a:r>
          </a:p>
          <a:p>
            <a:r>
              <a:rPr lang="zh-CN" altLang="en-US" sz="1050" dirty="0"/>
              <a:t>1  [32.95, 33.15)     21   0.051980    0.380952  348.271487</a:t>
            </a:r>
          </a:p>
          <a:p>
            <a:r>
              <a:rPr lang="zh-CN" altLang="en-US" sz="1050" dirty="0"/>
              <a:t>2  [33.15, 33.35)     27   0.066832    0.407407  347.575989</a:t>
            </a:r>
          </a:p>
          <a:p>
            <a:r>
              <a:rPr lang="zh-CN" altLang="en-US" sz="1050" dirty="0"/>
              <a:t>3  [33.35, 33.65)    113   0.279703    0.265487  333.411433</a:t>
            </a:r>
          </a:p>
          <a:p>
            <a:r>
              <a:rPr lang="zh-CN" altLang="en-US" sz="1050" dirty="0"/>
              <a:t>4  [33.65, 33.85)    101   0.250000    0.148515  317.053942</a:t>
            </a:r>
          </a:p>
          <a:p>
            <a:r>
              <a:rPr lang="zh-CN" altLang="en-US" sz="1050" dirty="0"/>
              <a:t>5  [33.85, 33.95)     43   0.106436    0.139535  301.144171</a:t>
            </a:r>
          </a:p>
          <a:p>
            <a:r>
              <a:rPr lang="zh-CN" altLang="en-US" sz="1050" dirty="0"/>
              <a:t>6    [33.95, inf)     74   0.183168    0.067568  285.255348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D657476-BEFE-E3EF-4F57-9F546E90DF88}"/>
              </a:ext>
            </a:extLst>
          </p:cNvPr>
          <p:cNvSpPr txBox="1"/>
          <p:nvPr/>
        </p:nvSpPr>
        <p:spPr>
          <a:xfrm>
            <a:off x="8352201" y="151277"/>
            <a:ext cx="367197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31.25)     57   0.141089    0.456140  356.942402</a:t>
            </a:r>
          </a:p>
          <a:p>
            <a:r>
              <a:rPr lang="zh-CN" altLang="en-US" sz="1100" dirty="0"/>
              <a:t>1  [31.25, 31.45)     45   0.111386    0.222222  313.793061</a:t>
            </a:r>
          </a:p>
          <a:p>
            <a:r>
              <a:rPr lang="zh-CN" altLang="en-US" sz="1100" dirty="0"/>
              <a:t>2  [31.45, 31.65)     64   0.158416    0.187500  323.463248</a:t>
            </a:r>
          </a:p>
          <a:p>
            <a:r>
              <a:rPr lang="zh-CN" altLang="en-US" sz="1100" dirty="0"/>
              <a:t>3  [31.65, 31.95)    137   0.339109    0.182482  315.236569</a:t>
            </a:r>
          </a:p>
          <a:p>
            <a:r>
              <a:rPr lang="zh-CN" altLang="en-US" sz="1100" dirty="0"/>
              <a:t>4  [31.95, 32.05)     26   0.064356    0.038462  282.169649</a:t>
            </a:r>
          </a:p>
          <a:p>
            <a:r>
              <a:rPr lang="zh-CN" altLang="en-US" sz="1100" dirty="0"/>
              <a:t>5  [32.05, 32.25)     52   0.128713    0.057692  307.355370</a:t>
            </a:r>
          </a:p>
          <a:p>
            <a:r>
              <a:rPr lang="zh-CN" altLang="en-US" sz="1100" dirty="0"/>
              <a:t>6    [32.25, inf)     23   0.056931    0.173913  308.659194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F964AED-D305-CA83-1B26-997CADB6AE23}"/>
              </a:ext>
            </a:extLst>
          </p:cNvPr>
          <p:cNvSpPr txBox="1"/>
          <p:nvPr/>
        </p:nvSpPr>
        <p:spPr>
          <a:xfrm>
            <a:off x="2562133" y="1880376"/>
            <a:ext cx="3838575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29.05)     34   0.084158    0.617647  369.537969</a:t>
            </a:r>
          </a:p>
          <a:p>
            <a:r>
              <a:rPr lang="zh-CN" altLang="en-US" sz="1100" dirty="0"/>
              <a:t>1  [29.05, 29.25)     34   0.084158    0.294118  343.346843</a:t>
            </a:r>
          </a:p>
          <a:p>
            <a:r>
              <a:rPr lang="zh-CN" altLang="en-US" sz="1100" dirty="0"/>
              <a:t>2  [29.25, 29.45)     38   0.094059    0.236842  333.230199</a:t>
            </a:r>
          </a:p>
          <a:p>
            <a:r>
              <a:rPr lang="zh-CN" altLang="en-US" sz="1100" dirty="0"/>
              <a:t>3  [29.45, 29.75)    103   0.254950    0.203883  323.406747</a:t>
            </a:r>
          </a:p>
          <a:p>
            <a:r>
              <a:rPr lang="zh-CN" altLang="en-US" sz="1100" dirty="0"/>
              <a:t>4  [29.75, 30.45)    157   0.388614    0.121019  301.799712</a:t>
            </a:r>
          </a:p>
          <a:p>
            <a:r>
              <a:rPr lang="zh-CN" altLang="en-US" sz="1100" dirty="0"/>
              <a:t>5    [30.45, inf)     38   0.094059    0.026316  294.19034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29E1AA9-4402-C7C2-E16C-2F46655D3C25}"/>
              </a:ext>
            </a:extLst>
          </p:cNvPr>
          <p:cNvSpPr txBox="1"/>
          <p:nvPr/>
        </p:nvSpPr>
        <p:spPr>
          <a:xfrm>
            <a:off x="8448674" y="1735935"/>
            <a:ext cx="37433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27.95)     32   0.079208    0.593750  373.862493</a:t>
            </a:r>
          </a:p>
          <a:p>
            <a:r>
              <a:rPr lang="zh-CN" altLang="en-US" sz="1100" dirty="0"/>
              <a:t>1  [27.95, 28.05)     22   0.054455    0.363636  347.239201</a:t>
            </a:r>
          </a:p>
          <a:p>
            <a:r>
              <a:rPr lang="zh-CN" altLang="en-US" sz="1100" dirty="0"/>
              <a:t>2  [28.05, 28.25)     42   0.103960    0.309524  337.613449</a:t>
            </a:r>
          </a:p>
          <a:p>
            <a:r>
              <a:rPr lang="zh-CN" altLang="en-US" sz="1100" dirty="0"/>
              <a:t>3  [28.25, 28.35)     25   0.061881    0.280000  338.396853</a:t>
            </a:r>
          </a:p>
          <a:p>
            <a:r>
              <a:rPr lang="zh-CN" altLang="en-US" sz="1100" dirty="0"/>
              <a:t>4  [28.35, 28.75)    138   0.341584    0.152174  317.196402</a:t>
            </a:r>
          </a:p>
          <a:p>
            <a:r>
              <a:rPr lang="zh-CN" altLang="en-US" sz="1100" dirty="0"/>
              <a:t>5  [28.75, 29.25)     97   0.240099    0.113402  299.652149</a:t>
            </a:r>
          </a:p>
          <a:p>
            <a:r>
              <a:rPr lang="zh-CN" altLang="en-US" sz="1100" dirty="0"/>
              <a:t>6    [29.25, inf)     48   0.118812    0.041667  285.241743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D336B9C6-4029-FA17-56C0-459726F188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4111" y="3319940"/>
            <a:ext cx="2199947" cy="1632593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8B8E23F4-C65F-3FDC-3A47-0016398A0E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361" y="5100905"/>
            <a:ext cx="2280772" cy="1691124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504099F4-4258-3260-9770-E4AC744DE8C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2846" y="5091380"/>
            <a:ext cx="2255828" cy="1691124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883D21E2-392E-F735-5873-FF800FD81F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186" y="3421326"/>
            <a:ext cx="2199947" cy="1670054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619596FA-7416-374F-7225-227C8D771DD5}"/>
              </a:ext>
            </a:extLst>
          </p:cNvPr>
          <p:cNvSpPr txBox="1"/>
          <p:nvPr/>
        </p:nvSpPr>
        <p:spPr>
          <a:xfrm>
            <a:off x="2562133" y="3486098"/>
            <a:ext cx="379094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26.95)     61   0.150990    0.475410  363.309711</a:t>
            </a:r>
          </a:p>
          <a:p>
            <a:r>
              <a:rPr lang="zh-CN" altLang="en-US" sz="1100" dirty="0"/>
              <a:t>1  [26.95, 27.15)     35   0.086634    0.342857  332.225721</a:t>
            </a:r>
          </a:p>
          <a:p>
            <a:r>
              <a:rPr lang="zh-CN" altLang="en-US" sz="1100" dirty="0"/>
              <a:t>2  [27.15, 27.35)     56   0.138614    0.178571  324.024583</a:t>
            </a:r>
          </a:p>
          <a:p>
            <a:r>
              <a:rPr lang="zh-CN" altLang="en-US" sz="1100" dirty="0"/>
              <a:t>3  [27.35, 27.45)     35   0.086634    0.171429  317.890314</a:t>
            </a:r>
          </a:p>
          <a:p>
            <a:r>
              <a:rPr lang="zh-CN" altLang="en-US" sz="1100" dirty="0"/>
              <a:t>4  [27.45, 27.75)     95   0.235149    0.136842  312.052635</a:t>
            </a:r>
          </a:p>
          <a:p>
            <a:r>
              <a:rPr lang="zh-CN" altLang="en-US" sz="1100" dirty="0"/>
              <a:t>5  [27.75, 27.95)     31   0.076733    0.032258  294.401106</a:t>
            </a:r>
          </a:p>
          <a:p>
            <a:r>
              <a:rPr lang="zh-CN" altLang="en-US" sz="1100" dirty="0"/>
              <a:t>6    [27.95, inf)     91   0.225248    0.109890  296.052189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4E7326C-7455-DC8C-2F43-A24F4005CBD3}"/>
              </a:ext>
            </a:extLst>
          </p:cNvPr>
          <p:cNvSpPr txBox="1"/>
          <p:nvPr/>
        </p:nvSpPr>
        <p:spPr>
          <a:xfrm>
            <a:off x="8448674" y="3486098"/>
            <a:ext cx="359092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25.85)     61   0.150990    0.327869  344.317566</a:t>
            </a:r>
          </a:p>
          <a:p>
            <a:r>
              <a:rPr lang="zh-CN" altLang="en-US" sz="1100" dirty="0"/>
              <a:t>1  [25.85, 26.25)    112   0.277228    0.294643  340.888478</a:t>
            </a:r>
          </a:p>
          <a:p>
            <a:r>
              <a:rPr lang="zh-CN" altLang="en-US" sz="1100" dirty="0"/>
              <a:t>2  [26.25, 26.45)     39   0.096535    0.256410  334.176948</a:t>
            </a:r>
          </a:p>
          <a:p>
            <a:r>
              <a:rPr lang="zh-CN" altLang="en-US" sz="1100" dirty="0"/>
              <a:t>3  [26.45, 26.55)     23   0.056931    0.173913  309.526740</a:t>
            </a:r>
          </a:p>
          <a:p>
            <a:r>
              <a:rPr lang="zh-CN" altLang="en-US" sz="1100" dirty="0"/>
              <a:t>4  [26.55, 26.65)     26   0.064356    0.153846  325.139994</a:t>
            </a:r>
          </a:p>
          <a:p>
            <a:r>
              <a:rPr lang="zh-CN" altLang="en-US" sz="1100" dirty="0"/>
              <a:t>5    [26.65, inf)    143   0.353960    0.069930  286.608232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BB2B102-AAD8-2464-0D29-8A662558BB88}"/>
              </a:ext>
            </a:extLst>
          </p:cNvPr>
          <p:cNvSpPr txBox="1"/>
          <p:nvPr/>
        </p:nvSpPr>
        <p:spPr>
          <a:xfrm>
            <a:off x="2562133" y="5116657"/>
            <a:ext cx="36195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24.45)     34   0.084158    0.588235  367.956671</a:t>
            </a:r>
          </a:p>
          <a:p>
            <a:r>
              <a:rPr lang="zh-CN" altLang="en-US" sz="1100" dirty="0"/>
              <a:t>1  [24.45, 24.65)     24   0.059406    0.416667  355.145749</a:t>
            </a:r>
          </a:p>
          <a:p>
            <a:r>
              <a:rPr lang="zh-CN" altLang="en-US" sz="1100" dirty="0"/>
              <a:t>2  [24.65, 24.95)     47   0.116337    0.297872  332.996416</a:t>
            </a:r>
          </a:p>
          <a:p>
            <a:r>
              <a:rPr lang="zh-CN" altLang="en-US" sz="1100" dirty="0"/>
              <a:t>3  [24.95, 25.15)     55   0.136139    0.254545  335.131044</a:t>
            </a:r>
          </a:p>
          <a:p>
            <a:r>
              <a:rPr lang="zh-CN" altLang="en-US" sz="1100" dirty="0"/>
              <a:t>4  [25.15, 25.45)     64   0.158416    0.125000  330.996931</a:t>
            </a:r>
          </a:p>
          <a:p>
            <a:r>
              <a:rPr lang="zh-CN" altLang="en-US" sz="1100" dirty="0"/>
              <a:t>5  [25.45, 25.65)     40   0.099010    0.125000  311.485559</a:t>
            </a:r>
          </a:p>
          <a:p>
            <a:r>
              <a:rPr lang="zh-CN" altLang="en-US" sz="1100" dirty="0"/>
              <a:t>6    [25.65, inf)    140   0.346535    0.071429  285.808745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3EF5571-7DEB-4331-6520-787CCEA6B2D9}"/>
              </a:ext>
            </a:extLst>
          </p:cNvPr>
          <p:cNvSpPr txBox="1"/>
          <p:nvPr/>
        </p:nvSpPr>
        <p:spPr>
          <a:xfrm>
            <a:off x="8448674" y="5201295"/>
            <a:ext cx="3600451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23.25)     37   0.091584    0.540541  365.211991</a:t>
            </a:r>
          </a:p>
          <a:p>
            <a:r>
              <a:rPr lang="zh-CN" altLang="en-US" sz="1100" dirty="0"/>
              <a:t>1  [23.25, 23.85)     55   0.136139    0.290909  346.804884</a:t>
            </a:r>
          </a:p>
          <a:p>
            <a:r>
              <a:rPr lang="zh-CN" altLang="en-US" sz="1100" dirty="0"/>
              <a:t>2  [23.85, 24.35)     76   0.188119    0.276316  332.385727</a:t>
            </a:r>
          </a:p>
          <a:p>
            <a:r>
              <a:rPr lang="zh-CN" altLang="en-US" sz="1100" dirty="0"/>
              <a:t>3  [24.35, 24.55)     23   0.056931    0.217391  339.185718</a:t>
            </a:r>
          </a:p>
          <a:p>
            <a:r>
              <a:rPr lang="zh-CN" altLang="en-US" sz="1100" dirty="0"/>
              <a:t>4  [24.55, 25.85)    187   0.462871    0.090909  296.144568</a:t>
            </a:r>
          </a:p>
          <a:p>
            <a:r>
              <a:rPr lang="zh-CN" altLang="en-US" sz="1100" dirty="0"/>
              <a:t>5    [25.85, inf)     26   0.064356    0.076923  297.876181</a:t>
            </a:r>
          </a:p>
        </p:txBody>
      </p:sp>
    </p:spTree>
    <p:extLst>
      <p:ext uri="{BB962C8B-B14F-4D97-AF65-F5344CB8AC3E}">
        <p14:creationId xmlns:p14="http://schemas.microsoft.com/office/powerpoint/2010/main" val="3384085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>
            <a:extLst>
              <a:ext uri="{FF2B5EF4-FFF2-40B4-BE49-F238E27FC236}">
                <a16:creationId xmlns:a16="http://schemas.microsoft.com/office/drawing/2014/main" id="{48F83B33-0445-CF01-75E6-C0530C999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53" y="478814"/>
            <a:ext cx="2065094" cy="1500653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8109D02B-4B38-3551-0B20-9D9AF8497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124" y="362575"/>
            <a:ext cx="2184222" cy="1616892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3EEDD94E-B44F-AA77-3703-125DE01BC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27" y="1979467"/>
            <a:ext cx="2054820" cy="1504711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A896623A-76AD-204F-5A3C-75CE8B746B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124" y="1979467"/>
            <a:ext cx="2189602" cy="1504711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45B0F1A0-6A0D-84AB-AB5C-0F129CF844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627" y="3478143"/>
            <a:ext cx="2054820" cy="1506688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999349C5-F6EA-7E0E-760E-D9A6895FB6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8124" y="3429001"/>
            <a:ext cx="2184222" cy="1622816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2D8577EF-83DF-5029-E487-F24344C0CE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353" y="5051817"/>
            <a:ext cx="2031360" cy="1504711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E8558D93-19E8-43FD-AB8E-42A8374050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018" y="5041069"/>
            <a:ext cx="2184222" cy="1629499"/>
          </a:xfrm>
          <a:prstGeom prst="rect">
            <a:avLst/>
          </a:prstGeom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5E380994-BCEB-7B40-CF44-F1D8614AF581}"/>
              </a:ext>
            </a:extLst>
          </p:cNvPr>
          <p:cNvSpPr txBox="1"/>
          <p:nvPr/>
        </p:nvSpPr>
        <p:spPr>
          <a:xfrm>
            <a:off x="2309447" y="675143"/>
            <a:ext cx="354800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3.15)     61   0.150990    0.262295  334.655198</a:t>
            </a:r>
          </a:p>
          <a:p>
            <a:r>
              <a:rPr lang="zh-CN" altLang="en-US" sz="1100" dirty="0"/>
              <a:t>1   [3.15, 5.05)     50   0.123762    0.100000  298.204674</a:t>
            </a:r>
          </a:p>
          <a:p>
            <a:r>
              <a:rPr lang="zh-CN" altLang="en-US" sz="1100" dirty="0"/>
              <a:t>2   [5.05, 8.05)     59   0.146040    0.033898  281.344935</a:t>
            </a:r>
          </a:p>
          <a:p>
            <a:r>
              <a:rPr lang="zh-CN" altLang="en-US" sz="1100" dirty="0"/>
              <a:t>3  [8.05, 11.70)     83   0.205446    0.192771  312.181894</a:t>
            </a:r>
          </a:p>
          <a:p>
            <a:r>
              <a:rPr lang="zh-CN" altLang="en-US" sz="1100" dirty="0"/>
              <a:t>4   [11.70, inf)    151   0.373762    0.278146  337.343476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C398E2B-CAB2-3C4B-D02D-0003FC411D43}"/>
              </a:ext>
            </a:extLst>
          </p:cNvPr>
          <p:cNvSpPr txBox="1"/>
          <p:nvPr/>
        </p:nvSpPr>
        <p:spPr>
          <a:xfrm>
            <a:off x="8332346" y="640106"/>
            <a:ext cx="347523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/>
              <a:t> Bin  Count  Count (%)  Event rate         EEF</a:t>
            </a:r>
          </a:p>
          <a:p>
            <a:r>
              <a:rPr lang="zh-CN" altLang="en-US" sz="1050" dirty="0"/>
              <a:t>0   (-inf, 3.45)     70   0.173267    0.171429  320.941887</a:t>
            </a:r>
          </a:p>
          <a:p>
            <a:r>
              <a:rPr lang="zh-CN" altLang="en-US" sz="1050" dirty="0"/>
              <a:t>1   [3.45, 4.35)     26   0.064356    0.038462  318.827542</a:t>
            </a:r>
          </a:p>
          <a:p>
            <a:r>
              <a:rPr lang="zh-CN" altLang="en-US" sz="1050" dirty="0"/>
              <a:t>2   [4.35, 5.45)     34   0.084158    0.117647  290.103071</a:t>
            </a:r>
          </a:p>
          <a:p>
            <a:r>
              <a:rPr lang="zh-CN" altLang="en-US" sz="1050" dirty="0"/>
              <a:t>3  [5.45, 12.75)    166   0.410891    0.210843  310.394024</a:t>
            </a:r>
          </a:p>
          <a:p>
            <a:r>
              <a:rPr lang="zh-CN" altLang="en-US" sz="1050" dirty="0"/>
              <a:t>4   [12.75, inf)    108   0.267327    0.268519  339.158828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9F0DC13-1D9B-897C-E45D-ABEF7341F611}"/>
              </a:ext>
            </a:extLst>
          </p:cNvPr>
          <p:cNvSpPr txBox="1"/>
          <p:nvPr/>
        </p:nvSpPr>
        <p:spPr>
          <a:xfrm>
            <a:off x="2275713" y="2102706"/>
            <a:ext cx="3432755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(-inf, 1.15)     26   0.064356    0.153846  311.405421</a:t>
            </a:r>
          </a:p>
          <a:p>
            <a:r>
              <a:rPr lang="zh-CN" altLang="en-US" sz="1100" dirty="0"/>
              <a:t>1  [1.15, 4.05)     64   0.158416    0.140625  297.775114</a:t>
            </a:r>
          </a:p>
          <a:p>
            <a:r>
              <a:rPr lang="zh-CN" altLang="en-US" sz="1100" dirty="0"/>
              <a:t>2  [4.05, 5.05)     51   0.126238    0.058824  291.959725</a:t>
            </a:r>
          </a:p>
          <a:p>
            <a:r>
              <a:rPr lang="zh-CN" altLang="en-US" sz="1100" dirty="0"/>
              <a:t>3  [5.05, 6.15)     42   0.103960    0.071429  304.014415</a:t>
            </a:r>
          </a:p>
          <a:p>
            <a:r>
              <a:rPr lang="zh-CN" altLang="en-US" sz="1100" dirty="0"/>
              <a:t>4  [6.15, 6.75)     21   0.051980    0.095238  283.143581</a:t>
            </a:r>
          </a:p>
          <a:p>
            <a:r>
              <a:rPr lang="zh-CN" altLang="en-US" sz="1100" dirty="0"/>
              <a:t>5   [6.75, inf)    200   0.495050    0.300000  340.073996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FAA17C5-C23D-B23F-EA2A-08FE8FD7749C}"/>
              </a:ext>
            </a:extLst>
          </p:cNvPr>
          <p:cNvSpPr txBox="1"/>
          <p:nvPr/>
        </p:nvSpPr>
        <p:spPr>
          <a:xfrm>
            <a:off x="8332346" y="1862316"/>
            <a:ext cx="3548009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 (-inf, 2.05)     41   0.101485    0.146341  324.418157</a:t>
            </a:r>
          </a:p>
          <a:p>
            <a:r>
              <a:rPr lang="zh-CN" altLang="en-US" sz="1100" dirty="0"/>
              <a:t>1    [2.05, 4.15)     88   0.217822    0.068182  284.835475</a:t>
            </a:r>
          </a:p>
          <a:p>
            <a:r>
              <a:rPr lang="zh-CN" altLang="en-US" sz="1100" dirty="0"/>
              <a:t>2    [4.15, 5.45)     47   0.116337    0.042553  278.237275</a:t>
            </a:r>
          </a:p>
          <a:p>
            <a:r>
              <a:rPr lang="zh-CN" altLang="en-US" sz="1100" dirty="0"/>
              <a:t>3    [5.45, 5.95)     21   0.051980    0.238095  302.578113</a:t>
            </a:r>
          </a:p>
          <a:p>
            <a:r>
              <a:rPr lang="zh-CN" altLang="en-US" sz="1100" dirty="0"/>
              <a:t>4    [5.95, 6.55)     23   0.056931    0.260870  337.245515</a:t>
            </a:r>
          </a:p>
          <a:p>
            <a:r>
              <a:rPr lang="zh-CN" altLang="en-US" sz="1100" dirty="0"/>
              <a:t>5    [6.55, 9.25)     75   0.185644    0.266667  345.554672</a:t>
            </a:r>
          </a:p>
          <a:p>
            <a:r>
              <a:rPr lang="zh-CN" altLang="en-US" sz="1100" dirty="0"/>
              <a:t>6   [9.25, 12.45)     47   0.116337    0.319149  342.146279</a:t>
            </a:r>
          </a:p>
          <a:p>
            <a:r>
              <a:rPr lang="zh-CN" altLang="en-US" sz="1100" dirty="0"/>
              <a:t>7    [12.45, inf)     62   0.153465    0.338710  342.281179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6C59EBF2-3255-4DBB-357F-ECAA47955766}"/>
              </a:ext>
            </a:extLst>
          </p:cNvPr>
          <p:cNvSpPr txBox="1"/>
          <p:nvPr/>
        </p:nvSpPr>
        <p:spPr>
          <a:xfrm>
            <a:off x="2275713" y="3607417"/>
            <a:ext cx="3432755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/>
              <a:t> Bin  Count  Count (%)  Event rate         EEF</a:t>
            </a:r>
          </a:p>
          <a:p>
            <a:r>
              <a:rPr lang="zh-CN" altLang="en-US" sz="1050" dirty="0"/>
              <a:t>0   (-inf, 1.45)     33   0.081683    0.272727  308.493679</a:t>
            </a:r>
          </a:p>
          <a:p>
            <a:r>
              <a:rPr lang="zh-CN" altLang="en-US" sz="1050" dirty="0"/>
              <a:t>1   [1.45, 2.65)     41   0.101485    0.097561  302.143936</a:t>
            </a:r>
          </a:p>
          <a:p>
            <a:r>
              <a:rPr lang="zh-CN" altLang="en-US" sz="1050" dirty="0"/>
              <a:t>2   [2.65, 3.15)     22   0.054455    0.045455  285.913419</a:t>
            </a:r>
          </a:p>
          <a:p>
            <a:r>
              <a:rPr lang="zh-CN" altLang="en-US" sz="1050" dirty="0"/>
              <a:t>3   [3.15, 5.25)    101   0.250000    0.168317  306.617518</a:t>
            </a:r>
          </a:p>
          <a:p>
            <a:r>
              <a:rPr lang="zh-CN" altLang="en-US" sz="1050" dirty="0"/>
              <a:t>4  [5.25, 13.00)    172   0.425743    0.174419  326.471197</a:t>
            </a:r>
          </a:p>
          <a:p>
            <a:r>
              <a:rPr lang="zh-CN" altLang="en-US" sz="1050" dirty="0"/>
              <a:t>5   [13.00, inf)     35   0.086634    0.571429  365.537456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410D51C-9EFB-6197-1F00-98B555EA7723}"/>
              </a:ext>
            </a:extLst>
          </p:cNvPr>
          <p:cNvSpPr txBox="1"/>
          <p:nvPr/>
        </p:nvSpPr>
        <p:spPr>
          <a:xfrm>
            <a:off x="8332345" y="3755675"/>
            <a:ext cx="354800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 (-inf, 2.75)     93   0.230198    0.096774  292.232054</a:t>
            </a:r>
          </a:p>
          <a:p>
            <a:r>
              <a:rPr lang="zh-CN" altLang="en-US" sz="1100" dirty="0"/>
              <a:t>1   [2.75, 6.45)    149   0.368812    0.147651  309.709199</a:t>
            </a:r>
          </a:p>
          <a:p>
            <a:r>
              <a:rPr lang="zh-CN" altLang="en-US" sz="1100" dirty="0"/>
              <a:t>2  [6.45, 11.95)    127   0.314356    0.244094  336.445253</a:t>
            </a:r>
          </a:p>
          <a:p>
            <a:r>
              <a:rPr lang="zh-CN" altLang="en-US" sz="1100" dirty="0"/>
              <a:t>3   [11.95, inf)     35   0.086634    0.542857  363.449005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6978773-D847-2390-0263-A3FB8BAF2B4A}"/>
              </a:ext>
            </a:extLst>
          </p:cNvPr>
          <p:cNvSpPr txBox="1"/>
          <p:nvPr/>
        </p:nvSpPr>
        <p:spPr>
          <a:xfrm>
            <a:off x="2254131" y="5250174"/>
            <a:ext cx="360332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(-inf, 1.95)     67   0.165842    0.104478  296.534599</a:t>
            </a:r>
          </a:p>
          <a:p>
            <a:r>
              <a:rPr lang="zh-CN" altLang="en-US" sz="1100" dirty="0"/>
              <a:t>1  [1.95, 2.75)     31   0.076733    0.032258  281.913221</a:t>
            </a:r>
          </a:p>
          <a:p>
            <a:r>
              <a:rPr lang="zh-CN" altLang="en-US" sz="1100" dirty="0"/>
              <a:t>2  [2.75, 4.15)     72   0.178218    0.138889  306.909372</a:t>
            </a:r>
          </a:p>
          <a:p>
            <a:r>
              <a:rPr lang="zh-CN" altLang="en-US" sz="1100" dirty="0"/>
              <a:t>3  [4.15, 9.85)    189   0.467822    0.216931  327.815402</a:t>
            </a:r>
          </a:p>
          <a:p>
            <a:r>
              <a:rPr lang="zh-CN" altLang="en-US" sz="1100" dirty="0"/>
              <a:t>4   [9.85, inf)     45   0.111386    0.488889  358.040008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494DC9B-21EC-4A03-A754-1B1F615E1197}"/>
              </a:ext>
            </a:extLst>
          </p:cNvPr>
          <p:cNvSpPr txBox="1"/>
          <p:nvPr/>
        </p:nvSpPr>
        <p:spPr>
          <a:xfrm>
            <a:off x="8332345" y="5132543"/>
            <a:ext cx="343275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/>
              <a:t> Bin  Count  Count (%)  Event rate         EEF</a:t>
            </a:r>
          </a:p>
          <a:p>
            <a:r>
              <a:rPr lang="zh-CN" altLang="en-US" sz="1100" dirty="0"/>
              <a:t>0  (-inf, 2.75)    118   0.292079    0.245763  314.890477</a:t>
            </a:r>
          </a:p>
          <a:p>
            <a:r>
              <a:rPr lang="zh-CN" altLang="en-US" sz="1100" dirty="0"/>
              <a:t>1  [2.75, 3.85)     54   0.133663    0.203704  301.434264</a:t>
            </a:r>
          </a:p>
          <a:p>
            <a:r>
              <a:rPr lang="zh-CN" altLang="en-US" sz="1100" dirty="0"/>
              <a:t>2  [3.85, 5.05)     72   0.178218    0.097222  310.091343</a:t>
            </a:r>
          </a:p>
          <a:p>
            <a:r>
              <a:rPr lang="zh-CN" altLang="en-US" sz="1100" dirty="0"/>
              <a:t>3  [5.05, 5.55)     32   0.079208    0.031250  316.862900</a:t>
            </a:r>
          </a:p>
          <a:p>
            <a:r>
              <a:rPr lang="zh-CN" altLang="en-US" sz="1100" dirty="0"/>
              <a:t>4  [5.55, 6.30)     27   0.066832    0.074074  308.653207</a:t>
            </a:r>
          </a:p>
          <a:p>
            <a:r>
              <a:rPr lang="zh-CN" altLang="en-US" sz="1100" dirty="0"/>
              <a:t>5  [6.30, 8.85)     52   0.128713    0.192308  333.575341</a:t>
            </a:r>
          </a:p>
          <a:p>
            <a:r>
              <a:rPr lang="zh-CN" altLang="en-US" sz="1100" dirty="0"/>
              <a:t>6   [8.85, inf)     49   0.121287    0.428571  350.882523</a:t>
            </a:r>
          </a:p>
        </p:txBody>
      </p:sp>
    </p:spTree>
    <p:extLst>
      <p:ext uri="{BB962C8B-B14F-4D97-AF65-F5344CB8AC3E}">
        <p14:creationId xmlns:p14="http://schemas.microsoft.com/office/powerpoint/2010/main" val="1482653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E1759-B493-67DE-1F9E-D3F539CE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7F18B6-B26F-09DF-E000-A7BF0AD0D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226" y="957768"/>
            <a:ext cx="8082481" cy="861774"/>
          </a:xfrm>
        </p:spPr>
        <p:txBody>
          <a:bodyPr/>
          <a:lstStyle/>
          <a:p>
            <a:r>
              <a:rPr lang="zh-CN" altLang="en-US" sz="4400" dirty="0">
                <a:latin typeface="等线" panose="02010600030101010101" pitchFamily="2" charset="-122"/>
                <a:ea typeface="等线" panose="02010600030101010101" pitchFamily="2" charset="-122"/>
              </a:rPr>
              <a:t>下周计划</a:t>
            </a:r>
            <a:endParaRPr lang="en-US" sz="4400" dirty="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344FB5-5D1A-25EB-41D1-35CC3CFE31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199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2020-TEMPLATE-EXTERNAL" val="pdtUH84H"/>
  <p:tag name="ARTICULATE_DESIGN_ID_SAS-EXTERNAL-16X9-2023" val="CJxW6PTk"/>
  <p:tag name="ARTICULATE_DESIGN_ID_1_NDA" val="5KPCLKMf"/>
  <p:tag name="ARTICULATE_DESIGN_ID_1_SAS-EXTERNAL-16X9-2023" val="OvZPFYIY"/>
  <p:tag name="ARTICULATE_DESIGN_ID_SAS - EXTERNAL - 16X9 - 2023" val="iju6vBOG"/>
  <p:tag name="ARTICULATE_DESIGN_ID_SAS - EXTERNAL" val="IZ9bNYet"/>
  <p:tag name="ARTICULATE_DESIGN_ID_SAS - EXTERNAL - NDA" val="RR4fBfJW"/>
  <p:tag name="ARTICULATE_SLIDE_THUMBNAIL_REFRESH" val="1"/>
  <p:tag name="ARTICULATE_DESIGN_ID_CUSTOM DESIGN" val="WASRYxhz"/>
  <p:tag name="ARTICULATE_SLIDE_COUNT" val="11"/>
  <p:tag name="ARTICULATE_PROJECT_OPEN" val="0"/>
  <p:tag name="COMMONDATA" val="eyJoZGlkIjoiY2FmNGJlNDAzN2U1NmMyNzMzZTc0YjA1YWNhMzZlNTE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AS - EXTERNAL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AS - EXTERNAL - NDA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52B48C136D414EB12EC6609A2B4A69" ma:contentTypeVersion="5" ma:contentTypeDescription="Create a new document." ma:contentTypeScope="" ma:versionID="c506d0840867f1adddbc926f9a8dfc6f">
  <xsd:schema xmlns:xsd="http://www.w3.org/2001/XMLSchema" xmlns:xs="http://www.w3.org/2001/XMLSchema" xmlns:p="http://schemas.microsoft.com/office/2006/metadata/properties" xmlns:ns2="d21cdafc-5a3a-425e-9674-4fb06b514c0e" xmlns:ns3="6e647c50-2143-4825-9865-d236e7692e65" targetNamespace="http://schemas.microsoft.com/office/2006/metadata/properties" ma:root="true" ma:fieldsID="0df08590ed69fcf4c72a3fc3581b1869" ns2:_="" ns3:_="">
    <xsd:import namespace="d21cdafc-5a3a-425e-9674-4fb06b514c0e"/>
    <xsd:import namespace="6e647c50-2143-4825-9865-d236e7692e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1cdafc-5a3a-425e-9674-4fb06b514c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47c50-2143-4825-9865-d236e7692e6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663518-7548-4643-8219-608BFF0DFA0C}">
  <ds:schemaRefs/>
</ds:datastoreItem>
</file>

<file path=customXml/itemProps2.xml><?xml version="1.0" encoding="utf-8"?>
<ds:datastoreItem xmlns:ds="http://schemas.openxmlformats.org/officeDocument/2006/customXml" ds:itemID="{51779852-367B-483D-8C46-CF2C7DC5D261}">
  <ds:schemaRefs/>
</ds:datastoreItem>
</file>

<file path=customXml/itemProps3.xml><?xml version="1.0" encoding="utf-8"?>
<ds:datastoreItem xmlns:ds="http://schemas.openxmlformats.org/officeDocument/2006/customXml" ds:itemID="{E3E925E4-5239-4639-A029-07B3CFD6A3F1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EXTERNAL_Template_2023</Template>
  <TotalTime>4656</TotalTime>
  <Words>7046</Words>
  <Application>Microsoft Office PowerPoint</Application>
  <PresentationFormat>宽屏</PresentationFormat>
  <Paragraphs>582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32</vt:i4>
      </vt:variant>
    </vt:vector>
  </HeadingPairs>
  <TitlesOfParts>
    <vt:vector size="42" baseType="lpstr">
      <vt:lpstr>Anova Bold</vt:lpstr>
      <vt:lpstr>Anova Light</vt:lpstr>
      <vt:lpstr>DengXian</vt:lpstr>
      <vt:lpstr>DengXian</vt:lpstr>
      <vt:lpstr>等线 Light</vt:lpstr>
      <vt:lpstr>Calibri</vt:lpstr>
      <vt:lpstr>Wingdings</vt:lpstr>
      <vt:lpstr>Wingdings 2</vt:lpstr>
      <vt:lpstr>SAS - EXTERNAL</vt:lpstr>
      <vt:lpstr>SAS - EXTERNAL - NDA</vt:lpstr>
      <vt:lpstr>数智驱动的肉鸡养殖根因分析实施方案  第四周成果汇报</vt:lpstr>
      <vt:lpstr>PowerPoint 演示文稿</vt:lpstr>
      <vt:lpstr>目录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下周计划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Plus Solution assist Value</dc:title>
  <dc:creator>Alex Zhang</dc:creator>
  <cp:lastModifiedBy>渊琰 肖</cp:lastModifiedBy>
  <cp:revision>192</cp:revision>
  <dcterms:created xsi:type="dcterms:W3CDTF">2023-10-08T03:09:00Z</dcterms:created>
  <dcterms:modified xsi:type="dcterms:W3CDTF">2025-05-23T03:12:54Z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451006F2-8E20-4D4E-B05C-4B5D02827FD6</vt:lpwstr>
  </property>
  <property fmtid="{D5CDD505-2E9C-101B-9397-08002B2CF9AE}" pid="3" name="ArticulatePath">
    <vt:lpwstr>2020-Template-External</vt:lpwstr>
  </property>
  <property fmtid="{D5CDD505-2E9C-101B-9397-08002B2CF9AE}" pid="4" name="ContentTypeId">
    <vt:lpwstr>0x0101008252B48C136D414EB12EC6609A2B4A69</vt:lpwstr>
  </property>
  <property fmtid="{D5CDD505-2E9C-101B-9397-08002B2CF9AE}" pid="5" name="ICV">
    <vt:lpwstr>5DA87FED2261458DA9A831FC15E03DC4_13</vt:lpwstr>
  </property>
  <property fmtid="{D5CDD505-2E9C-101B-9397-08002B2CF9AE}" pid="6" name="KSOProductBuildVer">
    <vt:lpwstr>2052-12.1.0.20784</vt:lpwstr>
  </property>
</Properties>
</file>