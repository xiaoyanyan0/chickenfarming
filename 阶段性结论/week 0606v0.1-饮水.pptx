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4"/>
  </p:notesMasterIdLst>
  <p:handoutMasterIdLst>
    <p:handoutMasterId r:id="rId25"/>
  </p:handoutMasterIdLst>
  <p:sldIdLst>
    <p:sldId id="16771194" r:id="rId6"/>
    <p:sldId id="16771204" r:id="rId7"/>
    <p:sldId id="2147477425" r:id="rId8"/>
    <p:sldId id="2147477628" r:id="rId9"/>
    <p:sldId id="2147477627" r:id="rId10"/>
    <p:sldId id="2147477507" r:id="rId11"/>
    <p:sldId id="2147477616" r:id="rId12"/>
    <p:sldId id="2147477617" r:id="rId13"/>
    <p:sldId id="2147477618" r:id="rId14"/>
    <p:sldId id="2147477619" r:id="rId15"/>
    <p:sldId id="2147477620" r:id="rId16"/>
    <p:sldId id="2147477621" r:id="rId17"/>
    <p:sldId id="2147477622" r:id="rId18"/>
    <p:sldId id="2147477623" r:id="rId19"/>
    <p:sldId id="2147477624" r:id="rId20"/>
    <p:sldId id="2147477625" r:id="rId21"/>
    <p:sldId id="2147477626" r:id="rId22"/>
    <p:sldId id="2147477430" r:id="rId23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图例" id="{76BBB22E-3CD8-442F-A55A-EFE124622DB0}">
          <p14:sldIdLst>
            <p14:sldId id="2147477628"/>
          </p14:sldIdLst>
        </p14:section>
        <p14:section name="综合分析" id="{39D6EB33-D176-4FFB-96B9-C60E24F1B3DB}">
          <p14:sldIdLst>
            <p14:sldId id="2147477627"/>
          </p14:sldIdLst>
        </p14:section>
        <p14:section name="冬季" id="{37F0E41A-B668-40D3-8BAC-D2DF595AE658}">
          <p14:sldIdLst>
            <p14:sldId id="2147477507"/>
            <p14:sldId id="2147477616"/>
            <p14:sldId id="2147477617"/>
          </p14:sldIdLst>
        </p14:section>
        <p14:section name="秋季" id="{B4B72D4B-9B16-4888-BCD6-4296BA93142D}">
          <p14:sldIdLst>
            <p14:sldId id="2147477618"/>
            <p14:sldId id="2147477619"/>
            <p14:sldId id="2147477620"/>
          </p14:sldIdLst>
        </p14:section>
        <p14:section name="夏季" id="{946E272D-E265-481A-9352-BD14E2358995}">
          <p14:sldIdLst>
            <p14:sldId id="2147477621"/>
            <p14:sldId id="2147477622"/>
            <p14:sldId id="2147477623"/>
          </p14:sldIdLst>
        </p14:section>
        <p14:section name="春季" id="{1D81D102-CA85-40C8-BD2A-58B83745ED80}">
          <p14:sldIdLst>
            <p14:sldId id="2147477624"/>
            <p14:sldId id="2147477625"/>
            <p14:sldId id="2147477626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1" autoAdjust="0"/>
    <p:restoredTop sz="92774" autoAdjust="0"/>
  </p:normalViewPr>
  <p:slideViewPr>
    <p:cSldViewPr snapToGrid="0" showGuides="1">
      <p:cViewPr>
        <p:scale>
          <a:sx n="50" d="100"/>
          <a:sy n="50" d="100"/>
        </p:scale>
        <p:origin x="1839" y="600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6/4/2025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表, 直方图&#10;&#10;AI 生成的内容可能不正确。">
            <a:extLst>
              <a:ext uri="{FF2B5EF4-FFF2-40B4-BE49-F238E27FC236}">
                <a16:creationId xmlns:a16="http://schemas.microsoft.com/office/drawing/2014/main" id="{4635C7A0-08A5-D5E3-47D9-D23470CC53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95" y="515172"/>
            <a:ext cx="7101959" cy="440136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FB8D4A4-FD0A-EE1B-E85B-6117F3BB480D}"/>
              </a:ext>
            </a:extLst>
          </p:cNvPr>
          <p:cNvSpPr txBox="1"/>
          <p:nvPr/>
        </p:nvSpPr>
        <p:spPr>
          <a:xfrm>
            <a:off x="1969610" y="5152358"/>
            <a:ext cx="8650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标题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：饮水差值与死淘率关系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</a:t>
            </a:r>
            <a:r>
              <a:rPr lang="en-US" altLang="zh-CN" sz="1800" b="0" i="0" dirty="0" err="1">
                <a:solidFill>
                  <a:srgbClr val="404040"/>
                </a:solidFill>
                <a:effectLst/>
                <a:latin typeface="quote-cjk-patch"/>
              </a:rPr>
              <a:t>water_per_diff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_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前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天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-winter</a:t>
            </a:r>
            <a:endParaRPr lang="en-US" altLang="zh-CN" sz="1800" dirty="0">
              <a:solidFill>
                <a:srgbClr val="404040"/>
              </a:solidFill>
              <a:latin typeface="quote-cjk-patch"/>
            </a:endParaRPr>
          </a:p>
          <a:p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字段含义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</a:t>
            </a:r>
            <a:r>
              <a:rPr lang="zh-CN" altLang="en-US" sz="1800" dirty="0">
                <a:solidFill>
                  <a:srgbClr val="404040"/>
                </a:solidFill>
                <a:latin typeface="quote-cjk-patch"/>
              </a:rPr>
              <a:t>前一天的平均每只饮水量的差值</a:t>
            </a:r>
            <a:br>
              <a:rPr lang="zh-CN" altLang="en-US" sz="1800" dirty="0"/>
            </a:br>
            <a:r>
              <a:rPr lang="en-US" altLang="zh-CN" sz="1800" b="1" i="0" dirty="0">
                <a:solidFill>
                  <a:srgbClr val="404040"/>
                </a:solidFill>
                <a:effectLst/>
                <a:latin typeface="quote-cjk-patch"/>
              </a:rPr>
              <a:t>X</a:t>
            </a:r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：饮水量，图片上方给出样本范围：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-153.8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至 </a:t>
            </a:r>
            <a:r>
              <a:rPr lang="en-US" altLang="zh-CN" sz="1800" dirty="0">
                <a:solidFill>
                  <a:srgbClr val="404040"/>
                </a:solidFill>
                <a:latin typeface="quote-cjk-patch"/>
              </a:rPr>
              <a:t>106.3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℃</a:t>
            </a:r>
          </a:p>
          <a:p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左</a:t>
            </a:r>
            <a:r>
              <a:rPr lang="en-US" altLang="zh-CN" sz="1800" b="1" dirty="0">
                <a:solidFill>
                  <a:srgbClr val="404040"/>
                </a:solidFill>
                <a:latin typeface="quote-cjk-patch"/>
              </a:rPr>
              <a:t>y</a:t>
            </a:r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轴：</a:t>
            </a:r>
            <a:r>
              <a:rPr lang="zh-CN" altLang="en-US" sz="1800" dirty="0">
                <a:solidFill>
                  <a:srgbClr val="404040"/>
                </a:solidFill>
                <a:latin typeface="quote-cjk-patch"/>
              </a:rPr>
              <a:t>样本数量，条形图的不同高度代表不同区间内的样本数量</a:t>
            </a:r>
            <a:br>
              <a:rPr lang="zh-CN" altLang="en-US" sz="1800" dirty="0"/>
            </a:br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右</a:t>
            </a:r>
            <a:r>
              <a:rPr lang="en-US" altLang="zh-CN" sz="1800" dirty="0"/>
              <a:t>_</a:t>
            </a:r>
            <a:r>
              <a:rPr lang="en-US" altLang="zh-CN" sz="1800" b="1" i="0" dirty="0">
                <a:solidFill>
                  <a:srgbClr val="404040"/>
                </a:solidFill>
                <a:effectLst/>
                <a:latin typeface="quote-cjk-patch"/>
              </a:rPr>
              <a:t>Y</a:t>
            </a:r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：死淘率，折线图表示不同区间的死淘率均值。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392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9EFA0DE-8876-E2D4-45C0-EE03AEF30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024656"/>
              </p:ext>
            </p:extLst>
          </p:nvPr>
        </p:nvGraphicFramePr>
        <p:xfrm>
          <a:off x="2311686" y="2233246"/>
          <a:ext cx="6010274" cy="2391508"/>
        </p:xfrm>
        <a:graphic>
          <a:graphicData uri="http://schemas.openxmlformats.org/drawingml/2006/table">
            <a:tbl>
              <a:tblPr/>
              <a:tblGrid>
                <a:gridCol w="2150834">
                  <a:extLst>
                    <a:ext uri="{9D8B030D-6E8A-4147-A177-3AD203B41FA5}">
                      <a16:colId xmlns:a16="http://schemas.microsoft.com/office/drawing/2014/main" val="2816476893"/>
                    </a:ext>
                  </a:extLst>
                </a:gridCol>
                <a:gridCol w="964860">
                  <a:extLst>
                    <a:ext uri="{9D8B030D-6E8A-4147-A177-3AD203B41FA5}">
                      <a16:colId xmlns:a16="http://schemas.microsoft.com/office/drawing/2014/main" val="798595823"/>
                    </a:ext>
                  </a:extLst>
                </a:gridCol>
                <a:gridCol w="964860">
                  <a:extLst>
                    <a:ext uri="{9D8B030D-6E8A-4147-A177-3AD203B41FA5}">
                      <a16:colId xmlns:a16="http://schemas.microsoft.com/office/drawing/2014/main" val="2288642613"/>
                    </a:ext>
                  </a:extLst>
                </a:gridCol>
                <a:gridCol w="964860">
                  <a:extLst>
                    <a:ext uri="{9D8B030D-6E8A-4147-A177-3AD203B41FA5}">
                      <a16:colId xmlns:a16="http://schemas.microsoft.com/office/drawing/2014/main" val="581507346"/>
                    </a:ext>
                  </a:extLst>
                </a:gridCol>
                <a:gridCol w="964860">
                  <a:extLst>
                    <a:ext uri="{9D8B030D-6E8A-4147-A177-3AD203B41FA5}">
                      <a16:colId xmlns:a16="http://schemas.microsoft.com/office/drawing/2014/main" val="961351590"/>
                    </a:ext>
                  </a:extLst>
                </a:gridCol>
              </a:tblGrid>
              <a:tr h="3416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夏季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春季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秋季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123240"/>
                  </a:ext>
                </a:extLst>
              </a:tr>
              <a:tr h="34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water_per_diff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0.733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0.038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1.411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F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0.198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756639"/>
                  </a:ext>
                </a:extLst>
              </a:tr>
              <a:tr h="34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water_per_diff_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0.604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0.054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C1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1.650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0.168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25395"/>
                  </a:ext>
                </a:extLst>
              </a:tr>
              <a:tr h="34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water_per_diff_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0.459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0.047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C0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1.316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0.157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155"/>
                  </a:ext>
                </a:extLst>
              </a:tr>
              <a:tr h="34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water_per_diff_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0.339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0.045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F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1.153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7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0.145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94653"/>
                  </a:ext>
                </a:extLst>
              </a:tr>
              <a:tr h="34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water_per_diff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0.255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0.049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0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0.734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0.108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006840"/>
                  </a:ext>
                </a:extLst>
              </a:tr>
              <a:tr h="34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water_per_diff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0.298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0.081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0.395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0.076</a:t>
                      </a:r>
                    </a:p>
                  </a:txBody>
                  <a:tcPr marL="7684" marR="7684" marT="7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64048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1F07E39-C845-C455-39F8-89098912AFBF}"/>
              </a:ext>
            </a:extLst>
          </p:cNvPr>
          <p:cNvSpPr txBox="1"/>
          <p:nvPr/>
        </p:nvSpPr>
        <p:spPr>
          <a:xfrm>
            <a:off x="696929" y="1046887"/>
            <a:ext cx="1036833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加工了平均每只的饮水量与该季节、日龄下平均每只饮水量的平均值的差值即为</a:t>
            </a:r>
            <a:r>
              <a:rPr lang="en-US" altLang="zh-CN" sz="1600" b="0" i="0" u="none" strike="noStrike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water_per_diff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（单位：每立方厘米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只）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，以当前日龄死淘率为目标，考虑了前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天日龄饮水量的差值是否对当前的死淘率产生影响，探究几天前的饮水量差值对未来死淘的预测性。如当天日龄是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EDB262-0F43-43AC-506A-67F628762C24}"/>
              </a:ext>
            </a:extLst>
          </p:cNvPr>
          <p:cNvSpPr txBox="1"/>
          <p:nvPr/>
        </p:nvSpPr>
        <p:spPr>
          <a:xfrm>
            <a:off x="911830" y="5441781"/>
            <a:ext cx="1036833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值结果来看，春、冬季模型整体预测性较好，夏、秋反之。日龄来看，更能解释未来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1-3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天的死淘情况。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5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A2E6018F-782F-EAA4-3B76-98BE3317C7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066134"/>
            <a:ext cx="5582569" cy="3425928"/>
          </a:xfrm>
          <a:prstGeom prst="rect">
            <a:avLst/>
          </a:prstGeom>
        </p:spPr>
      </p:pic>
      <p:pic>
        <p:nvPicPr>
          <p:cNvPr id="19" name="图片 18" descr="图表&#10;&#10;AI 生成的内容可能不正确。">
            <a:extLst>
              <a:ext uri="{FF2B5EF4-FFF2-40B4-BE49-F238E27FC236}">
                <a16:creationId xmlns:a16="http://schemas.microsoft.com/office/drawing/2014/main" id="{C23DC088-F728-D192-FD30-A606E2E7DF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910" y="1178170"/>
            <a:ext cx="5400003" cy="33138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29A9B81-DCBE-DBE9-68DA-86DA5859CF1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冬季模型中，当饮水差值超过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-18.11</a:t>
            </a:r>
            <a:r>
              <a:rPr lang="zh-CN" altLang="en-US" sz="1400" dirty="0">
                <a:solidFill>
                  <a:schemeClr val="tx1"/>
                </a:solidFill>
              </a:rPr>
              <a:t>未来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天会有较高死淘。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4EFF35-213F-BB21-6F3B-9461E1ED21A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冬季模型中，饮水差值超过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-12.9</a:t>
            </a:r>
            <a:r>
              <a:rPr lang="zh-CN" altLang="en-US" sz="1400" dirty="0">
                <a:solidFill>
                  <a:schemeClr val="tx1"/>
                </a:solidFill>
              </a:rPr>
              <a:t>未来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天会有较高死淘。</a:t>
            </a: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2D8B-1E51-2695-A1CD-F8570032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A58A942-BC9A-CE61-B6B7-7C085BC1EB9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288D795F-8EA3-F30B-381F-BC39C1C835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61" y="1046501"/>
            <a:ext cx="5556739" cy="3410077"/>
          </a:xfrm>
          <a:prstGeom prst="rect">
            <a:avLst/>
          </a:prstGeom>
        </p:spPr>
      </p:pic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0794F52-EDD5-EFAB-762F-430712EE27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296" y="1046500"/>
            <a:ext cx="5556740" cy="341007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F5627FC-8D15-3950-B77B-199691C94C62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冬季模型中，当饮水差值超过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-12.8</a:t>
            </a:r>
            <a:r>
              <a:rPr lang="zh-CN" altLang="en-US" sz="1400" dirty="0">
                <a:solidFill>
                  <a:schemeClr val="tx1"/>
                </a:solidFill>
              </a:rPr>
              <a:t>未来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天会有较高死淘。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14103F-FDA3-9E19-837B-111C83EF4862}"/>
              </a:ext>
            </a:extLst>
          </p:cNvPr>
          <p:cNvSpPr/>
          <p:nvPr/>
        </p:nvSpPr>
        <p:spPr>
          <a:xfrm>
            <a:off x="6590796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冬季模型中，当饮水差值超过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-18.9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19.8</a:t>
            </a:r>
            <a:r>
              <a:rPr lang="zh-CN" altLang="en-US" sz="1400" dirty="0">
                <a:solidFill>
                  <a:schemeClr val="tx1"/>
                </a:solidFill>
              </a:rPr>
              <a:t>未来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天会有较高死淘。</a:t>
            </a:r>
          </a:p>
        </p:txBody>
      </p:sp>
    </p:spTree>
    <p:extLst>
      <p:ext uri="{BB962C8B-B14F-4D97-AF65-F5344CB8AC3E}">
        <p14:creationId xmlns:p14="http://schemas.microsoft.com/office/powerpoint/2010/main" val="76638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215FF91C-C7DD-F2F8-8D68-06A3F9441E9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7ED384C7-5D0B-344D-1165-490AB5A381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862" y="1322054"/>
            <a:ext cx="5353112" cy="328511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292521B-EF1E-7657-E994-E714482113A0}"/>
              </a:ext>
            </a:extLst>
          </p:cNvPr>
          <p:cNvSpPr/>
          <p:nvPr/>
        </p:nvSpPr>
        <p:spPr>
          <a:xfrm>
            <a:off x="879876" y="4898993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冬季模型中，当饮水差值超过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-19.4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15.3</a:t>
            </a:r>
            <a:r>
              <a:rPr lang="zh-CN" altLang="en-US" sz="1400" dirty="0">
                <a:solidFill>
                  <a:schemeClr val="tx1"/>
                </a:solidFill>
              </a:rPr>
              <a:t>未来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天会有较高死淘。</a:t>
            </a:r>
          </a:p>
        </p:txBody>
      </p:sp>
    </p:spTree>
    <p:extLst>
      <p:ext uri="{BB962C8B-B14F-4D97-AF65-F5344CB8AC3E}">
        <p14:creationId xmlns:p14="http://schemas.microsoft.com/office/powerpoint/2010/main" val="163411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3F27-58BE-96F8-98FF-6A3595A7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A1D8525-BB76-36B8-B052-676B14A814F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9" name="图片 8" descr="图表&#10;&#10;AI 生成的内容可能不正确。">
            <a:extLst>
              <a:ext uri="{FF2B5EF4-FFF2-40B4-BE49-F238E27FC236}">
                <a16:creationId xmlns:a16="http://schemas.microsoft.com/office/drawing/2014/main" id="{05B01494-0EE2-4A66-9B65-61D6A9F80D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47" y="1225062"/>
            <a:ext cx="5620553" cy="342900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715E1895-6C0D-19AE-CBDD-CC2E9FEC95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25062"/>
            <a:ext cx="562055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8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6DAAC-F366-A8FF-0386-8FC7E117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67B9A7BC-46C0-983F-E75B-4A63E4BDDAF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12F4A8EA-CC65-C719-1C06-B881A5F086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3" y="969952"/>
            <a:ext cx="5808122" cy="3543433"/>
          </a:xfrm>
          <a:prstGeom prst="rect">
            <a:avLst/>
          </a:prstGeom>
        </p:spPr>
      </p:pic>
      <p:pic>
        <p:nvPicPr>
          <p:cNvPr id="12" name="图片 11" descr="图表, 折线图, 直方图&#10;&#10;AI 生成的内容可能不正确。">
            <a:extLst>
              <a:ext uri="{FF2B5EF4-FFF2-40B4-BE49-F238E27FC236}">
                <a16:creationId xmlns:a16="http://schemas.microsoft.com/office/drawing/2014/main" id="{82136E0C-AA0B-B553-2A90-E2F4947C6E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537" y="969952"/>
            <a:ext cx="5808123" cy="354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2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7AFE9-22DD-3CF8-270F-3F8993C0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D0D6650-0E60-F13A-21BB-A311C7A6A97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5" name="图片 4" descr="图表, 折线图, 直方图&#10;&#10;AI 生成的内容可能不正确。">
            <a:extLst>
              <a:ext uri="{FF2B5EF4-FFF2-40B4-BE49-F238E27FC236}">
                <a16:creationId xmlns:a16="http://schemas.microsoft.com/office/drawing/2014/main" id="{C402A124-1595-70BB-2AC8-D9C15F9830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14" y="1049867"/>
            <a:ext cx="6253599" cy="381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8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8A14A-CCFF-F492-9FD4-9E5F34CC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D1CFFD1-3EE6-59F4-0109-CE13A67DB7A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4" name="图片 3" descr="图片包含 图表&#10;&#10;AI 生成的内容可能不正确。">
            <a:extLst>
              <a:ext uri="{FF2B5EF4-FFF2-40B4-BE49-F238E27FC236}">
                <a16:creationId xmlns:a16="http://schemas.microsoft.com/office/drawing/2014/main" id="{9ABF6184-DAAA-8085-2FEA-74D2937832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43" y="1008184"/>
            <a:ext cx="5577458" cy="3402709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EF99B392-8054-5AE6-BC88-D95D09349A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000" y="1008184"/>
            <a:ext cx="5577459" cy="340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4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6B58B-BF23-49D5-8462-AF2A8DC2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FC1BBB43-3F54-4AFD-F321-FD30CBD4560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7F75654-4C3C-CF0C-E3CC-A3C0B0E80C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17" y="849924"/>
            <a:ext cx="5620553" cy="3429000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C961E7BA-03EC-2A61-93DA-E7B43958A6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230" y="849924"/>
            <a:ext cx="562055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8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0719-8898-B21C-2A27-2DE678F1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FAD7701-8E57-9AAD-143E-BD185C10C85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6A3539E2-48A8-22BF-589D-F44005BB87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99" y="849923"/>
            <a:ext cx="562055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5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E6A6-0205-4E42-3410-892A951C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355766-7134-37A6-8506-0EF62751E27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39407A14-510C-7889-5518-65DBD020BF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06" y="826477"/>
            <a:ext cx="5557394" cy="3429000"/>
          </a:xfrm>
          <a:prstGeom prst="rect">
            <a:avLst/>
          </a:prstGeom>
        </p:spPr>
      </p:pic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0704A8C3-7AD2-E6EC-1B08-BD7E0E5A5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44" y="826476"/>
            <a:ext cx="555739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5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EF749-B1FC-C267-A83F-083BEA42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6546799-5AC6-B923-F4B2-6DE996F8B73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13CA3FAB-C9EA-17C7-9104-294A71EBED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990600"/>
            <a:ext cx="5557394" cy="3429000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D94AC878-0B1E-308F-F402-23014DB637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0599"/>
            <a:ext cx="5557396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8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6161-4071-0271-6BE1-7AD35D88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8FB89334-BE9E-E5E0-52A1-D8202408679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天饮水量和平均值的差值与当日死淘的关系</a:t>
            </a:r>
          </a:p>
        </p:txBody>
      </p:sp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4713D613-5848-6D6E-ACC0-E8741B23D8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9" y="1319811"/>
            <a:ext cx="5168164" cy="317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7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663518-7548-4643-8219-608BFF0DFA0C}">
  <ds:schemaRefs/>
</ds:datastoreItem>
</file>

<file path=customXml/itemProps2.xml><?xml version="1.0" encoding="utf-8"?>
<ds:datastoreItem xmlns:ds="http://schemas.openxmlformats.org/officeDocument/2006/customXml" ds:itemID="{51779852-367B-483D-8C46-CF2C7DC5D261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5700</TotalTime>
  <Words>849</Words>
  <Application>Microsoft Office PowerPoint</Application>
  <PresentationFormat>宽屏</PresentationFormat>
  <Paragraphs>109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Anova Bold</vt:lpstr>
      <vt:lpstr>Anova Light</vt:lpstr>
      <vt:lpstr>quote-cjk-patch</vt:lpstr>
      <vt:lpstr>等线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第6周成果汇报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253</cp:revision>
  <dcterms:created xsi:type="dcterms:W3CDTF">2023-10-08T03:09:00Z</dcterms:created>
  <dcterms:modified xsi:type="dcterms:W3CDTF">2025-06-04T03:23:31Z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