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39"/>
  </p:notesMasterIdLst>
  <p:handoutMasterIdLst>
    <p:handoutMasterId r:id="rId40"/>
  </p:handoutMasterIdLst>
  <p:sldIdLst>
    <p:sldId id="16771194" r:id="rId6"/>
    <p:sldId id="16771204" r:id="rId7"/>
    <p:sldId id="2147477425" r:id="rId8"/>
    <p:sldId id="2147477458" r:id="rId9"/>
    <p:sldId id="2147477468" r:id="rId10"/>
    <p:sldId id="2147477469" r:id="rId11"/>
    <p:sldId id="2147477470" r:id="rId12"/>
    <p:sldId id="2147477472" r:id="rId13"/>
    <p:sldId id="2147477471" r:id="rId14"/>
    <p:sldId id="2147477473" r:id="rId15"/>
    <p:sldId id="2147477476" r:id="rId16"/>
    <p:sldId id="2147477474" r:id="rId17"/>
    <p:sldId id="2147477475" r:id="rId18"/>
    <p:sldId id="2147477477" r:id="rId19"/>
    <p:sldId id="2147477481" r:id="rId20"/>
    <p:sldId id="2147477478" r:id="rId21"/>
    <p:sldId id="2147477479" r:id="rId22"/>
    <p:sldId id="2147477495" r:id="rId23"/>
    <p:sldId id="2147477496" r:id="rId24"/>
    <p:sldId id="2147477484" r:id="rId25"/>
    <p:sldId id="2147477485" r:id="rId26"/>
    <p:sldId id="2147477486" r:id="rId27"/>
    <p:sldId id="2147477487" r:id="rId28"/>
    <p:sldId id="2147477499" r:id="rId29"/>
    <p:sldId id="2147477498" r:id="rId30"/>
    <p:sldId id="2147477500" r:id="rId31"/>
    <p:sldId id="2147477501" r:id="rId32"/>
    <p:sldId id="2147477504" r:id="rId33"/>
    <p:sldId id="2147477505" r:id="rId34"/>
    <p:sldId id="2147477493" r:id="rId35"/>
    <p:sldId id="2147477494" r:id="rId36"/>
    <p:sldId id="2147477506" r:id="rId37"/>
    <p:sldId id="2147477430" r:id="rId38"/>
  </p:sldIdLst>
  <p:sldSz cx="12192000" cy="6858000"/>
  <p:notesSz cx="6858000" cy="9144000"/>
  <p:custDataLst>
    <p:tags r:id="rId41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458"/>
          </p14:sldIdLst>
        </p14:section>
        <p14:section name="死淘" id="{132B593A-E1D9-4DD8-8D75-8389B5773F71}">
          <p14:sldIdLst>
            <p14:sldId id="2147477468"/>
            <p14:sldId id="2147477469"/>
            <p14:sldId id="2147477470"/>
            <p14:sldId id="2147477472"/>
            <p14:sldId id="2147477471"/>
            <p14:sldId id="2147477473"/>
            <p14:sldId id="2147477476"/>
            <p14:sldId id="2147477474"/>
            <p14:sldId id="2147477475"/>
            <p14:sldId id="2147477477"/>
            <p14:sldId id="2147477481"/>
            <p14:sldId id="2147477478"/>
            <p14:sldId id="2147477479"/>
            <p14:sldId id="2147477495"/>
            <p14:sldId id="2147477496"/>
            <p14:sldId id="2147477484"/>
            <p14:sldId id="2147477485"/>
            <p14:sldId id="2147477486"/>
            <p14:sldId id="2147477487"/>
          </p14:sldIdLst>
        </p14:section>
        <p14:section name="eef" id="{0CBA3FCE-B567-4F49-936C-7A69C0064915}">
          <p14:sldIdLst>
            <p14:sldId id="2147477499"/>
            <p14:sldId id="2147477498"/>
            <p14:sldId id="2147477500"/>
            <p14:sldId id="2147477501"/>
            <p14:sldId id="2147477504"/>
            <p14:sldId id="2147477505"/>
            <p14:sldId id="2147477493"/>
            <p14:sldId id="2147477494"/>
          </p14:sldIdLst>
        </p14:section>
        <p14:section name="综合分析" id="{39D6EB33-D176-4FFB-96B9-C60E24F1B3DB}">
          <p14:sldIdLst>
            <p14:sldId id="2147477506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7" autoAdjust="0"/>
    <p:restoredTop sz="93438" autoAdjust="0"/>
  </p:normalViewPr>
  <p:slideViewPr>
    <p:cSldViewPr snapToGrid="0" showGuides="1">
      <p:cViewPr>
        <p:scale>
          <a:sx n="75" d="100"/>
          <a:sy n="75" d="100"/>
        </p:scale>
        <p:origin x="557" y="194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5/23/2025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第四周成果汇报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BEA8-C0F7-9E9C-952C-C282FB79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D749DB9-B7AF-D595-8D22-56A20501B2F7}"/>
              </a:ext>
            </a:extLst>
          </p:cNvPr>
          <p:cNvSpPr txBox="1"/>
          <p:nvPr/>
        </p:nvSpPr>
        <p:spPr>
          <a:xfrm>
            <a:off x="339052" y="280917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环控数据清洗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 Light" panose="02010600030101010101" pitchFamily="2" charset="-122"/>
              <a:ea typeface="等线 Light" panose="02010600030101010101" pitchFamily="2" charset="-122"/>
              <a:cs typeface="+mj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7BB076-22CB-2B3F-8D04-4366DC5ADEE2}"/>
              </a:ext>
            </a:extLst>
          </p:cNvPr>
          <p:cNvSpPr txBox="1"/>
          <p:nvPr/>
        </p:nvSpPr>
        <p:spPr>
          <a:xfrm>
            <a:off x="963667" y="1394239"/>
            <a:ext cx="10335973" cy="1762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i="0" dirty="0">
                <a:solidFill>
                  <a:schemeClr val="accent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缺失值处理</a:t>
            </a:r>
            <a:endParaRPr lang="en-US" altLang="zh-CN" sz="1600" b="1" i="0" dirty="0">
              <a:solidFill>
                <a:schemeClr val="accent4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取日龄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0-25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天的数据，去除日龄缺失超过一半的样本，并以同一农场日龄下的平均值进行缺失值的补充</a:t>
            </a:r>
            <a:endParaRPr lang="en-US" altLang="zh-CN" sz="1400" b="0" i="0" dirty="0">
              <a:solidFill>
                <a:srgbClr val="0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最终样本量由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1257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降至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989</a:t>
            </a:r>
            <a:r>
              <a:rPr lang="zh-CN" altLang="en-US" sz="14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日龄维度的样本数量为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21953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 </a:t>
            </a:r>
            <a:endParaRPr lang="en-US" altLang="zh-CN" sz="1400" b="0" i="0" dirty="0">
              <a:solidFill>
                <a:srgbClr val="0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algn="just" rtl="0" fontAlgn="base">
              <a:lnSpc>
                <a:spcPct val="150000"/>
              </a:lnSpc>
            </a:pPr>
            <a:endParaRPr lang="zh-CN" altLang="en-US" sz="1400" b="0" i="0" dirty="0">
              <a:solidFill>
                <a:srgbClr val="000000"/>
              </a:solidFill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285750" indent="-285750" algn="just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i="0" dirty="0">
                <a:solidFill>
                  <a:schemeClr val="accent4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日报数据读取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EEF14-224D-9BFA-C85B-2B98ABB30624}"/>
              </a:ext>
            </a:extLst>
          </p:cNvPr>
          <p:cNvSpPr/>
          <p:nvPr/>
        </p:nvSpPr>
        <p:spPr>
          <a:xfrm>
            <a:off x="492981" y="1285875"/>
            <a:ext cx="11239200" cy="51530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19A8C47-EFAE-5767-8B16-CFA92C32A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27766"/>
              </p:ext>
            </p:extLst>
          </p:nvPr>
        </p:nvGraphicFramePr>
        <p:xfrm>
          <a:off x="6791159" y="3643315"/>
          <a:ext cx="2414076" cy="24292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07038">
                  <a:extLst>
                    <a:ext uri="{9D8B030D-6E8A-4147-A177-3AD203B41FA5}">
                      <a16:colId xmlns:a16="http://schemas.microsoft.com/office/drawing/2014/main" val="3397376712"/>
                    </a:ext>
                  </a:extLst>
                </a:gridCol>
                <a:gridCol w="1207038">
                  <a:extLst>
                    <a:ext uri="{9D8B030D-6E8A-4147-A177-3AD203B41FA5}">
                      <a16:colId xmlns:a16="http://schemas.microsoft.com/office/drawing/2014/main" val="2622651463"/>
                    </a:ext>
                  </a:extLst>
                </a:gridCol>
              </a:tblGrid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月份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3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样本数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77123006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163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25649894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21215645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142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262372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14870092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42640515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9931484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22170443"/>
                  </a:ext>
                </a:extLst>
              </a:tr>
              <a:tr h="26991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93432432"/>
                  </a:ext>
                </a:extLst>
              </a:tr>
            </a:tbl>
          </a:graphicData>
        </a:graphic>
      </p:graphicFrame>
      <p:sp>
        <p:nvSpPr>
          <p:cNvPr id="7" name="标题 1">
            <a:extLst>
              <a:ext uri="{FF2B5EF4-FFF2-40B4-BE49-F238E27FC236}">
                <a16:creationId xmlns:a16="http://schemas.microsoft.com/office/drawing/2014/main" id="{22D9B9E2-EC98-3CFB-2F9E-9D7A8E398967}"/>
              </a:ext>
            </a:extLst>
          </p:cNvPr>
          <p:cNvSpPr txBox="1"/>
          <p:nvPr/>
        </p:nvSpPr>
        <p:spPr>
          <a:xfrm>
            <a:off x="5055824" y="3157222"/>
            <a:ext cx="1565212" cy="5361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样本量分布：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0C26228-64A4-859D-BE68-BE0CC4A50CEF}"/>
              </a:ext>
            </a:extLst>
          </p:cNvPr>
          <p:cNvSpPr txBox="1"/>
          <p:nvPr/>
        </p:nvSpPr>
        <p:spPr>
          <a:xfrm>
            <a:off x="963667" y="3190554"/>
            <a:ext cx="1565212" cy="5361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ü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数据分位数：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F1E414C-431C-8307-B7F4-83E110B30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03341"/>
              </p:ext>
            </p:extLst>
          </p:nvPr>
        </p:nvGraphicFramePr>
        <p:xfrm>
          <a:off x="2708732" y="3870961"/>
          <a:ext cx="1354137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1168">
                  <a:extLst>
                    <a:ext uri="{9D8B030D-6E8A-4147-A177-3AD203B41FA5}">
                      <a16:colId xmlns:a16="http://schemas.microsoft.com/office/drawing/2014/main" val="1708509947"/>
                    </a:ext>
                  </a:extLst>
                </a:gridCol>
                <a:gridCol w="892969">
                  <a:extLst>
                    <a:ext uri="{9D8B030D-6E8A-4147-A177-3AD203B41FA5}">
                      <a16:colId xmlns:a16="http://schemas.microsoft.com/office/drawing/2014/main" val="2241469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数据量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35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404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966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135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82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178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46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272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112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485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70202-4BF3-2015-5A6F-CAB28DC7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3B57754-EB67-1543-424E-A82158D49A87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6B1447B-612E-1B24-99A2-C7B20808815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661442-02AE-9CD8-3722-18762DD3681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6F084B5-E5D8-7921-5966-51D0BD86121D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BAB5ED-040B-2760-028B-2BA21E40D7FD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946470-2696-18D4-1DAD-3271D445C987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DAE2BB4-3695-0CF0-068B-EB844D1A5295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8CA1C3B-5C58-5316-259C-944430FD1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13709"/>
              </p:ext>
            </p:extLst>
          </p:nvPr>
        </p:nvGraphicFramePr>
        <p:xfrm>
          <a:off x="7966131" y="2117178"/>
          <a:ext cx="3586954" cy="46800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632303">
                  <a:extLst>
                    <a:ext uri="{9D8B030D-6E8A-4147-A177-3AD203B41FA5}">
                      <a16:colId xmlns:a16="http://schemas.microsoft.com/office/drawing/2014/main" val="925736916"/>
                    </a:ext>
                  </a:extLst>
                </a:gridCol>
                <a:gridCol w="2954651">
                  <a:extLst>
                    <a:ext uri="{9D8B030D-6E8A-4147-A177-3AD203B41FA5}">
                      <a16:colId xmlns:a16="http://schemas.microsoft.com/office/drawing/2014/main" val="413089262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'</a:t>
                      </a:r>
                      <a:r>
                        <a:rPr lang="en-US" sz="1050" u="none" strike="noStrike" dirty="0" err="1">
                          <a:effectLst/>
                        </a:rPr>
                        <a:t>Lowest_Temn</a:t>
                      </a:r>
                      <a:r>
                        <a:rPr lang="en-US" sz="1050" u="none" strike="noStrike" dirty="0">
                          <a:effectLst/>
                        </a:rPr>
                        <a:t>_</a:t>
                      </a:r>
                      <a:r>
                        <a:rPr lang="zh-CN" altLang="en-US" sz="1050" u="none" strike="noStrike" dirty="0">
                          <a:effectLst/>
                        </a:rPr>
                        <a:t>前</a:t>
                      </a:r>
                      <a:r>
                        <a:rPr lang="en-US" altLang="zh-CN" sz="1050" u="none" strike="noStrike" dirty="0">
                          <a:effectLst/>
                        </a:rPr>
                        <a:t>7</a:t>
                      </a:r>
                      <a:r>
                        <a:rPr lang="zh-CN" altLang="en-US" sz="1050" u="none" strike="noStrike" dirty="0">
                          <a:effectLst/>
                        </a:rPr>
                        <a:t>天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177698995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'Water_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7</a:t>
                      </a:r>
                      <a:r>
                        <a:rPr lang="zh-CN" altLang="en-US" sz="1050" u="none" strike="noStrike">
                          <a:effectLst/>
                        </a:rPr>
                        <a:t>天变化百分比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53274716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'Feed_</a:t>
                      </a:r>
                      <a:r>
                        <a:rPr lang="zh-CN" altLang="en-US" sz="1050" u="none" strike="noStrike" dirty="0">
                          <a:effectLst/>
                        </a:rPr>
                        <a:t>前</a:t>
                      </a:r>
                      <a:r>
                        <a:rPr lang="en-US" altLang="zh-CN" sz="1050" u="none" strike="noStrike" dirty="0">
                          <a:effectLst/>
                        </a:rPr>
                        <a:t>7</a:t>
                      </a:r>
                      <a:r>
                        <a:rPr lang="zh-CN" altLang="en-US" sz="1050" u="none" strike="noStrike" dirty="0">
                          <a:effectLst/>
                        </a:rPr>
                        <a:t>天变化百分比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382333795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'Lowest_Temn_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3</a:t>
                      </a:r>
                      <a:r>
                        <a:rPr lang="zh-CN" altLang="en-US" sz="1050" u="none" strike="noStrike">
                          <a:effectLst/>
                        </a:rPr>
                        <a:t>天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342269034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'Water'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125000338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'Lowest_Temn_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5</a:t>
                      </a:r>
                      <a:r>
                        <a:rPr lang="zh-CN" altLang="en-US" sz="1050" u="none" strike="noStrike">
                          <a:effectLst/>
                        </a:rPr>
                        <a:t>天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79099563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'Highest_Temp_Outside_前3天'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05393642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'Highest_Temn_前7天'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29480204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'Highest_humidity_前3天'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89844631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</a:t>
                      </a:r>
                      <a:r>
                        <a:rPr lang="en-US" sz="1050" u="none" strike="noStrike" dirty="0" err="1">
                          <a:effectLst/>
                        </a:rPr>
                        <a:t>Lowest_Temp_Outside</a:t>
                      </a:r>
                      <a:r>
                        <a:rPr lang="en-US" sz="1050" u="none" strike="noStrike" dirty="0">
                          <a:effectLst/>
                        </a:rPr>
                        <a:t>_</a:t>
                      </a:r>
                      <a:r>
                        <a:rPr lang="zh-CN" altLang="en-US" sz="1050" u="none" strike="noStrike" dirty="0">
                          <a:effectLst/>
                        </a:rPr>
                        <a:t>前</a:t>
                      </a:r>
                      <a:r>
                        <a:rPr lang="en-US" altLang="zh-CN" sz="1050" u="none" strike="noStrike" dirty="0">
                          <a:effectLst/>
                        </a:rPr>
                        <a:t>3</a:t>
                      </a:r>
                      <a:r>
                        <a:rPr lang="zh-CN" altLang="en-US" sz="1050" u="none" strike="noStrike" dirty="0">
                          <a:effectLst/>
                        </a:rPr>
                        <a:t>天变化百分比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39372078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'Lowest_Temn_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7</a:t>
                      </a:r>
                      <a:r>
                        <a:rPr lang="zh-CN" altLang="en-US" sz="1050" u="none" strike="noStrike">
                          <a:effectLst/>
                        </a:rPr>
                        <a:t>天变化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93605446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'Highest_Temn_前5天'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182447122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'Lowest_Temp_Outside_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5</a:t>
                      </a:r>
                      <a:r>
                        <a:rPr lang="zh-CN" altLang="en-US" sz="1050" u="none" strike="noStrike">
                          <a:effectLst/>
                        </a:rPr>
                        <a:t>天变化百分比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144281084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50" u="none" strike="noStrike" dirty="0">
                          <a:effectLst/>
                        </a:rPr>
                        <a:t> 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r>
                        <a:rPr lang="zh-CN" altLang="en-US" sz="1050" u="none" strike="noStrike" dirty="0">
                          <a:effectLst/>
                        </a:rPr>
                        <a:t>每日温差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67624401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50" u="none" strike="noStrike" dirty="0">
                          <a:effectLst/>
                        </a:rPr>
                        <a:t> 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r>
                        <a:rPr lang="zh-CN" altLang="en-US" sz="1050" u="none" strike="noStrike" dirty="0">
                          <a:effectLst/>
                        </a:rPr>
                        <a:t>平均温度变化率</a:t>
                      </a:r>
                      <a:r>
                        <a:rPr lang="en-US" altLang="zh-CN" sz="1050" u="none" strike="noStrike" dirty="0">
                          <a:effectLst/>
                        </a:rPr>
                        <a:t>_</a:t>
                      </a:r>
                      <a:r>
                        <a:rPr lang="zh-CN" altLang="en-US" sz="1050" u="none" strike="noStrike" dirty="0">
                          <a:effectLst/>
                        </a:rPr>
                        <a:t>前</a:t>
                      </a:r>
                      <a:r>
                        <a:rPr lang="en-US" altLang="zh-CN" sz="1050" u="none" strike="noStrike" dirty="0">
                          <a:effectLst/>
                        </a:rPr>
                        <a:t>7</a:t>
                      </a:r>
                      <a:r>
                        <a:rPr lang="zh-CN" altLang="en-US" sz="1050" u="none" strike="noStrike" dirty="0">
                          <a:effectLst/>
                        </a:rPr>
                        <a:t>天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38310628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050" u="none" strike="noStrike">
                          <a:effectLst/>
                        </a:rPr>
                        <a:t> 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r>
                        <a:rPr lang="zh-CN" altLang="en-US" sz="1050" u="none" strike="noStrike">
                          <a:effectLst/>
                        </a:rPr>
                        <a:t>最高温度变化率</a:t>
                      </a:r>
                      <a:r>
                        <a:rPr lang="en-US" altLang="zh-CN" sz="1050" u="none" strike="noStrike">
                          <a:effectLst/>
                        </a:rPr>
                        <a:t>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7</a:t>
                      </a:r>
                      <a:r>
                        <a:rPr lang="zh-CN" altLang="en-US" sz="1050" u="none" strike="noStrike">
                          <a:effectLst/>
                        </a:rPr>
                        <a:t>天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26613768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>
                          <a:effectLst/>
                        </a:rPr>
                        <a:t> 'Highest_Temp_Outside_</a:t>
                      </a:r>
                      <a:r>
                        <a:rPr lang="zh-CN" altLang="en-US" sz="1050" u="none" strike="noStrike">
                          <a:effectLst/>
                        </a:rPr>
                        <a:t>前</a:t>
                      </a:r>
                      <a:r>
                        <a:rPr lang="en-US" altLang="zh-CN" sz="1050" u="none" strike="noStrike">
                          <a:effectLst/>
                        </a:rPr>
                        <a:t>3</a:t>
                      </a:r>
                      <a:r>
                        <a:rPr lang="zh-CN" altLang="en-US" sz="1050" u="none" strike="noStrike">
                          <a:effectLst/>
                        </a:rPr>
                        <a:t>天变化百分比</a:t>
                      </a:r>
                      <a:r>
                        <a:rPr lang="en-US" altLang="zh-CN" sz="1050" u="none" strike="noStrike">
                          <a:effectLst/>
                        </a:rPr>
                        <a:t>'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79012750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'Highest_Temn_前1天'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73269713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'Water_</a:t>
                      </a:r>
                      <a:r>
                        <a:rPr lang="zh-CN" altLang="en-US" sz="1050" u="none" strike="noStrike" dirty="0">
                          <a:effectLst/>
                        </a:rPr>
                        <a:t>前</a:t>
                      </a:r>
                      <a:r>
                        <a:rPr lang="en-US" altLang="zh-CN" sz="1050" u="none" strike="noStrike" dirty="0">
                          <a:effectLst/>
                        </a:rPr>
                        <a:t>3</a:t>
                      </a:r>
                      <a:r>
                        <a:rPr lang="zh-CN" altLang="en-US" sz="1050" u="none" strike="noStrike" dirty="0">
                          <a:effectLst/>
                        </a:rPr>
                        <a:t>天变化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312369080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u="none" strike="noStrike" dirty="0">
                          <a:effectLst/>
                        </a:rPr>
                        <a:t> 'Water_</a:t>
                      </a:r>
                      <a:r>
                        <a:rPr lang="zh-CN" altLang="en-US" sz="1050" u="none" strike="noStrike" dirty="0">
                          <a:effectLst/>
                        </a:rPr>
                        <a:t>前</a:t>
                      </a:r>
                      <a:r>
                        <a:rPr lang="en-US" altLang="zh-CN" sz="1050" u="none" strike="noStrike" dirty="0">
                          <a:effectLst/>
                        </a:rPr>
                        <a:t>7</a:t>
                      </a:r>
                      <a:r>
                        <a:rPr lang="zh-CN" altLang="en-US" sz="1050" u="none" strike="noStrike" dirty="0">
                          <a:effectLst/>
                        </a:rPr>
                        <a:t>天变化</a:t>
                      </a:r>
                      <a:r>
                        <a:rPr lang="en-US" altLang="zh-CN" sz="1050" u="none" strike="noStrike" dirty="0">
                          <a:effectLst/>
                        </a:rPr>
                        <a:t>'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2382" marR="2382" marT="2382" marB="0" anchor="ctr"/>
                </a:tc>
                <a:extLst>
                  <a:ext uri="{0D108BD9-81ED-4DB2-BD59-A6C34878D82A}">
                    <a16:rowId xmlns:a16="http://schemas.microsoft.com/office/drawing/2014/main" val="17096805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9FD3F72-86D8-62CA-096C-9FB570D4E025}"/>
              </a:ext>
            </a:extLst>
          </p:cNvPr>
          <p:cNvSpPr txBox="1"/>
          <p:nvPr/>
        </p:nvSpPr>
        <p:spPr>
          <a:xfrm>
            <a:off x="6256327" y="4033023"/>
            <a:ext cx="1636421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chemeClr val="accent4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重要性排序</a:t>
            </a:r>
            <a:endParaRPr lang="en-US" altLang="zh-CN" sz="1600" b="1" i="0" dirty="0">
              <a:solidFill>
                <a:schemeClr val="accent4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961A9CD-600F-6513-995B-3802A2C21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570268"/>
              </p:ext>
            </p:extLst>
          </p:nvPr>
        </p:nvGraphicFramePr>
        <p:xfrm>
          <a:off x="694776" y="3369627"/>
          <a:ext cx="3377162" cy="105206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2611">
                  <a:extLst>
                    <a:ext uri="{9D8B030D-6E8A-4147-A177-3AD203B41FA5}">
                      <a16:colId xmlns:a16="http://schemas.microsoft.com/office/drawing/2014/main" val="2326226590"/>
                    </a:ext>
                  </a:extLst>
                </a:gridCol>
                <a:gridCol w="962611">
                  <a:extLst>
                    <a:ext uri="{9D8B030D-6E8A-4147-A177-3AD203B41FA5}">
                      <a16:colId xmlns:a16="http://schemas.microsoft.com/office/drawing/2014/main" val="1191217954"/>
                    </a:ext>
                  </a:extLst>
                </a:gridCol>
                <a:gridCol w="851865">
                  <a:extLst>
                    <a:ext uri="{9D8B030D-6E8A-4147-A177-3AD203B41FA5}">
                      <a16:colId xmlns:a16="http://schemas.microsoft.com/office/drawing/2014/main" val="3706264349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1312375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AUC 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Balanced Accuracy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F1-Score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24437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0.76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09875181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E890E7CD-A771-5089-0F71-8534A70E8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364791"/>
              </p:ext>
            </p:extLst>
          </p:nvPr>
        </p:nvGraphicFramePr>
        <p:xfrm>
          <a:off x="694775" y="5082757"/>
          <a:ext cx="3377162" cy="10553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2611">
                  <a:extLst>
                    <a:ext uri="{9D8B030D-6E8A-4147-A177-3AD203B41FA5}">
                      <a16:colId xmlns:a16="http://schemas.microsoft.com/office/drawing/2014/main" val="2326226590"/>
                    </a:ext>
                  </a:extLst>
                </a:gridCol>
                <a:gridCol w="962611">
                  <a:extLst>
                    <a:ext uri="{9D8B030D-6E8A-4147-A177-3AD203B41FA5}">
                      <a16:colId xmlns:a16="http://schemas.microsoft.com/office/drawing/2014/main" val="1191217954"/>
                    </a:ext>
                  </a:extLst>
                </a:gridCol>
                <a:gridCol w="851865">
                  <a:extLst>
                    <a:ext uri="{9D8B030D-6E8A-4147-A177-3AD203B41FA5}">
                      <a16:colId xmlns:a16="http://schemas.microsoft.com/office/drawing/2014/main" val="3706264349"/>
                    </a:ext>
                  </a:extLst>
                </a:gridCol>
                <a:gridCol w="600075">
                  <a:extLst>
                    <a:ext uri="{9D8B030D-6E8A-4147-A177-3AD203B41FA5}">
                      <a16:colId xmlns:a16="http://schemas.microsoft.com/office/drawing/2014/main" val="1312375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AUC 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Balanced Accuracy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F1-Score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244378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0.77</a:t>
                      </a:r>
                    </a:p>
                  </a:txBody>
                  <a:tcPr marL="11430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0.66</a:t>
                      </a:r>
                    </a:p>
                  </a:txBody>
                  <a:tcPr marL="11430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0.46</a:t>
                      </a:r>
                    </a:p>
                  </a:txBody>
                  <a:tcPr marL="11430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0.33</a:t>
                      </a:r>
                    </a:p>
                  </a:txBody>
                  <a:tcPr marL="114300" marR="6350" marT="6350" marB="0" anchor="ctr"/>
                </a:tc>
                <a:extLst>
                  <a:ext uri="{0D108BD9-81ED-4DB2-BD59-A6C34878D82A}">
                    <a16:rowId xmlns:a16="http://schemas.microsoft.com/office/drawing/2014/main" val="170987518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13837746-85B1-4FE9-BE21-F967B5EA10EC}"/>
              </a:ext>
            </a:extLst>
          </p:cNvPr>
          <p:cNvSpPr txBox="1"/>
          <p:nvPr/>
        </p:nvSpPr>
        <p:spPr>
          <a:xfrm>
            <a:off x="591585" y="2927079"/>
            <a:ext cx="609719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zh-CN" altLang="en-US" sz="140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测试集评估结果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1B66891-8DC8-2048-3FAA-2891C22EC7AC}"/>
              </a:ext>
            </a:extLst>
          </p:cNvPr>
          <p:cNvSpPr txBox="1"/>
          <p:nvPr/>
        </p:nvSpPr>
        <p:spPr>
          <a:xfrm>
            <a:off x="591585" y="4669176"/>
            <a:ext cx="6097190" cy="34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zh-CN" alt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跨期验证集</a:t>
            </a:r>
            <a:r>
              <a:rPr lang="zh-CN" altLang="en-US" sz="1400" i="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</a:rPr>
              <a:t>评估结果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744978B-C255-A746-C9C6-03839728B4F0}"/>
              </a:ext>
            </a:extLst>
          </p:cNvPr>
          <p:cNvSpPr txBox="1"/>
          <p:nvPr/>
        </p:nvSpPr>
        <p:spPr>
          <a:xfrm>
            <a:off x="551901" y="2283303"/>
            <a:ext cx="1636421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chemeClr val="accent4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评估结果</a:t>
            </a:r>
            <a:endParaRPr lang="en-US" altLang="zh-CN" sz="1600" b="1" i="0" dirty="0">
              <a:solidFill>
                <a:schemeClr val="accent4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716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CD9E0D2-EDD7-7D83-AC65-A323B41782D6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813EE228-3BCB-2648-AFE4-D96619F40809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C2C9EB-B2AE-523A-8DEF-B1091515A6B0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85B7AB-2E0A-074C-2FF4-04B4ACE13E09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205CB38-DF29-4D7F-E1FD-FC7D98629388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C73BBCFB-A754-0EAC-3D9B-F45F9D23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1" y="2537872"/>
            <a:ext cx="6039400" cy="3141128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9A29D05-158E-4D1B-4E22-90C5D8CAE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877339"/>
              </p:ext>
            </p:extLst>
          </p:nvPr>
        </p:nvGraphicFramePr>
        <p:xfrm>
          <a:off x="6378016" y="2986232"/>
          <a:ext cx="5175070" cy="224440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35014">
                  <a:extLst>
                    <a:ext uri="{9D8B030D-6E8A-4147-A177-3AD203B41FA5}">
                      <a16:colId xmlns:a16="http://schemas.microsoft.com/office/drawing/2014/main" val="709814406"/>
                    </a:ext>
                  </a:extLst>
                </a:gridCol>
                <a:gridCol w="1035014">
                  <a:extLst>
                    <a:ext uri="{9D8B030D-6E8A-4147-A177-3AD203B41FA5}">
                      <a16:colId xmlns:a16="http://schemas.microsoft.com/office/drawing/2014/main" val="3955691936"/>
                    </a:ext>
                  </a:extLst>
                </a:gridCol>
                <a:gridCol w="1035014">
                  <a:extLst>
                    <a:ext uri="{9D8B030D-6E8A-4147-A177-3AD203B41FA5}">
                      <a16:colId xmlns:a16="http://schemas.microsoft.com/office/drawing/2014/main" val="3968088103"/>
                    </a:ext>
                  </a:extLst>
                </a:gridCol>
                <a:gridCol w="1035014">
                  <a:extLst>
                    <a:ext uri="{9D8B030D-6E8A-4147-A177-3AD203B41FA5}">
                      <a16:colId xmlns:a16="http://schemas.microsoft.com/office/drawing/2014/main" val="3009409425"/>
                    </a:ext>
                  </a:extLst>
                </a:gridCol>
                <a:gridCol w="1035014">
                  <a:extLst>
                    <a:ext uri="{9D8B030D-6E8A-4147-A177-3AD203B41FA5}">
                      <a16:colId xmlns:a16="http://schemas.microsoft.com/office/drawing/2014/main" val="26573499"/>
                    </a:ext>
                  </a:extLst>
                </a:gridCol>
              </a:tblGrid>
              <a:tr h="565237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Bin</a:t>
                      </a:r>
                      <a:endParaRPr lang="zh-CN" altLang="en-US" sz="12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511903431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49)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2660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0.1212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0.1395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04178561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[49, 62)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1711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0.0779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0.1444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103108710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[62, 140)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8413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0.3832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0.1766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8666669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[140, 164)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1299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0.0592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0.1871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972060698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[164, +∞)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1680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0.0765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0.4804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0.0040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891837750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8341010D-ACFC-67F2-8D29-7D2429D87577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68136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51DB4-A04D-06BE-920D-E31569375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551EFBC-A4DC-C05B-D0FD-7F6F01BC3118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EFB70F6-F394-F162-37BF-AD7590481754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A28962-99C9-9D99-7D04-45285218A4FF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E50B49-4213-7823-10C6-3204A7693B11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4E11B337-AA7D-FC18-E19A-F24AB76A27D0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pic>
        <p:nvPicPr>
          <p:cNvPr id="7" name="图片 6" descr="图表, 条形图&#10;&#10;AI 生成的内容可能不正确。">
            <a:extLst>
              <a:ext uri="{FF2B5EF4-FFF2-40B4-BE49-F238E27FC236}">
                <a16:creationId xmlns:a16="http://schemas.microsoft.com/office/drawing/2014/main" id="{045D1631-2C59-5CC6-3BA6-816027EDA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7" y="2683827"/>
            <a:ext cx="5693637" cy="2924964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E1FB03F-75F2-E202-7DAB-9187D583B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487071"/>
              </p:ext>
            </p:extLst>
          </p:nvPr>
        </p:nvGraphicFramePr>
        <p:xfrm>
          <a:off x="6349717" y="2833572"/>
          <a:ext cx="5400000" cy="253088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709814406"/>
                    </a:ext>
                  </a:extLst>
                </a:gridCol>
                <a:gridCol w="884407">
                  <a:extLst>
                    <a:ext uri="{9D8B030D-6E8A-4147-A177-3AD203B41FA5}">
                      <a16:colId xmlns:a16="http://schemas.microsoft.com/office/drawing/2014/main" val="3955691936"/>
                    </a:ext>
                  </a:extLst>
                </a:gridCol>
                <a:gridCol w="1006609">
                  <a:extLst>
                    <a:ext uri="{9D8B030D-6E8A-4147-A177-3AD203B41FA5}">
                      <a16:colId xmlns:a16="http://schemas.microsoft.com/office/drawing/2014/main" val="3968088103"/>
                    </a:ext>
                  </a:extLst>
                </a:gridCol>
                <a:gridCol w="1114185">
                  <a:extLst>
                    <a:ext uri="{9D8B030D-6E8A-4147-A177-3AD203B41FA5}">
                      <a16:colId xmlns:a16="http://schemas.microsoft.com/office/drawing/2014/main" val="3009409425"/>
                    </a:ext>
                  </a:extLst>
                </a:gridCol>
                <a:gridCol w="1314799">
                  <a:extLst>
                    <a:ext uri="{9D8B030D-6E8A-4147-A177-3AD203B41FA5}">
                      <a16:colId xmlns:a16="http://schemas.microsoft.com/office/drawing/2014/main" val="26573499"/>
                    </a:ext>
                  </a:extLst>
                </a:gridCol>
              </a:tblGrid>
              <a:tr h="565237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sz="1200" b="1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sz="1200" b="1" kern="100" dirty="0" err="1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Mortality_rate</a:t>
                      </a:r>
                      <a:endParaRPr lang="en-US" sz="1200" b="1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11903431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(-∞, 49)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2665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0.1214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0.1392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4178561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[49, 60)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1500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0.0683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0.1427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03108710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[60, 140)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8624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0.3928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0.1760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0.0011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8666669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[140, 164)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1297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0.0591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0.1889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0.0015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72060698"/>
                  </a:ext>
                </a:extLst>
              </a:tr>
              <a:tr h="335834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[164,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1675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0.0763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0.4800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2100"/>
                        </a:lnSpc>
                      </a:pPr>
                      <a:r>
                        <a:rPr lang="en-US" altLang="zh-CN" sz="1200" b="1" kern="100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0.0040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891837750"/>
                  </a:ext>
                </a:extLst>
              </a:tr>
            </a:tbl>
          </a:graphicData>
        </a:graphic>
      </p:graphicFrame>
      <p:sp>
        <p:nvSpPr>
          <p:cNvPr id="12" name="标题 1">
            <a:extLst>
              <a:ext uri="{FF2B5EF4-FFF2-40B4-BE49-F238E27FC236}">
                <a16:creationId xmlns:a16="http://schemas.microsoft.com/office/drawing/2014/main" id="{0B413A78-07B2-C0C1-E02D-818E60230752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70234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B963D-3099-D913-8A0F-614B1FDED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90911AE-9960-55E1-B9E2-16153570B46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1A0C4CF-5BF8-FD7A-5953-6F5C891CC01D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6EB38F-CBD3-C2A4-4647-AEF9CA38D518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249CA7-560F-474B-7E93-3A4CC1B40E0E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95DAA8B-14A8-668E-29AE-6B3D51C0C2C8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C6F70BD-EC9E-1E0D-8DA4-40D7334C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29" y="2378622"/>
            <a:ext cx="4920023" cy="362994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937512E-E5B2-91C8-35E4-C38700D74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182011"/>
              </p:ext>
            </p:extLst>
          </p:nvPr>
        </p:nvGraphicFramePr>
        <p:xfrm>
          <a:off x="5909021" y="2378622"/>
          <a:ext cx="5789995" cy="2916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06287">
                  <a:extLst>
                    <a:ext uri="{9D8B030D-6E8A-4147-A177-3AD203B41FA5}">
                      <a16:colId xmlns:a16="http://schemas.microsoft.com/office/drawing/2014/main" val="3685934176"/>
                    </a:ext>
                  </a:extLst>
                </a:gridCol>
                <a:gridCol w="1009711">
                  <a:extLst>
                    <a:ext uri="{9D8B030D-6E8A-4147-A177-3AD203B41FA5}">
                      <a16:colId xmlns:a16="http://schemas.microsoft.com/office/drawing/2014/main" val="413710634"/>
                    </a:ext>
                  </a:extLst>
                </a:gridCol>
                <a:gridCol w="1157999">
                  <a:extLst>
                    <a:ext uri="{9D8B030D-6E8A-4147-A177-3AD203B41FA5}">
                      <a16:colId xmlns:a16="http://schemas.microsoft.com/office/drawing/2014/main" val="274170007"/>
                    </a:ext>
                  </a:extLst>
                </a:gridCol>
                <a:gridCol w="1157999">
                  <a:extLst>
                    <a:ext uri="{9D8B030D-6E8A-4147-A177-3AD203B41FA5}">
                      <a16:colId xmlns:a16="http://schemas.microsoft.com/office/drawing/2014/main" val="2554974996"/>
                    </a:ext>
                  </a:extLst>
                </a:gridCol>
                <a:gridCol w="1157999">
                  <a:extLst>
                    <a:ext uri="{9D8B030D-6E8A-4147-A177-3AD203B41FA5}">
                      <a16:colId xmlns:a16="http://schemas.microsoft.com/office/drawing/2014/main" val="140743318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412512569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-115)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1989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0.0906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0.2991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0.0019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394769565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[-115, -73)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1590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0.0724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0.2711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0.0016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94950989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[-73, -47)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1314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0.0599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0.2047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149624319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[-47, 4)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7876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0.3588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0.1847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403254008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[4, 8)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1246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0.0568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0.1429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0.0012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37544911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[8, 24)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1158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0.0527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0.1710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0.0012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62035334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[24, 94)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1487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0.0677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0.2071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0.0014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34255504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[94, +∞)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1593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0.0726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0.2706</a:t>
                      </a:r>
                    </a:p>
                  </a:txBody>
                  <a:tcPr marL="104017" marR="104017" marT="32400" marB="324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0.0016</a:t>
                      </a:r>
                    </a:p>
                  </a:txBody>
                  <a:tcPr marL="104017" marR="104017" marT="32400" marB="32400" anchor="ctr"/>
                </a:tc>
                <a:extLst>
                  <a:ext uri="{0D108BD9-81ED-4DB2-BD59-A6C34878D82A}">
                    <a16:rowId xmlns:a16="http://schemas.microsoft.com/office/drawing/2014/main" val="2514539767"/>
                  </a:ext>
                </a:extLst>
              </a:tr>
            </a:tbl>
          </a:graphicData>
        </a:graphic>
      </p:graphicFrame>
      <p:sp>
        <p:nvSpPr>
          <p:cNvPr id="8" name="标题 1">
            <a:extLst>
              <a:ext uri="{FF2B5EF4-FFF2-40B4-BE49-F238E27FC236}">
                <a16:creationId xmlns:a16="http://schemas.microsoft.com/office/drawing/2014/main" id="{5465C468-8954-8BDE-B790-27C25EF0726B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64583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2EEC401-5863-3901-C301-BC2C9DAB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81" y="2422356"/>
            <a:ext cx="4868129" cy="3638550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59E6666-17D6-6BD9-76A4-A7D7BC67EFB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176B80A-D08A-0BBB-64B8-D4082D01B26C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214AF5-D69E-6806-69D6-CFEAAF5477F6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78F4F8-FA47-E1BA-D8B6-F7EB933A0CD8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29F6532D-901F-33EC-4528-A03A98C31E22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FD87259-3219-E10B-5CEC-49075136A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65734"/>
              </p:ext>
            </p:extLst>
          </p:nvPr>
        </p:nvGraphicFramePr>
        <p:xfrm>
          <a:off x="5731040" y="2670895"/>
          <a:ext cx="5760000" cy="31414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19677133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81236191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82691828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82734071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7973673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94124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(-∞, 0.63)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1317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0.0600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0.3181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0.0017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52422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[0.63, 0.74)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2881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0.1312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0.2822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24625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[0.74, 0.76)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1641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0.0748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0.2535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50827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[0.76, 0.81)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2947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0.1342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0.2436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80343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[0.81, 0.83)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2289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8266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[0.83, 0.94)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6917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0.3151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0.1580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93588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[0.94,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1290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0.1527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28883746"/>
                  </a:ext>
                </a:extLst>
              </a:tr>
            </a:tbl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6181E695-DBC9-70B0-7968-075E05BC84DB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400412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A9F4A-2803-FD96-DB7E-46C25952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94C53B4-271D-5DC9-FFF2-97963FD1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70" y="2245177"/>
            <a:ext cx="5224296" cy="3925025"/>
          </a:xfrm>
          <a:prstGeom prst="rect">
            <a:avLst/>
          </a:prstGeom>
        </p:spPr>
      </p:pic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AE756D92-7774-A0C3-F8B7-AEFCA5E06D0E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818FF6-581A-BFC2-2A94-28219E1480EF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BB1DB2-9A43-9469-C5F5-8FCFD710C2F6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FD11CB-AAB6-A6E6-3DA1-937AADF3906B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144B1571-335F-5644-63D3-1BE6CE7DCF7E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25201D0-0AD3-5A8F-F711-1AEB33BD4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40098"/>
              </p:ext>
            </p:extLst>
          </p:nvPr>
        </p:nvGraphicFramePr>
        <p:xfrm>
          <a:off x="5939019" y="2833295"/>
          <a:ext cx="5760000" cy="27487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70006415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68116265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97902994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40613363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9455413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1355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(-∞, -4.2)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1426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0.0650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0.4411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0.0038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80315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[-4.2, -3.7)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1381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0.0629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49632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[-3.7, -2.2)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8071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0.3676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0.1898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97658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[-2.2, -1.8)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1532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0.0698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0.1821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23000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[-1.8, -1.3)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1254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0.0571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8040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[-1.3,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2170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0.0988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0.1198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24246300"/>
                  </a:ext>
                </a:extLst>
              </a:tr>
            </a:tbl>
          </a:graphicData>
        </a:graphic>
      </p:graphicFrame>
      <p:sp>
        <p:nvSpPr>
          <p:cNvPr id="12" name="标题 1">
            <a:extLst>
              <a:ext uri="{FF2B5EF4-FFF2-40B4-BE49-F238E27FC236}">
                <a16:creationId xmlns:a16="http://schemas.microsoft.com/office/drawing/2014/main" id="{2094A546-2B0F-80FF-9740-96F575C134CE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17803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5A627-D79D-7975-5872-78FD1AEC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081AED0-4A71-1B18-BFDE-B7E096EEF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84" y="2314835"/>
            <a:ext cx="5223940" cy="3779163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383AAA-0571-13AD-0A69-263174E063DF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4379C51-98C3-A81B-B090-862D3812ECEC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606817-5C0B-E78D-3187-4BE2A3A7CC2E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DD4136-D8A5-72B7-D958-E9AC7A6511B4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55FC1C3-CE74-E981-BAD0-27B4ADD9DFB0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21F4B42-ECAA-701C-AD82-5B5D1A227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012922"/>
              </p:ext>
            </p:extLst>
          </p:nvPr>
        </p:nvGraphicFramePr>
        <p:xfrm>
          <a:off x="5939019" y="2437338"/>
          <a:ext cx="5760000" cy="35341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1752474975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516006379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59079942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400201809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688003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1611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1126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0.0513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0.2584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42469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[6, 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1778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0.0810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0.3099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0.0019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39276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[9, 11)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2370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0.1080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0.2591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17225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[11, 13)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1569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0.0715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0.2479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53481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[13, 16)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1739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0.0792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0.2225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98284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[16, 23)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3647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0.1661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0.1985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3682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[23, 33)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4093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0.1864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0.1754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36550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[33,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3048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0.1499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59020431"/>
                  </a:ext>
                </a:extLst>
              </a:tr>
            </a:tbl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F1DEFD96-6354-C00D-830E-8A40FCDD5B45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215020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FCCC-51E9-9C8E-FA8A-3D2B2B888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94D8D19-C11B-6E72-F408-10A864474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2291245"/>
            <a:ext cx="4896079" cy="3687956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E460D26-5F84-E4FA-0C31-A30A3F2063AA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5258F74-52EB-577F-FEA7-EA0160BC4898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6C7EB0-C5E8-A83E-CCAB-EF41D3EECC9F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7C23B6-1822-716A-B55D-ADB0A048726B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4635E823-3F6D-5624-8681-E55746C28530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4923377-3FEE-F161-2C96-D493977F7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260728"/>
              </p:ext>
            </p:extLst>
          </p:nvPr>
        </p:nvGraphicFramePr>
        <p:xfrm>
          <a:off x="5691334" y="2445045"/>
          <a:ext cx="5940000" cy="353415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88000">
                  <a:extLst>
                    <a:ext uri="{9D8B030D-6E8A-4147-A177-3AD203B41FA5}">
                      <a16:colId xmlns:a16="http://schemas.microsoft.com/office/drawing/2014/main" val="130592770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14879082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1261880292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516053458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3656807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8252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(-∞, 0.39)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1336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0.0609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0.3518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0.0026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26044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[0.39, 0.46)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1394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0.2661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11836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[0.46, 0.50)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1117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0.0509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0.2426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0.0017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96592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[0.50, 0.65)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4076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0.1857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0.1958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5111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[0.65, 0.76)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2497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0.1137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0.1942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56550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[0.76, 0.84)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1253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0.0571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35000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[0.84, 1.12)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2372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0.1080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0.1454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7204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[1.12,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1881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0.0857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0.1233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30299741"/>
                  </a:ext>
                </a:extLst>
              </a:tr>
            </a:tbl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941EEB77-4E02-3FB8-77DF-76C084C964CA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3220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9B59F-023A-05B7-0520-354CC3F8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8B8146E-DDC1-E6E1-6507-73E75FFA6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44" y="2230208"/>
            <a:ext cx="5021655" cy="3913651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4249329-1DA3-C027-F306-D15946901D9A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F0B1523-4F86-5978-EE36-6B275A605602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0F605A-E74B-A50E-30A9-6A8A9037A60A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204EAB-60BA-99F9-6C01-268754416BB8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5EC2C49D-79C3-DF66-F560-579FAB3F1801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FC2CD3B-9332-8218-4F58-E74B47093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015256"/>
              </p:ext>
            </p:extLst>
          </p:nvPr>
        </p:nvGraphicFramePr>
        <p:xfrm>
          <a:off x="5793085" y="2494409"/>
          <a:ext cx="5760000" cy="35341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72336938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76484871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46440481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82275566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389426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76989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1453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0.0662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3783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[0.4, 0.8)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4412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0.2010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0.1795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6179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[0.8, 0.9)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1885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0.0859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7785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[0.9, 1.0)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2550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0.1162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0.1984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00473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[1.0, 1.5)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7807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0.3556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0.2120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2525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[1.5, 1.7)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1533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0.0698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0.2231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1211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[1.7, 1.8)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1172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0.0534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0.2338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0.0015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48104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[1.8,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1141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0.0520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0.2419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0.0015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58023664"/>
                  </a:ext>
                </a:extLst>
              </a:tr>
            </a:tbl>
          </a:graphicData>
        </a:graphic>
      </p:graphicFrame>
      <p:sp>
        <p:nvSpPr>
          <p:cNvPr id="10" name="标题 1">
            <a:extLst>
              <a:ext uri="{FF2B5EF4-FFF2-40B4-BE49-F238E27FC236}">
                <a16:creationId xmlns:a16="http://schemas.microsoft.com/office/drawing/2014/main" id="{0E6DA2DD-A690-074F-FC29-BF176329ED34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173557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09A08-E0B0-6F9C-4DDF-427A29A2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7BAB3890-888B-D5D4-2BDF-462D826DC243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6B339226-C606-26AB-6733-498922A514CB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F03747-AF67-C5FD-801D-972C89458E5F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EC12230D-6FCB-A33F-4AF2-3F245B9E4D57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224A0F-E364-A552-582E-B53A2FA3ACCA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E12909-2476-981C-52DD-F0462CFD772F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8B9F4D6-DEEE-6201-9A18-73BC413FEA35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以出栏死淘率为目标变量，探索各阶段温度及温度变化对死淘的影响。分季节取样本的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4C0CD5A-3203-E010-884D-71141B7E6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60786"/>
              </p:ext>
            </p:extLst>
          </p:nvPr>
        </p:nvGraphicFramePr>
        <p:xfrm>
          <a:off x="1952405" y="2972684"/>
          <a:ext cx="8545806" cy="961136"/>
        </p:xfrm>
        <a:graphic>
          <a:graphicData uri="http://schemas.openxmlformats.org/drawingml/2006/table">
            <a:tbl>
              <a:tblPr firstRow="1" firstCol="1" bandRow="1"/>
              <a:tblGrid>
                <a:gridCol w="592831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706931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960505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883664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653142">
                  <a:extLst>
                    <a:ext uri="{9D8B030D-6E8A-4147-A177-3AD203B41FA5}">
                      <a16:colId xmlns:a16="http://schemas.microsoft.com/office/drawing/2014/main" val="478553580"/>
                    </a:ext>
                  </a:extLst>
                </a:gridCol>
                <a:gridCol w="998924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436915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290917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1287596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季节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AUC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平衡准确率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F1 - Score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AUC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验证集平衡准确率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F1 - score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冬季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0.8136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0.7166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0.55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0.4331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0.7163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0.5644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0.3158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0.1153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秋季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0.8549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0.7990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0.6667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0.5817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0.7417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0.6477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0.4348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0.2861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夏季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0.7778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0.7190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0.5556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0.4379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0.7389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0.7365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0.5263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0.3970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2B1527F-40C4-868C-6E4A-620A8B33F0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038768"/>
              </p:ext>
            </p:extLst>
          </p:nvPr>
        </p:nvGraphicFramePr>
        <p:xfrm>
          <a:off x="2608881" y="4870682"/>
          <a:ext cx="6974237" cy="1570736"/>
        </p:xfrm>
        <a:graphic>
          <a:graphicData uri="http://schemas.openxmlformats.org/drawingml/2006/table">
            <a:tbl>
              <a:tblPr firstRow="1" firstCol="1" bandRow="1"/>
              <a:tblGrid>
                <a:gridCol w="996845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675505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6913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87707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02643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季节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 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方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 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方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冬季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0.0345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0.0264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0.2821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0.0427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0.0305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0.3751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秋季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0.0135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0.0096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0.1912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0.0142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0.0118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0.3623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夏季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0.0104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0.0081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0.1618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0.0125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0.0099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0.1051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8300713-FA24-DA28-2DEB-FB57447C7B9E}"/>
              </a:ext>
            </a:extLst>
          </p:cNvPr>
          <p:cNvSpPr/>
          <p:nvPr/>
        </p:nvSpPr>
        <p:spPr>
          <a:xfrm>
            <a:off x="1057013" y="2306369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二分类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5362A5-949D-EB38-C422-462289C911A3}"/>
              </a:ext>
            </a:extLst>
          </p:cNvPr>
          <p:cNvSpPr/>
          <p:nvPr/>
        </p:nvSpPr>
        <p:spPr>
          <a:xfrm>
            <a:off x="1057013" y="4502694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回归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709ED56-9E71-5499-C728-6A3CD22A5640}"/>
              </a:ext>
            </a:extLst>
          </p:cNvPr>
          <p:cNvSpPr txBox="1"/>
          <p:nvPr/>
        </p:nvSpPr>
        <p:spPr>
          <a:xfrm>
            <a:off x="251183" y="122274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00720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474DEB9-1DDD-51F7-6E59-EF996DDE0E13}"/>
              </a:ext>
            </a:extLst>
          </p:cNvPr>
          <p:cNvSpPr/>
          <p:nvPr/>
        </p:nvSpPr>
        <p:spPr>
          <a:xfrm>
            <a:off x="952820" y="1640030"/>
            <a:ext cx="10813180" cy="388323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6348A3F-20FC-3834-2475-8CCB607D0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145080"/>
              </p:ext>
            </p:extLst>
          </p:nvPr>
        </p:nvGraphicFramePr>
        <p:xfrm>
          <a:off x="426000" y="1640030"/>
          <a:ext cx="11340000" cy="3883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</a:t>
                      </a:r>
                      <a:endParaRPr lang="en-US" altLang="zh-CN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'HARVESTSTATUS_month'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'AGE'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'DOCAMOUNT'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'W3_9-11天_鸡舍温度-最高_RANGE'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'W3_3-5天_平均温度变化率_MEAN'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'W3_3-5天_每日温差_MEAN'</a:t>
                      </a:r>
                      <a:endParaRPr 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'ELECTRICITY_COST'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'W3_3-5天_鸡舍温度-最低_RANGE'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'W3_9-11天_最高温度变化率_MEAN'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'W3_0-2天_鸡舍温度-平均_MEAN'</a:t>
                      </a:r>
                      <a:endParaRPr 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'W3_21-23天_鸡舍温度-最高_MEAN'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'GAS_COST'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'W3_12-14天_每日温差_MEAN'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'HOUSEAMOUNT'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'W3_3-5天_鸡舍温度-最低_RANGE'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'W3_12-14天_湿度内部平均_MEAN'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10368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F8E27CD-E923-320A-F57C-B222F5D7ED82}"/>
              </a:ext>
            </a:extLst>
          </p:cNvPr>
          <p:cNvSpPr/>
          <p:nvPr/>
        </p:nvSpPr>
        <p:spPr>
          <a:xfrm>
            <a:off x="534497" y="562093"/>
            <a:ext cx="1870605" cy="565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重要性排序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9BB67C00-D4C6-CBC2-58A4-7C71D1057430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150106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528EFFD-C58B-3063-9452-82E903482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2497555"/>
            <a:ext cx="4931224" cy="3729443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3A50B06-1E6F-98F3-95BE-DBEB4AE02CC8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44CE461-DCD3-708B-62B9-C56F703D95A9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C86CE5-1D64-A81F-4C35-538A6F8BE6F4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D88B96-BA8C-0AC0-551B-79EEFC9ED7CC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A78637D9-ADA5-7236-FA9A-6B23FCE8BCDD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E5297F5-716A-167D-7E09-540268DBAF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16795"/>
              </p:ext>
            </p:extLst>
          </p:nvPr>
        </p:nvGraphicFramePr>
        <p:xfrm>
          <a:off x="5821962" y="3269439"/>
          <a:ext cx="5604195" cy="27487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0839">
                  <a:extLst>
                    <a:ext uri="{9D8B030D-6E8A-4147-A177-3AD203B41FA5}">
                      <a16:colId xmlns:a16="http://schemas.microsoft.com/office/drawing/2014/main" val="4161310938"/>
                    </a:ext>
                  </a:extLst>
                </a:gridCol>
                <a:gridCol w="887229">
                  <a:extLst>
                    <a:ext uri="{9D8B030D-6E8A-4147-A177-3AD203B41FA5}">
                      <a16:colId xmlns:a16="http://schemas.microsoft.com/office/drawing/2014/main" val="177744744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4205815659"/>
                    </a:ext>
                  </a:extLst>
                </a:gridCol>
                <a:gridCol w="991241">
                  <a:extLst>
                    <a:ext uri="{9D8B030D-6E8A-4147-A177-3AD203B41FA5}">
                      <a16:colId xmlns:a16="http://schemas.microsoft.com/office/drawing/2014/main" val="3134409127"/>
                    </a:ext>
                  </a:extLst>
                </a:gridCol>
                <a:gridCol w="1429229">
                  <a:extLst>
                    <a:ext uri="{9D8B030D-6E8A-4147-A177-3AD203B41FA5}">
                      <a16:colId xmlns:a16="http://schemas.microsoft.com/office/drawing/2014/main" val="31363452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37641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93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0.2302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0.3656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0.1143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1983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[3, 4)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0.1312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0.3585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0.1052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48938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[4, 5)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0.1064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0.2791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0.0996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46616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[5, 7)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0.2153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0.1034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0.0748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320487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[7, 9)</a:t>
                      </a:r>
                      <a:endParaRPr lang="en-US" altLang="zh-CN" sz="1200" b="1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68</a:t>
                      </a:r>
                      <a:endParaRPr lang="en-US" altLang="zh-CN" sz="1200" b="1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0.1683</a:t>
                      </a:r>
                      <a:endParaRPr lang="en-US" altLang="zh-CN" sz="1200" b="1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0.0147</a:t>
                      </a:r>
                      <a:endParaRPr lang="en-US" altLang="zh-CN" sz="1200" b="1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0.0709</a:t>
                      </a:r>
                      <a:endParaRPr lang="en-US" altLang="zh-CN" sz="1200" b="1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63381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[9, +∞)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60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0.1485</a:t>
                      </a:r>
                      <a:endParaRPr lang="en-US" altLang="zh-CN" sz="1200" b="0" dirty="0">
                        <a:effectLst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0.0748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5716807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86F81C0-506E-83DC-4BA8-0D78EE7F48CD}"/>
              </a:ext>
            </a:extLst>
          </p:cNvPr>
          <p:cNvSpPr txBox="1"/>
          <p:nvPr/>
        </p:nvSpPr>
        <p:spPr>
          <a:xfrm>
            <a:off x="5872607" y="2433632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冬季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1066149-B6B6-9B63-E723-41C067AF9000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408400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3C60-4C7C-5D53-6BEE-01DE76A8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291605-D8CD-522E-BD13-8D47F7E1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35" y="2240371"/>
            <a:ext cx="5083611" cy="3960644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D362E37E-A4E1-FBE3-73D0-A244DD584F87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216EE6E-3816-D312-A9DC-D7E7B93B4F8A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8FABDB-51CA-1361-215C-78DD07BEAB18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B6555A-06C9-61FA-58E9-05B58D2A276F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221F271D-BF1E-ECAD-41A3-91495F4E253E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07757ED-F406-BA99-7199-6CAEEA89D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007042"/>
              </p:ext>
            </p:extLst>
          </p:nvPr>
        </p:nvGraphicFramePr>
        <p:xfrm>
          <a:off x="5800209" y="3059543"/>
          <a:ext cx="5760000" cy="314147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105171032"/>
                    </a:ext>
                  </a:extLst>
                </a:gridCol>
                <a:gridCol w="884945">
                  <a:extLst>
                    <a:ext uri="{9D8B030D-6E8A-4147-A177-3AD203B41FA5}">
                      <a16:colId xmlns:a16="http://schemas.microsoft.com/office/drawing/2014/main" val="3901423165"/>
                    </a:ext>
                  </a:extLst>
                </a:gridCol>
                <a:gridCol w="1091133">
                  <a:extLst>
                    <a:ext uri="{9D8B030D-6E8A-4147-A177-3AD203B41FA5}">
                      <a16:colId xmlns:a16="http://schemas.microsoft.com/office/drawing/2014/main" val="356623465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576103327"/>
                    </a:ext>
                  </a:extLst>
                </a:gridCol>
                <a:gridCol w="1456265">
                  <a:extLst>
                    <a:ext uri="{9D8B030D-6E8A-4147-A177-3AD203B41FA5}">
                      <a16:colId xmlns:a16="http://schemas.microsoft.com/office/drawing/2014/main" val="1258843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82732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(-∞, 0.7)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21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0.0520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0.5238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0.1238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3667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[0.7, 0.8)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65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0.1609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0.3385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0.1068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2194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[0.8, 0.9)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0.1114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0.0883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07783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[0.9, 1.1)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0.3144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0.1732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0.0890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48831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[1.1, 1.3)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0.1714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0.0814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23676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[1.3, 1.4)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0.0569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0.0845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826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0.1312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0.0755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0.0726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7144751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71339B5-8259-A948-121A-63641E2D06AA}"/>
              </a:ext>
            </a:extLst>
          </p:cNvPr>
          <p:cNvSpPr txBox="1"/>
          <p:nvPr/>
        </p:nvSpPr>
        <p:spPr>
          <a:xfrm>
            <a:off x="5872607" y="2433632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冬季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EFACDDD6-B8F5-5C64-FFE2-43DDBD4B5BF7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27208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D1D66EA-262A-5F85-25AC-EF1438479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9" y="95249"/>
            <a:ext cx="2345405" cy="16442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BBF516-1A83-AD76-6AEE-D699D8F45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51" y="95249"/>
            <a:ext cx="2277226" cy="16396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FEF4BE6-A66F-8D7C-3D75-F486D4209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01" y="1734924"/>
            <a:ext cx="2316823" cy="16396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383971-BE34-449B-3876-3CE234A16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354" y="1720662"/>
            <a:ext cx="2316823" cy="16364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99B74F0-8117-B60C-1202-5DC6AB5F1A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918" y="3343957"/>
            <a:ext cx="2345406" cy="167031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9A37B85-1375-D2AA-B06C-AC1E4CF59A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3374599"/>
            <a:ext cx="2280418" cy="160790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82D2D81-5188-66C3-6FBD-6029A3F2DB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661" y="4964340"/>
            <a:ext cx="2319663" cy="160791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13F1AA4-5222-04E0-E34A-EDDB30B534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631" y="4964339"/>
            <a:ext cx="2277634" cy="160791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C21F09F-0D51-EA93-264F-DB26AC4C3D27}"/>
              </a:ext>
            </a:extLst>
          </p:cNvPr>
          <p:cNvSpPr txBox="1"/>
          <p:nvPr/>
        </p:nvSpPr>
        <p:spPr>
          <a:xfrm>
            <a:off x="2639921" y="394878"/>
            <a:ext cx="351472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 Bin  Count  Count (%)  Event rate  MORTALITY_RATE</a:t>
            </a:r>
          </a:p>
          <a:p>
            <a:r>
              <a:rPr lang="zh-CN" altLang="en-US" sz="1050" dirty="0"/>
              <a:t>0   (-inf, 10.15)    210   0.519802    0.276190        0.100248</a:t>
            </a:r>
          </a:p>
          <a:p>
            <a:r>
              <a:rPr lang="zh-CN" altLang="en-US" sz="1050" dirty="0"/>
              <a:t>1  [10.15, 12.55)     53   0.131188    0.150943        0.085784</a:t>
            </a:r>
          </a:p>
          <a:p>
            <a:r>
              <a:rPr lang="zh-CN" altLang="en-US" sz="1050" dirty="0"/>
              <a:t>2  [12.55, 15.05)     42   0.103960    0.119048        0.075874</a:t>
            </a:r>
          </a:p>
          <a:p>
            <a:r>
              <a:rPr lang="zh-CN" altLang="en-US" sz="1050" b="1" dirty="0"/>
              <a:t>3  [15.05, 16.05)     24   0.059406    0.041667        0.068712</a:t>
            </a:r>
          </a:p>
          <a:p>
            <a:r>
              <a:rPr lang="zh-CN" altLang="en-US" sz="1050" dirty="0"/>
              <a:t>4    [16.05, inf)     75   0.185644    0.120000        0.078298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E0DAE6-93F4-55E9-E50F-CDA882916E7D}"/>
              </a:ext>
            </a:extLst>
          </p:cNvPr>
          <p:cNvSpPr txBox="1"/>
          <p:nvPr/>
        </p:nvSpPr>
        <p:spPr>
          <a:xfrm>
            <a:off x="8433568" y="38782"/>
            <a:ext cx="364806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  (-inf, 1.25)     32   0.079208    0.093750        0.082962</a:t>
            </a:r>
          </a:p>
          <a:p>
            <a:r>
              <a:rPr lang="zh-CN" altLang="en-US" sz="1100" dirty="0"/>
              <a:t>1     [1.25, 4.15)     60   0.148515    0.233333        0.095760</a:t>
            </a:r>
          </a:p>
          <a:p>
            <a:r>
              <a:rPr lang="zh-CN" altLang="en-US" sz="1100" dirty="0"/>
              <a:t>2     [4.15, 6.45)     79   0.195545    0.303797        0.098962</a:t>
            </a:r>
          </a:p>
          <a:p>
            <a:r>
              <a:rPr lang="zh-CN" altLang="en-US" sz="1100" b="1" dirty="0"/>
              <a:t>3     [6.45, 8.35)     36   0.089109    0.361111        0.110499</a:t>
            </a:r>
          </a:p>
          <a:p>
            <a:r>
              <a:rPr lang="zh-CN" altLang="en-US" sz="1100" b="1" dirty="0"/>
              <a:t>4     [8.35, 9.75)     22   0.054455    0.454545        0.107399</a:t>
            </a:r>
          </a:p>
          <a:p>
            <a:r>
              <a:rPr lang="zh-CN" altLang="en-US" sz="1100" dirty="0"/>
              <a:t>5    [9.75, 11.25)     47   0.116337    0.148936        0.091852</a:t>
            </a:r>
          </a:p>
          <a:p>
            <a:r>
              <a:rPr lang="zh-CN" altLang="en-US" sz="1100" dirty="0"/>
              <a:t>6   [11.25, 14.85)     49   0.121287    0.081633        0.075532</a:t>
            </a:r>
          </a:p>
          <a:p>
            <a:r>
              <a:rPr lang="zh-CN" altLang="en-US" sz="1100" dirty="0"/>
              <a:t>7     [14.85, inf)     79   0.195545    0.075949        0.072525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30EFAA4-B160-60FF-0D68-F6E4A928C8E5}"/>
              </a:ext>
            </a:extLst>
          </p:cNvPr>
          <p:cNvSpPr txBox="1"/>
          <p:nvPr/>
        </p:nvSpPr>
        <p:spPr>
          <a:xfrm>
            <a:off x="2600324" y="2000763"/>
            <a:ext cx="37623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5.25)    151   0.373762    0.324503        0.104965</a:t>
            </a:r>
          </a:p>
          <a:p>
            <a:r>
              <a:rPr lang="zh-CN" altLang="en-US" sz="1100" dirty="0"/>
              <a:t>1   [5.25, 6.95)     60   0.148515    0.250000        0.103708</a:t>
            </a:r>
          </a:p>
          <a:p>
            <a:r>
              <a:rPr lang="zh-CN" altLang="en-US" sz="1100" dirty="0"/>
              <a:t>2   [6.95, 9.35)     65   0.160891    0.123077        0.073654</a:t>
            </a:r>
          </a:p>
          <a:p>
            <a:r>
              <a:rPr lang="zh-CN" altLang="en-US" sz="1100" b="1" dirty="0"/>
              <a:t>3  [9.35, 17.65)    100   0.247525    0.030000        0.068183</a:t>
            </a:r>
          </a:p>
          <a:p>
            <a:r>
              <a:rPr lang="zh-CN" altLang="en-US" sz="1100" dirty="0"/>
              <a:t>4   [17.65, inf)     28   0.069307    0.214286        0.093885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E573F19-FB3C-9FD4-1EAA-7C341B8452B0}"/>
              </a:ext>
            </a:extLst>
          </p:cNvPr>
          <p:cNvSpPr txBox="1"/>
          <p:nvPr/>
        </p:nvSpPr>
        <p:spPr>
          <a:xfrm>
            <a:off x="8433568" y="1960606"/>
            <a:ext cx="37623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 (-inf, 5.95)    197   0.487624    0.329949        0.107700</a:t>
            </a:r>
          </a:p>
          <a:p>
            <a:r>
              <a:rPr lang="zh-CN" altLang="en-US" sz="1100" dirty="0"/>
              <a:t>1    [5.95, 8.15)     59   0.146040    0.084746        0.077403</a:t>
            </a:r>
          </a:p>
          <a:p>
            <a:r>
              <a:rPr lang="zh-CN" altLang="en-US" sz="1100" b="1" dirty="0"/>
              <a:t>2   [8.15, 10.70)     71   0.175743    0.028169        0.063527</a:t>
            </a:r>
          </a:p>
          <a:p>
            <a:r>
              <a:rPr lang="zh-CN" altLang="en-US" sz="1100" dirty="0"/>
              <a:t>3  [10.70, 15.95)     54   0.133663    0.037037        0.066473</a:t>
            </a:r>
          </a:p>
          <a:p>
            <a:r>
              <a:rPr lang="zh-CN" altLang="en-US" sz="1100" dirty="0"/>
              <a:t>4    [15.95, inf)     23   0.056931    0.304348        0.105351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2337E0E-A0FB-C0B7-B22F-8F2ADF54405D}"/>
              </a:ext>
            </a:extLst>
          </p:cNvPr>
          <p:cNvSpPr txBox="1"/>
          <p:nvPr/>
        </p:nvSpPr>
        <p:spPr>
          <a:xfrm>
            <a:off x="2600324" y="3455278"/>
            <a:ext cx="3521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(-inf, 2.15)     54   0.133663    0.259259        0.098866</a:t>
            </a:r>
          </a:p>
          <a:p>
            <a:r>
              <a:rPr lang="zh-CN" altLang="en-US" sz="1100" dirty="0"/>
              <a:t>1  </a:t>
            </a:r>
            <a:r>
              <a:rPr lang="zh-CN" altLang="en-US" sz="1100" b="1" dirty="0"/>
              <a:t>[2.15, 3.15)     42   0.103960    0.500000        0.115316</a:t>
            </a:r>
          </a:p>
          <a:p>
            <a:r>
              <a:rPr lang="zh-CN" altLang="en-US" sz="1100" dirty="0"/>
              <a:t>2  [3.15, 4.55)     64   0.158416    0.265625        0.102329</a:t>
            </a:r>
          </a:p>
          <a:p>
            <a:r>
              <a:rPr lang="zh-CN" altLang="en-US" sz="1100" dirty="0"/>
              <a:t>3  [4.55, 4.95)     21   0.051980    0.190476        0.102084</a:t>
            </a:r>
          </a:p>
          <a:p>
            <a:r>
              <a:rPr lang="zh-CN" altLang="en-US" sz="1100" dirty="0"/>
              <a:t>4  [4.95, 6.25)     59   0.146040    0.186441        0.089334</a:t>
            </a:r>
          </a:p>
          <a:p>
            <a:r>
              <a:rPr lang="zh-CN" altLang="en-US" sz="1100" dirty="0"/>
              <a:t>5  [6.25, 8.60)     51   0.126238    0.137255        0.077110</a:t>
            </a:r>
          </a:p>
          <a:p>
            <a:r>
              <a:rPr lang="zh-CN" altLang="en-US" sz="1100" dirty="0"/>
              <a:t>6   [8.60, inf)    113   0.279703    0.061947        0.072818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DD31F9C-C5C5-6F34-6C87-CAEF205F1DDA}"/>
              </a:ext>
            </a:extLst>
          </p:cNvPr>
          <p:cNvSpPr txBox="1"/>
          <p:nvPr/>
        </p:nvSpPr>
        <p:spPr>
          <a:xfrm>
            <a:off x="8433568" y="3455278"/>
            <a:ext cx="351472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(-inf, 2.75)     93   0.230198    0.365591        0.114313</a:t>
            </a:r>
          </a:p>
          <a:p>
            <a:r>
              <a:rPr lang="zh-CN" altLang="en-US" sz="1100" dirty="0"/>
              <a:t>1  [2.75, 4.05)     54   0.133663    0.351852        0.104692</a:t>
            </a:r>
          </a:p>
          <a:p>
            <a:r>
              <a:rPr lang="zh-CN" altLang="en-US" sz="1100" dirty="0"/>
              <a:t>2  [4.05, 5.25)     42   0.103960    0.285714        0.100109</a:t>
            </a:r>
          </a:p>
          <a:p>
            <a:r>
              <a:rPr lang="zh-CN" altLang="en-US" sz="1100" dirty="0"/>
              <a:t>3  [5.25, 7.25)     89   0.220297    0.101124        0.074813</a:t>
            </a:r>
          </a:p>
          <a:p>
            <a:r>
              <a:rPr lang="zh-CN" altLang="en-US" sz="1100" b="1" dirty="0"/>
              <a:t>4  [7.25, 9.35)     63   0.155941    0.015873        0.070924</a:t>
            </a:r>
          </a:p>
          <a:p>
            <a:r>
              <a:rPr lang="zh-CN" altLang="en-US" sz="1100" dirty="0"/>
              <a:t>5   [9.35, inf)     63   0.155941    0.095238        0.074461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1AD97CB-2152-FEC6-14AE-873BA3038E40}"/>
              </a:ext>
            </a:extLst>
          </p:cNvPr>
          <p:cNvSpPr txBox="1"/>
          <p:nvPr/>
        </p:nvSpPr>
        <p:spPr>
          <a:xfrm>
            <a:off x="2600324" y="5229297"/>
            <a:ext cx="352857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b="1" dirty="0"/>
              <a:t>0   (-inf, 3.65)    141   0.349010    0.312057        0.108052</a:t>
            </a:r>
          </a:p>
          <a:p>
            <a:r>
              <a:rPr lang="zh-CN" altLang="en-US" sz="1100" dirty="0"/>
              <a:t>1   [3.65, 4.55)     55   0.136139    0.254545        0.091386</a:t>
            </a:r>
          </a:p>
          <a:p>
            <a:r>
              <a:rPr lang="zh-CN" altLang="en-US" sz="1100" dirty="0"/>
              <a:t>2   [4.55, 6.25)     78   0.193069    0.153846        0.080637</a:t>
            </a:r>
          </a:p>
          <a:p>
            <a:r>
              <a:rPr lang="zh-CN" altLang="en-US" sz="1100" dirty="0"/>
              <a:t>3  [6.25, 10.15)     91   0.225248    0.098901        0.077711</a:t>
            </a:r>
          </a:p>
          <a:p>
            <a:r>
              <a:rPr lang="zh-CN" altLang="en-US" sz="1100" dirty="0"/>
              <a:t>4   [10.15, inf)     39   0.096535    0.051282        0.068813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CCEE27E-F489-B571-57F0-07FD6500F071}"/>
              </a:ext>
            </a:extLst>
          </p:cNvPr>
          <p:cNvSpPr txBox="1"/>
          <p:nvPr/>
        </p:nvSpPr>
        <p:spPr>
          <a:xfrm>
            <a:off x="8423993" y="5229297"/>
            <a:ext cx="3657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Bin  Count  Count (%)  Event rate  MORTALITY_RATE</a:t>
            </a:r>
          </a:p>
          <a:p>
            <a:r>
              <a:rPr lang="zh-CN" altLang="en-US" sz="1100" b="1" dirty="0"/>
              <a:t>0  (-inf, 1.95)     87   0.215347    0.264368        0.096700</a:t>
            </a:r>
          </a:p>
          <a:p>
            <a:r>
              <a:rPr lang="zh-CN" altLang="en-US" sz="1100" dirty="0"/>
              <a:t>1  [1.95, 4.65)    137   0.339109    0.240876        0.096499</a:t>
            </a:r>
          </a:p>
          <a:p>
            <a:r>
              <a:rPr lang="zh-CN" altLang="en-US" sz="1100" dirty="0"/>
              <a:t>2  [4.65, 6.45)     81   0.200495    0.222222        0.095717</a:t>
            </a:r>
          </a:p>
          <a:p>
            <a:r>
              <a:rPr lang="zh-CN" altLang="en-US" sz="1100" dirty="0"/>
              <a:t>3  [6.45, 8.65)     43   0.106436    0.093023        0.073012</a:t>
            </a:r>
          </a:p>
          <a:p>
            <a:r>
              <a:rPr lang="zh-CN" altLang="en-US" sz="1100" dirty="0"/>
              <a:t>4   [8.65, inf)     56   0.138614    0.053571        0.067513</a:t>
            </a:r>
          </a:p>
        </p:txBody>
      </p:sp>
    </p:spTree>
    <p:extLst>
      <p:ext uri="{BB962C8B-B14F-4D97-AF65-F5344CB8AC3E}">
        <p14:creationId xmlns:p14="http://schemas.microsoft.com/office/powerpoint/2010/main" val="51430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F772F10-ED34-EB21-1CAA-F19A245E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62" y="0"/>
            <a:ext cx="2449991" cy="175558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26479F-5F2D-7C98-965A-BF16DB4D5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474" y="0"/>
            <a:ext cx="2449991" cy="16877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DCB8F2-D611-5DEB-8208-E3FF5B459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21" y="1715574"/>
            <a:ext cx="2411132" cy="171514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2006C5B-3D22-FA40-137C-E1CA82EB8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072" y="1715575"/>
            <a:ext cx="2422793" cy="16874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A204A90-0260-B3F2-7259-2970DEAC0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20" y="3401986"/>
            <a:ext cx="2411131" cy="166341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49193B5-A8D6-3346-4654-5F72DB9DF8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9072" y="3429630"/>
            <a:ext cx="2411131" cy="167981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3F78882-8FBD-73A9-48D0-283640A24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318" y="4990822"/>
            <a:ext cx="2418589" cy="171514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C4F2DAB-8D0D-A145-7E46-E69D169F51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5474" y="5126814"/>
            <a:ext cx="2385526" cy="167981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686D483-3105-BE83-58CE-DC6BCE367A17}"/>
              </a:ext>
            </a:extLst>
          </p:cNvPr>
          <p:cNvSpPr txBox="1"/>
          <p:nvPr/>
        </p:nvSpPr>
        <p:spPr>
          <a:xfrm>
            <a:off x="2588451" y="69174"/>
            <a:ext cx="365824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 (-inf, 33.05)     34   0.084158    0.088235        0.076695</a:t>
            </a:r>
          </a:p>
          <a:p>
            <a:r>
              <a:rPr lang="zh-CN" altLang="en-US" sz="1100" dirty="0"/>
              <a:t>1   [33.05, 33.25)     23   0.056931    0.130435        0.083993</a:t>
            </a:r>
          </a:p>
          <a:p>
            <a:r>
              <a:rPr lang="zh-CN" altLang="en-US" sz="1100" dirty="0"/>
              <a:t>2   [33.25, 33.55)     70   0.173267    0.185714        0.080204</a:t>
            </a:r>
          </a:p>
          <a:p>
            <a:r>
              <a:rPr lang="zh-CN" altLang="en-US" sz="1100" dirty="0"/>
              <a:t>3   [33.55, 33.65)     59   0.146040    0.186441        0.084923</a:t>
            </a:r>
          </a:p>
          <a:p>
            <a:r>
              <a:rPr lang="zh-CN" altLang="en-US" sz="1100" dirty="0"/>
              <a:t>4   [33.65, 33.85)    101   0.250000    0.188119        0.092970</a:t>
            </a:r>
          </a:p>
          <a:p>
            <a:r>
              <a:rPr lang="zh-CN" altLang="en-US" sz="1100" dirty="0"/>
              <a:t>5   [33.85, 33.95)     43   0.106436    0.209302        0.091942</a:t>
            </a:r>
          </a:p>
          <a:p>
            <a:r>
              <a:rPr lang="zh-CN" altLang="en-US" sz="1100" dirty="0"/>
              <a:t>6   [33.95, 34.15)     42   0.103960    0.261905        0.102060</a:t>
            </a:r>
          </a:p>
          <a:p>
            <a:r>
              <a:rPr lang="zh-CN" altLang="en-US" sz="1100" dirty="0"/>
              <a:t>7     </a:t>
            </a:r>
            <a:r>
              <a:rPr lang="zh-CN" altLang="en-US" sz="1100" b="1" dirty="0"/>
              <a:t>[34.15, inf)     32   0.079208    0.375000        0.109767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A3D3D5D-D396-DC48-05A4-537CCF57C89D}"/>
              </a:ext>
            </a:extLst>
          </p:cNvPr>
          <p:cNvSpPr txBox="1"/>
          <p:nvPr/>
        </p:nvSpPr>
        <p:spPr>
          <a:xfrm>
            <a:off x="8551865" y="120593"/>
            <a:ext cx="36582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30.95)     29   0.071782    0.034483        0.072092</a:t>
            </a:r>
          </a:p>
          <a:p>
            <a:r>
              <a:rPr lang="zh-CN" altLang="en-US" sz="1100" dirty="0"/>
              <a:t>1  [30.95, 31.25)     28   0.069307    0.178571        0.074802</a:t>
            </a:r>
          </a:p>
          <a:p>
            <a:r>
              <a:rPr lang="zh-CN" altLang="en-US" sz="1100" dirty="0"/>
              <a:t>2  [31.25, 31.85)    209   0.517327    0.200957        0.091897</a:t>
            </a:r>
          </a:p>
          <a:p>
            <a:r>
              <a:rPr lang="zh-CN" altLang="en-US" sz="1100" dirty="0"/>
              <a:t>3  [31.85, 31.95)     37   0.091584    0.216216        0.090022</a:t>
            </a:r>
          </a:p>
          <a:p>
            <a:r>
              <a:rPr lang="zh-CN" altLang="en-US" sz="1100" b="1" dirty="0"/>
              <a:t>4  [31.95, 32.05)     26   0.064356    0.307692        0.100650</a:t>
            </a:r>
          </a:p>
          <a:p>
            <a:r>
              <a:rPr lang="zh-CN" altLang="en-US" sz="1100" dirty="0"/>
              <a:t>5  [32.05, 32.25)     52   0.128713    0.250000        0.094086</a:t>
            </a:r>
          </a:p>
          <a:p>
            <a:r>
              <a:rPr lang="zh-CN" altLang="en-US" sz="1100" dirty="0"/>
              <a:t>6    [32.25, inf)     23   0.056931    0.173913        0.090215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14C632-739D-0A9D-EF24-A541643C7708}"/>
              </a:ext>
            </a:extLst>
          </p:cNvPr>
          <p:cNvSpPr txBox="1"/>
          <p:nvPr/>
        </p:nvSpPr>
        <p:spPr>
          <a:xfrm>
            <a:off x="2595907" y="1849869"/>
            <a:ext cx="37706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29.15)     51   0.126238    0.058824        0.068412</a:t>
            </a:r>
          </a:p>
          <a:p>
            <a:r>
              <a:rPr lang="zh-CN" altLang="en-US" sz="1100" dirty="0"/>
              <a:t>1  [29.15, 29.45)     55   0.136139    0.127273        0.077225</a:t>
            </a:r>
          </a:p>
          <a:p>
            <a:r>
              <a:rPr lang="zh-CN" altLang="en-US" sz="1100" dirty="0"/>
              <a:t>2  [29.45, 29.75)    103   0.254950    0.184466        0.092664</a:t>
            </a:r>
          </a:p>
          <a:p>
            <a:r>
              <a:rPr lang="zh-CN" altLang="en-US" sz="1100" dirty="0"/>
              <a:t>3  [29.75, 29.95)     58   0.143564    0.206897        0.094285</a:t>
            </a:r>
          </a:p>
          <a:p>
            <a:r>
              <a:rPr lang="zh-CN" altLang="en-US" sz="1100" dirty="0"/>
              <a:t>4  </a:t>
            </a:r>
            <a:r>
              <a:rPr lang="zh-CN" altLang="en-US" sz="1100" b="1" dirty="0"/>
              <a:t>[29.95, 30.05)     27   0.066832    0.407407        0.107271</a:t>
            </a:r>
          </a:p>
          <a:p>
            <a:r>
              <a:rPr lang="zh-CN" altLang="en-US" sz="1100" dirty="0"/>
              <a:t>5  [30.05, 30.25)     45   0.111386    0.288889        0.097879</a:t>
            </a:r>
          </a:p>
          <a:p>
            <a:r>
              <a:rPr lang="zh-CN" altLang="en-US" sz="1100" dirty="0"/>
              <a:t>6    [30.25, inf)     65   0.160891    0.246154        0.096254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D915A5-0AA1-B147-5387-D2B0275BD036}"/>
              </a:ext>
            </a:extLst>
          </p:cNvPr>
          <p:cNvSpPr txBox="1"/>
          <p:nvPr/>
        </p:nvSpPr>
        <p:spPr>
          <a:xfrm>
            <a:off x="8565465" y="1920686"/>
            <a:ext cx="365824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27.95)     32   0.079208    0.031250        0.065801</a:t>
            </a:r>
          </a:p>
          <a:p>
            <a:r>
              <a:rPr lang="zh-CN" altLang="en-US" sz="1100" dirty="0"/>
              <a:t>1  [27.95, 28.15)     43   0.106436    0.069767        0.068893</a:t>
            </a:r>
          </a:p>
          <a:p>
            <a:r>
              <a:rPr lang="zh-CN" altLang="en-US" sz="1100" dirty="0"/>
              <a:t>2  [28.15, 28.35)     46   0.113861    0.108696        0.079062</a:t>
            </a:r>
          </a:p>
          <a:p>
            <a:r>
              <a:rPr lang="zh-CN" altLang="en-US" sz="1100" dirty="0"/>
              <a:t>3  [28.35, 28.75)    138   0.341584    0.210145        0.092584</a:t>
            </a:r>
          </a:p>
          <a:p>
            <a:r>
              <a:rPr lang="zh-CN" altLang="en-US" sz="1100" dirty="0"/>
              <a:t>4  [28.75, 29.35)    108   0.267327    0.268519        0.098986</a:t>
            </a:r>
          </a:p>
          <a:p>
            <a:r>
              <a:rPr lang="zh-CN" altLang="en-US" sz="1100" b="1" dirty="0"/>
              <a:t>5    [29.35, inf)     37   0.091584    0.378378        0.111746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ACFBB5A-4B40-DD5B-173D-4C5252CD151E}"/>
              </a:ext>
            </a:extLst>
          </p:cNvPr>
          <p:cNvSpPr txBox="1"/>
          <p:nvPr/>
        </p:nvSpPr>
        <p:spPr>
          <a:xfrm>
            <a:off x="2595907" y="3656771"/>
            <a:ext cx="354631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27.15)     96   0.237624    0.083333        0.072373</a:t>
            </a:r>
          </a:p>
          <a:p>
            <a:r>
              <a:rPr lang="zh-CN" altLang="en-US" sz="1100" dirty="0"/>
              <a:t>1  [27.15, 27.55)    125   0.309406    0.176000        0.089379</a:t>
            </a:r>
          </a:p>
          <a:p>
            <a:r>
              <a:rPr lang="zh-CN" altLang="en-US" sz="1100" dirty="0"/>
              <a:t>2  [27.55, 27.65)     22   0.054455    0.181818        0.093767</a:t>
            </a:r>
          </a:p>
          <a:p>
            <a:r>
              <a:rPr lang="zh-CN" altLang="en-US" sz="1100" dirty="0"/>
              <a:t>3  [27.65, 28.45)    137   0.339109    0.262774        0.097189</a:t>
            </a:r>
          </a:p>
          <a:p>
            <a:r>
              <a:rPr lang="zh-CN" altLang="en-US" sz="1100" b="1" dirty="0"/>
              <a:t>4    [28.45, inf)     24   0.059406    0.458333        0.117031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B2850C3-03AD-F288-CEC6-5A57C2C6AF4F}"/>
              </a:ext>
            </a:extLst>
          </p:cNvPr>
          <p:cNvSpPr txBox="1"/>
          <p:nvPr/>
        </p:nvSpPr>
        <p:spPr>
          <a:xfrm>
            <a:off x="8565465" y="3510420"/>
            <a:ext cx="365824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25.65)     29   0.071782    0.103448        0.078517</a:t>
            </a:r>
          </a:p>
          <a:p>
            <a:r>
              <a:rPr lang="zh-CN" altLang="en-US" sz="1100" dirty="0"/>
              <a:t>1  [25.65, 25.85)     32   0.079208    0.062500        0.068773</a:t>
            </a:r>
          </a:p>
          <a:p>
            <a:r>
              <a:rPr lang="zh-CN" altLang="en-US" sz="1100" dirty="0"/>
              <a:t>2  [25.85, 25.95)     25   0.061881    0.040000        0.064914</a:t>
            </a:r>
          </a:p>
          <a:p>
            <a:r>
              <a:rPr lang="zh-CN" altLang="en-US" sz="1100" dirty="0"/>
              <a:t>3  [25.95, 26.05)     23   0.056931    0.043478        0.073774</a:t>
            </a:r>
          </a:p>
          <a:p>
            <a:r>
              <a:rPr lang="zh-CN" altLang="en-US" sz="1100" dirty="0"/>
              <a:t>4  [26.05, 26.15)     29   0.071782    0.103448        0.084139</a:t>
            </a:r>
          </a:p>
          <a:p>
            <a:r>
              <a:rPr lang="zh-CN" altLang="en-US" sz="1100" dirty="0"/>
              <a:t>5  [26.15, 26.65)    123   0.304455    0.195122        0.087749</a:t>
            </a:r>
          </a:p>
          <a:p>
            <a:r>
              <a:rPr lang="zh-CN" altLang="en-US" sz="1100" b="1" dirty="0"/>
              <a:t>6    [26.65, inf)    143   0.353960    0.328671        0.106826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4BF5EB-B872-2A1C-DE22-35570B0131D0}"/>
              </a:ext>
            </a:extLst>
          </p:cNvPr>
          <p:cNvSpPr txBox="1"/>
          <p:nvPr/>
        </p:nvSpPr>
        <p:spPr>
          <a:xfrm>
            <a:off x="2595907" y="5181897"/>
            <a:ext cx="354631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24.45)     34   0.084158    0.058824        0.067310</a:t>
            </a:r>
          </a:p>
          <a:p>
            <a:r>
              <a:rPr lang="zh-CN" altLang="en-US" sz="1100" dirty="0"/>
              <a:t>1  [24.45, 25.15)    126   0.311881    0.079365        0.075167</a:t>
            </a:r>
          </a:p>
          <a:p>
            <a:r>
              <a:rPr lang="zh-CN" altLang="en-US" sz="1100" dirty="0"/>
              <a:t>2  [25.15, 25.45)     64   0.158416    0.156250        0.080239</a:t>
            </a:r>
          </a:p>
          <a:p>
            <a:r>
              <a:rPr lang="zh-CN" altLang="en-US" sz="1100" dirty="0"/>
              <a:t>3  [25.45, 25.75)     56   0.138614    0.285714        0.101255</a:t>
            </a:r>
          </a:p>
          <a:p>
            <a:r>
              <a:rPr lang="zh-CN" altLang="en-US" sz="1100" dirty="0"/>
              <a:t>4  [25.75, 26.05)     57   0.141089    0.333333        0.115685</a:t>
            </a:r>
          </a:p>
          <a:p>
            <a:r>
              <a:rPr lang="zh-CN" altLang="en-US" sz="1100" b="1" dirty="0"/>
              <a:t>5    [26.05, inf)     67   0.165842    0.358209        0.106678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B9F4BE9-EFD7-B124-7A9C-1224EE2D68F7}"/>
              </a:ext>
            </a:extLst>
          </p:cNvPr>
          <p:cNvSpPr txBox="1"/>
          <p:nvPr/>
        </p:nvSpPr>
        <p:spPr>
          <a:xfrm>
            <a:off x="8578117" y="5317077"/>
            <a:ext cx="365824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MORTALITY_RATE</a:t>
            </a:r>
          </a:p>
          <a:p>
            <a:r>
              <a:rPr lang="zh-CN" altLang="en-US" sz="1100" dirty="0"/>
              <a:t>0   (-inf, 23.15)     32   0.079208    0.062500        0.072143</a:t>
            </a:r>
          </a:p>
          <a:p>
            <a:r>
              <a:rPr lang="zh-CN" altLang="en-US" sz="1100" b="1" dirty="0"/>
              <a:t>1  [23.15, 23.95)     76   0.188119    0.013158        0.064684</a:t>
            </a:r>
          </a:p>
          <a:p>
            <a:r>
              <a:rPr lang="zh-CN" altLang="en-US" sz="1100" dirty="0"/>
              <a:t>2  [23.95, 24.55)     83   0.205446    0.144578        0.083970</a:t>
            </a:r>
          </a:p>
          <a:p>
            <a:r>
              <a:rPr lang="zh-CN" altLang="en-US" sz="1100" dirty="0"/>
              <a:t>3  [24.55, 25.85)    187   0.462871    0.299465        0.104482</a:t>
            </a:r>
          </a:p>
          <a:p>
            <a:r>
              <a:rPr lang="zh-CN" altLang="en-US" sz="1100" dirty="0"/>
              <a:t>4    [25.85, inf)     26   0.064356    0.384615        0.099017</a:t>
            </a:r>
          </a:p>
        </p:txBody>
      </p:sp>
    </p:spTree>
    <p:extLst>
      <p:ext uri="{BB962C8B-B14F-4D97-AF65-F5344CB8AC3E}">
        <p14:creationId xmlns:p14="http://schemas.microsoft.com/office/powerpoint/2010/main" val="207298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83C07E-ED31-1655-4781-4FB905135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68" y="2487727"/>
            <a:ext cx="5082980" cy="3697918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BEE2B8D-D077-46B9-1C19-7B3EBA70750E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A7A7EB7-510B-C960-D96A-6CF0AEB5B4D7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ACBE76-962F-01D1-610C-9F5C04AD3BDD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ADC37E-6185-645E-5DFA-445DBE389289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780B9509-9380-AE12-E8A6-412267AC5E10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03E0A9C-481E-FA48-28B6-5E605C583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509987"/>
              </p:ext>
            </p:extLst>
          </p:nvPr>
        </p:nvGraphicFramePr>
        <p:xfrm>
          <a:off x="5793085" y="3429000"/>
          <a:ext cx="5760000" cy="235610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687857431"/>
                    </a:ext>
                  </a:extLst>
                </a:gridCol>
                <a:gridCol w="915681">
                  <a:extLst>
                    <a:ext uri="{9D8B030D-6E8A-4147-A177-3AD203B41FA5}">
                      <a16:colId xmlns:a16="http://schemas.microsoft.com/office/drawing/2014/main" val="1188688387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4164913181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863502482"/>
                    </a:ext>
                  </a:extLst>
                </a:gridCol>
                <a:gridCol w="1379424">
                  <a:extLst>
                    <a:ext uri="{9D8B030D-6E8A-4147-A177-3AD203B41FA5}">
                      <a16:colId xmlns:a16="http://schemas.microsoft.com/office/drawing/2014/main" val="2645181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0878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0.5)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0.1287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0.0571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0.0399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01173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[0.5, 0.6)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0.0956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0.0385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0.0462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6490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[0.6, 0.7)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0.0465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68953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[0.7, 1.1)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117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0.4301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0.1880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0.0504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12529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[1.1,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0.2132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0.4138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0.0629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42196244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F912710-7D8D-48E6-8D76-B91044B12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025" y="26304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D3EDB5E-E11C-FD7D-DF75-4C2B76AE8A37}"/>
              </a:ext>
            </a:extLst>
          </p:cNvPr>
          <p:cNvSpPr txBox="1"/>
          <p:nvPr/>
        </p:nvSpPr>
        <p:spPr>
          <a:xfrm>
            <a:off x="6007477" y="2561031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秋季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1943AF2-287D-2594-DB47-BF9E1FC474F3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217631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40A1-F101-DA53-3382-73CE4BA9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228A80C-7BB1-D71C-C754-01D377A5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90" y="2408269"/>
            <a:ext cx="4926964" cy="3593636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5A7FFE7-5349-D7D5-F0D4-CCBBACE75B25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5066D9DA-E0DD-1754-F98B-68F4A8D2904E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07789C-C78E-B781-5CDF-B43E1EC8B527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6E4578-3E83-926F-64E0-DCC035C836FC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94E7D570-BAE5-C0EF-73C0-8E276998AA57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CDAC1BF-065D-F215-2897-0280CA558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629594"/>
              </p:ext>
            </p:extLst>
          </p:nvPr>
        </p:nvGraphicFramePr>
        <p:xfrm>
          <a:off x="5738536" y="3253117"/>
          <a:ext cx="5760000" cy="27487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34443518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415703807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3807038221"/>
                    </a:ext>
                  </a:extLst>
                </a:gridCol>
                <a:gridCol w="888014">
                  <a:extLst>
                    <a:ext uri="{9D8B030D-6E8A-4147-A177-3AD203B41FA5}">
                      <a16:colId xmlns:a16="http://schemas.microsoft.com/office/drawing/2014/main" val="1694019774"/>
                    </a:ext>
                  </a:extLst>
                </a:gridCol>
                <a:gridCol w="1415986">
                  <a:extLst>
                    <a:ext uri="{9D8B030D-6E8A-4147-A177-3AD203B41FA5}">
                      <a16:colId xmlns:a16="http://schemas.microsoft.com/office/drawing/2014/main" val="28765940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88558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(-∞, 28.49)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38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0.1397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0.4474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0.0579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30312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[28.49, 28.89)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73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0.2684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0.3425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0.0589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657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[28.89, 29.12)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0.1838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0.0524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60515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[29.12, 29.69)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0.1875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0.0453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680779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[29.69, 30.64)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0.1507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0.0244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0.0422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03264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[30.64,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0.0699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0.0526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0.0349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49717888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722EDA1D-9A0C-B439-A6F2-FF4769C1EDA8}"/>
              </a:ext>
            </a:extLst>
          </p:cNvPr>
          <p:cNvSpPr txBox="1"/>
          <p:nvPr/>
        </p:nvSpPr>
        <p:spPr>
          <a:xfrm>
            <a:off x="5738536" y="2579816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秋季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3A8CD68-9F85-7E19-FA30-1374978F8064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5826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FA920E2-46F3-AE6D-08BA-DCACB0E48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2477026"/>
            <a:ext cx="4846566" cy="3520204"/>
          </a:xfrm>
          <a:prstGeom prst="rect">
            <a:avLst/>
          </a:prstGeom>
        </p:spPr>
      </p:pic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9E55C3C-4A1F-5DCF-3B2A-D45721D8ABB6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0934562-6DA3-4244-D362-3E97989F0E03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EE78F9-6EE2-BA3B-1F35-A4C2481E41F3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B37C03-9009-0B34-5E51-5E324D09017B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0E0028BC-4558-65FD-077C-C48AE6F91547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B41128-5CC1-D0AC-2EB6-540916981188}"/>
              </a:ext>
            </a:extLst>
          </p:cNvPr>
          <p:cNvSpPr txBox="1"/>
          <p:nvPr/>
        </p:nvSpPr>
        <p:spPr>
          <a:xfrm>
            <a:off x="5793085" y="2477026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秋季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AF84006-FF8B-0664-5577-6DE787822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212716"/>
              </p:ext>
            </p:extLst>
          </p:nvPr>
        </p:nvGraphicFramePr>
        <p:xfrm>
          <a:off x="5793085" y="3175945"/>
          <a:ext cx="5760000" cy="3122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70800081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871736929"/>
                    </a:ext>
                  </a:extLst>
                </a:gridCol>
                <a:gridCol w="962453">
                  <a:extLst>
                    <a:ext uri="{9D8B030D-6E8A-4147-A177-3AD203B41FA5}">
                      <a16:colId xmlns:a16="http://schemas.microsoft.com/office/drawing/2014/main" val="2163198134"/>
                    </a:ext>
                  </a:extLst>
                </a:gridCol>
                <a:gridCol w="1029661">
                  <a:extLst>
                    <a:ext uri="{9D8B030D-6E8A-4147-A177-3AD203B41FA5}">
                      <a16:colId xmlns:a16="http://schemas.microsoft.com/office/drawing/2014/main" val="2717244781"/>
                    </a:ext>
                  </a:extLst>
                </a:gridCol>
                <a:gridCol w="1463886">
                  <a:extLst>
                    <a:ext uri="{9D8B030D-6E8A-4147-A177-3AD203B41FA5}">
                      <a16:colId xmlns:a16="http://schemas.microsoft.com/office/drawing/2014/main" val="37841441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2468750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(-∞, 0.5)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18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0.0662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0.0556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0.0476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1278185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[0.5, 2)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69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0.2537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0.0870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0.0438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354944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[2, 3.6)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36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0.1324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0.1667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0.0477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2110258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[3.6, 5.5)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36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0.1324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0.2222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0.0524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3144125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[5.5, 7)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28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0.1029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0.2857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0.0537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1310479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[7, 8)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20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0.0735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0.3000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0.0584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996961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[8, 9.5)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14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0.0515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0.4286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0.0593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3866727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[9.5, 13)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29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0.1066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0.2759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0.0565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615586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[13, +∞)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22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0.0809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0.2727</a:t>
                      </a:r>
                    </a:p>
                  </a:txBody>
                  <a:tcPr marL="114300" marR="114300" marT="36000" marB="36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0.0545</a:t>
                      </a:r>
                    </a:p>
                  </a:txBody>
                  <a:tcPr marL="114300" marR="114300" marT="36000" marB="36000" anchor="ctr"/>
                </a:tc>
                <a:extLst>
                  <a:ext uri="{0D108BD9-81ED-4DB2-BD59-A6C34878D82A}">
                    <a16:rowId xmlns:a16="http://schemas.microsoft.com/office/drawing/2014/main" val="3729528501"/>
                  </a:ext>
                </a:extLst>
              </a:tr>
            </a:tbl>
          </a:graphicData>
        </a:graphic>
      </p:graphicFrame>
      <p:sp>
        <p:nvSpPr>
          <p:cNvPr id="12" name="标题 1">
            <a:extLst>
              <a:ext uri="{FF2B5EF4-FFF2-40B4-BE49-F238E27FC236}">
                <a16:creationId xmlns:a16="http://schemas.microsoft.com/office/drawing/2014/main" id="{45F9F09E-EFEB-90DB-5B5F-A5EF66B4F18D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0682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84496B-A6E7-0576-0835-2EC1E8B76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92" y="2337440"/>
            <a:ext cx="5270190" cy="3961345"/>
          </a:xfrm>
          <a:prstGeom prst="rect">
            <a:avLst/>
          </a:prstGeom>
        </p:spPr>
      </p:pic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74723D0-49BB-0107-6F7E-E38F3213D4FE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50B16B7-1089-63F7-41DA-B7BC12C95E9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固定变量和温度数据对死淘率是否存在影响？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DB105D-3485-2191-48DC-BAB0F93BB536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5F62DA9-47C3-36A9-D12A-E0AED4BCE8A0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6A0CA5B-932F-25C1-F650-76641DE1AD09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以每日龄的死淘率为目标变量，探索温度和饮水相关因素，包括当天温度，前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天温度，前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天温度等指标和指标变化对死淘率的影响。取全量样本的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分位数划分高低死淘。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F29BACF-D2B2-B620-6522-59BB6BF31003}"/>
              </a:ext>
            </a:extLst>
          </p:cNvPr>
          <p:cNvSpPr txBox="1"/>
          <p:nvPr/>
        </p:nvSpPr>
        <p:spPr>
          <a:xfrm>
            <a:off x="6277295" y="2430921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秋季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2DF3086-EF2A-03D5-CB5E-C39D83A3AC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152673"/>
              </p:ext>
            </p:extLst>
          </p:nvPr>
        </p:nvGraphicFramePr>
        <p:xfrm>
          <a:off x="6096000" y="3195352"/>
          <a:ext cx="5760000" cy="27487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266694874"/>
                    </a:ext>
                  </a:extLst>
                </a:gridCol>
                <a:gridCol w="958548">
                  <a:extLst>
                    <a:ext uri="{9D8B030D-6E8A-4147-A177-3AD203B41FA5}">
                      <a16:colId xmlns:a16="http://schemas.microsoft.com/office/drawing/2014/main" val="2608293885"/>
                    </a:ext>
                  </a:extLst>
                </a:gridCol>
                <a:gridCol w="1160289">
                  <a:extLst>
                    <a:ext uri="{9D8B030D-6E8A-4147-A177-3AD203B41FA5}">
                      <a16:colId xmlns:a16="http://schemas.microsoft.com/office/drawing/2014/main" val="968331094"/>
                    </a:ext>
                  </a:extLst>
                </a:gridCol>
                <a:gridCol w="1014292">
                  <a:extLst>
                    <a:ext uri="{9D8B030D-6E8A-4147-A177-3AD203B41FA5}">
                      <a16:colId xmlns:a16="http://schemas.microsoft.com/office/drawing/2014/main" val="3202033625"/>
                    </a:ext>
                  </a:extLst>
                </a:gridCol>
                <a:gridCol w="1474871">
                  <a:extLst>
                    <a:ext uri="{9D8B030D-6E8A-4147-A177-3AD203B41FA5}">
                      <a16:colId xmlns:a16="http://schemas.microsoft.com/office/drawing/2014/main" val="3776736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MORTALITY_RATE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98815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0.7)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0.0551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0.5333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0.0653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59365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[0.7, 1.0)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0.4485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0.3033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0.0569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52644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[1.0, 1.1)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0.1905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0.0522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613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[1.1, 1.3)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0.1324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>
                          <a:effectLst/>
                        </a:rPr>
                        <a:t>0.0278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1" dirty="0">
                          <a:effectLst/>
                        </a:rPr>
                        <a:t>0.0422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827781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[1.3, 1.4)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0.0625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0.0432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75467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61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0.2243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0.0656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0.0419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93412498"/>
                  </a:ext>
                </a:extLst>
              </a:tr>
            </a:tbl>
          </a:graphicData>
        </a:graphic>
      </p:graphicFrame>
      <p:sp>
        <p:nvSpPr>
          <p:cNvPr id="12" name="标题 1">
            <a:extLst>
              <a:ext uri="{FF2B5EF4-FFF2-40B4-BE49-F238E27FC236}">
                <a16:creationId xmlns:a16="http://schemas.microsoft.com/office/drawing/2014/main" id="{840605EE-EBA3-7F2B-9D3F-246EAB717943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死淘分析</a:t>
            </a:r>
          </a:p>
        </p:txBody>
      </p:sp>
    </p:spTree>
    <p:extLst>
      <p:ext uri="{BB962C8B-B14F-4D97-AF65-F5344CB8AC3E}">
        <p14:creationId xmlns:p14="http://schemas.microsoft.com/office/powerpoint/2010/main" val="333653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82B1A-10D3-EFCE-7E57-A1447514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192735AF-E001-499D-DF33-D5DB4914169C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2A9D24B-51F1-7396-B9A8-3FF10A525749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F20947-93AD-0C7C-B487-59EBF837AEB4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</a:t>
            </a:r>
            <a:r>
              <a:rPr lang="en-US" altLang="zh-CN" sz="18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是否存在影响？</a:t>
            </a: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97504CE9-7A2A-29EA-5F76-8E1E855ABF21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F9E37-AF33-5999-4251-FCEECE3CFFBC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421793-DB65-3B49-2240-DF5FAA9F20A9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5D2676D9-E612-87C9-C498-FAA9A35A779C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为目标变量，探索各阶段温度及温度变化对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。指标为三天滑窗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CBD247F-31EB-5284-8678-5E9DD24873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003117"/>
              </p:ext>
            </p:extLst>
          </p:nvPr>
        </p:nvGraphicFramePr>
        <p:xfrm>
          <a:off x="1401056" y="2870160"/>
          <a:ext cx="8634653" cy="1249136"/>
        </p:xfrm>
        <a:graphic>
          <a:graphicData uri="http://schemas.openxmlformats.org/drawingml/2006/table">
            <a:tbl>
              <a:tblPr firstRow="1" firstCol="1" bandRow="1"/>
              <a:tblGrid>
                <a:gridCol w="562216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535781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478553580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50168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1287596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季节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AUC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平衡准确率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F1 - Score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AUC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验证集平衡准确率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F1 - score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MCC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冬季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0.7084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0.6536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0.45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0.3071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0.7971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0.6654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0.4571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0.3108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秋季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0.9144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0.8948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0.8148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0.7681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0.8574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0.7273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0.5714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0.4714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夏季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0.8039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0.7892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0.6667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0.5784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0.7438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0.7167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0.5333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0.4127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75F7F33-D9CE-F526-B853-DFD7599461AA}"/>
              </a:ext>
            </a:extLst>
          </p:cNvPr>
          <p:cNvGraphicFramePr>
            <a:graphicFrameLocks noGrp="1"/>
          </p:cNvGraphicFramePr>
          <p:nvPr/>
        </p:nvGraphicFramePr>
        <p:xfrm>
          <a:off x="2608881" y="4870682"/>
          <a:ext cx="6974237" cy="1570736"/>
        </p:xfrm>
        <a:graphic>
          <a:graphicData uri="http://schemas.openxmlformats.org/drawingml/2006/table">
            <a:tbl>
              <a:tblPr firstRow="1" firstCol="1" bandRow="1"/>
              <a:tblGrid>
                <a:gridCol w="805832">
                  <a:extLst>
                    <a:ext uri="{9D8B030D-6E8A-4147-A177-3AD203B41FA5}">
                      <a16:colId xmlns:a16="http://schemas.microsoft.com/office/drawing/2014/main" val="3801373755"/>
                    </a:ext>
                  </a:extLst>
                </a:gridCol>
                <a:gridCol w="866518">
                  <a:extLst>
                    <a:ext uri="{9D8B030D-6E8A-4147-A177-3AD203B41FA5}">
                      <a16:colId xmlns:a16="http://schemas.microsoft.com/office/drawing/2014/main" val="811401970"/>
                    </a:ext>
                  </a:extLst>
                </a:gridCol>
                <a:gridCol w="894303">
                  <a:extLst>
                    <a:ext uri="{9D8B030D-6E8A-4147-A177-3AD203B41FA5}">
                      <a16:colId xmlns:a16="http://schemas.microsoft.com/office/drawing/2014/main" val="1679194711"/>
                    </a:ext>
                  </a:extLst>
                </a:gridCol>
                <a:gridCol w="691335">
                  <a:extLst>
                    <a:ext uri="{9D8B030D-6E8A-4147-A177-3AD203B41FA5}">
                      <a16:colId xmlns:a16="http://schemas.microsoft.com/office/drawing/2014/main" val="3461694118"/>
                    </a:ext>
                  </a:extLst>
                </a:gridCol>
                <a:gridCol w="1187707">
                  <a:extLst>
                    <a:ext uri="{9D8B030D-6E8A-4147-A177-3AD203B41FA5}">
                      <a16:colId xmlns:a16="http://schemas.microsoft.com/office/drawing/2014/main" val="2447547013"/>
                    </a:ext>
                  </a:extLst>
                </a:gridCol>
                <a:gridCol w="1225899">
                  <a:extLst>
                    <a:ext uri="{9D8B030D-6E8A-4147-A177-3AD203B41FA5}">
                      <a16:colId xmlns:a16="http://schemas.microsoft.com/office/drawing/2014/main" val="2128753147"/>
                    </a:ext>
                  </a:extLst>
                </a:gridCol>
                <a:gridCol w="1302643">
                  <a:extLst>
                    <a:ext uri="{9D8B030D-6E8A-4147-A177-3AD203B41FA5}">
                      <a16:colId xmlns:a16="http://schemas.microsoft.com/office/drawing/2014/main" val="995393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季节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 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方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RMSE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MAE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验证集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R </a:t>
                      </a: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方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880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冬季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41.3708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31.7607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0.4398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34.7228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28.8768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0.4616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02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秋季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24.8688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18.2821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0.6269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23.2332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19.4418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0.5613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794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zh-CN" altLang="en-US" sz="1200" b="0">
                          <a:effectLst/>
                        </a:rPr>
                        <a:t>夏季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16.0378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12.8221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0.3809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21.0848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17.6724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0.3137</a:t>
                      </a:r>
                    </a:p>
                  </a:txBody>
                  <a:tcPr marL="114300" marR="114300" marT="76200" marB="762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347528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68C6611-3CB6-AA3E-7B9A-D8A3A2F3C7E6}"/>
              </a:ext>
            </a:extLst>
          </p:cNvPr>
          <p:cNvSpPr/>
          <p:nvPr/>
        </p:nvSpPr>
        <p:spPr>
          <a:xfrm>
            <a:off x="1057013" y="2306369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二分类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54A893-F542-320F-0C71-CD23D90D7228}"/>
              </a:ext>
            </a:extLst>
          </p:cNvPr>
          <p:cNvSpPr/>
          <p:nvPr/>
        </p:nvSpPr>
        <p:spPr>
          <a:xfrm>
            <a:off x="1057013" y="4502694"/>
            <a:ext cx="1029137" cy="367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回归</a:t>
            </a:r>
          </a:p>
        </p:txBody>
      </p:sp>
    </p:spTree>
    <p:extLst>
      <p:ext uri="{BB962C8B-B14F-4D97-AF65-F5344CB8AC3E}">
        <p14:creationId xmlns:p14="http://schemas.microsoft.com/office/powerpoint/2010/main" val="266157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C3E84-3816-B156-B3BF-DA0B0073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DDDF2E2-3AD8-0ED0-D438-14BE203709C5}"/>
              </a:ext>
            </a:extLst>
          </p:cNvPr>
          <p:cNvSpPr/>
          <p:nvPr/>
        </p:nvSpPr>
        <p:spPr>
          <a:xfrm>
            <a:off x="952820" y="1911495"/>
            <a:ext cx="10813180" cy="388323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9ADF6B3-B81F-94A1-5CB1-34E048AC211A}"/>
              </a:ext>
            </a:extLst>
          </p:cNvPr>
          <p:cNvGraphicFramePr>
            <a:graphicFrameLocks noGrp="1"/>
          </p:cNvGraphicFramePr>
          <p:nvPr/>
        </p:nvGraphicFramePr>
        <p:xfrm>
          <a:off x="426000" y="1911495"/>
          <a:ext cx="11340000" cy="38832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64943962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0764264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27710647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131264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6653504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887309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9646467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238537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87264141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38110613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949138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62845889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5161479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1652145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9527987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11314465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632365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558822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86494758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05008370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38220129"/>
                    </a:ext>
                  </a:extLst>
                </a:gridCol>
              </a:tblGrid>
              <a:tr h="846660"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11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12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13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14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15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16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17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18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19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</a:t>
                      </a:r>
                      <a:endParaRPr lang="zh-CN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147759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冬</a:t>
                      </a:r>
                      <a:endParaRPr lang="en-US" altLang="zh-CN" sz="1400" b="1" dirty="0"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'W3_21-23天_最高温度变化率_MEAN'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'W3_6-8天_鸡舍温度-平均_RANGE'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'W3_6-8天_鸡舍温度-最高_RANGE'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'DENSITY'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'W3_0-2天_鸡舍温度-最高_MEAN'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106247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秋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'DENSITY'</a:t>
                      </a:r>
                      <a:endParaRPr 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'W3_9-11天_湿度内部平均_MEAN'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'ELECTRICITY_COST'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'W3_15-17天_鸡舍温度-最低_RANGE'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'W3_12-14天_外部-平均_MEAN'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'W3_21-23天_每日温差_MEAN'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'W3_6-8天_最低温度变化率_MEAN'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'W3_0-2天_每日温差_MEAN'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'W3_18-20天_平均温度变化率_MEAN'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0513143"/>
                  </a:ext>
                </a:extLst>
              </a:tr>
              <a:tr h="8466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夏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'W3_6-8天_平均温度变化率_MEAN'</a:t>
                      </a:r>
                      <a:endParaRPr lang="zh-CN" sz="105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'W3_12-14天_湿度内部平均_MEAN'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'W3_12-14天_外部-平均_RANGE'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'W3_18-20天_鸡舍温度-最高_MEAN'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'W3_6-8天_每日温差_RANGE'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'W3_6-8天_湿度内部平均_RANGE'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'W3_9-11天_平均温度变化率_RANGE'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'W3_15-17天_最高温度变化率_RANGE'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'W3_12-14天_鸡舍温度-最低_MEAN'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'ELECTRICITY_COST'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'W3_3-5天_最低温度变化率_RANGE'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'W3_21-23天_湿度内部平均_RANGE'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'W3_0-2天_鸡舍温度-平均_MEAN'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'W3_3-5天_鸡舍温度-平均_MEAN'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10368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F248A72-9FA0-B7DA-C6B6-EAF13DA1F4AC}"/>
              </a:ext>
            </a:extLst>
          </p:cNvPr>
          <p:cNvSpPr/>
          <p:nvPr/>
        </p:nvSpPr>
        <p:spPr>
          <a:xfrm>
            <a:off x="663085" y="922207"/>
            <a:ext cx="1870605" cy="565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重要性排序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01FC11DC-8306-40BF-92DA-6ABAB5740FC9}"/>
              </a:ext>
            </a:extLst>
          </p:cNvPr>
          <p:cNvSpPr txBox="1"/>
          <p:nvPr/>
        </p:nvSpPr>
        <p:spPr>
          <a:xfrm>
            <a:off x="127358" y="12876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</p:spTree>
    <p:extLst>
      <p:ext uri="{BB962C8B-B14F-4D97-AF65-F5344CB8AC3E}">
        <p14:creationId xmlns:p14="http://schemas.microsoft.com/office/powerpoint/2010/main" val="3851235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3333D-AE09-FD53-7A35-39DA69C4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90D0430-D64D-CB12-6F96-7149C2C42338}"/>
              </a:ext>
            </a:extLst>
          </p:cNvPr>
          <p:cNvGraphicFramePr>
            <a:graphicFrameLocks noGrp="1"/>
          </p:cNvGraphicFramePr>
          <p:nvPr/>
        </p:nvGraphicFramePr>
        <p:xfrm>
          <a:off x="6007477" y="3429000"/>
          <a:ext cx="5760000" cy="27487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505026268"/>
                    </a:ext>
                  </a:extLst>
                </a:gridCol>
                <a:gridCol w="770446">
                  <a:extLst>
                    <a:ext uri="{9D8B030D-6E8A-4147-A177-3AD203B41FA5}">
                      <a16:colId xmlns:a16="http://schemas.microsoft.com/office/drawing/2014/main" val="1592297397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404101047"/>
                    </a:ext>
                  </a:extLst>
                </a:gridCol>
                <a:gridCol w="1144921">
                  <a:extLst>
                    <a:ext uri="{9D8B030D-6E8A-4147-A177-3AD203B41FA5}">
                      <a16:colId xmlns:a16="http://schemas.microsoft.com/office/drawing/2014/main" val="4125833269"/>
                    </a:ext>
                  </a:extLst>
                </a:gridCol>
                <a:gridCol w="1555396">
                  <a:extLst>
                    <a:ext uri="{9D8B030D-6E8A-4147-A177-3AD203B41FA5}">
                      <a16:colId xmlns:a16="http://schemas.microsoft.com/office/drawing/2014/main" val="3427269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EEF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783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29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0.0718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0.0690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300.8979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1349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[0.6, 0.8)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150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0.3713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300.6512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9984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[0.8, 0.9)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0.0545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0.1364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318.8507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9907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[0.9, 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0.2079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0.2143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318.8443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1516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[1, 1.3)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0.2178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0.2500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338.2495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7651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[1.3,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0.6129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367.2970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91755950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B60A414-0384-4FC2-30E1-DE190AFB2DC8}"/>
              </a:ext>
            </a:extLst>
          </p:cNvPr>
          <p:cNvSpPr txBox="1"/>
          <p:nvPr/>
        </p:nvSpPr>
        <p:spPr>
          <a:xfrm>
            <a:off x="6007477" y="2561031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冬季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FDFF4C7-172C-9F6F-302A-F8D6E4EA9BCC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C5119655-936F-412B-1805-F72EEC14FCAE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DFF0BB12-482A-6546-CFDC-6391BDA6C376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</a:t>
            </a:r>
            <a:r>
              <a:rPr lang="en-US" altLang="zh-CN" sz="18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是否存在影响？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C103133F-0121-BC49-5585-A659FD8B5CF4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58C4FD-D6C9-3CE2-6B7E-A13E58F7DDDC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01D6FA-EC94-5DFB-78E1-D400677AD2FA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6E3C959-614A-97B5-0B32-DCB9E7B6AAC7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为目标变量，探索各阶段温度及温度变化对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。指标为三天滑窗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639BCBF-950E-0373-D3C8-B3C40AD60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23" y="2294504"/>
            <a:ext cx="4790415" cy="358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4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A720-0EFA-18F0-CE6E-82E52E032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778A096-138E-9299-4C1E-5AEE9E371F85}"/>
              </a:ext>
            </a:extLst>
          </p:cNvPr>
          <p:cNvGraphicFramePr>
            <a:graphicFrameLocks noGrp="1"/>
          </p:cNvGraphicFramePr>
          <p:nvPr/>
        </p:nvGraphicFramePr>
        <p:xfrm>
          <a:off x="6007477" y="3429000"/>
          <a:ext cx="5760000" cy="27487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505026268"/>
                    </a:ext>
                  </a:extLst>
                </a:gridCol>
                <a:gridCol w="770446">
                  <a:extLst>
                    <a:ext uri="{9D8B030D-6E8A-4147-A177-3AD203B41FA5}">
                      <a16:colId xmlns:a16="http://schemas.microsoft.com/office/drawing/2014/main" val="1592297397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404101047"/>
                    </a:ext>
                  </a:extLst>
                </a:gridCol>
                <a:gridCol w="1144921">
                  <a:extLst>
                    <a:ext uri="{9D8B030D-6E8A-4147-A177-3AD203B41FA5}">
                      <a16:colId xmlns:a16="http://schemas.microsoft.com/office/drawing/2014/main" val="4125833269"/>
                    </a:ext>
                  </a:extLst>
                </a:gridCol>
                <a:gridCol w="1555396">
                  <a:extLst>
                    <a:ext uri="{9D8B030D-6E8A-4147-A177-3AD203B41FA5}">
                      <a16:colId xmlns:a16="http://schemas.microsoft.com/office/drawing/2014/main" val="3427269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EEF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783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0.1436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0.0172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301.3476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1349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[0.6, 0.9)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116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0.2871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0.1293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301.1774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9984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[0.9, 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0.2153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0.2759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328.3635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9907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[1, 1.1)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0.1064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0.4651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346.7709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1516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[1.1, 1.2)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0.0965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0.3077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322.6498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7651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[1.2,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61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0.1510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0.1475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332.7321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4700281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A3E3F68-E666-EE7A-0816-BBEAFA32CA85}"/>
              </a:ext>
            </a:extLst>
          </p:cNvPr>
          <p:cNvSpPr txBox="1"/>
          <p:nvPr/>
        </p:nvSpPr>
        <p:spPr>
          <a:xfrm>
            <a:off x="6007477" y="2561031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冬季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171301B-D12F-6000-7DE2-9819DCE56D41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EC50999-C521-592E-5994-AA19795CA307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55C2802-44EE-C003-6F40-41476768D715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</a:t>
            </a:r>
            <a:r>
              <a:rPr lang="en-US" altLang="zh-CN" sz="18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是否存在影响？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DBB20BC-E06F-0120-E525-C0E287AEE00C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FC555E-E279-14A4-1D3E-FF11FE45984C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801571-BBF2-7EE2-6FE7-1C8DA86DC4EA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E0B6D43-92AC-7DB2-BEFF-1DE51E2A2F29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为目标变量，探索各阶段温度及温度变化对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。指标为三天滑窗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6F9A8C-154F-F0A1-B1B8-0A9D8E08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23" y="2452795"/>
            <a:ext cx="4927781" cy="363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2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BE761-3A50-8B78-3B30-F2A6E22E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16C7F9D-5AC6-B17D-1441-73B63942AFEC}"/>
              </a:ext>
            </a:extLst>
          </p:cNvPr>
          <p:cNvGraphicFramePr>
            <a:graphicFrameLocks noGrp="1"/>
          </p:cNvGraphicFramePr>
          <p:nvPr/>
        </p:nvGraphicFramePr>
        <p:xfrm>
          <a:off x="6010595" y="2688645"/>
          <a:ext cx="5760000" cy="3926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505026268"/>
                    </a:ext>
                  </a:extLst>
                </a:gridCol>
                <a:gridCol w="770446">
                  <a:extLst>
                    <a:ext uri="{9D8B030D-6E8A-4147-A177-3AD203B41FA5}">
                      <a16:colId xmlns:a16="http://schemas.microsoft.com/office/drawing/2014/main" val="1592297397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404101047"/>
                    </a:ext>
                  </a:extLst>
                </a:gridCol>
                <a:gridCol w="1144921">
                  <a:extLst>
                    <a:ext uri="{9D8B030D-6E8A-4147-A177-3AD203B41FA5}">
                      <a16:colId xmlns:a16="http://schemas.microsoft.com/office/drawing/2014/main" val="4125833269"/>
                    </a:ext>
                  </a:extLst>
                </a:gridCol>
                <a:gridCol w="1555396">
                  <a:extLst>
                    <a:ext uri="{9D8B030D-6E8A-4147-A177-3AD203B41FA5}">
                      <a16:colId xmlns:a16="http://schemas.microsoft.com/office/drawing/2014/main" val="3427269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EEF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783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0.62)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72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0.1782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0.0417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300.4266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1349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[0.62, 0.66)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0.0569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0.0870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315.1575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9984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[0.66, 0.77)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0.1262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0.1176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311.0579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9907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[0.77, 0.86)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0.1386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0.1964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305.4719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1516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[0.86, 1.02)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90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0.2228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0.3222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323.6310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7651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[1.02, 1.08)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29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0.0718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0.4483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340.0875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47002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[1.08, 1.18)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0.3333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347.3999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8162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[1.18, 1.34)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0.0743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0.2000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334.1526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66046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[1.34,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0.0569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0.0435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325.5605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73098373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031CE5F-98BA-02DC-E950-84C0E5A9F168}"/>
              </a:ext>
            </a:extLst>
          </p:cNvPr>
          <p:cNvSpPr txBox="1"/>
          <p:nvPr/>
        </p:nvSpPr>
        <p:spPr>
          <a:xfrm>
            <a:off x="6010595" y="2203192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冬季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1FD9D0F-424A-5E06-50BE-C725B0CB2887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BD44303-CCF8-C280-F9BA-24A41517E818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BDF4624F-9EAB-2BA6-BCE5-22D671D039D0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</a:t>
            </a:r>
            <a:r>
              <a:rPr lang="en-US" altLang="zh-CN" sz="18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是否存在影响？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0F28C80-6BB8-F9BC-F3C1-FF7804FF74BE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E96E23-F6ED-32C2-748E-CB7543A1F2ED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7A33D0-9C91-EF64-88A9-D4E9EB3D178F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638B493D-CC57-4713-F77F-AFD1A09F865D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为目标变量，探索各阶段温度及温度变化对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。指标为三天滑窗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BE2876-6D83-4964-0CD1-E32039948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2535074"/>
            <a:ext cx="4911159" cy="364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69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92B9-C452-289F-230D-C58B9EFB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81680A63-8E6B-6AFD-FEB0-F68B80C79EDA}"/>
              </a:ext>
            </a:extLst>
          </p:cNvPr>
          <p:cNvGraphicFramePr>
            <a:graphicFrameLocks noGrp="1"/>
          </p:cNvGraphicFramePr>
          <p:nvPr/>
        </p:nvGraphicFramePr>
        <p:xfrm>
          <a:off x="6007477" y="3278982"/>
          <a:ext cx="5760000" cy="274878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3505026268"/>
                    </a:ext>
                  </a:extLst>
                </a:gridCol>
                <a:gridCol w="770446">
                  <a:extLst>
                    <a:ext uri="{9D8B030D-6E8A-4147-A177-3AD203B41FA5}">
                      <a16:colId xmlns:a16="http://schemas.microsoft.com/office/drawing/2014/main" val="1592297397"/>
                    </a:ext>
                  </a:extLst>
                </a:gridCol>
                <a:gridCol w="1137237">
                  <a:extLst>
                    <a:ext uri="{9D8B030D-6E8A-4147-A177-3AD203B41FA5}">
                      <a16:colId xmlns:a16="http://schemas.microsoft.com/office/drawing/2014/main" val="404101047"/>
                    </a:ext>
                  </a:extLst>
                </a:gridCol>
                <a:gridCol w="1144921">
                  <a:extLst>
                    <a:ext uri="{9D8B030D-6E8A-4147-A177-3AD203B41FA5}">
                      <a16:colId xmlns:a16="http://schemas.microsoft.com/office/drawing/2014/main" val="4125833269"/>
                    </a:ext>
                  </a:extLst>
                </a:gridCol>
                <a:gridCol w="1555396">
                  <a:extLst>
                    <a:ext uri="{9D8B030D-6E8A-4147-A177-3AD203B41FA5}">
                      <a16:colId xmlns:a16="http://schemas.microsoft.com/office/drawing/2014/main" val="34272692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Bin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Count (%)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Event rate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EEF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37836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(-∞, 0.51)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74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0.1832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0.1757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303.3819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21349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[0.51, 0.62)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124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0.3069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0.0968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306.0564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39984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[0.62, 0.64)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0.0767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0.0323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309.3671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9907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[0.64, 0.68)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0.0891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0.1667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316.4541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15165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[0.68, 0.74)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57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0.1411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0.2632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328.7016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876512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[0.74, +∞)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82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0.2030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>
                          <a:effectLst/>
                        </a:rPr>
                        <a:t>0.4146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altLang="zh-CN" sz="1200" b="0" dirty="0">
                          <a:effectLst/>
                        </a:rPr>
                        <a:t>349.4335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047002815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9DFCF0A-219C-AB6F-C198-C93A0503500E}"/>
              </a:ext>
            </a:extLst>
          </p:cNvPr>
          <p:cNvSpPr txBox="1"/>
          <p:nvPr/>
        </p:nvSpPr>
        <p:spPr>
          <a:xfrm>
            <a:off x="6007477" y="2561031"/>
            <a:ext cx="17903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4"/>
                </a:solidFill>
              </a:rPr>
              <a:t> 冬季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B06AF7E-E9A5-829D-36F3-72DF295DB6B1}"/>
              </a:ext>
            </a:extLst>
          </p:cNvPr>
          <p:cNvSpPr/>
          <p:nvPr/>
        </p:nvSpPr>
        <p:spPr>
          <a:xfrm>
            <a:off x="0" y="591378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0C15F4AC-B372-D595-6595-A97EBD792A3F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5E09C299-DEE6-9CD0-DC2A-C223A0AC41E1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固定变量和温度数据对</a:t>
            </a:r>
            <a:r>
              <a:rPr lang="en-US" altLang="zh-CN" sz="18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是否存在影响？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FA1D57FB-C936-4B36-41B3-77DEE16D5952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81F329-D45E-43FF-52C5-41F1F792D535}"/>
              </a:ext>
            </a:extLst>
          </p:cNvPr>
          <p:cNvSpPr/>
          <p:nvPr/>
        </p:nvSpPr>
        <p:spPr>
          <a:xfrm>
            <a:off x="492981" y="1249209"/>
            <a:ext cx="564032" cy="78661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10AB253-E9F1-7EB2-BB09-E4DEB338473F}"/>
              </a:ext>
            </a:extLst>
          </p:cNvPr>
          <p:cNvSpPr/>
          <p:nvPr/>
        </p:nvSpPr>
        <p:spPr>
          <a:xfrm>
            <a:off x="492981" y="1249209"/>
            <a:ext cx="11060104" cy="78661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0D7D909B-C21D-C9B5-1DD6-BA29EA3339DD}"/>
              </a:ext>
            </a:extLst>
          </p:cNvPr>
          <p:cNvSpPr txBox="1"/>
          <p:nvPr/>
        </p:nvSpPr>
        <p:spPr>
          <a:xfrm>
            <a:off x="1057013" y="1339235"/>
            <a:ext cx="10642006" cy="690076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以出栏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为目标变量，探索各阶段温度及温度变化对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的影响。分季节取样本的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80%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分位数划分高低</a:t>
            </a:r>
            <a:r>
              <a:rPr lang="en-US" altLang="zh-CN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。指标为三天滑窗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07E2B6-C815-6B6E-99B5-69152FEB1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523" y="2385561"/>
            <a:ext cx="5043726" cy="37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6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A1E48DA-7B6B-DD2E-A22B-B699B3354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87" y="151277"/>
            <a:ext cx="2199946" cy="16478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E8392C2-B829-8015-261C-ECA00B4E2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111" y="151277"/>
            <a:ext cx="2118090" cy="155733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2673AC9-7FE6-F846-E909-2C0C9252C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87" y="1773075"/>
            <a:ext cx="2199947" cy="163174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C2A78E2-D959-1CDE-E5DB-47D7ED78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111" y="1735935"/>
            <a:ext cx="2118090" cy="1566154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61642F50-00AE-A27F-7CA2-945AEB007FBC}"/>
              </a:ext>
            </a:extLst>
          </p:cNvPr>
          <p:cNvSpPr txBox="1"/>
          <p:nvPr/>
        </p:nvSpPr>
        <p:spPr>
          <a:xfrm>
            <a:off x="2657383" y="282892"/>
            <a:ext cx="3743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 Bin  Count  Count (%)  Event rate         EEF</a:t>
            </a:r>
          </a:p>
          <a:p>
            <a:r>
              <a:rPr lang="zh-CN" altLang="en-US" sz="1050" dirty="0"/>
              <a:t>0   (-inf, 32.95)     25   0.061881    0.240000  332.769032</a:t>
            </a:r>
          </a:p>
          <a:p>
            <a:r>
              <a:rPr lang="zh-CN" altLang="en-US" sz="1050" b="1" dirty="0"/>
              <a:t>1  [32.95, 33.15)     21   0.051980    0.380952  348.271487</a:t>
            </a:r>
          </a:p>
          <a:p>
            <a:r>
              <a:rPr lang="zh-CN" altLang="en-US" sz="1050" b="1" dirty="0"/>
              <a:t>2  [33.15, 33.35)     27   0.066832    0.407407  347.575989</a:t>
            </a:r>
          </a:p>
          <a:p>
            <a:r>
              <a:rPr lang="zh-CN" altLang="en-US" sz="1050" dirty="0"/>
              <a:t>3  [33.35, 33.65)    113   0.279703    0.265487  333.411433</a:t>
            </a:r>
          </a:p>
          <a:p>
            <a:r>
              <a:rPr lang="zh-CN" altLang="en-US" sz="1050" dirty="0"/>
              <a:t>4  [33.65, 33.85)    101   0.250000    0.148515  317.053942</a:t>
            </a:r>
          </a:p>
          <a:p>
            <a:r>
              <a:rPr lang="zh-CN" altLang="en-US" sz="1050" dirty="0"/>
              <a:t>5  [33.85, 33.95)     43   0.106436    0.139535  301.144171</a:t>
            </a:r>
          </a:p>
          <a:p>
            <a:r>
              <a:rPr lang="zh-CN" altLang="en-US" sz="1050" dirty="0"/>
              <a:t>6    [33.95, inf)     74   0.183168    0.067568  285.255348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657476-BEFE-E3EF-4F57-9F546E90DF88}"/>
              </a:ext>
            </a:extLst>
          </p:cNvPr>
          <p:cNvSpPr txBox="1"/>
          <p:nvPr/>
        </p:nvSpPr>
        <p:spPr>
          <a:xfrm>
            <a:off x="8352201" y="151277"/>
            <a:ext cx="367197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31.25)     57   0.141089    0.456140  356.942402</a:t>
            </a:r>
          </a:p>
          <a:p>
            <a:r>
              <a:rPr lang="zh-CN" altLang="en-US" sz="1100" dirty="0"/>
              <a:t>1  [31.25, 31.45)     45   0.111386    0.222222  313.793061</a:t>
            </a:r>
          </a:p>
          <a:p>
            <a:r>
              <a:rPr lang="zh-CN" altLang="en-US" sz="1100" dirty="0"/>
              <a:t>2  [31.45, 31.65)     64   0.158416    0.187500  323.463248</a:t>
            </a:r>
          </a:p>
          <a:p>
            <a:r>
              <a:rPr lang="zh-CN" altLang="en-US" sz="1100" dirty="0"/>
              <a:t>3  [31.65, 31.95)    137   0.339109    0.182482  315.236569</a:t>
            </a:r>
          </a:p>
          <a:p>
            <a:r>
              <a:rPr lang="zh-CN" altLang="en-US" sz="1100" dirty="0"/>
              <a:t>4  [31.95, 32.05)     26   0.064356    0.038462  282.169649</a:t>
            </a:r>
          </a:p>
          <a:p>
            <a:r>
              <a:rPr lang="zh-CN" altLang="en-US" sz="1100" dirty="0"/>
              <a:t>5  [32.05, 32.25)     52   0.128713    0.057692  307.355370</a:t>
            </a:r>
          </a:p>
          <a:p>
            <a:r>
              <a:rPr lang="zh-CN" altLang="en-US" sz="1100" dirty="0"/>
              <a:t>6    [32.25, inf)     23   0.056931    0.173913  308.659194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64AED-D305-CA83-1B26-997CADB6AE23}"/>
              </a:ext>
            </a:extLst>
          </p:cNvPr>
          <p:cNvSpPr txBox="1"/>
          <p:nvPr/>
        </p:nvSpPr>
        <p:spPr>
          <a:xfrm>
            <a:off x="2562133" y="1880376"/>
            <a:ext cx="383857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29.05)     34   0.084158    0.617647  369.537969</a:t>
            </a:r>
          </a:p>
          <a:p>
            <a:r>
              <a:rPr lang="zh-CN" altLang="en-US" sz="1100" dirty="0"/>
              <a:t>1  [29.05, 29.25)     34   0.084158    0.294118  343.346843</a:t>
            </a:r>
          </a:p>
          <a:p>
            <a:r>
              <a:rPr lang="zh-CN" altLang="en-US" sz="1100" dirty="0"/>
              <a:t>2  [29.25, 29.45)     38   0.094059    0.236842  333.230199</a:t>
            </a:r>
          </a:p>
          <a:p>
            <a:r>
              <a:rPr lang="zh-CN" altLang="en-US" sz="1100" dirty="0"/>
              <a:t>3  [29.45, 29.75)    103   0.254950    0.203883  323.406747</a:t>
            </a:r>
          </a:p>
          <a:p>
            <a:r>
              <a:rPr lang="zh-CN" altLang="en-US" sz="1100" dirty="0"/>
              <a:t>4  [29.75, 30.45)    157   0.388614    0.121019  301.799712</a:t>
            </a:r>
          </a:p>
          <a:p>
            <a:r>
              <a:rPr lang="zh-CN" altLang="en-US" sz="1100" dirty="0"/>
              <a:t>5    [30.45, inf)     38   0.094059    0.026316  294.19034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29E1AA9-4402-C7C2-E16C-2F46655D3C25}"/>
              </a:ext>
            </a:extLst>
          </p:cNvPr>
          <p:cNvSpPr txBox="1"/>
          <p:nvPr/>
        </p:nvSpPr>
        <p:spPr>
          <a:xfrm>
            <a:off x="8448674" y="1735935"/>
            <a:ext cx="374332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27.95)     32   0.079208    0.593750  373.862493</a:t>
            </a:r>
          </a:p>
          <a:p>
            <a:r>
              <a:rPr lang="zh-CN" altLang="en-US" sz="1100" dirty="0"/>
              <a:t>1  [27.95, 28.05)     22   0.054455    0.363636  347.239201</a:t>
            </a:r>
          </a:p>
          <a:p>
            <a:r>
              <a:rPr lang="zh-CN" altLang="en-US" sz="1100" dirty="0"/>
              <a:t>2  [28.05, 28.25)     42   0.103960    0.309524  337.613449</a:t>
            </a:r>
          </a:p>
          <a:p>
            <a:r>
              <a:rPr lang="zh-CN" altLang="en-US" sz="1100" dirty="0"/>
              <a:t>3  [28.25, 28.35)     25   0.061881    0.280000  338.396853</a:t>
            </a:r>
          </a:p>
          <a:p>
            <a:r>
              <a:rPr lang="zh-CN" altLang="en-US" sz="1100" dirty="0"/>
              <a:t>4  [28.35, 28.75)    138   0.341584    0.152174  317.196402</a:t>
            </a:r>
          </a:p>
          <a:p>
            <a:r>
              <a:rPr lang="zh-CN" altLang="en-US" sz="1100" dirty="0"/>
              <a:t>5  [28.75, 29.25)     97   0.240099    0.113402  299.652149</a:t>
            </a:r>
          </a:p>
          <a:p>
            <a:r>
              <a:rPr lang="zh-CN" altLang="en-US" sz="1100" dirty="0"/>
              <a:t>6    [29.25, inf)     48   0.118812    0.041667  285.241743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D336B9C6-4029-FA17-56C0-459726F188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111" y="3319940"/>
            <a:ext cx="2199947" cy="163259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B8E23F4-C65F-3FDC-3A47-0016398A0E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361" y="5100905"/>
            <a:ext cx="2280772" cy="169112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504099F4-4258-3260-9770-E4AC744DE8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2846" y="5091380"/>
            <a:ext cx="2255828" cy="169112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83D21E2-392E-F735-5873-FF800FD81F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86" y="3421326"/>
            <a:ext cx="2199947" cy="1670054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619596FA-7416-374F-7225-227C8D771DD5}"/>
              </a:ext>
            </a:extLst>
          </p:cNvPr>
          <p:cNvSpPr txBox="1"/>
          <p:nvPr/>
        </p:nvSpPr>
        <p:spPr>
          <a:xfrm>
            <a:off x="2562133" y="3486098"/>
            <a:ext cx="379094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26.95)     61   0.150990    0.475410  363.309711</a:t>
            </a:r>
          </a:p>
          <a:p>
            <a:r>
              <a:rPr lang="zh-CN" altLang="en-US" sz="1100" dirty="0"/>
              <a:t>1  [26.95, 27.15)     35   0.086634    0.342857  332.225721</a:t>
            </a:r>
          </a:p>
          <a:p>
            <a:r>
              <a:rPr lang="zh-CN" altLang="en-US" sz="1100" dirty="0"/>
              <a:t>2  [27.15, 27.35)     56   0.138614    0.178571  324.024583</a:t>
            </a:r>
          </a:p>
          <a:p>
            <a:r>
              <a:rPr lang="zh-CN" altLang="en-US" sz="1100" dirty="0"/>
              <a:t>3  [27.35, 27.45)     35   0.086634    0.171429  317.890314</a:t>
            </a:r>
          </a:p>
          <a:p>
            <a:r>
              <a:rPr lang="zh-CN" altLang="en-US" sz="1100" dirty="0"/>
              <a:t>4  [27.45, 27.75)     95   0.235149    0.136842  312.052635</a:t>
            </a:r>
          </a:p>
          <a:p>
            <a:r>
              <a:rPr lang="zh-CN" altLang="en-US" sz="1100" dirty="0"/>
              <a:t>5  [27.75, 27.95)     31   0.076733    0.032258  294.401106</a:t>
            </a:r>
          </a:p>
          <a:p>
            <a:r>
              <a:rPr lang="zh-CN" altLang="en-US" sz="1100" dirty="0"/>
              <a:t>6    [27.95, inf)     91   0.225248    0.109890  296.052189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4E7326C-7455-DC8C-2F43-A24F4005CBD3}"/>
              </a:ext>
            </a:extLst>
          </p:cNvPr>
          <p:cNvSpPr txBox="1"/>
          <p:nvPr/>
        </p:nvSpPr>
        <p:spPr>
          <a:xfrm>
            <a:off x="8448674" y="3486098"/>
            <a:ext cx="359092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25.85)     61   0.150990    0.327869  344.317566</a:t>
            </a:r>
          </a:p>
          <a:p>
            <a:r>
              <a:rPr lang="zh-CN" altLang="en-US" sz="1100" dirty="0"/>
              <a:t>1  [25.85, 26.25)    112   0.277228    0.294643  340.888478</a:t>
            </a:r>
          </a:p>
          <a:p>
            <a:r>
              <a:rPr lang="zh-CN" altLang="en-US" sz="1100" dirty="0"/>
              <a:t>2  [26.25, 26.45)     39   0.096535    0.256410  334.176948</a:t>
            </a:r>
          </a:p>
          <a:p>
            <a:r>
              <a:rPr lang="zh-CN" altLang="en-US" sz="1100" dirty="0"/>
              <a:t>3  [26.45, 26.55)     23   0.056931    0.173913  309.526740</a:t>
            </a:r>
          </a:p>
          <a:p>
            <a:r>
              <a:rPr lang="zh-CN" altLang="en-US" sz="1100" dirty="0"/>
              <a:t>4  [26.55, 26.65)     26   0.064356    0.153846  325.139994</a:t>
            </a:r>
          </a:p>
          <a:p>
            <a:r>
              <a:rPr lang="zh-CN" altLang="en-US" sz="1100" dirty="0"/>
              <a:t>5    [26.65, inf)    143   0.353960    0.069930  286.608232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BB2B102-AAD8-2464-0D29-8A662558BB88}"/>
              </a:ext>
            </a:extLst>
          </p:cNvPr>
          <p:cNvSpPr txBox="1"/>
          <p:nvPr/>
        </p:nvSpPr>
        <p:spPr>
          <a:xfrm>
            <a:off x="2562133" y="5116657"/>
            <a:ext cx="36195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24.45)     34   0.084158    0.588235  367.956671</a:t>
            </a:r>
          </a:p>
          <a:p>
            <a:r>
              <a:rPr lang="zh-CN" altLang="en-US" sz="1100" dirty="0"/>
              <a:t>1  [24.45, 24.65)     24   0.059406    0.416667  355.145749</a:t>
            </a:r>
          </a:p>
          <a:p>
            <a:r>
              <a:rPr lang="zh-CN" altLang="en-US" sz="1100" dirty="0"/>
              <a:t>2  [24.65, 24.95)     47   0.116337    0.297872  332.996416</a:t>
            </a:r>
          </a:p>
          <a:p>
            <a:r>
              <a:rPr lang="zh-CN" altLang="en-US" sz="1100" dirty="0"/>
              <a:t>3  [24.95, 25.15)     55   0.136139    0.254545  335.131044</a:t>
            </a:r>
          </a:p>
          <a:p>
            <a:r>
              <a:rPr lang="zh-CN" altLang="en-US" sz="1100" dirty="0"/>
              <a:t>4  [25.15, 25.45)     64   0.158416    0.125000  330.996931</a:t>
            </a:r>
          </a:p>
          <a:p>
            <a:r>
              <a:rPr lang="zh-CN" altLang="en-US" sz="1100" dirty="0"/>
              <a:t>5  [25.45, 25.65)     40   0.099010    0.125000  311.485559</a:t>
            </a:r>
          </a:p>
          <a:p>
            <a:r>
              <a:rPr lang="zh-CN" altLang="en-US" sz="1100" dirty="0"/>
              <a:t>6    [25.65, inf)    140   0.346535    0.071429  285.808745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3EF5571-7DEB-4331-6520-787CCEA6B2D9}"/>
              </a:ext>
            </a:extLst>
          </p:cNvPr>
          <p:cNvSpPr txBox="1"/>
          <p:nvPr/>
        </p:nvSpPr>
        <p:spPr>
          <a:xfrm>
            <a:off x="8448674" y="5201295"/>
            <a:ext cx="3600451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b="1" dirty="0"/>
              <a:t>0   (-inf, 23.25)     37   0.091584    0.540541  365.211991</a:t>
            </a:r>
          </a:p>
          <a:p>
            <a:r>
              <a:rPr lang="zh-CN" altLang="en-US" sz="1100" dirty="0"/>
              <a:t>1  [23.25, 23.85)     55   0.136139    0.290909  346.804884</a:t>
            </a:r>
          </a:p>
          <a:p>
            <a:r>
              <a:rPr lang="zh-CN" altLang="en-US" sz="1100" dirty="0"/>
              <a:t>2  [23.85, 24.35)     76   0.188119    0.276316  332.385727</a:t>
            </a:r>
          </a:p>
          <a:p>
            <a:r>
              <a:rPr lang="zh-CN" altLang="en-US" sz="1100" dirty="0"/>
              <a:t>3  [24.35, 24.55)     23   0.056931    0.217391  339.185718</a:t>
            </a:r>
          </a:p>
          <a:p>
            <a:r>
              <a:rPr lang="zh-CN" altLang="en-US" sz="1100" dirty="0"/>
              <a:t>4  [24.55, 25.85)    187   0.462871    0.090909  296.144568</a:t>
            </a:r>
          </a:p>
          <a:p>
            <a:r>
              <a:rPr lang="zh-CN" altLang="en-US" sz="1100" dirty="0"/>
              <a:t>5    [25.85, inf)     26   0.064356    0.076923  297.876181</a:t>
            </a:r>
          </a:p>
        </p:txBody>
      </p:sp>
    </p:spTree>
    <p:extLst>
      <p:ext uri="{BB962C8B-B14F-4D97-AF65-F5344CB8AC3E}">
        <p14:creationId xmlns:p14="http://schemas.microsoft.com/office/powerpoint/2010/main" val="338408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48F83B33-0445-CF01-75E6-C0530C999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53" y="478814"/>
            <a:ext cx="2065094" cy="150065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109D02B-4B38-3551-0B20-9D9AF8497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124" y="362575"/>
            <a:ext cx="2184222" cy="1616892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EEDD94E-B44F-AA77-3703-125DE01BC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27" y="1979467"/>
            <a:ext cx="2054820" cy="150471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896623A-76AD-204F-5A3C-75CE8B746B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124" y="1979467"/>
            <a:ext cx="2189602" cy="150471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5B0F1A0-6A0D-84AB-AB5C-0F129CF84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27" y="3478143"/>
            <a:ext cx="2054820" cy="150668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999349C5-F6EA-7E0E-760E-D9A6895FB6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8124" y="3429001"/>
            <a:ext cx="2184222" cy="1622816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D8577EF-83DF-5029-E487-F24344C0CE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53" y="5051817"/>
            <a:ext cx="2031360" cy="150471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8558D93-19E8-43FD-AB8E-42A8374050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018" y="5041069"/>
            <a:ext cx="2184222" cy="1629499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5E380994-BCEB-7B40-CF44-F1D8614AF581}"/>
              </a:ext>
            </a:extLst>
          </p:cNvPr>
          <p:cNvSpPr txBox="1"/>
          <p:nvPr/>
        </p:nvSpPr>
        <p:spPr>
          <a:xfrm>
            <a:off x="2309447" y="675143"/>
            <a:ext cx="35480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dirty="0"/>
              <a:t>0   (-inf, 3.15)     61   0.150990    0.262295  334.655198</a:t>
            </a:r>
          </a:p>
          <a:p>
            <a:r>
              <a:rPr lang="zh-CN" altLang="en-US" sz="1100" dirty="0"/>
              <a:t>1   [3.15, 5.05)     50   0.123762    0.100000  298.204674</a:t>
            </a:r>
          </a:p>
          <a:p>
            <a:r>
              <a:rPr lang="zh-CN" altLang="en-US" sz="1100" dirty="0"/>
              <a:t>2   [5.05, 8.05)     59   0.146040    0.033898  281.344935</a:t>
            </a:r>
          </a:p>
          <a:p>
            <a:r>
              <a:rPr lang="zh-CN" altLang="en-US" sz="1100" dirty="0"/>
              <a:t>3  [8.05, 11.70)     83   0.205446    0.192771  312.181894</a:t>
            </a:r>
          </a:p>
          <a:p>
            <a:r>
              <a:rPr lang="zh-CN" altLang="en-US" sz="1100" dirty="0"/>
              <a:t>4   [11.70, inf)    151   0.373762    0.278146  337.343476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C398E2B-CAB2-3C4B-D02D-0003FC411D43}"/>
              </a:ext>
            </a:extLst>
          </p:cNvPr>
          <p:cNvSpPr txBox="1"/>
          <p:nvPr/>
        </p:nvSpPr>
        <p:spPr>
          <a:xfrm>
            <a:off x="8332346" y="640106"/>
            <a:ext cx="347523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 Bin  Count  Count (%)  Event rate         EEF</a:t>
            </a:r>
          </a:p>
          <a:p>
            <a:r>
              <a:rPr lang="zh-CN" altLang="en-US" sz="1050" dirty="0"/>
              <a:t>0   (-inf, 3.45)     70   0.173267    0.171429  320.941887</a:t>
            </a:r>
          </a:p>
          <a:p>
            <a:r>
              <a:rPr lang="zh-CN" altLang="en-US" sz="1050" dirty="0"/>
              <a:t>1   [3.45, 4.35)     26   0.064356    0.038462  318.827542</a:t>
            </a:r>
          </a:p>
          <a:p>
            <a:r>
              <a:rPr lang="zh-CN" altLang="en-US" sz="1050" dirty="0"/>
              <a:t>2   [4.35, 5.45)     34   0.084158    0.117647  290.103071</a:t>
            </a:r>
          </a:p>
          <a:p>
            <a:r>
              <a:rPr lang="zh-CN" altLang="en-US" sz="1050" dirty="0"/>
              <a:t>3  [5.45, 12.75)    166   0.410891    0.210843  310.394024</a:t>
            </a:r>
          </a:p>
          <a:p>
            <a:r>
              <a:rPr lang="zh-CN" altLang="en-US" sz="1050" dirty="0"/>
              <a:t>4   [12.75, inf)    108   0.267327    0.268519  339.158828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9F0DC13-1D9B-897C-E45D-ABEF7341F611}"/>
              </a:ext>
            </a:extLst>
          </p:cNvPr>
          <p:cNvSpPr txBox="1"/>
          <p:nvPr/>
        </p:nvSpPr>
        <p:spPr>
          <a:xfrm>
            <a:off x="2275713" y="2102706"/>
            <a:ext cx="3432755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dirty="0"/>
              <a:t>0  (-inf, 1.15)     26   0.064356    0.153846  311.405421</a:t>
            </a:r>
          </a:p>
          <a:p>
            <a:r>
              <a:rPr lang="zh-CN" altLang="en-US" sz="1100" dirty="0"/>
              <a:t>1  [1.15, 4.05)     64   0.158416    0.140625  297.775114</a:t>
            </a:r>
          </a:p>
          <a:p>
            <a:r>
              <a:rPr lang="zh-CN" altLang="en-US" sz="1100" dirty="0"/>
              <a:t>2  [4.05, 5.05)     51   0.126238    0.058824  291.959725</a:t>
            </a:r>
          </a:p>
          <a:p>
            <a:r>
              <a:rPr lang="zh-CN" altLang="en-US" sz="1100" dirty="0"/>
              <a:t>3  [5.05, 6.15)     42   0.103960    0.071429  304.014415</a:t>
            </a:r>
          </a:p>
          <a:p>
            <a:r>
              <a:rPr lang="zh-CN" altLang="en-US" sz="1100" dirty="0"/>
              <a:t>4  [6.15, 6.75)     21   0.051980    0.095238  283.143581</a:t>
            </a:r>
          </a:p>
          <a:p>
            <a:r>
              <a:rPr lang="zh-CN" altLang="en-US" sz="1100" dirty="0"/>
              <a:t>5   [6.75, inf)    200   0.495050    0.300000  340.073996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FAA17C5-C23D-B23F-EA2A-08FE8FD7749C}"/>
              </a:ext>
            </a:extLst>
          </p:cNvPr>
          <p:cNvSpPr txBox="1"/>
          <p:nvPr/>
        </p:nvSpPr>
        <p:spPr>
          <a:xfrm>
            <a:off x="8332346" y="1862316"/>
            <a:ext cx="354800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dirty="0"/>
              <a:t>0    (-inf, 2.05)     41   0.101485    0.146341  324.418157</a:t>
            </a:r>
          </a:p>
          <a:p>
            <a:r>
              <a:rPr lang="zh-CN" altLang="en-US" sz="1100" dirty="0"/>
              <a:t>1    [2.05, 4.15)     88   0.217822    0.068182  284.835475</a:t>
            </a:r>
          </a:p>
          <a:p>
            <a:r>
              <a:rPr lang="zh-CN" altLang="en-US" sz="1100" dirty="0"/>
              <a:t>2    [4.15, 5.45)     47   0.116337    0.042553  278.237275</a:t>
            </a:r>
          </a:p>
          <a:p>
            <a:r>
              <a:rPr lang="zh-CN" altLang="en-US" sz="1100" dirty="0"/>
              <a:t>3    [5.45, 5.95)     21   0.051980    0.238095  302.578113</a:t>
            </a:r>
          </a:p>
          <a:p>
            <a:r>
              <a:rPr lang="zh-CN" altLang="en-US" sz="1100" dirty="0"/>
              <a:t>4    [5.95, 6.55)     23   0.056931    0.260870  337.245515</a:t>
            </a:r>
          </a:p>
          <a:p>
            <a:r>
              <a:rPr lang="zh-CN" altLang="en-US" sz="1100" dirty="0"/>
              <a:t>5    [6.55, 9.25)     75   0.185644    0.266667  345.554672</a:t>
            </a:r>
          </a:p>
          <a:p>
            <a:r>
              <a:rPr lang="zh-CN" altLang="en-US" sz="1100" dirty="0"/>
              <a:t>6   [9.25, 12.45)     47   0.116337    0.319149  342.146279</a:t>
            </a:r>
          </a:p>
          <a:p>
            <a:r>
              <a:rPr lang="zh-CN" altLang="en-US" sz="1100" dirty="0"/>
              <a:t>7    [12.45, inf)     62   0.153465    0.338710  342.281179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6C59EBF2-3255-4DBB-357F-ECAA47955766}"/>
              </a:ext>
            </a:extLst>
          </p:cNvPr>
          <p:cNvSpPr txBox="1"/>
          <p:nvPr/>
        </p:nvSpPr>
        <p:spPr>
          <a:xfrm>
            <a:off x="2275713" y="3607417"/>
            <a:ext cx="3432755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/>
              <a:t> Bin  Count  Count (%)  Event rate         EEF</a:t>
            </a:r>
          </a:p>
          <a:p>
            <a:r>
              <a:rPr lang="zh-CN" altLang="en-US" sz="1050" dirty="0"/>
              <a:t>0   (-inf, 1.45)     33   0.081683    0.272727  308.493679</a:t>
            </a:r>
          </a:p>
          <a:p>
            <a:r>
              <a:rPr lang="zh-CN" altLang="en-US" sz="1050" dirty="0"/>
              <a:t>1   [1.45, 2.65)     41   0.101485    0.097561  302.143936</a:t>
            </a:r>
          </a:p>
          <a:p>
            <a:r>
              <a:rPr lang="zh-CN" altLang="en-US" sz="1050" dirty="0"/>
              <a:t>2   [2.65, 3.15)     22   0.054455    0.045455  285.913419</a:t>
            </a:r>
          </a:p>
          <a:p>
            <a:r>
              <a:rPr lang="zh-CN" altLang="en-US" sz="1050" dirty="0"/>
              <a:t>3   [3.15, 5.25)    101   0.250000    0.168317  306.617518</a:t>
            </a:r>
          </a:p>
          <a:p>
            <a:r>
              <a:rPr lang="zh-CN" altLang="en-US" sz="1050" dirty="0"/>
              <a:t>4  [5.25, 13.00)    172   0.425743    0.174419  326.471197</a:t>
            </a:r>
          </a:p>
          <a:p>
            <a:r>
              <a:rPr lang="zh-CN" altLang="en-US" sz="1050" dirty="0"/>
              <a:t>5   [13.00, inf)     35   0.086634    0.571429  365.537456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410D51C-9EFB-6197-1F00-98B555EA7723}"/>
              </a:ext>
            </a:extLst>
          </p:cNvPr>
          <p:cNvSpPr txBox="1"/>
          <p:nvPr/>
        </p:nvSpPr>
        <p:spPr>
          <a:xfrm>
            <a:off x="8332345" y="3755675"/>
            <a:ext cx="354800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dirty="0"/>
              <a:t>0   (-inf, 2.75)     93   0.230198    0.096774  292.232054</a:t>
            </a:r>
          </a:p>
          <a:p>
            <a:r>
              <a:rPr lang="zh-CN" altLang="en-US" sz="1100" dirty="0"/>
              <a:t>1   [2.75, 6.45)    149   0.368812    0.147651  309.709199</a:t>
            </a:r>
          </a:p>
          <a:p>
            <a:r>
              <a:rPr lang="zh-CN" altLang="en-US" sz="1100" dirty="0"/>
              <a:t>2  [6.45, 11.95)    127   0.314356    0.244094  336.445253</a:t>
            </a:r>
          </a:p>
          <a:p>
            <a:r>
              <a:rPr lang="zh-CN" altLang="en-US" sz="1100" dirty="0"/>
              <a:t>3   [11.95, inf)     35   0.086634    0.542857  363.449005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6978773-D847-2390-0263-A3FB8BAF2B4A}"/>
              </a:ext>
            </a:extLst>
          </p:cNvPr>
          <p:cNvSpPr txBox="1"/>
          <p:nvPr/>
        </p:nvSpPr>
        <p:spPr>
          <a:xfrm>
            <a:off x="2254131" y="5250174"/>
            <a:ext cx="360332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dirty="0"/>
              <a:t>0  (-inf, 1.95)     67   0.165842    0.104478  296.534599</a:t>
            </a:r>
          </a:p>
          <a:p>
            <a:r>
              <a:rPr lang="zh-CN" altLang="en-US" sz="1100" dirty="0"/>
              <a:t>1  [1.95, 2.75)     31   0.076733    0.032258  281.913221</a:t>
            </a:r>
          </a:p>
          <a:p>
            <a:r>
              <a:rPr lang="zh-CN" altLang="en-US" sz="1100" dirty="0"/>
              <a:t>2  [2.75, 4.15)     72   0.178218    0.138889  306.909372</a:t>
            </a:r>
          </a:p>
          <a:p>
            <a:r>
              <a:rPr lang="zh-CN" altLang="en-US" sz="1100" dirty="0"/>
              <a:t>3  [4.15, 9.85)    189   0.467822    0.216931  327.815402</a:t>
            </a:r>
          </a:p>
          <a:p>
            <a:r>
              <a:rPr lang="zh-CN" altLang="en-US" sz="1100" dirty="0"/>
              <a:t>4   [9.85, inf)     45   0.111386    0.488889  358.040008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494DC9B-21EC-4A03-A754-1B1F615E1197}"/>
              </a:ext>
            </a:extLst>
          </p:cNvPr>
          <p:cNvSpPr txBox="1"/>
          <p:nvPr/>
        </p:nvSpPr>
        <p:spPr>
          <a:xfrm>
            <a:off x="8332345" y="5132543"/>
            <a:ext cx="343275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 Bin  Count  Count (%)  Event rate         EEF</a:t>
            </a:r>
          </a:p>
          <a:p>
            <a:r>
              <a:rPr lang="zh-CN" altLang="en-US" sz="1100" dirty="0"/>
              <a:t>0  (-inf, 2.75)    118   0.292079    0.245763  314.890477</a:t>
            </a:r>
          </a:p>
          <a:p>
            <a:r>
              <a:rPr lang="zh-CN" altLang="en-US" sz="1100" dirty="0"/>
              <a:t>1  [2.75, 3.85)     54   0.133663    0.203704  301.434264</a:t>
            </a:r>
          </a:p>
          <a:p>
            <a:r>
              <a:rPr lang="zh-CN" altLang="en-US" sz="1100" dirty="0"/>
              <a:t>2  [3.85, 5.05)     72   0.178218    0.097222  310.091343</a:t>
            </a:r>
          </a:p>
          <a:p>
            <a:r>
              <a:rPr lang="zh-CN" altLang="en-US" sz="1100" dirty="0"/>
              <a:t>3  [5.05, 5.55)     32   0.079208    0.031250  316.862900</a:t>
            </a:r>
          </a:p>
          <a:p>
            <a:r>
              <a:rPr lang="zh-CN" altLang="en-US" sz="1100" dirty="0"/>
              <a:t>4  [5.55, 6.30)     27   0.066832    0.074074  308.653207</a:t>
            </a:r>
          </a:p>
          <a:p>
            <a:r>
              <a:rPr lang="zh-CN" altLang="en-US" sz="1100" dirty="0"/>
              <a:t>5  [6.30, 8.85)     52   0.128713    0.192308  333.575341</a:t>
            </a:r>
          </a:p>
          <a:p>
            <a:r>
              <a:rPr lang="zh-CN" altLang="en-US" sz="1100" dirty="0"/>
              <a:t>6   [8.85, inf)     49   0.121287    0.428571  350.882523</a:t>
            </a:r>
          </a:p>
        </p:txBody>
      </p:sp>
    </p:spTree>
    <p:extLst>
      <p:ext uri="{BB962C8B-B14F-4D97-AF65-F5344CB8AC3E}">
        <p14:creationId xmlns:p14="http://schemas.microsoft.com/office/powerpoint/2010/main" val="148265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52D2791-4A78-F211-3AAC-3B2D10B85A08}"/>
              </a:ext>
            </a:extLst>
          </p:cNvPr>
          <p:cNvGrpSpPr/>
          <p:nvPr/>
        </p:nvGrpSpPr>
        <p:grpSpPr>
          <a:xfrm>
            <a:off x="861131" y="1430184"/>
            <a:ext cx="9511594" cy="5319045"/>
            <a:chOff x="1118306" y="1445785"/>
            <a:chExt cx="8635734" cy="512246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1D28862-7468-2D9A-4250-75B9E35C84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8306" y="1450855"/>
              <a:ext cx="4284000" cy="24480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C8C9376-823C-992F-2D7A-BF78EF874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0040" y="1445785"/>
              <a:ext cx="4284000" cy="2448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8099C5C3-D509-EA0E-C21E-B94FE9D20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8306" y="4120254"/>
              <a:ext cx="4284000" cy="24480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B25D630-A32B-7E59-4871-B5A0C8E92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0040" y="4110114"/>
              <a:ext cx="4284000" cy="2448000"/>
            </a:xfrm>
            <a:prstGeom prst="rect">
              <a:avLst/>
            </a:prstGeom>
          </p:spPr>
        </p:pic>
      </p:grpSp>
      <p:sp>
        <p:nvSpPr>
          <p:cNvPr id="10" name="箭头: 五边形 9">
            <a:extLst>
              <a:ext uri="{FF2B5EF4-FFF2-40B4-BE49-F238E27FC236}">
                <a16:creationId xmlns:a16="http://schemas.microsoft.com/office/drawing/2014/main" id="{9127763F-7589-E6F8-0BC3-E6FB31DABF85}"/>
              </a:ext>
            </a:extLst>
          </p:cNvPr>
          <p:cNvSpPr/>
          <p:nvPr/>
        </p:nvSpPr>
        <p:spPr>
          <a:xfrm>
            <a:off x="0" y="61847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115ED5E7-74BC-9ED7-76EA-45A39C680680}"/>
              </a:ext>
            </a:extLst>
          </p:cNvPr>
          <p:cNvSpPr txBox="1"/>
          <p:nvPr/>
        </p:nvSpPr>
        <p:spPr>
          <a:xfrm>
            <a:off x="313885" y="31758"/>
            <a:ext cx="3277040" cy="6281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B4F2A862-7C9C-4DC0-1C47-A4C9FFCB57E7}"/>
              </a:ext>
            </a:extLst>
          </p:cNvPr>
          <p:cNvSpPr txBox="1"/>
          <p:nvPr/>
        </p:nvSpPr>
        <p:spPr>
          <a:xfrm>
            <a:off x="551901" y="559215"/>
            <a:ext cx="7249074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天时，鸡舍温度的情况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425F6305-2257-EEB2-B9B6-F9835ABA0720}"/>
              </a:ext>
            </a:extLst>
          </p:cNvPr>
          <p:cNvSpPr txBox="1"/>
          <p:nvPr/>
        </p:nvSpPr>
        <p:spPr>
          <a:xfrm>
            <a:off x="98783" y="-301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综合分析</a:t>
            </a:r>
          </a:p>
        </p:txBody>
      </p:sp>
    </p:spTree>
    <p:extLst>
      <p:ext uri="{BB962C8B-B14F-4D97-AF65-F5344CB8AC3E}">
        <p14:creationId xmlns:p14="http://schemas.microsoft.com/office/powerpoint/2010/main" val="367675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优化</a:t>
            </a:r>
            <a:r>
              <a:rPr lang="en-US" altLang="zh-CN" dirty="0"/>
              <a:t>Transformer</a:t>
            </a:r>
            <a:r>
              <a:rPr lang="zh-CN" altLang="en-US" dirty="0"/>
              <a:t>算法</a:t>
            </a:r>
            <a:endParaRPr lang="en-US" altLang="zh-CN" dirty="0"/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考虑加入更多的日报数据，完善分析</a:t>
            </a:r>
            <a:endParaRPr lang="en-US" altLang="zh-CN" dirty="0"/>
          </a:p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结合</a:t>
            </a:r>
            <a:r>
              <a:rPr lang="en-US" altLang="zh-CN" dirty="0"/>
              <a:t>EEF</a:t>
            </a:r>
            <a:r>
              <a:rPr lang="zh-CN" altLang="en-US" dirty="0"/>
              <a:t>和死淘，深入分析重要变量和其关联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779852-367B-483D-8C46-CF2C7DC5D26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E3E925E4-5239-4639-A029-07B3CFD6A3F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3924</TotalTime>
  <Words>9281</Words>
  <Application>Microsoft Office PowerPoint</Application>
  <PresentationFormat>宽屏</PresentationFormat>
  <Paragraphs>1473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Anova Bold</vt:lpstr>
      <vt:lpstr>Anova Light</vt:lpstr>
      <vt:lpstr>DengXian</vt:lpstr>
      <vt:lpstr>DengXian</vt:lpstr>
      <vt:lpstr>等线 Light</vt:lpstr>
      <vt:lpstr>Arial</vt:lpstr>
      <vt:lpstr>Calibri</vt:lpstr>
      <vt:lpstr>Segoe UI</vt:lpstr>
      <vt:lpstr>Wingdings</vt:lpstr>
      <vt:lpstr>Wingdings 2</vt:lpstr>
      <vt:lpstr>SAS - EXTERNAL</vt:lpstr>
      <vt:lpstr>SAS - EXTERNAL - NDA</vt:lpstr>
      <vt:lpstr>数智驱动的肉鸡养殖根因分析实施方案  第四周成果汇报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195</cp:revision>
  <dcterms:created xsi:type="dcterms:W3CDTF">2023-10-08T03:09:00Z</dcterms:created>
  <dcterms:modified xsi:type="dcterms:W3CDTF">2025-05-23T08:05:36Z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