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90"/>
  </p:notesMasterIdLst>
  <p:handoutMasterIdLst>
    <p:handoutMasterId r:id="rId91"/>
  </p:handoutMasterIdLst>
  <p:sldIdLst>
    <p:sldId id="16771194" r:id="rId6"/>
    <p:sldId id="16771204" r:id="rId7"/>
    <p:sldId id="2147477425" r:id="rId8"/>
    <p:sldId id="2147477536" r:id="rId9"/>
    <p:sldId id="2147477548" r:id="rId10"/>
    <p:sldId id="2147477583" r:id="rId11"/>
    <p:sldId id="2147477551" r:id="rId12"/>
    <p:sldId id="2147477582" r:id="rId13"/>
    <p:sldId id="2147477545" r:id="rId14"/>
    <p:sldId id="2147477547" r:id="rId15"/>
    <p:sldId id="2147477507" r:id="rId16"/>
    <p:sldId id="2147477508" r:id="rId17"/>
    <p:sldId id="2147477509" r:id="rId18"/>
    <p:sldId id="2147477510" r:id="rId19"/>
    <p:sldId id="2147477512" r:id="rId20"/>
    <p:sldId id="2147477511" r:id="rId21"/>
    <p:sldId id="2147477513" r:id="rId22"/>
    <p:sldId id="2147477514" r:id="rId23"/>
    <p:sldId id="2147477515" r:id="rId24"/>
    <p:sldId id="2147477553" r:id="rId25"/>
    <p:sldId id="2147477554" r:id="rId26"/>
    <p:sldId id="2147477555" r:id="rId27"/>
    <p:sldId id="2147477599" r:id="rId28"/>
    <p:sldId id="2147477584" r:id="rId29"/>
    <p:sldId id="2147477585" r:id="rId30"/>
    <p:sldId id="2147477560" r:id="rId31"/>
    <p:sldId id="2147477589" r:id="rId32"/>
    <p:sldId id="2147477588" r:id="rId33"/>
    <p:sldId id="2147477556" r:id="rId34"/>
    <p:sldId id="2147477516" r:id="rId35"/>
    <p:sldId id="2147477517" r:id="rId36"/>
    <p:sldId id="2147477518" r:id="rId37"/>
    <p:sldId id="2147477519" r:id="rId38"/>
    <p:sldId id="2147477520" r:id="rId39"/>
    <p:sldId id="2147477521" r:id="rId40"/>
    <p:sldId id="2147477522" r:id="rId41"/>
    <p:sldId id="2147477523" r:id="rId42"/>
    <p:sldId id="2147477570" r:id="rId43"/>
    <p:sldId id="2147477552" r:id="rId44"/>
    <p:sldId id="2147477600" r:id="rId45"/>
    <p:sldId id="2147477549" r:id="rId46"/>
    <p:sldId id="2147477550" r:id="rId47"/>
    <p:sldId id="2147477601" r:id="rId48"/>
    <p:sldId id="2147477590" r:id="rId49"/>
    <p:sldId id="2147477591" r:id="rId50"/>
    <p:sldId id="2147477539" r:id="rId51"/>
    <p:sldId id="2147477592" r:id="rId52"/>
    <p:sldId id="2147477593" r:id="rId53"/>
    <p:sldId id="2147477543" r:id="rId54"/>
    <p:sldId id="2147477525" r:id="rId55"/>
    <p:sldId id="2147477526" r:id="rId56"/>
    <p:sldId id="2147477527" r:id="rId57"/>
    <p:sldId id="2147477528" r:id="rId58"/>
    <p:sldId id="2147477529" r:id="rId59"/>
    <p:sldId id="2147477530" r:id="rId60"/>
    <p:sldId id="2147477531" r:id="rId61"/>
    <p:sldId id="2147477532" r:id="rId62"/>
    <p:sldId id="2147477533" r:id="rId63"/>
    <p:sldId id="2147477557" r:id="rId64"/>
    <p:sldId id="2147477558" r:id="rId65"/>
    <p:sldId id="2147477559" r:id="rId66"/>
    <p:sldId id="2147477602" r:id="rId67"/>
    <p:sldId id="2147477561" r:id="rId68"/>
    <p:sldId id="2147477594" r:id="rId69"/>
    <p:sldId id="2147477595" r:id="rId70"/>
    <p:sldId id="2147477564" r:id="rId71"/>
    <p:sldId id="2147477597" r:id="rId72"/>
    <p:sldId id="2147477596" r:id="rId73"/>
    <p:sldId id="2147477568" r:id="rId74"/>
    <p:sldId id="2147477574" r:id="rId75"/>
    <p:sldId id="2147477575" r:id="rId76"/>
    <p:sldId id="2147477576" r:id="rId77"/>
    <p:sldId id="2147477577" r:id="rId78"/>
    <p:sldId id="2147477578" r:id="rId79"/>
    <p:sldId id="2147477579" r:id="rId80"/>
    <p:sldId id="2147477580" r:id="rId81"/>
    <p:sldId id="2147477581" r:id="rId82"/>
    <p:sldId id="2147477572" r:id="rId83"/>
    <p:sldId id="2147477562" r:id="rId84"/>
    <p:sldId id="2147477563" r:id="rId85"/>
    <p:sldId id="2147477603" r:id="rId86"/>
    <p:sldId id="2147477565" r:id="rId87"/>
    <p:sldId id="2147477566" r:id="rId88"/>
    <p:sldId id="2147477430" r:id="rId89"/>
  </p:sldIdLst>
  <p:sldSz cx="12192000" cy="6858000"/>
  <p:notesSz cx="6858000" cy="9144000"/>
  <p:custDataLst>
    <p:tags r:id="rId9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536"/>
          </p14:sldIdLst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冬季" id="{5529DEFB-D291-4180-B135-1C58AD57690E}">
          <p14:sldIdLst>
            <p14:sldId id="2147477548"/>
            <p14:sldId id="2147477583"/>
            <p14:sldId id="2147477551"/>
            <p14:sldId id="2147477582"/>
            <p14:sldId id="2147477545"/>
            <p14:sldId id="2147477547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  <p14:sldId id="2147477515"/>
          </p14:sldIdLst>
        </p14:section>
        <p14:section name="冬季湿度" id="{5D64144D-96B7-4184-90EC-FC2450487FEC}">
          <p14:sldIdLst>
            <p14:sldId id="2147477553"/>
            <p14:sldId id="2147477554"/>
            <p14:sldId id="2147477555"/>
            <p14:sldId id="2147477599"/>
          </p14:sldIdLst>
        </p14:section>
        <p14:section name="秋季" id="{638D3B15-74AA-4266-B07B-9602D65E4C60}">
          <p14:sldIdLst>
            <p14:sldId id="2147477584"/>
            <p14:sldId id="2147477585"/>
            <p14:sldId id="2147477560"/>
            <p14:sldId id="2147477589"/>
            <p14:sldId id="2147477588"/>
            <p14:sldId id="2147477556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  <p14:sldId id="2147477570"/>
            <p14:sldId id="2147477552"/>
          </p14:sldIdLst>
        </p14:section>
        <p14:section name="秋季湿度" id="{EA4A96BA-7A68-4858-A7BB-AE1BBA322264}">
          <p14:sldIdLst>
            <p14:sldId id="2147477600"/>
            <p14:sldId id="2147477549"/>
            <p14:sldId id="2147477550"/>
            <p14:sldId id="2147477601"/>
          </p14:sldIdLst>
        </p14:section>
        <p14:section name="夏季" id="{B86F3F91-4136-4C59-B05F-F943D4768B99}">
          <p14:sldIdLst>
            <p14:sldId id="2147477590"/>
            <p14:sldId id="2147477591"/>
            <p14:sldId id="2147477539"/>
            <p14:sldId id="2147477592"/>
            <p14:sldId id="2147477593"/>
            <p14:sldId id="2147477543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  <p14:sldId id="2147477533"/>
            <p14:sldId id="2147477557"/>
            <p14:sldId id="2147477558"/>
            <p14:sldId id="2147477559"/>
            <p14:sldId id="2147477602"/>
            <p14:sldId id="2147477561"/>
          </p14:sldIdLst>
        </p14:section>
        <p14:section name="春季" id="{6B0D2CA9-1685-442B-AED6-6A8D8ABF435F}">
          <p14:sldIdLst>
            <p14:sldId id="2147477594"/>
            <p14:sldId id="2147477595"/>
            <p14:sldId id="2147477564"/>
            <p14:sldId id="2147477597"/>
            <p14:sldId id="2147477596"/>
            <p14:sldId id="2147477568"/>
            <p14:sldId id="2147477574"/>
            <p14:sldId id="2147477575"/>
            <p14:sldId id="2147477576"/>
            <p14:sldId id="2147477577"/>
            <p14:sldId id="2147477578"/>
            <p14:sldId id="2147477579"/>
            <p14:sldId id="2147477580"/>
            <p14:sldId id="2147477581"/>
            <p14:sldId id="2147477572"/>
            <p14:sldId id="2147477562"/>
            <p14:sldId id="2147477563"/>
            <p14:sldId id="2147477603"/>
            <p14:sldId id="2147477565"/>
            <p14:sldId id="2147477566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01" autoAdjust="0"/>
    <p:restoredTop sz="92903" autoAdjust="0"/>
  </p:normalViewPr>
  <p:slideViewPr>
    <p:cSldViewPr snapToGrid="0" showGuides="1">
      <p:cViewPr>
        <p:scale>
          <a:sx n="66" d="100"/>
          <a:sy n="66" d="100"/>
        </p:scale>
        <p:origin x="1229" y="261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notesMaster" Target="notesMasters/notesMaster1.xml"/><Relationship Id="rId95" Type="http://schemas.openxmlformats.org/officeDocument/2006/relationships/theme" Target="theme/theme1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93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handoutMaster" Target="handoutMasters/handoutMaster1.xml"/><Relationship Id="rId9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tags" Target="tags/tag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5/30/2025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67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0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66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FAC4-F7BB-8AEF-4EBB-818626D7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FB44C5-6FB8-982B-FE23-FA164E763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44CBAC-9987-E202-D213-A7536296B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FADBE-07D2-8EE5-C054-ED708415F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9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2A26-B441-9A26-0351-6522C3BA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0F919E-2927-892B-B4AB-02D3E4B50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CD23E4-F8C2-1F2F-DFCF-3383F2C7B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20E5A-B4F5-C932-8CCF-6404616F7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45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43F7-9F37-38FD-A570-6D811880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AB1401-E46D-6B88-CD75-F040FC8FB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7A75F9-B69A-CD57-8C50-9F402CF5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FFB54-1B2B-A166-259D-40625591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3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1C5-EA59-52F6-EC25-75F3BA5D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06EBF9-2152-DDE4-1B52-A9D7F41C6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DA2721-BDF7-F3C3-CECA-9E7C40965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DDF93-DF18-AF8E-AEC7-E50C3DCD2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1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64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emf"/><Relationship Id="rId5" Type="http://schemas.openxmlformats.org/officeDocument/2006/relationships/image" Target="../media/image73.emf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8.png"/><Relationship Id="rId4" Type="http://schemas.openxmlformats.org/officeDocument/2006/relationships/image" Target="../media/image1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emf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4.emf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2.png"/><Relationship Id="rId4" Type="http://schemas.openxmlformats.org/officeDocument/2006/relationships/image" Target="../media/image18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emf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emf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4.png"/><Relationship Id="rId4" Type="http://schemas.openxmlformats.org/officeDocument/2006/relationships/image" Target="../media/image20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2.png"/><Relationship Id="rId4" Type="http://schemas.openxmlformats.org/officeDocument/2006/relationships/image" Target="../media/image21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16.png"/><Relationship Id="rId4" Type="http://schemas.openxmlformats.org/officeDocument/2006/relationships/image" Target="../media/image21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4.png"/><Relationship Id="rId4" Type="http://schemas.openxmlformats.org/officeDocument/2006/relationships/image" Target="../media/image22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emf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2.png"/><Relationship Id="rId4" Type="http://schemas.openxmlformats.org/officeDocument/2006/relationships/image" Target="../media/image24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4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6.png"/><Relationship Id="rId4" Type="http://schemas.openxmlformats.org/officeDocument/2006/relationships/image" Target="../media/image24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50.png"/><Relationship Id="rId4" Type="http://schemas.openxmlformats.org/officeDocument/2006/relationships/image" Target="../media/image24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B76C9A9-7EBC-723D-1351-F0902ABE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536"/>
            <a:ext cx="10515600" cy="517064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Transformer With Fixed Token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模型简介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BC7603A-0783-5477-FC79-A5BB719BE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3" y="1256997"/>
            <a:ext cx="8125959" cy="21720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39FC5-C222-C7FC-FE4C-294B74761B2A}"/>
              </a:ext>
            </a:extLst>
          </p:cNvPr>
          <p:cNvSpPr txBox="1"/>
          <p:nvPr/>
        </p:nvSpPr>
        <p:spPr>
          <a:xfrm>
            <a:off x="1249845" y="3557506"/>
            <a:ext cx="881849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序列特征处理</a:t>
            </a:r>
          </a:p>
          <a:p>
            <a:r>
              <a:rPr lang="zh-CN" altLang="en-US" sz="1100" dirty="0"/>
              <a:t>特征重要性层：对序列特征加权，增强关键时间步的影响。</a:t>
            </a:r>
          </a:p>
          <a:p>
            <a:r>
              <a:rPr lang="zh-CN" altLang="en-US" sz="1100" dirty="0"/>
              <a:t>序列嵌入：将原始序列映射到隐藏维度（</a:t>
            </a:r>
            <a:r>
              <a:rPr lang="en-US" altLang="zh-CN" sz="1100" dirty="0" err="1"/>
              <a:t>hidden_dim</a:t>
            </a:r>
            <a:r>
              <a:rPr lang="zh-CN" altLang="en-US" sz="1100" dirty="0"/>
              <a:t>）。</a:t>
            </a:r>
          </a:p>
          <a:p>
            <a:r>
              <a:rPr lang="zh-CN" altLang="en-US" sz="1100" dirty="0"/>
              <a:t>位置编码：为序列添加时间位置信息（如正弦</a:t>
            </a:r>
            <a:r>
              <a:rPr lang="en-US" altLang="zh-CN" sz="1100" dirty="0"/>
              <a:t>/</a:t>
            </a:r>
            <a:r>
              <a:rPr lang="zh-CN" altLang="en-US" sz="1100" dirty="0"/>
              <a:t>余弦编码）。</a:t>
            </a:r>
          </a:p>
          <a:p>
            <a:r>
              <a:rPr lang="zh-CN" altLang="en-US" sz="1100" dirty="0"/>
              <a:t>固定特征处理</a:t>
            </a:r>
          </a:p>
          <a:p>
            <a:r>
              <a:rPr lang="zh-CN" altLang="en-US" sz="1100" dirty="0"/>
              <a:t>密度特征：线性嵌入到低维空间。</a:t>
            </a:r>
          </a:p>
          <a:p>
            <a:r>
              <a:rPr lang="zh-CN" altLang="en-US" sz="1100" dirty="0"/>
              <a:t>类别特征（品种、监督者）：通过嵌入层映射为向量。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生成：拼接后投影到与序列相同的维度，作为全局上下文。</a:t>
            </a:r>
          </a:p>
          <a:p>
            <a:r>
              <a:rPr lang="en-US" altLang="zh-CN" sz="1100" dirty="0"/>
              <a:t>Transformer</a:t>
            </a:r>
            <a:r>
              <a:rPr lang="zh-CN" altLang="en-US" sz="1100" dirty="0"/>
              <a:t>编码器</a:t>
            </a:r>
          </a:p>
          <a:p>
            <a:r>
              <a:rPr lang="zh-CN" altLang="en-US" sz="1100" dirty="0"/>
              <a:t>多头自注意力：捕捉序列内部的动态依赖关系。</a:t>
            </a:r>
          </a:p>
          <a:p>
            <a:r>
              <a:rPr lang="zh-CN" altLang="en-US" sz="1100" dirty="0"/>
              <a:t>前馈网络（</a:t>
            </a:r>
            <a:r>
              <a:rPr lang="en-US" altLang="zh-CN" sz="1100" dirty="0"/>
              <a:t>FFN</a:t>
            </a:r>
            <a:r>
              <a:rPr lang="zh-CN" altLang="en-US" sz="1100" dirty="0"/>
              <a:t>）：增强非线性表达能力。</a:t>
            </a:r>
          </a:p>
          <a:p>
            <a:r>
              <a:rPr lang="zh-CN" altLang="en-US" sz="1100" dirty="0"/>
              <a:t>残差连接 </a:t>
            </a:r>
            <a:r>
              <a:rPr lang="en-US" altLang="zh-CN" sz="1100" dirty="0"/>
              <a:t>+ </a:t>
            </a:r>
            <a:r>
              <a:rPr lang="zh-CN" altLang="en-US" sz="1100" dirty="0"/>
              <a:t>层归一化：缓解梯度消失，提升训练稳定性。</a:t>
            </a:r>
          </a:p>
          <a:p>
            <a:r>
              <a:rPr lang="zh-CN" altLang="en-US" sz="1100" dirty="0"/>
              <a:t>注意力权重记录：支持可视化分析模型关注的序列位置。</a:t>
            </a:r>
          </a:p>
          <a:p>
            <a:r>
              <a:rPr lang="zh-CN" altLang="en-US" sz="1100" dirty="0"/>
              <a:t>输出与可解释性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输出：提取</a:t>
            </a:r>
            <a:r>
              <a:rPr lang="en-US" altLang="zh-CN" sz="1100" dirty="0"/>
              <a:t>Transformer</a:t>
            </a:r>
            <a:r>
              <a:rPr lang="zh-CN" altLang="en-US" sz="1100" dirty="0"/>
              <a:t>编码后的全局表示。</a:t>
            </a:r>
          </a:p>
          <a:p>
            <a:r>
              <a:rPr lang="zh-CN" altLang="en-US" sz="1100" dirty="0"/>
              <a:t>全连接层：将隐藏状态映射到最终预测结果（如回归值）。</a:t>
            </a:r>
          </a:p>
          <a:p>
            <a:r>
              <a:rPr lang="en-US" altLang="zh-CN" sz="1100" dirty="0"/>
              <a:t>Grad-CAM</a:t>
            </a:r>
            <a:r>
              <a:rPr lang="zh-CN" altLang="en-US" sz="1100" dirty="0"/>
              <a:t>支持：通过反向传播计算输入特征的重要性权重。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9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55FD-9FE5-1B80-8BC6-E88498B2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DFFB7C7-90EA-E3F4-E6DA-B1DAEF8BE07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EEB44-93E5-2C2A-7552-6A2692356BC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2E44C2B-611C-1E03-9118-FB79CFA4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81B5B-264A-F9F5-EBBF-3A12DC2BADCC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6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484955-304F-D786-C44C-29FC65A4B508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With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Fixed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Token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验证集指标: {‘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’: 0.3710892523913423,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0.02421204,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0.2907966} </a:t>
            </a:r>
          </a:p>
        </p:txBody>
      </p:sp>
    </p:spTree>
    <p:extLst>
      <p:ext uri="{BB962C8B-B14F-4D97-AF65-F5344CB8AC3E}">
        <p14:creationId xmlns:p14="http://schemas.microsoft.com/office/powerpoint/2010/main" val="356415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918A-A6E3-61C9-B24C-660B2EEA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F5CD8FD-2066-5FED-6510-C59E3F57FFA7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006D4E-9844-D1B5-605E-E6ED75D03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8" name="图片 7" descr="图片包含 应用程序&#10;&#10;AI 生成的内容可能不正确。">
            <a:extLst>
              <a:ext uri="{FF2B5EF4-FFF2-40B4-BE49-F238E27FC236}">
                <a16:creationId xmlns:a16="http://schemas.microsoft.com/office/drawing/2014/main" id="{6DCF2B1F-BA46-CD69-1333-05FCB5716A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7" y="965854"/>
            <a:ext cx="5576287" cy="3166004"/>
          </a:xfrm>
          <a:prstGeom prst="rect">
            <a:avLst/>
          </a:prstGeom>
        </p:spPr>
      </p:pic>
      <p:pic>
        <p:nvPicPr>
          <p:cNvPr id="9" name="图片 8" descr="图片包含 应用程序&#10;&#10;AI 生成的内容可能不正确。">
            <a:extLst>
              <a:ext uri="{FF2B5EF4-FFF2-40B4-BE49-F238E27FC236}">
                <a16:creationId xmlns:a16="http://schemas.microsoft.com/office/drawing/2014/main" id="{D4B150F1-8A42-9710-5ABD-C720A7AB5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571" y="965854"/>
            <a:ext cx="5556812" cy="31549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4E491FD-BC14-BD80-61D7-F279E5387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67" y="4381010"/>
            <a:ext cx="5509437" cy="1821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7B8FBC9-4293-E1BB-3BEB-A33994652A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932" y="4381010"/>
            <a:ext cx="3201600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4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EA22-820B-52EE-8785-1FCC5DA1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9E6B8-C667-9B57-BEF4-0FA5FDDD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DE8CB720-08EC-ECDE-C01F-54722BE67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39" y="1425270"/>
            <a:ext cx="5400261" cy="1822588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AA1AC3E-B7E8-2D4E-835E-FCF77D15D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760" y="511696"/>
            <a:ext cx="4961040" cy="589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4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212A-6940-7389-2DD9-219BB1D1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89829D-71C1-6DDA-2EDF-C58ED501C21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2D2FA-24E1-1542-BDB0-0775655E3CFD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85079B-0FC0-3D45-8B9C-DA645ABB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E96CF-B1BB-5C86-75B0-7C7BA006AEA0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22CB90-4F54-3013-5046-6E851FB358B7}"/>
              </a:ext>
            </a:extLst>
          </p:cNvPr>
          <p:cNvSpPr txBox="1"/>
          <p:nvPr/>
        </p:nvSpPr>
        <p:spPr>
          <a:xfrm>
            <a:off x="951877" y="3720256"/>
            <a:ext cx="10467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0.5159186276730141,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27.320942,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0.0892119}</a:t>
            </a:r>
          </a:p>
        </p:txBody>
      </p:sp>
    </p:spTree>
    <p:extLst>
      <p:ext uri="{BB962C8B-B14F-4D97-AF65-F5344CB8AC3E}">
        <p14:creationId xmlns:p14="http://schemas.microsoft.com/office/powerpoint/2010/main" val="96229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8F8C-8B10-370A-5AE0-11330B8E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119933B-95C0-1D9D-D969-98F83480A07D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A373CD-AB4D-CF9E-33FF-3171B0CB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A9A1A7AD-6D94-C7D2-8878-CE90D544F0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6" y="986990"/>
            <a:ext cx="5554108" cy="315341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D8F95365-81DB-1F42-41D4-0D8F1F424D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78" y="986988"/>
            <a:ext cx="5554109" cy="315341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07745B-2966-208B-243A-1CDF1CA70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67" y="4381010"/>
            <a:ext cx="5509437" cy="1821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A685AF-897A-3BB1-209E-BE736DBF54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7203" y="4489003"/>
            <a:ext cx="3201600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84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F12B-4A7D-F042-807C-C568C326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AEACC-2B51-1442-D30A-4AFFEC5F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C8EA45DC-722E-2E1D-EB1F-C560C1806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69127"/>
            <a:ext cx="5430085" cy="1832654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D2107609-98A1-709A-6254-B9D7FB855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578" y="553998"/>
            <a:ext cx="4925417" cy="58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26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31.6-33.6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354512" y="1145568"/>
            <a:ext cx="2226194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BD75B-8D4C-6678-11FA-AC381FE59E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9.3-17.6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2BEA37-5B1B-B0B6-C081-A64CBC74E0C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8.2-15.9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00E60-E7CD-3B1C-846A-F46EFB46313C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13.0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785F08-0F8F-F8F0-9FED-5A9285F8DE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449C3F-2FAB-62EE-B4F2-0D97EEAE61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6884D1-4191-259B-053E-7138CF8FF11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22.7-23.9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01931"/>
              </p:ext>
            </p:extLst>
          </p:nvPr>
        </p:nvGraphicFramePr>
        <p:xfrm>
          <a:off x="1523541" y="3741694"/>
          <a:ext cx="4572459" cy="16423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858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308599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812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75165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808865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2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22.7(min)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：养殖过渡阶段，对外部低温敏感程度下降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8.2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温度敏感度回升，内温进入</a:t>
            </a:r>
            <a:r>
              <a:rPr lang="en-US" altLang="zh-CN" sz="1050" b="0" i="0" dirty="0">
                <a:solidFill>
                  <a:srgbClr val="404040"/>
                </a:solidFill>
                <a:effectLst/>
                <a:latin typeface="quote-cjk-patch"/>
              </a:rPr>
              <a:t>26℃</a:t>
            </a:r>
            <a:r>
              <a:rPr lang="zh-CN" altLang="en-US" sz="1050" b="0" i="0" dirty="0">
                <a:solidFill>
                  <a:srgbClr val="404040"/>
                </a:solidFill>
                <a:effectLst/>
                <a:latin typeface="quote-cjk-patch"/>
              </a:rPr>
              <a:t>区间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8749199-8560-2705-9714-6FEBAEB3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6" y="561242"/>
            <a:ext cx="5846948" cy="28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68261-4C73-5266-65E3-258CE649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37ADE0E-B9B7-B7DD-A9E2-98284A30DEED}"/>
              </a:ext>
            </a:extLst>
          </p:cNvPr>
          <p:cNvSpPr/>
          <p:nvPr/>
        </p:nvSpPr>
        <p:spPr>
          <a:xfrm>
            <a:off x="6457196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9353AD-C7C2-61DF-3770-458156B34536}"/>
              </a:ext>
            </a:extLst>
          </p:cNvPr>
          <p:cNvSpPr/>
          <p:nvPr/>
        </p:nvSpPr>
        <p:spPr>
          <a:xfrm>
            <a:off x="696080" y="1139041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8F206A7-D1E5-682E-F56C-D3900D70AA3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5B4DBFBC-4821-6E58-E0EE-CB34EABEAD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1308323"/>
            <a:ext cx="4320000" cy="226615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BAFE9FDA-CD91-09A4-FE15-DBD35C2AC1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19" y="3680632"/>
            <a:ext cx="4320000" cy="2266152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DCCE4C6-2379-08D8-8052-9F4DF2C9AE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3680859"/>
            <a:ext cx="4450044" cy="2265925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FE38E133-E608-6192-96BA-0CB8C5669FB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31" y="1308323"/>
            <a:ext cx="4450044" cy="22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5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45AE-E0AB-D7ED-C0F4-3E4DE3DE3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1F62AC0-09E8-3F3B-55A8-629F9D796026}"/>
              </a:ext>
            </a:extLst>
          </p:cNvPr>
          <p:cNvSpPr/>
          <p:nvPr/>
        </p:nvSpPr>
        <p:spPr>
          <a:xfrm>
            <a:off x="6438147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D46CA0-A5E1-853F-A631-E66849424F81}"/>
              </a:ext>
            </a:extLst>
          </p:cNvPr>
          <p:cNvSpPr/>
          <p:nvPr/>
        </p:nvSpPr>
        <p:spPr>
          <a:xfrm>
            <a:off x="677030" y="1129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2B59D5B-5164-66F8-5A8F-9DFD9E4D59C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1F93BB2C-6C17-F9E9-DB2C-6DD8282ADD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638550"/>
            <a:ext cx="4314823" cy="2383621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35567998-072F-1F96-EA86-E0FA79D6F1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6" y="1304924"/>
            <a:ext cx="4486275" cy="2237581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A08BA636-FB03-6567-4BCD-5AF43325BF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1304925"/>
            <a:ext cx="4314822" cy="223758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1D8F05C-CF7A-2398-2259-50EE02C524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945" y="3638549"/>
            <a:ext cx="4486275" cy="238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331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1F3B-1816-3CE8-835B-2539A6E6D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B46D1A8-FFB2-4500-1BC1-5494511D90E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2DD427-D853-2769-A4C2-81ED761AFB1C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1407E76-CA70-DCAF-9F40-5A2F595D06C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F09CACE-38C2-75D6-98A8-E325362B1E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3171825"/>
            <a:ext cx="4641204" cy="2376099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6457301-2BE5-95A6-658F-4CCF18221D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862867"/>
            <a:ext cx="4454428" cy="2222938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59551E50-01A6-95E6-7A3A-EBCF40E408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956" y="862867"/>
            <a:ext cx="4641204" cy="2222938"/>
          </a:xfrm>
          <a:prstGeom prst="rect">
            <a:avLst/>
          </a:prstGeom>
        </p:spPr>
      </p:pic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8FB26D82-75FF-6CAB-B085-8F296BE549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2" y="3171825"/>
            <a:ext cx="4454428" cy="236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3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3C5E-6FB8-4ED7-473E-92FA8DD3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8DEC5B3-5056-2017-6417-22CA4BE824BF}"/>
              </a:ext>
            </a:extLst>
          </p:cNvPr>
          <p:cNvSpPr/>
          <p:nvPr/>
        </p:nvSpPr>
        <p:spPr>
          <a:xfrm>
            <a:off x="6428622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AC752AB-9DF9-4352-1CF9-D7B7189955AE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1E10BFE-6C92-EBA9-8E65-56A604BA16D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A671E4D3-F0BB-6671-7214-C7E225FD5F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885825"/>
            <a:ext cx="4595435" cy="2190938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1DAFF9C-94E7-A382-C808-BEB5F8155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885825"/>
            <a:ext cx="4687053" cy="2190938"/>
          </a:xfrm>
          <a:prstGeom prst="rect">
            <a:avLst/>
          </a:prstGeom>
        </p:spPr>
      </p:pic>
      <p:pic>
        <p:nvPicPr>
          <p:cNvPr id="9" name="图片 8" descr="图形用户界面, 图表&#10;&#10;AI 生成的内容可能不正确。">
            <a:extLst>
              <a:ext uri="{FF2B5EF4-FFF2-40B4-BE49-F238E27FC236}">
                <a16:creationId xmlns:a16="http://schemas.microsoft.com/office/drawing/2014/main" id="{1E3CB0BA-FA76-AC47-EA7B-C5B41E23F41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031" y="3162783"/>
            <a:ext cx="4687053" cy="2428776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922A70A5-1AD8-F4CA-9731-43A820594E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15" y="3162783"/>
            <a:ext cx="4662110" cy="24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3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F191-8BE3-5B61-9A3F-A48AB7EC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46D838-6DE9-7983-36ED-EC9ADB93F431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648850-6D06-B3A8-06F2-6CA763C7C87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053306-6A3C-6692-AE83-F99387E9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00274-7534-2193-10D0-F1F7A7F20891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33EAA6-E257-3DD1-FFD7-2B54991719FE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0.34831244618289714,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0.009753281,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0.22853053}</a:t>
            </a:r>
          </a:p>
        </p:txBody>
      </p:sp>
    </p:spTree>
    <p:extLst>
      <p:ext uri="{BB962C8B-B14F-4D97-AF65-F5344CB8AC3E}">
        <p14:creationId xmlns:p14="http://schemas.microsoft.com/office/powerpoint/2010/main" val="557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EE51-2501-FC6F-B409-17CBB10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E7A921-D8B7-88D1-AD9D-78E230D9DE8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E58217-5776-292C-05F8-C0BBD958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12C76D41-61AA-3FB0-8011-926C4D12C7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7" y="965855"/>
            <a:ext cx="5554108" cy="3153412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08A39126-122A-BDE1-F354-4EA053E1F0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74" y="965855"/>
            <a:ext cx="5554109" cy="31534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F6FFC19-181A-36C9-CBCE-AEB5A530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500" y="4337296"/>
            <a:ext cx="5642342" cy="195368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3DB0AA-B2FC-1CC4-B1A5-D0091E8F0A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629" y="4366709"/>
            <a:ext cx="3273398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1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2C00-A4B2-CF51-0AC6-4A775327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9965-73D9-0392-5030-8D09745B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754DD795-3926-D21D-B666-1E82E040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4460"/>
            <a:ext cx="5969007" cy="2014540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3C0AAA3-4F1D-F8CF-3B22-00C68CDE8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45" y="959391"/>
            <a:ext cx="4584034" cy="54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3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43E2-61C6-724B-361D-DCD0CFEA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555AC0D-E4CD-0DE2-0539-18A877936D2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F3DAB-BA25-4137-279C-1AAD16D6A0DE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95A163-7398-CFDE-20CB-33E810A9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C33BC2-26C8-0936-FD03-632A9EA8302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6E4ECA-C952-EDB3-D35F-A9FCC3AD3B37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0.7653255298175914,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16.213701,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0.03875133}</a:t>
            </a:r>
          </a:p>
        </p:txBody>
      </p:sp>
    </p:spTree>
    <p:extLst>
      <p:ext uri="{BB962C8B-B14F-4D97-AF65-F5344CB8AC3E}">
        <p14:creationId xmlns:p14="http://schemas.microsoft.com/office/powerpoint/2010/main" val="19335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BA39-A9E6-013D-EB87-2681655A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FE1CB20-8836-5EDD-E5CF-AE13CCD028DB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F541E3-1BC3-BE0A-051F-87275B77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94B1507-36D9-A5F3-5D6F-B0405730A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8" y="1004120"/>
            <a:ext cx="5440688" cy="3089016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817F7912-3B05-F552-8F70-06B7C983B6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974" y="1004121"/>
            <a:ext cx="5692408" cy="323193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897F460-13B7-417A-936F-8479CEAC5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632" y="4331772"/>
            <a:ext cx="5642342" cy="19536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9F4679F-460D-260E-AC1A-72ED341C6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629" y="4366709"/>
            <a:ext cx="3273398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D12-E23C-07F7-1C1E-06E0A100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DDC8D-83AA-0BA0-01E9-F4B19C1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98E6CE7A-7E89-80C0-B485-2D8BE4934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0321"/>
            <a:ext cx="4953375" cy="1671764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F2DCFB90-3605-262A-7FE9-206E5278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707" y="1264401"/>
            <a:ext cx="4327183" cy="51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6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34.0-34.4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719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2E7E1-0807-B976-A664-2ADB5C93EE8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31.8-33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0284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7F16-BA14-C9F5-775B-3A0F2286C42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875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E897B9-9EAB-E26D-651B-CBB1682529C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29.8-31.2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61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74CE1-0465-57B3-CAC0-E5505B5EB28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29.2-30.7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61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D7BE79-C3A4-1D07-76B5-F5D262D9F3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57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76DC06-ED83-F443-3537-AC206AD390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358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3DA28-E266-B585-63BC-0F2C3A07E3B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21.2-22.8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26.4-30.2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159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9263"/>
              </p:ext>
            </p:extLst>
          </p:nvPr>
        </p:nvGraphicFramePr>
        <p:xfrm>
          <a:off x="1413863" y="3700288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30.7(max)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3AD2075-C9EE-BDDE-4545-219527B7E57C}"/>
              </a:ext>
            </a:extLst>
          </p:cNvPr>
          <p:cNvSpPr/>
          <p:nvPr/>
        </p:nvSpPr>
        <p:spPr>
          <a:xfrm>
            <a:off x="10151543" y="454631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EA7591-D68C-E1B0-6DA0-D0F3D2C1B668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8620D8-9491-6050-25EC-CE5B28C9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7" y="572204"/>
            <a:ext cx="5750100" cy="285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F843-0C4A-EE0E-C708-8D7B8C05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CBED03-B466-A3FB-5B53-198199320E5B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E7A75F1-11F0-F443-2178-715F185CF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4" y="709318"/>
            <a:ext cx="5471055" cy="27196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AD1788D-97B2-C592-9966-0FCEEFCB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326" y="4130968"/>
            <a:ext cx="3273398" cy="160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A071518E-5FE0-687F-359E-006339AD3B61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6BC514-130A-D346-1183-C7855E08E4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8611058-18BB-EB67-CD23-8F4DF2DFD2A1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7EF07031-65E8-0F8C-7A44-96D6F0D75E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3150043"/>
            <a:ext cx="4453005" cy="2403030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7970DEB-97E8-D52B-833B-43F05ACAB2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5" y="3150043"/>
            <a:ext cx="4439480" cy="2403030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B55498F8-81A3-B1E7-EE6F-4336A2F569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95" y="883935"/>
            <a:ext cx="4453005" cy="213068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5E53632D-D334-B5BE-A248-0BF20BD112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224" y="883934"/>
            <a:ext cx="4439479" cy="21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6D3D0-BE1C-DFF6-EF41-38BF43E7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996CA03-9B5F-4ACD-E4AB-DDD62FDBA116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E55DF2-F91E-9E85-A0F7-549AA15611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560B3DB-4817-3EEE-E97B-9A207F52D96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C40C3BB7-74F7-6390-5623-E612C08D24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1" y="3196760"/>
            <a:ext cx="4640554" cy="2350651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416881BF-6148-BE2C-4961-FB04A122FE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3196760"/>
            <a:ext cx="4600859" cy="2350651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8023E5F2-086F-D1E7-62CC-F91D8D3DA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50" y="914400"/>
            <a:ext cx="4600858" cy="211032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7C44685B-179A-B4D5-D9BA-153AB7046D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490" y="914399"/>
            <a:ext cx="4640553" cy="21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5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C290C-D01E-DD7C-FD13-4ADA4FDAF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E7AEC67-499F-2F09-128A-F520A8FA07A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F48559-F2F1-E7B4-89E2-55851161CE76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A34A78-ECE9-2E7A-487F-2FDBE390C04D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F0F1246B-6081-4A60-FD74-F45928712A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3231398"/>
            <a:ext cx="4746788" cy="2388566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F61D84FA-B377-95F4-315A-3EEAC70CE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3251026"/>
            <a:ext cx="4709563" cy="2368938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836506F8-0BFF-BDDB-4055-9FCAB2FE13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2" y="844351"/>
            <a:ext cx="4746788" cy="2310840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31F00E9B-9CF4-230C-ACB0-1114A1B74B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535" y="844351"/>
            <a:ext cx="4709563" cy="231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81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2CF0C-1EDF-44AE-C878-60219C2D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7F7685E-9D23-1C83-DC5D-09F6AC40A31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C847FF-715B-B361-6800-596656CF39B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062F0A-0373-45FE-F3C5-E97BCD6C69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EA4D8AB6-77E5-948C-E369-7B932E6524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3429001"/>
            <a:ext cx="4821897" cy="2201238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7D3E17C-39CC-9264-7771-BCBE9E88BB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3456928"/>
            <a:ext cx="4835926" cy="2173311"/>
          </a:xfrm>
          <a:prstGeom prst="rect">
            <a:avLst/>
          </a:prstGeom>
        </p:spPr>
      </p:pic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B4A5209-31ED-A6F1-35C8-39CB56167B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67" y="876617"/>
            <a:ext cx="4821897" cy="245221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729F6666-7AAE-F3F2-C46A-628AAEBF38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007" y="876617"/>
            <a:ext cx="4835926" cy="245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5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FD6B-9076-9AC5-F35D-6BDECF03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CDC09A-AC26-1BF8-B46F-2AC351CAE722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5E6AD5-4D15-F592-336E-EE41A2952AAB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F5E995-6928-E152-8515-2CA77135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AF9EF5-E9C2-2139-18E0-1A92961B6EFB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943158-6A38-0E39-4E34-74E9DAA41546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0.467324735871648,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0.00830224,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0.2051844}</a:t>
            </a:r>
          </a:p>
        </p:txBody>
      </p:sp>
    </p:spTree>
    <p:extLst>
      <p:ext uri="{BB962C8B-B14F-4D97-AF65-F5344CB8AC3E}">
        <p14:creationId xmlns:p14="http://schemas.microsoft.com/office/powerpoint/2010/main" val="266028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7F6F-6FF9-C27F-8277-13BFF78E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394DA13-0AE5-D58A-4AE9-9732BC269C75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D392A7-52FE-60A7-0EAD-CBD24A3A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0C7332A4-B411-39FE-403E-A1A663391D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9" y="948083"/>
            <a:ext cx="5585408" cy="3171183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80844C95-0855-3EA3-DCD2-782DED5247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974" y="948083"/>
            <a:ext cx="5601541" cy="31803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E31FFB6-C570-DCED-905A-C94C28144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18" y="4182021"/>
            <a:ext cx="5248525" cy="250787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6FF08B-F3B8-1E5F-FCED-2481B2476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11" y="4391736"/>
            <a:ext cx="5898289" cy="197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1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AFF6-1449-CB93-43B6-79403BD5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E9E41-1E6E-2EC6-5CCA-F85D6D09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4D447967-B073-4BE5-E4A6-F04F735F8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60" y="1548515"/>
            <a:ext cx="5571808" cy="1880485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5B71D1CC-7220-A229-AFCB-8F94246BE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92" y="1152938"/>
            <a:ext cx="4595017" cy="54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3E46-806A-0EA5-99C3-22A4BA7E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0FD77C6-9140-399C-5A40-BE254EE12537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F5570B-888F-B8C5-D9EB-B85E6CFE179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16DA66-03A2-5695-6278-D1067D57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2918DD-8BB7-107E-F3E3-1428B45A08F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7FE6F9-DF46-421A-0A9A-F4E348698F84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0.7303398511888876,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8.646428,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0.01949703}</a:t>
            </a:r>
          </a:p>
        </p:txBody>
      </p:sp>
    </p:spTree>
    <p:extLst>
      <p:ext uri="{BB962C8B-B14F-4D97-AF65-F5344CB8AC3E}">
        <p14:creationId xmlns:p14="http://schemas.microsoft.com/office/powerpoint/2010/main" val="183333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01EB-33AE-D957-621E-EA329F05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6DE3E7-C01F-4970-627E-3E9B914EF1D1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A19426-BF51-A828-C2D6-1122691D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3B6AB3-6F70-7AE9-87DF-BFB6137BE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18" y="4182021"/>
            <a:ext cx="5248525" cy="2507876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DB75488-67C6-5C7F-6350-9003A20473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8" y="977173"/>
            <a:ext cx="5393551" cy="3062254"/>
          </a:xfrm>
          <a:prstGeom prst="rect">
            <a:avLst/>
          </a:prstGeom>
        </p:spPr>
      </p:pic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979F7206-2CF5-EA15-743C-D541B94665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837" y="977173"/>
            <a:ext cx="5739545" cy="32586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D52AD2C-24F7-792B-3DC7-1555B0A7D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3811" y="4391736"/>
            <a:ext cx="5898289" cy="197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4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9E44-4CC6-6B95-DAD6-3CAD3ACC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DBD73-646B-E505-0ADD-F0AB4F04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09EFC176-85F9-2C0E-2A2B-9EE3A5D86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83" y="1498820"/>
            <a:ext cx="4953375" cy="1671764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1C2E761-E8F7-C6D5-F424-0A14D2750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26" y="732068"/>
            <a:ext cx="4925417" cy="58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4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25.6-27.4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33.8-34.4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139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BDB5FB-65B2-1720-BF7A-4CABB90A21A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28.4-30.6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32.2-32.6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736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DFFE97-69F8-15A5-01E8-2D81D1CB417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27.2-28.9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515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1635A6-B0B7-2AC0-4B54-B03505CB0F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24.6-27.2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12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5410D-51D5-FF9D-6CFA-3A30350EDAD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30-31.1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29.9-30.9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972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A3F41C-6C85-5C0A-3601-7DEB18985F7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19.6-27.2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28.8-29.2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7533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8A4BDA-0662-1211-6D8A-00F9BCD6C73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27.6-28.9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7142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3CFF3-0488-7982-5476-25B3B382672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28.9-31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30.2-30.8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403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370304"/>
              </p:ext>
            </p:extLst>
          </p:nvPr>
        </p:nvGraphicFramePr>
        <p:xfrm>
          <a:off x="1396822" y="3522753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220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C03F6BC-9C6B-C7CB-116C-78197A04B7B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AE6AC51-4AFC-235E-EC90-AECB72E07598}"/>
              </a:ext>
            </a:extLst>
          </p:cNvPr>
          <p:cNvSpPr/>
          <p:nvPr/>
        </p:nvSpPr>
        <p:spPr>
          <a:xfrm>
            <a:off x="10271196" y="431825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76C5E-27FF-F85C-9617-6A60D5151055}"/>
              </a:ext>
            </a:extLst>
          </p:cNvPr>
          <p:cNvSpPr/>
          <p:nvPr/>
        </p:nvSpPr>
        <p:spPr>
          <a:xfrm>
            <a:off x="5480440" y="831876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C2FC4B-9E6E-98BD-666F-E10C1FFC63C0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605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F950-36A8-F0F4-C6BC-BDB5BC21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66C8EFD-51E1-EFD9-7588-674003DF0C1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4C5A05E-A2DA-2BE9-F9D1-1EE2135E7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40" y="528358"/>
            <a:ext cx="4914159" cy="25148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241C48-EF82-AE17-A6E2-79A060954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974" y="3429000"/>
            <a:ext cx="3817217" cy="223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11580-3167-3025-9839-8FDBDBE8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5A67077-DC95-F421-BFBE-50E6529859D3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A0DC4-2952-E335-1376-8838029B3E91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6777320-33BF-7387-1C32-720CCF9488E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393A4A2C-7055-E5EF-9664-D511EB9E89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871458"/>
            <a:ext cx="4800867" cy="2290254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B95FAEA2-53C2-AB91-980F-A5BE0A86B7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4" y="871458"/>
            <a:ext cx="4695825" cy="2290254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3C46E8FB-0BD9-8960-C238-BAA5010AD4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42" y="3333752"/>
            <a:ext cx="4800867" cy="2290254"/>
          </a:xfrm>
          <a:prstGeom prst="rect">
            <a:avLst/>
          </a:prstGeom>
        </p:spPr>
      </p:pic>
      <p:pic>
        <p:nvPicPr>
          <p:cNvPr id="24" name="图片 23" descr="图表&#10;&#10;AI 生成的内容可能不正确。">
            <a:extLst>
              <a:ext uri="{FF2B5EF4-FFF2-40B4-BE49-F238E27FC236}">
                <a16:creationId xmlns:a16="http://schemas.microsoft.com/office/drawing/2014/main" id="{365E2160-85DA-1509-CF11-C5CB5F6E61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349" y="3333752"/>
            <a:ext cx="4686300" cy="229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89BD0-AC38-B67D-D3C9-AEDB0768A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F5FC91C-39C2-7C99-2868-691BA37CA1E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4D43A7-94FE-00A9-F11C-D75C2CC0EC14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2305384-B8FC-D725-04F5-9FC5CB19FED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A242292E-C8A1-32EC-2609-3D23C87310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872340"/>
            <a:ext cx="4776260" cy="2303059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B094A671-AB5A-0EE8-AF3B-833A0ACF73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2" y="3278590"/>
            <a:ext cx="4814581" cy="2303059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17453D7E-A2DF-910F-A0BD-0A4DD985C5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553" y="872340"/>
            <a:ext cx="4814581" cy="2303059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B715291A-1887-3467-6BE5-A09D7CA891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5" y="3278590"/>
            <a:ext cx="4776260" cy="23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36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47CA2-2EDF-6969-52FC-5E59860A5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F54181F-FED7-72E8-C557-713557067554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2C29C3-7AD3-A960-D86D-B1886ECD6DF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2EA822-DB8C-ACF1-8081-80EAF63627A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14B10095-4B47-6509-9189-17495DB0D7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882927"/>
            <a:ext cx="4729452" cy="2325700"/>
          </a:xfrm>
          <a:prstGeom prst="rect">
            <a:avLst/>
          </a:prstGeom>
        </p:spPr>
      </p:pic>
      <p:pic>
        <p:nvPicPr>
          <p:cNvPr id="6" name="图片 5" descr="图片包含 图表&#10;&#10;AI 生成的内容可能不正确。">
            <a:extLst>
              <a:ext uri="{FF2B5EF4-FFF2-40B4-BE49-F238E27FC236}">
                <a16:creationId xmlns:a16="http://schemas.microsoft.com/office/drawing/2014/main" id="{3660ED56-71F2-9736-41B1-895A319CDF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882927"/>
            <a:ext cx="4806173" cy="2325700"/>
          </a:xfrm>
          <a:prstGeom prst="rect">
            <a:avLst/>
          </a:prstGeom>
        </p:spPr>
      </p:pic>
      <p:pic>
        <p:nvPicPr>
          <p:cNvPr id="10" name="图片 9" descr="图表, 折线图&#10;&#10;AI 生成的内容可能不正确。">
            <a:extLst>
              <a:ext uri="{FF2B5EF4-FFF2-40B4-BE49-F238E27FC236}">
                <a16:creationId xmlns:a16="http://schemas.microsoft.com/office/drawing/2014/main" id="{F20FE9A9-9018-F1C8-A323-097B1A749D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729" y="3343038"/>
            <a:ext cx="4806173" cy="2238612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F4A238B2-2A4D-B715-5AA0-7AD9B1B8EB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98" y="3343038"/>
            <a:ext cx="4729452" cy="22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99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6C85C-C11C-E66B-66E6-827F5636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EBA9233-6408-CA61-D054-FFB39E9B6F72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3D2026-1CA6-32DA-3585-CAD9B1B9FCD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C25F94D-F23F-337B-37E3-A359216BB77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12616E6-2E49-FD30-F8D6-33C0D61A84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860510"/>
            <a:ext cx="4829236" cy="2341985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9F814C9A-FD2E-3267-E994-331FF4B675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860509"/>
            <a:ext cx="4806715" cy="2341985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76EC024-7AAC-A5FD-0AD9-06C47A4F4B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39" y="3314489"/>
            <a:ext cx="4829236" cy="226716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20A7DF24-BD8E-AB8F-BDE1-137B76F2A06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46" y="3314487"/>
            <a:ext cx="4806714" cy="227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6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4ED9-F6DA-30EA-6C24-748E5D60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474D8-8FD5-569B-42D1-7A88885BB84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31D17-1098-AD22-AFD1-69AC58E699A5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511819-CD66-80F5-AF5E-D523C53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FF2EDC-7A7F-B2B7-F1BF-FDC8CC034A0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7FA354-A0A7-52D7-4E28-C19116FFBAAD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0.4204063074894706,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0.034290317,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0.31648165}</a:t>
            </a:r>
          </a:p>
        </p:txBody>
      </p:sp>
    </p:spTree>
    <p:extLst>
      <p:ext uri="{BB962C8B-B14F-4D97-AF65-F5344CB8AC3E}">
        <p14:creationId xmlns:p14="http://schemas.microsoft.com/office/powerpoint/2010/main" val="9598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AFCC-664B-9A9F-CAF7-077AD0FD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513702-9FBB-02D9-9C39-D5C18F2873B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01CC5F-F0B8-886F-04EB-51540376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C0C52BE4-B50E-6599-D707-620FEB1E50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8" y="973809"/>
            <a:ext cx="5482041" cy="3112495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4CCE4020-AC7F-7379-A2D4-F431CC6F0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894" y="973810"/>
            <a:ext cx="5726621" cy="32513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B18281-6166-CFA3-D8E5-5061ECF7B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18" y="4174786"/>
            <a:ext cx="5482041" cy="24476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2F5AC35-DA57-EDE3-BD5C-C39D31570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099" y="4498382"/>
            <a:ext cx="5664283" cy="18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01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69B2-7A9F-F4A2-FF4F-915A4483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B1998-3658-1A4A-66A5-4B48FBF6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08D7532-A2E7-4BDC-8670-A083503CD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3" y="1721998"/>
            <a:ext cx="6083308" cy="2053116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C1F147E1-98A1-8C4E-920D-90208087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461" y="553998"/>
            <a:ext cx="4925417" cy="58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5FB86-1A8B-2607-668A-2133D38F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B0874D-8F8F-6DA7-7679-BB04F49CFC7B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7C3691-C8FE-C119-DAF2-2BF50709445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A61226A-5D5F-52AD-807A-531F9823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3FA28F-EDBD-BC2F-0F91-F3FE25CFD477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BACDD2-8ED2-B5E3-4A9F-8C5F5D76ED13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0.5964619459503626,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32.62063,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0.12778008}</a:t>
            </a:r>
          </a:p>
        </p:txBody>
      </p:sp>
    </p:spTree>
    <p:extLst>
      <p:ext uri="{BB962C8B-B14F-4D97-AF65-F5344CB8AC3E}">
        <p14:creationId xmlns:p14="http://schemas.microsoft.com/office/powerpoint/2010/main" val="241384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C4F5-A6BC-B161-391C-DCD6612A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AAC8665-9923-9ABF-6C00-0B87E8B452B6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60F504-8511-6676-1762-30949ABA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D817E7-A428-680C-C599-48D4C9462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18" y="4174786"/>
            <a:ext cx="5482041" cy="2447601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240904F-4711-DDFD-BDC2-71C0A66F98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18" y="972496"/>
            <a:ext cx="5482041" cy="3112495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0C943367-3219-8A57-1536-10BE3CF232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39" y="972496"/>
            <a:ext cx="5703344" cy="323814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FF3AF5-948C-57B9-8DBD-F95B5095A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4099" y="4498382"/>
            <a:ext cx="5664283" cy="190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0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C3A0-834B-328C-18A5-E42C519D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1D8BD-62EA-7176-4498-87C5782D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0131CBDE-8A70-115A-D37C-405B361E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" y="1429247"/>
            <a:ext cx="5618929" cy="1896388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3BD9F8C8-AA23-5BA5-A682-BF4D559D7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691" y="607899"/>
            <a:ext cx="4925417" cy="58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2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8E34-C736-AC1D-4A69-37784EB5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9D30A4-FE64-1386-DE2F-FD80DF18D6B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B3F727-2999-3F53-3A3C-EA0A2687926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6A046-A53F-6F8E-8458-22333B4CFD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7.5-8.2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33.6-33.8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613A884-F51F-50B0-CB49-D5A29CC5F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4431"/>
            <a:ext cx="4726003" cy="240491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01BC4B6B-B93F-770C-FCBF-9DFA2F09B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3204430"/>
            <a:ext cx="4795951" cy="2404913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C96BED56-6D3B-44A6-3EC5-D60B845BE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7" y="883578"/>
            <a:ext cx="4726003" cy="2217766"/>
          </a:xfrm>
          <a:prstGeom prst="rect">
            <a:avLst/>
          </a:prstGeom>
        </p:spPr>
      </p:pic>
      <p:pic>
        <p:nvPicPr>
          <p:cNvPr id="22" name="图片 21" descr="图表&#10;&#10;AI 生成的内容可能不正确。">
            <a:extLst>
              <a:ext uri="{FF2B5EF4-FFF2-40B4-BE49-F238E27FC236}">
                <a16:creationId xmlns:a16="http://schemas.microsoft.com/office/drawing/2014/main" id="{06311F80-5A7C-15F3-4E2A-579E68562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83577"/>
            <a:ext cx="4795950" cy="22335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587630-4667-F723-0975-CA410A287922}"/>
              </a:ext>
            </a:extLst>
          </p:cNvPr>
          <p:cNvSpPr/>
          <p:nvPr/>
        </p:nvSpPr>
        <p:spPr>
          <a:xfrm>
            <a:off x="3184989" y="1145568"/>
            <a:ext cx="1489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ED97DA-802D-C004-50DC-14338C0463C5}"/>
              </a:ext>
            </a:extLst>
          </p:cNvPr>
          <p:cNvSpPr/>
          <p:nvPr/>
        </p:nvSpPr>
        <p:spPr>
          <a:xfrm>
            <a:off x="7746715" y="1109611"/>
            <a:ext cx="25428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521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4F0-1FED-5D30-9458-75FB8F13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F208A8A-685E-FE5E-641D-A6407178DBC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2A7D98-5E56-2CD2-2996-761D1EBDB161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8C43B-1393-1201-51D4-3B6FEB7A1BD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6EB5334-1E6E-83DB-DF38-281361B38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20949"/>
            <a:ext cx="4771001" cy="2376088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0BB0A0D1-3F50-BF5A-77E7-85F323157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76088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4A03BE13-FFD2-8579-199F-F8C024DA4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8" y="855723"/>
            <a:ext cx="4771001" cy="2249832"/>
          </a:xfrm>
          <a:prstGeom prst="rect">
            <a:avLst/>
          </a:prstGeom>
        </p:spPr>
      </p:pic>
      <p:pic>
        <p:nvPicPr>
          <p:cNvPr id="20" name="图片 19" descr="图表, 直方图&#10;&#10;AI 生成的内容可能不正确。">
            <a:extLst>
              <a:ext uri="{FF2B5EF4-FFF2-40B4-BE49-F238E27FC236}">
                <a16:creationId xmlns:a16="http://schemas.microsoft.com/office/drawing/2014/main" id="{6618ED9E-2D67-D64D-B8B2-1C5F7094CD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55722"/>
            <a:ext cx="4851354" cy="22887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69343C8-F365-5064-172D-930FAEF4B16D}"/>
              </a:ext>
            </a:extLst>
          </p:cNvPr>
          <p:cNvSpPr/>
          <p:nvPr/>
        </p:nvSpPr>
        <p:spPr>
          <a:xfrm>
            <a:off x="3324225" y="1145568"/>
            <a:ext cx="240030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6376EC-4275-1808-887D-2DDA0A940906}"/>
              </a:ext>
            </a:extLst>
          </p:cNvPr>
          <p:cNvSpPr/>
          <p:nvPr/>
        </p:nvSpPr>
        <p:spPr>
          <a:xfrm>
            <a:off x="6591301" y="1109611"/>
            <a:ext cx="107874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846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B1DE-5BB1-AFE7-9F95-291652BA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D3C1C32-F03A-C03C-E6C4-DCF32F4EAB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E533B-CDB8-F9AA-CB91-9AF847B1585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4AD0090B-FBC7-9685-25E4-8F120BE59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80724"/>
            <a:ext cx="4799040" cy="23319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F4E566F6-3188-007E-EEB6-2606BA9A7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83835"/>
            <a:ext cx="4881472" cy="2331932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6449D908-F72A-E36B-D941-20E65096A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54860"/>
            <a:ext cx="4881472" cy="2331932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86798F40-FE8F-7688-5723-62326A540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54860"/>
            <a:ext cx="4799040" cy="23319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F95491B-0A04-8290-BCD8-A723D476EB3F}"/>
              </a:ext>
            </a:extLst>
          </p:cNvPr>
          <p:cNvSpPr/>
          <p:nvPr/>
        </p:nvSpPr>
        <p:spPr>
          <a:xfrm>
            <a:off x="4032737" y="1145568"/>
            <a:ext cx="165295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F2D223-B3A3-DAF9-3D08-70F77067A534}"/>
              </a:ext>
            </a:extLst>
          </p:cNvPr>
          <p:cNvSpPr/>
          <p:nvPr/>
        </p:nvSpPr>
        <p:spPr>
          <a:xfrm>
            <a:off x="6591301" y="1109611"/>
            <a:ext cx="116256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B4E02-F18A-4B7E-A9DE-FE3D8D3E3CC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28.5-29.4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26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F25-1712-4DB5-1C83-4358C1A5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809286-180F-DC15-04CE-F616CDB8F7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DD2EE3-CF3D-A112-7801-89B2CE82BF0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59FC2E-953A-12F6-F551-8EE677E28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38501"/>
            <a:ext cx="5015671" cy="2315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1C4A220F-7C60-DA0F-FA50-A4D3700C0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38501"/>
            <a:ext cx="4700844" cy="2315386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3C78D4E3-461C-6EA8-59E9-56A9FEC7A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42481"/>
            <a:ext cx="5015671" cy="2389253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33B0159-32C9-0A33-0144-F79F3901A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6" y="842482"/>
            <a:ext cx="4700843" cy="237846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A72A759-118C-1315-27F0-69C78CA14B7E}"/>
              </a:ext>
            </a:extLst>
          </p:cNvPr>
          <p:cNvSpPr/>
          <p:nvPr/>
        </p:nvSpPr>
        <p:spPr>
          <a:xfrm>
            <a:off x="4295775" y="1145567"/>
            <a:ext cx="61912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826CA-C22F-645B-4097-B30D537FFA0F}"/>
              </a:ext>
            </a:extLst>
          </p:cNvPr>
          <p:cNvSpPr/>
          <p:nvPr/>
        </p:nvSpPr>
        <p:spPr>
          <a:xfrm>
            <a:off x="8315325" y="1109611"/>
            <a:ext cx="276225" cy="43295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C514A-B74B-4A09-DF5C-1DD3F4B59D1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11.4-14.3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369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0F99-E7C2-BD4A-578F-8BD3711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B214BD-DB28-1F9C-0829-CE7DCAF8B1D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CBF54-9B9A-DCBA-A964-3188863E8116}"/>
              </a:ext>
            </a:extLst>
          </p:cNvPr>
          <p:cNvSpPr/>
          <p:nvPr/>
        </p:nvSpPr>
        <p:spPr>
          <a:xfrm>
            <a:off x="1194220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9BC6492-91BB-26AC-136F-D598E7532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3248024"/>
            <a:ext cx="4625574" cy="238125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C8859644-B575-9AC6-7E88-E70598D3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48026"/>
            <a:ext cx="4985314" cy="238125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B6F83489-AD10-74F2-84F2-B5DD115936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00043"/>
            <a:ext cx="4985314" cy="2381250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A5F72D-AC6B-BDB4-2158-32FB43831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800043"/>
            <a:ext cx="4625574" cy="237148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D460334F-DA87-65AA-6307-CC20BC93E263}"/>
              </a:ext>
            </a:extLst>
          </p:cNvPr>
          <p:cNvSpPr/>
          <p:nvPr/>
        </p:nvSpPr>
        <p:spPr>
          <a:xfrm>
            <a:off x="5067299" y="1145568"/>
            <a:ext cx="6572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20913-3A63-E93C-024E-7A2290035652}"/>
              </a:ext>
            </a:extLst>
          </p:cNvPr>
          <p:cNvSpPr/>
          <p:nvPr/>
        </p:nvSpPr>
        <p:spPr>
          <a:xfrm>
            <a:off x="6591301" y="1109611"/>
            <a:ext cx="857249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9D5648-D856-BF60-C896-7B90ABBADB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25.8-26.4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025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9A2-239A-3C50-FB46-68DE11B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B8CC7B-64F3-B6FE-B789-115DB01FB7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5899D-C930-C8BF-F03E-F1D92B3B10C7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7B9596C-ED98-9283-C7C9-A6551159D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14700"/>
            <a:ext cx="4720588" cy="2294928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29E54CAE-1F15-C30B-CA08-32604F345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96765"/>
            <a:ext cx="4852750" cy="231457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1D6A7F71-69A3-66C7-3D06-E375D85B1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96765"/>
            <a:ext cx="4720588" cy="23145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CAA3E80-CC5E-8842-FABE-7AB54D2AB45C}"/>
              </a:ext>
            </a:extLst>
          </p:cNvPr>
          <p:cNvSpPr/>
          <p:nvPr/>
        </p:nvSpPr>
        <p:spPr>
          <a:xfrm>
            <a:off x="8905875" y="1109611"/>
            <a:ext cx="174307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5" name="图片 24" descr="图表&#10;&#10;AI 生成的内容可能不正确。">
            <a:extLst>
              <a:ext uri="{FF2B5EF4-FFF2-40B4-BE49-F238E27FC236}">
                <a16:creationId xmlns:a16="http://schemas.microsoft.com/office/drawing/2014/main" id="{4D95D73C-268A-62B2-6D7E-D651FF529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8" y="3336637"/>
            <a:ext cx="4852750" cy="222843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F338709-0EDE-1D7B-4F10-6C24584D3F58}"/>
              </a:ext>
            </a:extLst>
          </p:cNvPr>
          <p:cNvSpPr/>
          <p:nvPr/>
        </p:nvSpPr>
        <p:spPr>
          <a:xfrm>
            <a:off x="3700849" y="1145568"/>
            <a:ext cx="20236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3EC229-D214-4C21-774E-D565FB52ABA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8.6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27.1-27.8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342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9D45-0E50-8670-9483-17612E6C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F9757-287F-AE43-7B49-F341217A521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46B97-64EC-5C78-0041-9B9429F1652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496A527-BC91-2273-D0B9-27C22A626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3220947"/>
            <a:ext cx="4596586" cy="2350164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E868D7A3-244C-8ABA-C8F8-EE71ABFCF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3220948"/>
            <a:ext cx="5065531" cy="235016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AB97E9-A9AB-F731-CF31-3D2B7408C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800125"/>
            <a:ext cx="5065531" cy="235016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37B4F400-25E6-9CBA-85A9-FE2CCB079A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800126"/>
            <a:ext cx="4596586" cy="23501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37F0C45-DDFA-B6C1-2DCE-928851334A88}"/>
              </a:ext>
            </a:extLst>
          </p:cNvPr>
          <p:cNvSpPr/>
          <p:nvPr/>
        </p:nvSpPr>
        <p:spPr>
          <a:xfrm>
            <a:off x="3514725" y="1145568"/>
            <a:ext cx="226695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564EB8-FFCD-2D62-F926-FD828DFEF61D}"/>
              </a:ext>
            </a:extLst>
          </p:cNvPr>
          <p:cNvSpPr/>
          <p:nvPr/>
        </p:nvSpPr>
        <p:spPr>
          <a:xfrm>
            <a:off x="8801100" y="1109611"/>
            <a:ext cx="781050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EA55A6-3B07-BAFB-8B8D-880BDECBC1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878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4C13-7DB0-1BEB-D4AB-681B7B2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F4D184-0B48-F6AA-E1BD-C6E780DFCB6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A2FA5-2429-35C3-1776-CF091584CAB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D639B0F-59AD-9914-1F06-DFCE38798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3153901"/>
            <a:ext cx="4993645" cy="2440085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E2B01506-41B1-C49A-1184-DA399354EB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153900"/>
            <a:ext cx="4698756" cy="244008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84931936-0C5B-9988-116A-59208CEBC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845950"/>
            <a:ext cx="4993644" cy="222067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A7D43E62-0C89-04AA-ED11-3C067F16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45950"/>
            <a:ext cx="4698756" cy="22206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C90D1D-2968-57D8-1FC1-4967988B7E71}"/>
              </a:ext>
            </a:extLst>
          </p:cNvPr>
          <p:cNvSpPr/>
          <p:nvPr/>
        </p:nvSpPr>
        <p:spPr>
          <a:xfrm>
            <a:off x="3276600" y="1145568"/>
            <a:ext cx="13430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C795DE-6EDD-6825-88C6-DCB2523BA1FD}"/>
              </a:ext>
            </a:extLst>
          </p:cNvPr>
          <p:cNvSpPr/>
          <p:nvPr/>
        </p:nvSpPr>
        <p:spPr>
          <a:xfrm>
            <a:off x="9205472" y="1109611"/>
            <a:ext cx="1406178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2FD51-8644-6CDD-6CF0-B2AADB1DEB1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9.2-13.8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26.4-27.6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77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98B-D66C-307C-CF16-EAA4ABE3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56BD75-21B4-1BB5-8F1C-8A3BA4FE42A8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EA69F4-1105-E524-154A-1FF54F756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187177"/>
              </p:ext>
            </p:extLst>
          </p:nvPr>
        </p:nvGraphicFramePr>
        <p:xfrm>
          <a:off x="1417371" y="3672707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28.5(min)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E9CBF19-EBAD-3CD1-C3A1-B4486FCF82B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B874FC-6FDD-2911-EAA5-5B03D6E7F73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2A23E8-897F-7023-0322-B6FDFC287F5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62B4C397-3266-B44D-0CDD-315D1BE85036}"/>
              </a:ext>
            </a:extLst>
          </p:cNvPr>
          <p:cNvSpPr/>
          <p:nvPr/>
        </p:nvSpPr>
        <p:spPr>
          <a:xfrm>
            <a:off x="9987839" y="42245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FE46C9-5D2D-5EC9-AE25-0F8621494BC0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50802FB-8FE9-517A-2C93-2340072E6686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1681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ABC8-3F0D-C5B8-FA51-64DDD18C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875CA8-8044-FDD8-5BAE-DCC9E4039511}"/>
              </a:ext>
            </a:extLst>
          </p:cNvPr>
          <p:cNvSpPr/>
          <p:nvPr/>
        </p:nvSpPr>
        <p:spPr>
          <a:xfrm>
            <a:off x="353923" y="389026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410B0A7-7E2A-828A-78CE-E326BED1F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56" y="597911"/>
            <a:ext cx="4264518" cy="211548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5A36FD8-E811-D31E-5063-0DEBABF27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25" y="3284471"/>
            <a:ext cx="4973507" cy="244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1C88D-4CD9-D032-1C01-4114ABCE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7E32BE6-DCCC-3CB6-0047-8EF6876627A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6234E0-CC77-AC70-EDD8-C99A6560F3EF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7B98AEC-7406-0490-2586-56A8FC1832B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6BAA7569-E3F8-D679-BA6F-4FD3744772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7" y="3357080"/>
            <a:ext cx="4753594" cy="2232062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E81B96EC-02EE-A8E9-6B6F-214F1CB676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3357080"/>
            <a:ext cx="4646829" cy="2232062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282364E-D27B-3967-52F9-8DD26F70DB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53" y="889785"/>
            <a:ext cx="4646829" cy="2326026"/>
          </a:xfrm>
          <a:prstGeom prst="rect">
            <a:avLst/>
          </a:prstGeom>
        </p:spPr>
      </p:pic>
      <p:pic>
        <p:nvPicPr>
          <p:cNvPr id="21" name="图片 20" descr="图表, 折线图&#10;&#10;AI 生成的内容可能不正确。">
            <a:extLst>
              <a:ext uri="{FF2B5EF4-FFF2-40B4-BE49-F238E27FC236}">
                <a16:creationId xmlns:a16="http://schemas.microsoft.com/office/drawing/2014/main" id="{3C05FEFE-E449-2C8E-590E-67FE2098B7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16" y="889784"/>
            <a:ext cx="4753593" cy="23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1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1BB2E-02CC-CC92-F19B-8E3481E2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82BE1FC-33B2-1932-995B-4C733955290A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9C394E-78F1-7D51-5F55-1DDCB9BDEBA7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6493B8E-2AA6-492C-9746-F2D43CF6BB7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FE6B6A2A-935F-33B3-AB4A-5D42396155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6" y="880395"/>
            <a:ext cx="4827847" cy="238832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081FF1FE-157B-014C-C0BF-CE1F485F35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880395"/>
            <a:ext cx="4816577" cy="2388323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EB653F3D-D47E-C483-2372-7B6F2CA1F4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304" y="3400597"/>
            <a:ext cx="4816576" cy="2205993"/>
          </a:xfrm>
          <a:prstGeom prst="rect">
            <a:avLst/>
          </a:prstGeom>
        </p:spPr>
      </p:pic>
      <p:pic>
        <p:nvPicPr>
          <p:cNvPr id="26" name="图片 2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B5562CAB-A0CD-3B1F-5CC1-0B6CC46499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15" y="3389661"/>
            <a:ext cx="4827847" cy="221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9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E626-688D-935C-5C15-0462E4B2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9C23CBB-8980-7573-441C-CAA53B06AEE0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366611-F4DB-0D9E-76EB-1A2568750660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85BC72B-745C-01B3-A52C-95DBA34EDEE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171E16F7-1334-3D08-7280-5E7571D5A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3329020"/>
            <a:ext cx="4757680" cy="2299190"/>
          </a:xfrm>
          <a:prstGeom prst="rect">
            <a:avLst/>
          </a:prstGeom>
        </p:spPr>
      </p:pic>
      <p:pic>
        <p:nvPicPr>
          <p:cNvPr id="14" name="图片 13" descr="图表&#10;&#10;AI 生成的内容可能不正确。">
            <a:extLst>
              <a:ext uri="{FF2B5EF4-FFF2-40B4-BE49-F238E27FC236}">
                <a16:creationId xmlns:a16="http://schemas.microsoft.com/office/drawing/2014/main" id="{0CFB7033-DB35-3102-45FC-506094D79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90" y="3329020"/>
            <a:ext cx="4817573" cy="2299190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8B74AB11-AB5D-61DD-D031-751DBC23E0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36" y="857789"/>
            <a:ext cx="4757680" cy="2299190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B398EF8D-ED0B-65D1-7842-41EB26896E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289" y="853920"/>
            <a:ext cx="4817573" cy="229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1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27263-99A6-711C-0A42-ADBF0B329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6C1D989-E3E7-CF02-96AA-32C5806B132B}"/>
              </a:ext>
            </a:extLst>
          </p:cNvPr>
          <p:cNvSpPr/>
          <p:nvPr/>
        </p:nvSpPr>
        <p:spPr>
          <a:xfrm>
            <a:off x="6428621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4419FF-A966-22EF-6FD7-B5CDEE6E0DC2}"/>
              </a:ext>
            </a:extLst>
          </p:cNvPr>
          <p:cNvSpPr/>
          <p:nvPr/>
        </p:nvSpPr>
        <p:spPr>
          <a:xfrm>
            <a:off x="667505" y="748516"/>
            <a:ext cx="5095875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A77221-7802-C611-F4A8-03F5DED99B55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天内部湿度分析</a:t>
            </a:r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C0AE0EAF-D819-87EF-81CC-DC1817AA80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917668"/>
            <a:ext cx="4768645" cy="2318691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077CB7A5-05ED-FE3B-36EF-9D5BF5A57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3316406"/>
            <a:ext cx="4718371" cy="2318691"/>
          </a:xfrm>
          <a:prstGeom prst="rect">
            <a:avLst/>
          </a:prstGeom>
        </p:spPr>
      </p:pic>
      <p:pic>
        <p:nvPicPr>
          <p:cNvPr id="18" name="图片 17" descr="图形用户界面&#10;&#10;AI 生成的内容可能不正确。">
            <a:extLst>
              <a:ext uri="{FF2B5EF4-FFF2-40B4-BE49-F238E27FC236}">
                <a16:creationId xmlns:a16="http://schemas.microsoft.com/office/drawing/2014/main" id="{3402C214-4698-A436-0EB4-C6975A8A57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08" y="3316406"/>
            <a:ext cx="4768644" cy="2318691"/>
          </a:xfrm>
          <a:prstGeom prst="rect">
            <a:avLst/>
          </a:prstGeom>
        </p:spPr>
      </p:pic>
      <p:pic>
        <p:nvPicPr>
          <p:cNvPr id="20" name="图片 19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03EF3BA-2BD8-9AC6-0F0F-F81F3D6D35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947" y="911694"/>
            <a:ext cx="4718371" cy="231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7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51779852-367B-483D-8C46-CF2C7DC5D26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5292</TotalTime>
  <Words>5174</Words>
  <Application>Microsoft Office PowerPoint</Application>
  <PresentationFormat>宽屏</PresentationFormat>
  <Paragraphs>499</Paragraphs>
  <Slides>84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97" baseType="lpstr">
      <vt:lpstr>Anova Bold</vt:lpstr>
      <vt:lpstr>Anova Light</vt:lpstr>
      <vt:lpstr>DeepSeek-CJK-patch</vt:lpstr>
      <vt:lpstr>Inter</vt:lpstr>
      <vt:lpstr>quote-cjk-patch</vt:lpstr>
      <vt:lpstr>DengXian</vt:lpstr>
      <vt:lpstr>DengXian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Transformer With Fixed Token 模型简介</vt:lpstr>
      <vt:lpstr>冬天-死淘-模型效果</vt:lpstr>
      <vt:lpstr>冬天-死淘- Grad-CAM 图</vt:lpstr>
      <vt:lpstr>冬天-死淘- Shap</vt:lpstr>
      <vt:lpstr>冬天-EEF-模型效果</vt:lpstr>
      <vt:lpstr>冬天-EEF- Grad-CAM 图</vt:lpstr>
      <vt:lpstr>冬天-EEF-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秋天-死淘-模型效果</vt:lpstr>
      <vt:lpstr>秋天-死淘- Grad-CAM 图</vt:lpstr>
      <vt:lpstr>秋天-死淘- Shap</vt:lpstr>
      <vt:lpstr>秋天-EEF-模型效果</vt:lpstr>
      <vt:lpstr>秋天-EEF- Grad-CAM 图</vt:lpstr>
      <vt:lpstr>秋天-EEF-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夏天-死淘-模型效果</vt:lpstr>
      <vt:lpstr>夏天-死淘- Grad-CAM 图</vt:lpstr>
      <vt:lpstr>夏天-死淘- Shap</vt:lpstr>
      <vt:lpstr>夏天-EEF-模型效果</vt:lpstr>
      <vt:lpstr>夏天-EEF- Grad-CAM 图</vt:lpstr>
      <vt:lpstr>夏天-EEF-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春天-死淘-模型效果</vt:lpstr>
      <vt:lpstr>春天-死淘- Grad-CAM 图</vt:lpstr>
      <vt:lpstr>春天-死淘- Shap</vt:lpstr>
      <vt:lpstr>春天-EEF-模型效果</vt:lpstr>
      <vt:lpstr>春天-EEF- Grad-CAM 图</vt:lpstr>
      <vt:lpstr>春天-EEF-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235</cp:revision>
  <dcterms:created xsi:type="dcterms:W3CDTF">2023-10-08T03:09:00Z</dcterms:created>
  <dcterms:modified xsi:type="dcterms:W3CDTF">2025-05-30T06:29:14Z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