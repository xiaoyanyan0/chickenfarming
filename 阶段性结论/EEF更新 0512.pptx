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16"/>
  </p:notesMasterIdLst>
  <p:handoutMasterIdLst>
    <p:handoutMasterId r:id="rId17"/>
  </p:handoutMasterIdLst>
  <p:sldIdLst>
    <p:sldId id="16771194" r:id="rId6"/>
    <p:sldId id="2147477478" r:id="rId7"/>
    <p:sldId id="2147477475" r:id="rId8"/>
    <p:sldId id="2147477476" r:id="rId9"/>
    <p:sldId id="2147477477" r:id="rId10"/>
    <p:sldId id="2147477471" r:id="rId11"/>
    <p:sldId id="2147477472" r:id="rId12"/>
    <p:sldId id="2147477473" r:id="rId13"/>
    <p:sldId id="2147477445" r:id="rId14"/>
    <p:sldId id="2147477474" r:id="rId15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</p14:sldIdLst>
        </p14:section>
        <p14:section name="数据" id="{2FECDC8B-DE91-4323-AA2B-D801C56C963D}">
          <p14:sldIdLst/>
        </p14:section>
        <p14:section name="死淘" id="{132B593A-E1D9-4DD8-8D75-8389B5773F71}">
          <p14:sldIdLst/>
        </p14:section>
        <p14:section name="eef" id="{0CBA3FCE-B567-4F49-936C-7A69C0064915}">
          <p14:sldIdLst>
            <p14:sldId id="2147477478"/>
            <p14:sldId id="2147477475"/>
            <p14:sldId id="2147477476"/>
            <p14:sldId id="2147477477"/>
            <p14:sldId id="2147477471"/>
            <p14:sldId id="2147477472"/>
            <p14:sldId id="2147477473"/>
            <p14:sldId id="2147477445"/>
            <p14:sldId id="2147477474"/>
          </p14:sldIdLst>
        </p14:section>
        <p14:section name="下周计划" id="{AAB4484A-A58E-4FF9-9CE2-A3928016DD3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76" autoAdjust="0"/>
    <p:restoredTop sz="93438" autoAdjust="0"/>
  </p:normalViewPr>
  <p:slideViewPr>
    <p:cSldViewPr snapToGrid="0" showGuides="1">
      <p:cViewPr varScale="1">
        <p:scale>
          <a:sx n="81" d="100"/>
          <a:sy n="81" d="100"/>
        </p:scale>
        <p:origin x="634" y="68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5/12/2025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5/12/2025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第二周成果汇报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3D1F99E-E435-7DBE-EF0A-67C3496583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430939"/>
              </p:ext>
            </p:extLst>
          </p:nvPr>
        </p:nvGraphicFramePr>
        <p:xfrm>
          <a:off x="892175" y="2094672"/>
          <a:ext cx="4486278" cy="3197448"/>
        </p:xfrm>
        <a:graphic>
          <a:graphicData uri="http://schemas.openxmlformats.org/drawingml/2006/table">
            <a:tbl>
              <a:tblPr/>
              <a:tblGrid>
                <a:gridCol w="747713">
                  <a:extLst>
                    <a:ext uri="{9D8B030D-6E8A-4147-A177-3AD203B41FA5}">
                      <a16:colId xmlns:a16="http://schemas.microsoft.com/office/drawing/2014/main" val="3996273480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66434644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70777999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177513116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373023640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660415651"/>
                    </a:ext>
                  </a:extLst>
                </a:gridCol>
              </a:tblGrid>
              <a:tr h="495846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endParaRPr lang="zh-CN" altLang="en-US" b="1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683767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1.09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1.73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530979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std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3.39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3.51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51920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-51.00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-327.70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-59.60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-30.40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-30.00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174422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69404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912641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08194"/>
                  </a:ext>
                </a:extLst>
              </a:tr>
              <a:tr h="317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max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303.50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72.80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41.80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55.8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3091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61544C5-DD3D-475B-4C88-EBE0E0C2EB9F}"/>
              </a:ext>
            </a:extLst>
          </p:cNvPr>
          <p:cNvSpPr txBox="1"/>
          <p:nvPr/>
        </p:nvSpPr>
        <p:spPr>
          <a:xfrm>
            <a:off x="679450" y="5573122"/>
            <a:ext cx="108140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探头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温度和目标差异高于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度的占比较高（接近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25%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故温度差异上限以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95%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分位数盖帽处理，下限以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-3</a:t>
            </a:r>
            <a: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盖帽处理</a:t>
            </a:r>
            <a:r>
              <a:rPr lang="zh-CN" altLang="en-US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，再以盖帽后的温度差异修正温度</a:t>
            </a:r>
            <a:r>
              <a:rPr lang="en-US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温度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的值（即探头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探头</a:t>
            </a:r>
            <a:r>
              <a:rPr lang="en-US" altLang="zh-CN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16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080726B-0BB5-B39C-CA17-A21B6F721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435311"/>
              </p:ext>
            </p:extLst>
          </p:nvPr>
        </p:nvGraphicFramePr>
        <p:xfrm>
          <a:off x="6772275" y="2094672"/>
          <a:ext cx="4486278" cy="3197448"/>
        </p:xfrm>
        <a:graphic>
          <a:graphicData uri="http://schemas.openxmlformats.org/drawingml/2006/table">
            <a:tbl>
              <a:tblPr/>
              <a:tblGrid>
                <a:gridCol w="747713">
                  <a:extLst>
                    <a:ext uri="{9D8B030D-6E8A-4147-A177-3AD203B41FA5}">
                      <a16:colId xmlns:a16="http://schemas.microsoft.com/office/drawing/2014/main" val="268490361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314696005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887016926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759769463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187340800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3707292979"/>
                    </a:ext>
                  </a:extLst>
                </a:gridCol>
              </a:tblGrid>
              <a:tr h="6019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zh-CN" altLang="en-US" b="1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温度 </a:t>
                      </a:r>
                      <a:r>
                        <a:rPr lang="en-US" altLang="zh-CN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 </a:t>
                      </a: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与目标差异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241312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mean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1.17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1.49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1.67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1.75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1.81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132859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std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2.68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2.58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2.73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2.88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3.07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305022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min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078581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-0.30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30873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50%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124743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75%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2.70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3.00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3.20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3.40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827534"/>
                  </a:ext>
                </a:extLst>
              </a:tr>
              <a:tr h="2891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max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7.60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8.10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8.50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100" b="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8.90</a:t>
                      </a:r>
                    </a:p>
                  </a:txBody>
                  <a:tcPr marL="138313" marR="138313" marT="92208" marB="922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873631"/>
                  </a:ext>
                </a:extLst>
              </a:tr>
            </a:tbl>
          </a:graphicData>
        </a:graphic>
      </p:graphicFrame>
      <p:sp>
        <p:nvSpPr>
          <p:cNvPr id="10" name="箭头: 右 9">
            <a:extLst>
              <a:ext uri="{FF2B5EF4-FFF2-40B4-BE49-F238E27FC236}">
                <a16:creationId xmlns:a16="http://schemas.microsoft.com/office/drawing/2014/main" id="{83CB2B56-C774-2BA1-109E-4E61AB569CF6}"/>
              </a:ext>
            </a:extLst>
          </p:cNvPr>
          <p:cNvSpPr/>
          <p:nvPr/>
        </p:nvSpPr>
        <p:spPr>
          <a:xfrm>
            <a:off x="5800725" y="3390900"/>
            <a:ext cx="571500" cy="438150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五边形 10">
            <a:extLst>
              <a:ext uri="{FF2B5EF4-FFF2-40B4-BE49-F238E27FC236}">
                <a16:creationId xmlns:a16="http://schemas.microsoft.com/office/drawing/2014/main" id="{ABC64254-A217-5DD1-743D-7CD37E771F09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4C5570D1-5DF1-03AB-6D69-BF1DFB4FDD2B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832E5AD0-0264-926D-1CD4-529BF48D2671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B0FAECE-33C5-B47F-6A19-65163A9D5CC2}"/>
              </a:ext>
            </a:extLst>
          </p:cNvPr>
          <p:cNvSpPr/>
          <p:nvPr/>
        </p:nvSpPr>
        <p:spPr>
          <a:xfrm>
            <a:off x="492981" y="1606658"/>
            <a:ext cx="11239200" cy="483224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B4827B-04F9-8632-71F8-A3668FF6AFE7}"/>
              </a:ext>
            </a:extLst>
          </p:cNvPr>
          <p:cNvSpPr/>
          <p:nvPr/>
        </p:nvSpPr>
        <p:spPr>
          <a:xfrm>
            <a:off x="492980" y="1606656"/>
            <a:ext cx="2154969" cy="334203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数据处理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B6CE10-8DAB-F7E9-0084-3D75E928F4B5}"/>
              </a:ext>
            </a:extLst>
          </p:cNvPr>
          <p:cNvSpPr txBox="1"/>
          <p:nvPr/>
        </p:nvSpPr>
        <p:spPr>
          <a:xfrm>
            <a:off x="5719762" y="3117471"/>
            <a:ext cx="73342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zh-CN" altLang="en-US" sz="1400" dirty="0">
                <a:solidFill>
                  <a:schemeClr val="tx1"/>
                </a:solidFill>
              </a:rPr>
              <a:t>盖帽处理</a:t>
            </a:r>
          </a:p>
        </p:txBody>
      </p:sp>
    </p:spTree>
    <p:extLst>
      <p:ext uri="{BB962C8B-B14F-4D97-AF65-F5344CB8AC3E}">
        <p14:creationId xmlns:p14="http://schemas.microsoft.com/office/powerpoint/2010/main" val="1439522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0759-4693-0A0C-ACDC-5905187D4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898C5510-52E4-5F17-8F58-E1674B9C0A82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5258E28-3C99-B66E-450A-6361CF46D28A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12E042-B907-2C9D-B5FB-ECE5DA326DF9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F98D27A-D41A-3AC9-4696-C0E95C63D380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C40686-6F80-4903-7E76-A7A6235E22D2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14E6C7-4119-3171-5FD4-D81293C3AC5D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D2AEBC0-B074-05CA-BB88-7C9521F56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1" y="3463444"/>
            <a:ext cx="5440207" cy="2735910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23E00E7A-01CA-1CF7-0C29-62B7806EE1F4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5F6B041-4458-5EE0-56A5-E47D6759D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155" y="3258557"/>
            <a:ext cx="5631689" cy="3203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391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8D7A-2FF8-4367-E35C-3FFAF72F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42D3851-5F4E-42C8-3573-A4A2D412DA1D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E5335BE9-2755-2208-1B70-8791A6FE534F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804C28C-0C73-8E1E-829B-0DA18AB910C9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BC08890-A922-7127-5A06-9D61C636437F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9E7C4A3-732F-211A-8420-45D4302EDF0E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532516-8E14-AA39-EB1F-2762830EE04F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0C4FA0-CE50-523A-B531-97180BDF8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1" y="3429000"/>
            <a:ext cx="5445245" cy="2676525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7A98672-4DAA-41E6-533B-1BA2E0DF6F01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4C792D1-6FB9-3CA0-3FE1-98152828C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920" y="3324498"/>
            <a:ext cx="5347179" cy="309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16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A7FD-EFE9-984A-B2AA-F54E27836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B601A3A-DFAA-86C0-39F8-CA5FFABC3B8C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8FBFE4F-BBA7-1751-838A-A6CB0152F77D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8906FC7-1FCD-89EC-BE8C-349800469D93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4AA1DD7-41C8-B64D-DB01-C4AA8D183845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DD79E9-1EE3-D2DF-F2E8-BD20F4CA0CB0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A3AFACA-236E-DFF7-3B56-649E1D9AD194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22B085E-D5B7-E50F-3016-86DBAF8FC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3513071"/>
            <a:ext cx="5092199" cy="2512616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23AE247A-648D-BFF1-ABB2-BE668DC08344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49ACFC2-1F5D-DA61-0383-992ACEF82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872" y="3236990"/>
            <a:ext cx="5977606" cy="337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18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35FD-FAFB-764F-0DE1-194C859E8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0DDA7278-D480-7C03-37ED-3DB19047079F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647D668-7DE6-1AF7-7489-EE9281DB1A42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B2321F-445C-3CEB-68A7-D93DD4AC2392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B908365-191B-BB78-25A8-D6E70A1480CD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6A08B0-765B-453A-A798-08548A067C3D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944E5E-4D0C-CAD9-DD03-12609AA2C767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7ABEF01-A259-D033-5D6F-E1D1DD859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3562530"/>
            <a:ext cx="5560844" cy="2733495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A8707561-CAA4-EB0A-1F15-DE6F32151F6E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EDDE131-B547-8EC2-CBF6-E3AE733C2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627" y="3204829"/>
            <a:ext cx="5858547" cy="329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9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ED547-D480-11CA-4F97-86A459B7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5F4268F3-46B9-90B8-E69A-C7B1E771CDF5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02B0AF94-5BD7-4521-FD34-A78819677A2D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93B4989-06B8-7D41-2B9B-2FD998C3E274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05485BF-1451-967A-B822-8464B7D79565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D44198-E22F-5DBD-6A77-E3AECAACE349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8A7F18-51F5-7F40-8BCF-BD14A98FEB96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0196CB-0B8B-CA38-C5CC-A68C00B52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81" y="3324498"/>
            <a:ext cx="5393821" cy="2701189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AC25CDF2-13FF-FB00-4EBD-7AFAA21D43B1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62C3078-C692-9B20-BA4B-5BF786BE5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802" y="3204829"/>
            <a:ext cx="608731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39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A7D69-92CF-F272-46F4-36431ADF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9B87B28-0783-F334-EB78-5881D9563664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FF9F5F74-50F2-3631-E7AC-63CC35DD3421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72A9E01-16A7-AAC6-1C20-A9E51F4FE345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76D63FD-6AED-B3D2-3C4D-7265C7B6A279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37E87D-316E-0374-D825-FC7247810AC1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CD9E3C4-F5D8-30B1-3F12-2CD17EFA2AF1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110D11C-F646-723C-D20C-CB9F76F31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13" y="3547210"/>
            <a:ext cx="5111692" cy="2592494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ECAB3874-09E0-28E4-7A83-353494048461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58115DA-8436-7F23-B617-83EF3BBE0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938" y="3307474"/>
            <a:ext cx="588565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37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3F58-FBA0-5890-E017-0F64302C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241ECC46-522F-F7FD-BAC3-0D9D652D5EB7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853EC75-9F03-0F26-BE76-066836FDB224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514734-1069-88B2-2F78-BCB1D5306C5C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FBE72D52-DCE8-544C-411C-4431D98238CD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45CDCD8-EA6E-F0F4-45DF-34DD3ACC17D4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3A1AA45-A00E-CFD4-9F95-C8996EC931AE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9904C1-9323-10EC-3DF3-15D8847329D5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5E949E3-5563-A5A7-64F5-65CA62017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48" y="3429000"/>
            <a:ext cx="5994486" cy="291025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5BF5985-B13C-4617-C1F6-0B38904BC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411" y="3259716"/>
            <a:ext cx="5384963" cy="307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0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B8CBE-0CF3-D692-0C65-31C16B4DE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3FB370D2-14C2-6B5A-685F-303272F44DF2}"/>
              </a:ext>
            </a:extLst>
          </p:cNvPr>
          <p:cNvSpPr/>
          <p:nvPr/>
        </p:nvSpPr>
        <p:spPr>
          <a:xfrm>
            <a:off x="0" y="864476"/>
            <a:ext cx="7592037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2450C629-97D7-7125-0984-92106B0B7087}"/>
              </a:ext>
            </a:extLst>
          </p:cNvPr>
          <p:cNvSpPr txBox="1"/>
          <p:nvPr/>
        </p:nvSpPr>
        <p:spPr>
          <a:xfrm>
            <a:off x="313885" y="21618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877E6FF-EFE0-E155-E59E-C74EAC8F7352}"/>
              </a:ext>
            </a:extLst>
          </p:cNvPr>
          <p:cNvSpPr txBox="1"/>
          <p:nvPr/>
        </p:nvSpPr>
        <p:spPr>
          <a:xfrm>
            <a:off x="551901" y="832313"/>
            <a:ext cx="6528407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前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的温度曲线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900873E-72B7-A8BC-D17F-52EF09411E78}"/>
              </a:ext>
            </a:extLst>
          </p:cNvPr>
          <p:cNvSpPr txBox="1"/>
          <p:nvPr/>
        </p:nvSpPr>
        <p:spPr>
          <a:xfrm>
            <a:off x="339052" y="121526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分析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C5C474B-719D-640A-6226-5C3E08FB14AF}"/>
              </a:ext>
            </a:extLst>
          </p:cNvPr>
          <p:cNvSpPr/>
          <p:nvPr/>
        </p:nvSpPr>
        <p:spPr>
          <a:xfrm>
            <a:off x="492981" y="1606656"/>
            <a:ext cx="387864" cy="1464628"/>
          </a:xfrm>
          <a:prstGeom prst="rect">
            <a:avLst/>
          </a:prstGeom>
          <a:pattFill prst="ltDn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dirty="0">
                <a:solidFill>
                  <a:srgbClr val="33A3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探查方法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33A3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FACBC7A-B75E-4EA2-84AA-D3355CEC8D59}"/>
              </a:ext>
            </a:extLst>
          </p:cNvPr>
          <p:cNvSpPr/>
          <p:nvPr/>
        </p:nvSpPr>
        <p:spPr>
          <a:xfrm>
            <a:off x="492981" y="1606658"/>
            <a:ext cx="11060104" cy="14646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06AA56C-6C92-4F12-520B-4EFC2C73A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2" y="3236990"/>
            <a:ext cx="5910360" cy="286853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CDC1049D-1E53-302B-5269-B54B8929D100}"/>
              </a:ext>
            </a:extLst>
          </p:cNvPr>
          <p:cNvSpPr txBox="1"/>
          <p:nvPr/>
        </p:nvSpPr>
        <p:spPr>
          <a:xfrm>
            <a:off x="971850" y="1859873"/>
            <a:ext cx="10581235" cy="121141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数据处理：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取每月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排名前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的栋舍记为高效群，后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20%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为低效群。高效群平均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418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，低效群平均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为</a:t>
            </a:r>
            <a:r>
              <a:rPr lang="en-US" altLang="zh-CN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302</a:t>
            </a: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字段含义：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先取五个探头每个时刻的最高温度、最低温度、平均温度，在每个时刻五个探头平均温度的基础上，取该日龄的最高平均温度，最低平均温度，平均平均温度得到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左边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图像中的最低温度、最高温度、平均温度。取五个探头每个日龄的平均温度作为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右图</a:t>
            </a:r>
            <a:r>
              <a:rPr lang="zh-CN" altLang="en-US" sz="1600" b="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的温度分布</a:t>
            </a:r>
            <a:endParaRPr lang="en-US" altLang="zh-CN" sz="16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0" marR="0" lvl="0" indent="0" algn="l" defTabSz="18288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36FCF19-A3EC-F7ED-649B-E592D40FC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777" y="3402042"/>
            <a:ext cx="5468171" cy="31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2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663518-7548-4643-8219-608BFF0DFA0C}">
  <ds:schemaRefs/>
</ds:datastoreItem>
</file>

<file path=customXml/itemProps2.xml><?xml version="1.0" encoding="utf-8"?>
<ds:datastoreItem xmlns:ds="http://schemas.openxmlformats.org/officeDocument/2006/customXml" ds:itemID="{E3E925E4-5239-4639-A029-07B3CFD6A3F1}">
  <ds:schemaRefs/>
</ds:datastoreItem>
</file>

<file path=customXml/itemProps3.xml><?xml version="1.0" encoding="utf-8"?>
<ds:datastoreItem xmlns:ds="http://schemas.openxmlformats.org/officeDocument/2006/customXml" ds:itemID="{51779852-367B-483D-8C46-CF2C7DC5D26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2728</TotalTime>
  <Words>1239</Words>
  <Application>Microsoft Office PowerPoint</Application>
  <PresentationFormat>宽屏</PresentationFormat>
  <Paragraphs>141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Anova Bold</vt:lpstr>
      <vt:lpstr>Anova Light</vt:lpstr>
      <vt:lpstr>等线</vt:lpstr>
      <vt:lpstr>Arial</vt:lpstr>
      <vt:lpstr>SAS - EXTERNAL</vt:lpstr>
      <vt:lpstr>SAS - EXTERNAL - NDA</vt:lpstr>
      <vt:lpstr>数智驱动的肉鸡养殖根因分析实施方案  第二周成果汇报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182</cp:revision>
  <dcterms:created xsi:type="dcterms:W3CDTF">2023-10-08T03:09:00Z</dcterms:created>
  <dcterms:modified xsi:type="dcterms:W3CDTF">2025-05-12T08:57:49Z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