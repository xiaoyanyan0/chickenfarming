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2.xml" ContentType="application/vnd.openxmlformats-officedocument.presentationml.tag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tags/tag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  <p:sldMasterId id="2147483660" r:id="rId5"/>
  </p:sldMasterIdLst>
  <p:notesMasterIdLst>
    <p:notesMasterId r:id="rId80"/>
  </p:notesMasterIdLst>
  <p:handoutMasterIdLst>
    <p:handoutMasterId r:id="rId81"/>
  </p:handoutMasterIdLst>
  <p:sldIdLst>
    <p:sldId id="16771194" r:id="rId6"/>
    <p:sldId id="16771204" r:id="rId7"/>
    <p:sldId id="2147477425" r:id="rId8"/>
    <p:sldId id="2147477536" r:id="rId9"/>
    <p:sldId id="2147477609" r:id="rId10"/>
    <p:sldId id="2147477610" r:id="rId11"/>
    <p:sldId id="2147477613" r:id="rId12"/>
    <p:sldId id="2147477614" r:id="rId13"/>
    <p:sldId id="2147477608" r:id="rId14"/>
    <p:sldId id="2147477548" r:id="rId15"/>
    <p:sldId id="2147477583" r:id="rId16"/>
    <p:sldId id="2147477551" r:id="rId17"/>
    <p:sldId id="2147477582" r:id="rId18"/>
    <p:sldId id="2147477545" r:id="rId19"/>
    <p:sldId id="2147477547" r:id="rId20"/>
    <p:sldId id="2147477515" r:id="rId21"/>
    <p:sldId id="2147477605" r:id="rId22"/>
    <p:sldId id="2147477507" r:id="rId23"/>
    <p:sldId id="2147477508" r:id="rId24"/>
    <p:sldId id="2147477509" r:id="rId25"/>
    <p:sldId id="2147477510" r:id="rId26"/>
    <p:sldId id="2147477512" r:id="rId27"/>
    <p:sldId id="2147477511" r:id="rId28"/>
    <p:sldId id="2147477513" r:id="rId29"/>
    <p:sldId id="2147477514" r:id="rId30"/>
    <p:sldId id="2147477584" r:id="rId31"/>
    <p:sldId id="2147477585" r:id="rId32"/>
    <p:sldId id="2147477560" r:id="rId33"/>
    <p:sldId id="2147477589" r:id="rId34"/>
    <p:sldId id="2147477588" r:id="rId35"/>
    <p:sldId id="2147477556" r:id="rId36"/>
    <p:sldId id="2147477570" r:id="rId37"/>
    <p:sldId id="2147477604" r:id="rId38"/>
    <p:sldId id="2147477516" r:id="rId39"/>
    <p:sldId id="2147477517" r:id="rId40"/>
    <p:sldId id="2147477518" r:id="rId41"/>
    <p:sldId id="2147477519" r:id="rId42"/>
    <p:sldId id="2147477520" r:id="rId43"/>
    <p:sldId id="2147477521" r:id="rId44"/>
    <p:sldId id="2147477522" r:id="rId45"/>
    <p:sldId id="2147477523" r:id="rId46"/>
    <p:sldId id="2147477590" r:id="rId47"/>
    <p:sldId id="2147477591" r:id="rId48"/>
    <p:sldId id="2147477539" r:id="rId49"/>
    <p:sldId id="2147477592" r:id="rId50"/>
    <p:sldId id="2147477593" r:id="rId51"/>
    <p:sldId id="2147477543" r:id="rId52"/>
    <p:sldId id="2147477533" r:id="rId53"/>
    <p:sldId id="2147477606" r:id="rId54"/>
    <p:sldId id="2147477525" r:id="rId55"/>
    <p:sldId id="2147477526" r:id="rId56"/>
    <p:sldId id="2147477527" r:id="rId57"/>
    <p:sldId id="2147477528" r:id="rId58"/>
    <p:sldId id="2147477529" r:id="rId59"/>
    <p:sldId id="2147477530" r:id="rId60"/>
    <p:sldId id="2147477531" r:id="rId61"/>
    <p:sldId id="2147477532" r:id="rId62"/>
    <p:sldId id="2147477594" r:id="rId63"/>
    <p:sldId id="2147477595" r:id="rId64"/>
    <p:sldId id="2147477564" r:id="rId65"/>
    <p:sldId id="2147477597" r:id="rId66"/>
    <p:sldId id="2147477596" r:id="rId67"/>
    <p:sldId id="2147477568" r:id="rId68"/>
    <p:sldId id="2147477572" r:id="rId69"/>
    <p:sldId id="2147477607" r:id="rId70"/>
    <p:sldId id="2147477574" r:id="rId71"/>
    <p:sldId id="2147477575" r:id="rId72"/>
    <p:sldId id="2147477576" r:id="rId73"/>
    <p:sldId id="2147477577" r:id="rId74"/>
    <p:sldId id="2147477578" r:id="rId75"/>
    <p:sldId id="2147477579" r:id="rId76"/>
    <p:sldId id="2147477580" r:id="rId77"/>
    <p:sldId id="2147477581" r:id="rId78"/>
    <p:sldId id="2147477430" r:id="rId79"/>
  </p:sldIdLst>
  <p:sldSz cx="12192000" cy="6858000"/>
  <p:notesSz cx="6858000" cy="9144000"/>
  <p:custDataLst>
    <p:tags r:id="rId82"/>
  </p:custDataLst>
  <p:defaultTextStyle>
    <a:defPPr>
      <a:defRPr lang="en-US"/>
    </a:defPPr>
    <a:lvl1pPr marL="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609600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E9C3829F-2C56-4915-AA34-5F93EE359221}">
          <p14:sldIdLst>
            <p14:sldId id="16771194"/>
            <p14:sldId id="16771204"/>
            <p14:sldId id="2147477425"/>
          </p14:sldIdLst>
        </p14:section>
        <p14:section name="数据" id="{2FECDC8B-DE91-4323-AA2B-D801C56C963D}">
          <p14:sldIdLst>
            <p14:sldId id="2147477536"/>
          </p14:sldIdLst>
        </p14:section>
        <p14:section name="图例" id="{76BBB22E-3CD8-442F-A55A-EFE124622DB0}">
          <p14:sldIdLst>
            <p14:sldId id="2147477609"/>
            <p14:sldId id="2147477610"/>
            <p14:sldId id="2147477613"/>
            <p14:sldId id="2147477614"/>
          </p14:sldIdLst>
        </p14:section>
        <p14:section name="综合分析" id="{39D6EB33-D176-4FFB-96B9-C60E24F1B3DB}">
          <p14:sldIdLst>
            <p14:sldId id="2147477608"/>
          </p14:sldIdLst>
        </p14:section>
        <p14:section name="冬季" id="{5529DEFB-D291-4180-B135-1C58AD57690E}">
          <p14:sldIdLst>
            <p14:sldId id="2147477548"/>
            <p14:sldId id="2147477583"/>
            <p14:sldId id="2147477551"/>
            <p14:sldId id="2147477582"/>
            <p14:sldId id="2147477545"/>
            <p14:sldId id="2147477547"/>
            <p14:sldId id="2147477515"/>
            <p14:sldId id="2147477605"/>
            <p14:sldId id="2147477507"/>
            <p14:sldId id="2147477508"/>
            <p14:sldId id="2147477509"/>
            <p14:sldId id="2147477510"/>
            <p14:sldId id="2147477512"/>
            <p14:sldId id="2147477511"/>
            <p14:sldId id="2147477513"/>
            <p14:sldId id="2147477514"/>
          </p14:sldIdLst>
        </p14:section>
        <p14:section name="秋季" id="{638D3B15-74AA-4266-B07B-9602D65E4C60}">
          <p14:sldIdLst>
            <p14:sldId id="2147477584"/>
            <p14:sldId id="2147477585"/>
            <p14:sldId id="2147477560"/>
            <p14:sldId id="2147477589"/>
            <p14:sldId id="2147477588"/>
            <p14:sldId id="2147477556"/>
            <p14:sldId id="2147477570"/>
            <p14:sldId id="2147477604"/>
            <p14:sldId id="2147477516"/>
            <p14:sldId id="2147477517"/>
            <p14:sldId id="2147477518"/>
            <p14:sldId id="2147477519"/>
            <p14:sldId id="2147477520"/>
            <p14:sldId id="2147477521"/>
            <p14:sldId id="2147477522"/>
            <p14:sldId id="2147477523"/>
          </p14:sldIdLst>
        </p14:section>
        <p14:section name="夏季" id="{B86F3F91-4136-4C59-B05F-F943D4768B99}">
          <p14:sldIdLst>
            <p14:sldId id="2147477590"/>
            <p14:sldId id="2147477591"/>
            <p14:sldId id="2147477539"/>
            <p14:sldId id="2147477592"/>
            <p14:sldId id="2147477593"/>
            <p14:sldId id="2147477543"/>
            <p14:sldId id="2147477533"/>
            <p14:sldId id="2147477606"/>
            <p14:sldId id="2147477525"/>
            <p14:sldId id="2147477526"/>
            <p14:sldId id="2147477527"/>
            <p14:sldId id="2147477528"/>
            <p14:sldId id="2147477529"/>
            <p14:sldId id="2147477530"/>
            <p14:sldId id="2147477531"/>
            <p14:sldId id="2147477532"/>
          </p14:sldIdLst>
        </p14:section>
        <p14:section name="春季" id="{6B0D2CA9-1685-442B-AED6-6A8D8ABF435F}">
          <p14:sldIdLst>
            <p14:sldId id="2147477594"/>
            <p14:sldId id="2147477595"/>
            <p14:sldId id="2147477564"/>
            <p14:sldId id="2147477597"/>
            <p14:sldId id="2147477596"/>
            <p14:sldId id="2147477568"/>
            <p14:sldId id="2147477572"/>
            <p14:sldId id="2147477607"/>
            <p14:sldId id="2147477574"/>
            <p14:sldId id="2147477575"/>
            <p14:sldId id="2147477576"/>
            <p14:sldId id="2147477577"/>
            <p14:sldId id="2147477578"/>
            <p14:sldId id="2147477579"/>
            <p14:sldId id="2147477580"/>
            <p14:sldId id="2147477581"/>
          </p14:sldIdLst>
        </p14:section>
        <p14:section name="下周计划" id="{AAB4484A-A58E-4FF9-9CE2-A3928016DD34}">
          <p14:sldIdLst>
            <p14:sldId id="214747743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03" userDrawn="1">
          <p15:clr>
            <a:srgbClr val="A4A3A4"/>
          </p15:clr>
        </p15:guide>
        <p15:guide id="2" pos="254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FFFFFF"/>
    <a:srgbClr val="F1F2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93296810-A885-4BE3-A3E7-6D5BEEA58F35}" styleName="中度样式 2 - 强调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D083AE6-46FA-4A59-8FB0-9F97EB10719F}" styleName="浅色样式 3 - 强调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101" autoAdjust="0"/>
    <p:restoredTop sz="92774" autoAdjust="0"/>
  </p:normalViewPr>
  <p:slideViewPr>
    <p:cSldViewPr snapToGrid="0" showGuides="1">
      <p:cViewPr>
        <p:scale>
          <a:sx n="66" d="100"/>
          <a:sy n="66" d="100"/>
        </p:scale>
        <p:origin x="1229" y="257"/>
      </p:cViewPr>
      <p:guideLst>
        <p:guide orient="horz" pos="2103"/>
        <p:guide pos="2545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notesViewPr>
    <p:cSldViewPr snapToGrid="0">
      <p:cViewPr varScale="1">
        <p:scale>
          <a:sx n="63" d="100"/>
          <a:sy n="63" d="100"/>
        </p:scale>
        <p:origin x="3134" y="8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slide" Target="slides/slide58.xml"/><Relationship Id="rId68" Type="http://schemas.openxmlformats.org/officeDocument/2006/relationships/slide" Target="slides/slide63.xml"/><Relationship Id="rId84" Type="http://schemas.openxmlformats.org/officeDocument/2006/relationships/viewProps" Target="viewProps.xml"/><Relationship Id="rId16" Type="http://schemas.openxmlformats.org/officeDocument/2006/relationships/slide" Target="slides/slide11.xml"/><Relationship Id="rId11" Type="http://schemas.openxmlformats.org/officeDocument/2006/relationships/slide" Target="slides/slide6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53" Type="http://schemas.openxmlformats.org/officeDocument/2006/relationships/slide" Target="slides/slide48.xml"/><Relationship Id="rId58" Type="http://schemas.openxmlformats.org/officeDocument/2006/relationships/slide" Target="slides/slide53.xml"/><Relationship Id="rId74" Type="http://schemas.openxmlformats.org/officeDocument/2006/relationships/slide" Target="slides/slide69.xml"/><Relationship Id="rId79" Type="http://schemas.openxmlformats.org/officeDocument/2006/relationships/slide" Target="slides/slide74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56" Type="http://schemas.openxmlformats.org/officeDocument/2006/relationships/slide" Target="slides/slide51.xml"/><Relationship Id="rId64" Type="http://schemas.openxmlformats.org/officeDocument/2006/relationships/slide" Target="slides/slide59.xml"/><Relationship Id="rId69" Type="http://schemas.openxmlformats.org/officeDocument/2006/relationships/slide" Target="slides/slide64.xml"/><Relationship Id="rId77" Type="http://schemas.openxmlformats.org/officeDocument/2006/relationships/slide" Target="slides/slide7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72" Type="http://schemas.openxmlformats.org/officeDocument/2006/relationships/slide" Target="slides/slide67.xml"/><Relationship Id="rId80" Type="http://schemas.openxmlformats.org/officeDocument/2006/relationships/notesMaster" Target="notesMasters/notesMaster1.xml"/><Relationship Id="rId85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46" Type="http://schemas.openxmlformats.org/officeDocument/2006/relationships/slide" Target="slides/slide41.xml"/><Relationship Id="rId59" Type="http://schemas.openxmlformats.org/officeDocument/2006/relationships/slide" Target="slides/slide54.xml"/><Relationship Id="rId67" Type="http://schemas.openxmlformats.org/officeDocument/2006/relationships/slide" Target="slides/slide62.xml"/><Relationship Id="rId20" Type="http://schemas.openxmlformats.org/officeDocument/2006/relationships/slide" Target="slides/slide15.xml"/><Relationship Id="rId41" Type="http://schemas.openxmlformats.org/officeDocument/2006/relationships/slide" Target="slides/slide36.xml"/><Relationship Id="rId54" Type="http://schemas.openxmlformats.org/officeDocument/2006/relationships/slide" Target="slides/slide49.xml"/><Relationship Id="rId62" Type="http://schemas.openxmlformats.org/officeDocument/2006/relationships/slide" Target="slides/slide57.xml"/><Relationship Id="rId70" Type="http://schemas.openxmlformats.org/officeDocument/2006/relationships/slide" Target="slides/slide65.xml"/><Relationship Id="rId75" Type="http://schemas.openxmlformats.org/officeDocument/2006/relationships/slide" Target="slides/slide70.xml"/><Relationship Id="rId83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49" Type="http://schemas.openxmlformats.org/officeDocument/2006/relationships/slide" Target="slides/slide44.xml"/><Relationship Id="rId57" Type="http://schemas.openxmlformats.org/officeDocument/2006/relationships/slide" Target="slides/slide52.xml"/><Relationship Id="rId10" Type="http://schemas.openxmlformats.org/officeDocument/2006/relationships/slide" Target="slides/slide5.xml"/><Relationship Id="rId31" Type="http://schemas.openxmlformats.org/officeDocument/2006/relationships/slide" Target="slides/slide26.xml"/><Relationship Id="rId44" Type="http://schemas.openxmlformats.org/officeDocument/2006/relationships/slide" Target="slides/slide39.xml"/><Relationship Id="rId52" Type="http://schemas.openxmlformats.org/officeDocument/2006/relationships/slide" Target="slides/slide47.xml"/><Relationship Id="rId60" Type="http://schemas.openxmlformats.org/officeDocument/2006/relationships/slide" Target="slides/slide55.xml"/><Relationship Id="rId65" Type="http://schemas.openxmlformats.org/officeDocument/2006/relationships/slide" Target="slides/slide60.xml"/><Relationship Id="rId73" Type="http://schemas.openxmlformats.org/officeDocument/2006/relationships/slide" Target="slides/slide68.xml"/><Relationship Id="rId78" Type="http://schemas.openxmlformats.org/officeDocument/2006/relationships/slide" Target="slides/slide73.xml"/><Relationship Id="rId81" Type="http://schemas.openxmlformats.org/officeDocument/2006/relationships/handoutMaster" Target="handoutMasters/handoutMaster1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9" Type="http://schemas.openxmlformats.org/officeDocument/2006/relationships/slide" Target="slides/slide34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Relationship Id="rId76" Type="http://schemas.openxmlformats.org/officeDocument/2006/relationships/slide" Target="slides/slide71.xml"/><Relationship Id="rId7" Type="http://schemas.openxmlformats.org/officeDocument/2006/relationships/slide" Target="slides/slide2.xml"/><Relationship Id="rId71" Type="http://schemas.openxmlformats.org/officeDocument/2006/relationships/slide" Target="slides/slide66.xml"/><Relationship Id="rId2" Type="http://schemas.openxmlformats.org/officeDocument/2006/relationships/customXml" Target="../customXml/item2.xml"/><Relationship Id="rId29" Type="http://schemas.openxmlformats.org/officeDocument/2006/relationships/slide" Target="slides/slide24.xml"/><Relationship Id="rId24" Type="http://schemas.openxmlformats.org/officeDocument/2006/relationships/slide" Target="slides/slide19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66" Type="http://schemas.openxmlformats.org/officeDocument/2006/relationships/slide" Target="slides/slide61.xml"/><Relationship Id="rId61" Type="http://schemas.openxmlformats.org/officeDocument/2006/relationships/slide" Target="slides/slide56.xml"/><Relationship Id="rId82" Type="http://schemas.openxmlformats.org/officeDocument/2006/relationships/tags" Target="tags/tag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CE34E3-7E5C-436A-9E6D-2FFC8FFCFCBF}" type="datetimeFigureOut">
              <a:rPr lang="en-US" smtClean="0">
                <a:latin typeface="Anova Light" panose="020B0403020203020204" pitchFamily="34" charset="0"/>
              </a:rPr>
              <a:t>6/5/2025</a:t>
            </a:fld>
            <a:endParaRPr lang="en-US" dirty="0">
              <a:latin typeface="Anova Light" panose="020B0403020203020204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algn="l"/>
            <a:fld id="{C4EF46A2-9381-4C51-8277-3C7F2938E9F9}" type="slidenum">
              <a:rPr lang="en-US" smtClean="0">
                <a:latin typeface="Anova Light" panose="020B0403020203020204" pitchFamily="34" charset="0"/>
              </a:rPr>
              <a:t>‹#›</a:t>
            </a:fld>
            <a:endParaRPr lang="en-US" dirty="0">
              <a:latin typeface="Anova Light" panose="020B04030202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fld id="{D46682E9-A1D3-F04F-A14F-ABAA4D2618F2}" type="datetimeFigureOut">
              <a:rPr lang="en-US" smtClean="0"/>
              <a:t>6/4/2025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TextBox 4"/>
          <p:cNvSpPr txBox="1"/>
          <p:nvPr/>
        </p:nvSpPr>
        <p:spPr>
          <a:xfrm>
            <a:off x="685800" y="8879554"/>
            <a:ext cx="2514600" cy="169277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27432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500" b="0" i="0" u="none" strike="noStrike" kern="300" cap="none" spc="50" normalizeH="0" baseline="0" noProof="0" dirty="0">
                <a:ln>
                  <a:noFill/>
                </a:ln>
                <a:solidFill>
                  <a:schemeClr val="accent5">
                    <a:lumMod val="60000"/>
                    <a:lumOff val="4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10" name="Slide Number Placeholder 4"/>
          <p:cNvSpPr>
            <a:spLocks noGrp="1"/>
          </p:cNvSpPr>
          <p:nvPr>
            <p:ph type="sldNum" sz="quarter" idx="5"/>
          </p:nvPr>
        </p:nvSpPr>
        <p:spPr>
          <a:xfrm>
            <a:off x="0" y="0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solidFill>
                  <a:schemeClr val="tx1"/>
                </a:solidFill>
                <a:latin typeface="Anova Light" panose="020B0403020203020204" pitchFamily="34" charset="0"/>
              </a:defRPr>
            </a:lvl1pPr>
          </a:lstStyle>
          <a:p>
            <a:pPr algn="l"/>
            <a:fld id="{C4EF46A2-9381-4C51-8277-3C7F2938E9F9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2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5992336" y="8788172"/>
            <a:ext cx="627951" cy="260659"/>
          </a:xfrm>
          <a:prstGeom prst="rect">
            <a:avLst/>
          </a:prstGeom>
        </p:spPr>
      </p:pic>
      <p:sp>
        <p:nvSpPr>
          <p:cNvPr id="6" name="TextBox 2"/>
          <p:cNvSpPr txBox="1"/>
          <p:nvPr/>
        </p:nvSpPr>
        <p:spPr>
          <a:xfrm>
            <a:off x="2493335" y="8732520"/>
            <a:ext cx="1871330" cy="21544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82880"/>
            <a:r>
              <a:rPr lang="en-US" sz="800" dirty="0">
                <a:solidFill>
                  <a:schemeClr val="tx1"/>
                </a:solidFill>
                <a:latin typeface="Anova Light" panose="020B0403020203020204" pitchFamily="34" charset="0"/>
              </a:rPr>
              <a:t>sas.com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2286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600" b="0" i="0" kern="1200">
        <a:solidFill>
          <a:schemeClr val="tx1"/>
        </a:solidFill>
        <a:latin typeface="+mn-lt"/>
        <a:ea typeface="+mn-ea"/>
        <a:cs typeface="+mn-cs"/>
      </a:defRPr>
    </a:lvl1pPr>
    <a:lvl2pPr marL="8382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335" b="0" i="0" kern="1200">
        <a:solidFill>
          <a:schemeClr val="tx1"/>
        </a:solidFill>
        <a:latin typeface="+mn-lt"/>
        <a:ea typeface="+mn-ea"/>
        <a:cs typeface="+mn-cs"/>
      </a:defRPr>
    </a:lvl2pPr>
    <a:lvl3pPr marL="14478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20574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–"/>
      <a:defRPr sz="1065" b="0" i="0" kern="1200">
        <a:solidFill>
          <a:schemeClr val="tx1"/>
        </a:solidFill>
        <a:latin typeface="+mn-lt"/>
        <a:ea typeface="+mn-ea"/>
        <a:cs typeface="+mn-cs"/>
      </a:defRPr>
    </a:lvl4pPr>
    <a:lvl5pPr marL="2667000" indent="-228600" algn="l" defTabSz="1219200" rtl="0" eaLnBrk="1" latinLnBrk="0" hangingPunct="1">
      <a:buClr>
        <a:schemeClr val="accent5"/>
      </a:buClr>
      <a:buFont typeface="Anova Light" panose="020B0403020203020204" pitchFamily="34" charset="0"/>
      <a:buChar char="•"/>
      <a:defRPr sz="935" b="0" i="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5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616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84676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4155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50019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65668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2EFAC4-F7BB-8AEF-4EBB-818626D72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9FB44C5-6FB8-982B-FE23-FA164E763E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644CBAC-9987-E202-D213-A7536296BA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6AFADBE-07D2-8EE5-C054-ED708415F2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43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209340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D2A26-B441-9A26-0351-6522C3BA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20F919E-2927-892B-B4AB-02D3E4B507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ECD23E4-F8C2-1F2F-DFCF-3383F2C7BD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3F20E5A-B4F5-C932-8CCF-6404616F74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46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7945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C43F7-9F37-38FD-A570-6D811880B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5AB1401-E46D-6B88-CD75-F040FC8FB8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407A75F9-B69A-CD57-8C50-9F402CF55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9AFFB54-1B2B-A166-259D-4062559181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59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731315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1D61C5-EA59-52F6-EC25-75F3BA5D1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7B06EBF9-2152-DDE4-1B52-A9D7F41C6F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54DA2721-BDF7-F3C3-CECA-9E7C409656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6F9DDF93-DF18-AF8E-AEC7-E50C3DCD274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62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3610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algn="l"/>
            <a:fld id="{C4EF46A2-9381-4C51-8277-3C7F2938E9F9}" type="slidenum">
              <a:rPr lang="en-US" smtClean="0"/>
              <a:t>64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6432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4" y="1890117"/>
            <a:ext cx="1051884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4" y="2813447"/>
            <a:ext cx="1051884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Title &amp; Sub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1"/>
            <a:ext cx="5161231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1"/>
            <a:ext cx="5161232" cy="4576763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2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Titl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1890117"/>
            <a:ext cx="10521696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2813447"/>
            <a:ext cx="10521696" cy="615553"/>
          </a:xfr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accent3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Slideshow Subtitle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Presenter Info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Section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505670"/>
            <a:ext cx="8082481" cy="923330"/>
          </a:xfrm>
          <a:prstGeom prst="rect">
            <a:avLst/>
          </a:prstGeom>
        </p:spPr>
        <p:txBody>
          <a:bodyPr vert="horz" wrap="square" lIns="0" tIns="0" rIns="0" bIns="182880" rtlCol="0" anchor="b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Section Title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 hasCustomPrompt="1"/>
          </p:nvPr>
        </p:nvSpPr>
        <p:spPr>
          <a:xfrm>
            <a:off x="834955" y="3561836"/>
            <a:ext cx="8082481" cy="615553"/>
          </a:xfrm>
        </p:spPr>
        <p:txBody>
          <a:bodyPr wrap="square" anchor="t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3200">
                <a:solidFill>
                  <a:schemeClr val="bg1"/>
                </a:solidFill>
              </a:defRPr>
            </a:lvl1pPr>
            <a:lvl2pPr marL="243840" indent="0">
              <a:buNone/>
              <a:defRPr>
                <a:solidFill>
                  <a:schemeClr val="accent3"/>
                </a:solidFill>
              </a:defRPr>
            </a:lvl2pPr>
            <a:lvl3pPr marL="487680" indent="0">
              <a:buNone/>
              <a:defRPr>
                <a:solidFill>
                  <a:schemeClr val="accent3"/>
                </a:solidFill>
              </a:defRPr>
            </a:lvl3pPr>
            <a:lvl4pPr marL="1371600" indent="0">
              <a:buNone/>
              <a:defRPr>
                <a:solidFill>
                  <a:schemeClr val="accent3"/>
                </a:solidFill>
              </a:defRPr>
            </a:lvl4pPr>
            <a:lvl5pPr marL="1828800" indent="0">
              <a:buNone/>
              <a:defRPr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Section Subtitle</a:t>
            </a:r>
          </a:p>
        </p:txBody>
      </p:sp>
      <p:sp>
        <p:nvSpPr>
          <p:cNvPr id="2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>
                    <a:lumMod val="20000"/>
                    <a:lumOff val="80000"/>
                  </a:schemeClr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3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/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accent1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Click to Add Slide Title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idx="1"/>
          </p:nvPr>
        </p:nvSpPr>
        <p:spPr>
          <a:xfrm>
            <a:off x="838199" y="1600200"/>
            <a:ext cx="5161231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idx="11"/>
          </p:nvPr>
        </p:nvSpPr>
        <p:spPr>
          <a:xfrm>
            <a:off x="6192571" y="1600200"/>
            <a:ext cx="5161232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>
            <a:lvl1pPr>
              <a:defRPr sz="2400"/>
            </a:lvl1pPr>
            <a:lvl2pPr>
              <a:defRPr sz="1865">
                <a:latin typeface="+mn-lt"/>
              </a:defRPr>
            </a:lvl2pPr>
            <a:lvl3pPr>
              <a:defRPr sz="1600">
                <a:latin typeface="+mn-lt"/>
              </a:defRPr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41400"/>
            <a:ext cx="10515600" cy="366255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Only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8200" y="2911937"/>
            <a:ext cx="2952184" cy="1034129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AS - Title &amp; Subtitle Righ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947330"/>
            <a:ext cx="3336233" cy="366255"/>
          </a:xfrm>
          <a:prstGeom prst="rect">
            <a:avLst/>
          </a:prstGeom>
        </p:spPr>
        <p:txBody>
          <a:bodyPr wrap="square" anchor="t">
            <a:noAutofit/>
          </a:bodyPr>
          <a:lstStyle>
            <a:lvl1pPr marL="0" indent="0" algn="l">
              <a:buNone/>
              <a:defRPr>
                <a:solidFill>
                  <a:schemeClr val="bg2"/>
                </a:solidFill>
              </a:defRPr>
            </a:lvl1pPr>
            <a:lvl2pPr marL="243840" indent="0">
              <a:buNone/>
              <a:defRPr/>
            </a:lvl2pPr>
            <a:lvl3pPr marL="48768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834955" y="2768821"/>
            <a:ext cx="3334512" cy="1034386"/>
          </a:xfrm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/>
            </a:lvl1pPr>
          </a:lstStyle>
          <a:p>
            <a:pPr marL="0" lvl="0">
              <a:lnSpc>
                <a:spcPct val="90000"/>
              </a:lnSpc>
              <a:spcBef>
                <a:spcPct val="0"/>
              </a:spcBef>
              <a:buNone/>
            </a:pPr>
            <a:r>
              <a:rPr lang="en-US" dirty="0"/>
              <a:t>Click to Add 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S - Closing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834955" y="2967336"/>
            <a:ext cx="8708755" cy="923330"/>
          </a:xfrm>
          <a:prstGeom prst="rect">
            <a:avLst/>
          </a:prstGeom>
        </p:spPr>
        <p:txBody>
          <a:bodyPr vert="horz" wrap="square" lIns="0" tIns="0" rIns="0" bIns="182880" rtlCol="0" anchor="ctr" anchorCtr="0">
            <a:spAutoFit/>
          </a:bodyPr>
          <a:lstStyle>
            <a:lvl1pPr>
              <a:lnSpc>
                <a:spcPct val="100000"/>
              </a:lnSpc>
              <a:spcBef>
                <a:spcPts val="400"/>
              </a:spcBef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Slideshow Closing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642533" y="5517984"/>
            <a:ext cx="1711268" cy="705016"/>
          </a:xfrm>
          <a:prstGeom prst="rect">
            <a:avLst/>
          </a:prstGeom>
        </p:spPr>
      </p:pic>
      <p:sp>
        <p:nvSpPr>
          <p:cNvPr id="2" name="Text Placeholder 15"/>
          <p:cNvSpPr>
            <a:spLocks noGrp="1"/>
          </p:cNvSpPr>
          <p:nvPr>
            <p:ph type="body" sz="quarter" idx="11" hasCustomPrompt="1"/>
          </p:nvPr>
        </p:nvSpPr>
        <p:spPr>
          <a:xfrm>
            <a:off x="834955" y="5517985"/>
            <a:ext cx="8082481" cy="705015"/>
          </a:xfrm>
        </p:spPr>
        <p:txBody>
          <a:bodyPr wrap="square" anchor="ctr" anchorCtr="0">
            <a:noAutofit/>
          </a:bodyPr>
          <a:lstStyle>
            <a:lvl1pPr marL="0" indent="0">
              <a:lnSpc>
                <a:spcPct val="100000"/>
              </a:lnSpc>
              <a:spcBef>
                <a:spcPts val="400"/>
              </a:spcBef>
              <a:buNone/>
              <a:defRPr sz="1865">
                <a:solidFill>
                  <a:schemeClr val="accent3"/>
                </a:solidFill>
              </a:defRPr>
            </a:lvl1pPr>
            <a:lvl2pPr marL="243840" indent="0">
              <a:buNone/>
              <a:defRPr sz="1465">
                <a:solidFill>
                  <a:schemeClr val="accent3"/>
                </a:solidFill>
              </a:defRPr>
            </a:lvl2pPr>
            <a:lvl3pPr marL="487680" indent="0">
              <a:buNone/>
              <a:defRPr sz="1400">
                <a:solidFill>
                  <a:schemeClr val="accent3"/>
                </a:solidFill>
              </a:defRPr>
            </a:lvl3pPr>
            <a:lvl4pPr marL="1371600" indent="0">
              <a:buNone/>
              <a:defRPr sz="1335">
                <a:solidFill>
                  <a:schemeClr val="accent3"/>
                </a:solidFill>
              </a:defRPr>
            </a:lvl4pPr>
            <a:lvl5pPr marL="1828800" indent="0">
              <a:buNone/>
              <a:defRPr sz="1335">
                <a:solidFill>
                  <a:schemeClr val="accent3"/>
                </a:solidFill>
              </a:defRPr>
            </a:lvl5pPr>
          </a:lstStyle>
          <a:p>
            <a:pPr lvl="0"/>
            <a:r>
              <a:rPr lang="en-US" dirty="0"/>
              <a:t>Click to add a website or email</a:t>
            </a:r>
          </a:p>
        </p:txBody>
      </p:sp>
      <p:sp>
        <p:nvSpPr>
          <p:cNvPr id="3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AS - Blank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AS - Video Only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ags" Target="../tags/tag3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4.sv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5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57676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pic>
        <p:nvPicPr>
          <p:cNvPr id="5" name="Picture 6"/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  <p:sp>
        <p:nvSpPr>
          <p:cNvPr id="4" name="文本框 3"/>
          <p:cNvSpPr txBox="1"/>
          <p:nvPr userDrawn="1"/>
        </p:nvSpPr>
        <p:spPr>
          <a:xfrm>
            <a:off x="242570" y="4400550"/>
            <a:ext cx="4064000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endParaRPr lang="zh-CN" altLang="en-US" dirty="0">
              <a:solidFill>
                <a:schemeClr val="tx1"/>
              </a:solidFill>
            </a:endParaRPr>
          </a:p>
        </p:txBody>
      </p:sp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0984752" y="6096000"/>
            <a:ext cx="1207248" cy="76200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0" y="6096000"/>
            <a:ext cx="10984752" cy="762001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4955" y="1600200"/>
            <a:ext cx="10515600" cy="429618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4955" y="473536"/>
            <a:ext cx="10515600" cy="517064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US" dirty="0"/>
              <a:t>Click to Add Slide Title</a:t>
            </a:r>
          </a:p>
        </p:txBody>
      </p:sp>
      <p:sp>
        <p:nvSpPr>
          <p:cNvPr id="8" name="TextBox 4"/>
          <p:cNvSpPr txBox="1"/>
          <p:nvPr userDrawn="1"/>
        </p:nvSpPr>
        <p:spPr>
          <a:xfrm>
            <a:off x="834955" y="6180007"/>
            <a:ext cx="5725995" cy="420564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2135" b="1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Bold" panose="020B07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CONFIDENTIAL — DO NOT DISCLOSE</a:t>
            </a:r>
          </a:p>
        </p:txBody>
      </p:sp>
      <p:sp>
        <p:nvSpPr>
          <p:cNvPr id="10" name="TextBox 4"/>
          <p:cNvSpPr txBox="1"/>
          <p:nvPr userDrawn="1"/>
        </p:nvSpPr>
        <p:spPr>
          <a:xfrm>
            <a:off x="834955" y="6539393"/>
            <a:ext cx="3352800" cy="194990"/>
          </a:xfrm>
          <a:prstGeom prst="rect">
            <a:avLst/>
          </a:prstGeom>
          <a:noFill/>
        </p:spPr>
        <p:txBody>
          <a:bodyPr wrap="square" lIns="0" anchor="b" anchorCtr="0">
            <a:spAutoFit/>
          </a:bodyPr>
          <a:lstStyle/>
          <a:p>
            <a:pPr marL="0" marR="0" lvl="0" indent="0" algn="l" defTabSz="365760" rtl="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665" b="0" i="0" u="none" strike="noStrike" kern="300" cap="none" spc="67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nova Light" panose="020B0403020203020204" pitchFamily="34" charset="0"/>
                <a:ea typeface="Anova Bold" panose="020B0703020203020204" pitchFamily="34" charset="0"/>
                <a:cs typeface="Anova Light" panose="020B0403020203020204" pitchFamily="34" charset="0"/>
              </a:rPr>
              <a:t>Copyright © SAS Institute Inc. All rights reserved.</a:t>
            </a:r>
          </a:p>
        </p:txBody>
      </p:sp>
      <p:pic>
        <p:nvPicPr>
          <p:cNvPr id="4" name="Picture 6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rcRect/>
          <a:stretch>
            <a:fillRect/>
          </a:stretch>
        </p:blipFill>
        <p:spPr>
          <a:xfrm>
            <a:off x="11217439" y="6344362"/>
            <a:ext cx="741875" cy="307948"/>
          </a:xfrm>
          <a:prstGeom prst="rect">
            <a:avLst/>
          </a:prstGeom>
        </p:spPr>
      </p:pic>
    </p:spTree>
    <p:custDataLst>
      <p:tags r:id="rId1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735" b="1" i="0" kern="1200">
          <a:solidFill>
            <a:schemeClr val="accent5"/>
          </a:solidFill>
          <a:latin typeface="Anova Bold" panose="020B0703020203020204" pitchFamily="34" charset="0"/>
          <a:ea typeface="+mj-ea"/>
          <a:cs typeface="+mj-cs"/>
        </a:defRPr>
      </a:lvl1pPr>
    </p:titleStyle>
    <p:bodyStyle>
      <a:lvl1pPr marL="24384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2400" b="0" i="0" kern="1200">
          <a:solidFill>
            <a:schemeClr val="tx1"/>
          </a:solidFill>
          <a:latin typeface="+mn-lt"/>
          <a:ea typeface="+mn-ea"/>
          <a:cs typeface="+mn-cs"/>
        </a:defRPr>
      </a:lvl1pPr>
      <a:lvl2pPr marL="48768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–"/>
        <a:defRPr sz="1865" b="0" i="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43840" algn="l" defTabSz="914400" rtl="0" eaLnBrk="1" latinLnBrk="0" hangingPunct="1">
        <a:lnSpc>
          <a:spcPct val="85000"/>
        </a:lnSpc>
        <a:spcBef>
          <a:spcPts val="1065"/>
        </a:spcBef>
        <a:buClr>
          <a:schemeClr val="accent5"/>
        </a:buClr>
        <a:buFont typeface="Anova Light" panose="020B0403020203020204" pitchFamily="34" charset="0"/>
        <a:buChar char="•"/>
        <a:defRPr sz="1600" b="0" 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bg2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nova Light" panose="020B0403020203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emf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0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5.png"/><Relationship Id="rId4" Type="http://schemas.openxmlformats.org/officeDocument/2006/relationships/image" Target="../media/image84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3.png"/><Relationship Id="rId4" Type="http://schemas.openxmlformats.org/officeDocument/2006/relationships/image" Target="../media/image92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5.png"/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97.png"/><Relationship Id="rId4" Type="http://schemas.openxmlformats.org/officeDocument/2006/relationships/image" Target="../media/image96.png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3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0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emf"/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0.png"/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4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16.png"/><Relationship Id="rId4" Type="http://schemas.openxmlformats.org/officeDocument/2006/relationships/image" Target="../media/image11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8.png"/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0.png"/><Relationship Id="rId4" Type="http://schemas.openxmlformats.org/officeDocument/2006/relationships/image" Target="../media/image119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2.png"/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4.png"/><Relationship Id="rId4" Type="http://schemas.openxmlformats.org/officeDocument/2006/relationships/image" Target="../media/image123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6.png"/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28.png"/><Relationship Id="rId4" Type="http://schemas.openxmlformats.org/officeDocument/2006/relationships/image" Target="../media/image12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4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6.png"/><Relationship Id="rId4" Type="http://schemas.openxmlformats.org/officeDocument/2006/relationships/image" Target="../media/image135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png"/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0.png"/><Relationship Id="rId4" Type="http://schemas.openxmlformats.org/officeDocument/2006/relationships/image" Target="../media/image139.png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2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6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3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1.emf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0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3.png"/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5.png"/><Relationship Id="rId4" Type="http://schemas.openxmlformats.org/officeDocument/2006/relationships/image" Target="../media/image15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7.png"/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59.png"/><Relationship Id="rId4" Type="http://schemas.openxmlformats.org/officeDocument/2006/relationships/image" Target="../media/image158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1.png"/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3.png"/><Relationship Id="rId4" Type="http://schemas.openxmlformats.org/officeDocument/2006/relationships/image" Target="../media/image162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67.png"/><Relationship Id="rId4" Type="http://schemas.openxmlformats.org/officeDocument/2006/relationships/image" Target="../media/image166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9.png"/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1.png"/><Relationship Id="rId4" Type="http://schemas.openxmlformats.org/officeDocument/2006/relationships/image" Target="../media/image170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7.png"/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9.png"/><Relationship Id="rId4" Type="http://schemas.openxmlformats.org/officeDocument/2006/relationships/image" Target="../media/image178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83.png"/><Relationship Id="rId4" Type="http://schemas.openxmlformats.org/officeDocument/2006/relationships/image" Target="../media/image182.png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45419" y="1213071"/>
            <a:ext cx="10518846" cy="2400657"/>
          </a:xfrm>
        </p:spPr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数智驱动的肉鸡养殖根因分析实施方案</a:t>
            </a: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b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</a:b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第五周成果汇报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1"/>
          </p:nvPr>
        </p:nvSpPr>
        <p:spPr>
          <a:xfrm>
            <a:off x="834955" y="4308945"/>
            <a:ext cx="8082481" cy="705015"/>
          </a:xfrm>
        </p:spPr>
        <p:txBody>
          <a:bodyPr/>
          <a:lstStyle/>
          <a:p>
            <a:r>
              <a:rPr lang="en-US" altLang="zh-CN" dirty="0"/>
              <a:t>2025.05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" name="组合 87"/>
          <p:cNvGrpSpPr/>
          <p:nvPr/>
        </p:nvGrpSpPr>
        <p:grpSpPr>
          <a:xfrm>
            <a:off x="2689795" y="1304579"/>
            <a:ext cx="9182857" cy="5080787"/>
            <a:chOff x="2689795" y="1304579"/>
            <a:chExt cx="9182857" cy="5080787"/>
          </a:xfrm>
        </p:grpSpPr>
        <p:cxnSp>
          <p:nvCxnSpPr>
            <p:cNvPr id="50" name="直接连接符 49"/>
            <p:cNvCxnSpPr/>
            <p:nvPr/>
          </p:nvCxnSpPr>
          <p:spPr>
            <a:xfrm>
              <a:off x="2689795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8" name="直接连接符 57"/>
            <p:cNvCxnSpPr/>
            <p:nvPr/>
          </p:nvCxnSpPr>
          <p:spPr>
            <a:xfrm>
              <a:off x="5215019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59" name="直接连接符 58"/>
            <p:cNvCxnSpPr/>
            <p:nvPr/>
          </p:nvCxnSpPr>
          <p:spPr>
            <a:xfrm>
              <a:off x="6477631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0" name="直接连接符 59"/>
            <p:cNvCxnSpPr/>
            <p:nvPr/>
          </p:nvCxnSpPr>
          <p:spPr>
            <a:xfrm>
              <a:off x="1026546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68" name="直接连接符 67"/>
            <p:cNvCxnSpPr/>
            <p:nvPr/>
          </p:nvCxnSpPr>
          <p:spPr>
            <a:xfrm>
              <a:off x="9002855" y="1442480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77" name="直接连接符 76"/>
            <p:cNvCxnSpPr/>
            <p:nvPr/>
          </p:nvCxnSpPr>
          <p:spPr>
            <a:xfrm>
              <a:off x="3952407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cxnSp>
          <p:nvCxnSpPr>
            <p:cNvPr id="83" name="直接连接符 82"/>
            <p:cNvCxnSpPr/>
            <p:nvPr/>
          </p:nvCxnSpPr>
          <p:spPr>
            <a:xfrm>
              <a:off x="11528078" y="1304579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  <p:pic>
          <p:nvPicPr>
            <p:cNvPr id="84" name="图形 83" descr="鲤鱼旗 纯色填充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497028" y="1404375"/>
              <a:ext cx="375624" cy="360000"/>
            </a:xfrm>
            <a:prstGeom prst="rect">
              <a:avLst/>
            </a:prstGeom>
          </p:spPr>
        </p:pic>
        <p:cxnSp>
          <p:nvCxnSpPr>
            <p:cNvPr id="87" name="直接连接符 86"/>
            <p:cNvCxnSpPr/>
            <p:nvPr/>
          </p:nvCxnSpPr>
          <p:spPr>
            <a:xfrm>
              <a:off x="7740243" y="1453366"/>
              <a:ext cx="0" cy="4932000"/>
            </a:xfrm>
            <a:prstGeom prst="line">
              <a:avLst/>
            </a:prstGeom>
            <a:noFill/>
            <a:ln w="6350" cap="flat" cmpd="sng" algn="ctr">
              <a:solidFill>
                <a:srgbClr val="FFFFFF">
                  <a:lumMod val="65000"/>
                </a:srgbClr>
              </a:solidFill>
              <a:prstDash val="lgDash"/>
              <a:miter lim="800000"/>
            </a:ln>
            <a:effectLst/>
          </p:spPr>
        </p:cxnSp>
      </p:grpSp>
      <p:cxnSp>
        <p:nvCxnSpPr>
          <p:cNvPr id="49" name="直接连接符 48"/>
          <p:cNvCxnSpPr/>
          <p:nvPr/>
        </p:nvCxnSpPr>
        <p:spPr>
          <a:xfrm>
            <a:off x="11526134" y="1453366"/>
            <a:ext cx="0" cy="4932000"/>
          </a:xfrm>
          <a:prstGeom prst="line">
            <a:avLst/>
          </a:prstGeom>
          <a:noFill/>
          <a:ln w="6350" cap="flat" cmpd="sng" algn="ctr">
            <a:solidFill>
              <a:srgbClr val="FFFFFF">
                <a:lumMod val="65000"/>
              </a:srgbClr>
            </a:solidFill>
            <a:prstDash val="lgDash"/>
            <a:miter lim="800000"/>
          </a:ln>
          <a:effectLst/>
        </p:spPr>
      </p:cxnSp>
      <p:sp>
        <p:nvSpPr>
          <p:cNvPr id="2" name="标题 1"/>
          <p:cNvSpPr txBox="1"/>
          <p:nvPr/>
        </p:nvSpPr>
        <p:spPr>
          <a:xfrm>
            <a:off x="552010" y="273332"/>
            <a:ext cx="11239200" cy="640800"/>
          </a:xfrm>
          <a:prstGeom prst="rect">
            <a:avLst/>
          </a:prstGeom>
        </p:spPr>
        <p:txBody>
          <a:bodyPr vert="horz" wrap="square" lIns="121920" tIns="60960" rIns="121920" bIns="60960" rtlCol="0" anchor="ctr" anchorCtr="0">
            <a:noAutofit/>
          </a:bodyPr>
          <a:lstStyle>
            <a:lvl1pPr algn="ctr" defTabSz="182880" rtl="0" eaLnBrk="1" latinLnBrk="0" hangingPunct="1">
              <a:spcBef>
                <a:spcPct val="0"/>
              </a:spcBef>
              <a:buNone/>
              <a:defRPr lang="en-US" sz="1500" b="1" kern="1200" cap="none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18288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基于前期沟通，制定了详细合理的工作实施计划，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PoC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预计整体周期为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7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等线 Light" panose="02010600030101010101" pitchFamily="2" charset="-122"/>
                <a:ea typeface="等线 Light" panose="02010600030101010101" pitchFamily="2" charset="-122"/>
                <a:cs typeface="+mj-cs"/>
              </a:rPr>
              <a:t>周，具体实施过程中采用多任务同步推进，串行和并行相结合的方式进行，有效推进项目快速落地</a:t>
            </a:r>
          </a:p>
        </p:txBody>
      </p:sp>
      <p:sp>
        <p:nvSpPr>
          <p:cNvPr id="6" name="Freeform 60"/>
          <p:cNvSpPr/>
          <p:nvPr/>
        </p:nvSpPr>
        <p:spPr bwMode="auto">
          <a:xfrm>
            <a:off x="1358471" y="1349215"/>
            <a:ext cx="10363180" cy="73919"/>
          </a:xfrm>
          <a:custGeom>
            <a:avLst/>
            <a:gdLst>
              <a:gd name="T0" fmla="*/ 0 w 4490"/>
              <a:gd name="T1" fmla="*/ 2147483647 h 91"/>
              <a:gd name="T2" fmla="*/ 0 w 4490"/>
              <a:gd name="T3" fmla="*/ 0 h 91"/>
              <a:gd name="T4" fmla="*/ 2147483647 w 4490"/>
              <a:gd name="T5" fmla="*/ 0 h 91"/>
              <a:gd name="T6" fmla="*/ 2147483647 w 4490"/>
              <a:gd name="T7" fmla="*/ 2147483647 h 91"/>
              <a:gd name="T8" fmla="*/ 0 60000 65536"/>
              <a:gd name="T9" fmla="*/ 0 60000 65536"/>
              <a:gd name="T10" fmla="*/ 0 60000 65536"/>
              <a:gd name="T11" fmla="*/ 0 60000 65536"/>
              <a:gd name="T12" fmla="*/ 0 w 4490"/>
              <a:gd name="T13" fmla="*/ 0 h 91"/>
              <a:gd name="T14" fmla="*/ 4490 w 4490"/>
              <a:gd name="T15" fmla="*/ 91 h 91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4490" h="91">
                <a:moveTo>
                  <a:pt x="0" y="91"/>
                </a:moveTo>
                <a:lnTo>
                  <a:pt x="0" y="0"/>
                </a:lnTo>
                <a:lnTo>
                  <a:pt x="4490" y="0"/>
                </a:lnTo>
                <a:lnTo>
                  <a:pt x="4490" y="91"/>
                </a:lnTo>
              </a:path>
            </a:pathLst>
          </a:custGeom>
          <a:noFill/>
          <a:ln w="6350">
            <a:solidFill>
              <a:srgbClr val="BBBCBC"/>
            </a:solidFill>
            <a:round/>
          </a:ln>
        </p:spPr>
        <p:txBody>
          <a:bodyPr wrap="none" lIns="0" tIns="0" rIns="0" bIns="0" anchor="ctr"/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465" b="0" i="0" u="none" strike="noStrike" kern="1200" cap="none" spc="0" normalizeH="0" baseline="0" noProof="0" dirty="0">
              <a:ln>
                <a:noFill/>
              </a:ln>
              <a:solidFill>
                <a:srgbClr val="53565A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685505" y="1442480"/>
            <a:ext cx="619678" cy="749660"/>
            <a:chOff x="427051" y="1660594"/>
            <a:chExt cx="593903" cy="749660"/>
          </a:xfrm>
        </p:grpSpPr>
        <p:sp>
          <p:nvSpPr>
            <p:cNvPr id="32" name="矩形 31"/>
            <p:cNvSpPr/>
            <p:nvPr/>
          </p:nvSpPr>
          <p:spPr>
            <a:xfrm>
              <a:off x="520023" y="1660594"/>
              <a:ext cx="500931" cy="7496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zh-CN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前期准备</a:t>
              </a:r>
            </a:p>
          </p:txBody>
        </p:sp>
        <p:sp>
          <p:nvSpPr>
            <p:cNvPr id="33" name="Oval 20"/>
            <p:cNvSpPr/>
            <p:nvPr/>
          </p:nvSpPr>
          <p:spPr bwMode="gray">
            <a:xfrm>
              <a:off x="427051" y="1943984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rPr>
                <a:t>1</a:t>
              </a: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680726" y="2284224"/>
            <a:ext cx="616963" cy="3575538"/>
            <a:chOff x="446496" y="2370258"/>
            <a:chExt cx="591301" cy="3575538"/>
          </a:xfrm>
        </p:grpSpPr>
        <p:sp>
          <p:nvSpPr>
            <p:cNvPr id="35" name="矩形 34"/>
            <p:cNvSpPr/>
            <p:nvPr/>
          </p:nvSpPr>
          <p:spPr>
            <a:xfrm>
              <a:off x="528856" y="2370258"/>
              <a:ext cx="508941" cy="357553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主体实施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6" name="Oval 20"/>
            <p:cNvSpPr/>
            <p:nvPr/>
          </p:nvSpPr>
          <p:spPr bwMode="gray">
            <a:xfrm>
              <a:off x="446496" y="3822520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2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37" name="组合 36"/>
          <p:cNvGrpSpPr/>
          <p:nvPr/>
        </p:nvGrpSpPr>
        <p:grpSpPr>
          <a:xfrm>
            <a:off x="687104" y="5910770"/>
            <a:ext cx="618080" cy="453681"/>
            <a:chOff x="406210" y="5558612"/>
            <a:chExt cx="592371" cy="453681"/>
          </a:xfrm>
        </p:grpSpPr>
        <p:sp>
          <p:nvSpPr>
            <p:cNvPr id="38" name="矩形 37"/>
            <p:cNvSpPr/>
            <p:nvPr/>
          </p:nvSpPr>
          <p:spPr>
            <a:xfrm>
              <a:off x="485637" y="5558612"/>
              <a:ext cx="512944" cy="45368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lang="zh-CN" altLang="en-US" sz="1100" b="1" dirty="0">
                  <a:solidFill>
                    <a:prstClr val="black"/>
                  </a:solidFill>
                  <a:latin typeface="等线" panose="02010600030101010101" pitchFamily="2" charset="-122"/>
                  <a:ea typeface="等线" panose="02010600030101010101" pitchFamily="2" charset="-122"/>
                </a:rPr>
                <a:t>分析交付</a:t>
              </a:r>
              <a:endPara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9" name="Oval 20"/>
            <p:cNvSpPr/>
            <p:nvPr/>
          </p:nvSpPr>
          <p:spPr bwMode="gray">
            <a:xfrm>
              <a:off x="406210" y="5710478"/>
              <a:ext cx="182880" cy="182880"/>
            </a:xfrm>
            <a:prstGeom prst="ellipse">
              <a:avLst/>
            </a:prstGeom>
            <a:solidFill>
              <a:schemeClr val="tx1"/>
            </a:solidFill>
            <a:ln w="19050" algn="ctr">
              <a:noFill/>
              <a:miter lim="800000"/>
            </a:ln>
          </p:spPr>
          <p:txBody>
            <a:bodyPr wrap="square" lIns="88900" tIns="88900" rIns="88900" bIns="8890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6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Wingdings 2" panose="05020102010507070707" pitchFamily="18" charset="2"/>
                <a:buNone/>
                <a:defRPr/>
              </a:pPr>
              <a:r>
                <a:rPr kumimoji="0" lang="en-US" altLang="zh-CN" sz="12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等线" panose="02010600030101010101" pitchFamily="2" charset="-122"/>
                  <a:ea typeface="等线" panose="02010600030101010101" pitchFamily="2" charset="-122"/>
                  <a:cs typeface="+mn-cs"/>
                </a:rPr>
                <a:t>3</a:t>
              </a:r>
              <a:endPara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40" name="矩形 39"/>
          <p:cNvSpPr/>
          <p:nvPr/>
        </p:nvSpPr>
        <p:spPr bwMode="gray">
          <a:xfrm>
            <a:off x="1358471" y="1442481"/>
            <a:ext cx="10363182" cy="750507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12036"/>
                </a:solidFill>
                <a:effectLst/>
                <a:uLnTx/>
                <a:uFillTx/>
                <a:latin typeface="等线" panose="02010600030101010101" pitchFamily="2" charset="-122"/>
                <a:ea typeface="等线" panose="02010600030101010101" pitchFamily="2" charset="-122"/>
                <a:cs typeface="+mn-cs"/>
              </a:rPr>
              <a:t>环境和数据准备</a:t>
            </a:r>
            <a:endParaRPr kumimoji="0" lang="zh-CN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012036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1" name="AutoShape 95"/>
          <p:cNvSpPr>
            <a:spLocks noChangeArrowheads="1"/>
          </p:cNvSpPr>
          <p:nvPr/>
        </p:nvSpPr>
        <p:spPr bwMode="auto">
          <a:xfrm>
            <a:off x="343949" y="1442480"/>
            <a:ext cx="264859" cy="4921972"/>
          </a:xfrm>
          <a:prstGeom prst="rect">
            <a:avLst/>
          </a:prstGeom>
          <a:pattFill prst="dkDnDiag">
            <a:fgClr>
              <a:schemeClr val="tx2">
                <a:lumMod val="10000"/>
                <a:lumOff val="90000"/>
              </a:schemeClr>
            </a:fgClr>
            <a:bgClr>
              <a:schemeClr val="bg1"/>
            </a:bgClr>
          </a:pattFill>
          <a:ln>
            <a:noFill/>
          </a:ln>
        </p:spPr>
        <p:txBody>
          <a:bodyPr lIns="0" tIns="88900" rIns="0" bIns="88900" anchor="ctr"/>
          <a:lstStyle>
            <a:lvl1pPr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defTabSz="60833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60833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60833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11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时间计划安排</a:t>
            </a:r>
            <a:endParaRPr kumimoji="0" lang="zh-CN" altLang="en-US" sz="11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等线" panose="02010600030101010101" pitchFamily="2" charset="-122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4" name="矩形 43"/>
          <p:cNvSpPr/>
          <p:nvPr/>
        </p:nvSpPr>
        <p:spPr bwMode="gray">
          <a:xfrm>
            <a:off x="1358469" y="2284223"/>
            <a:ext cx="10363182" cy="151240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数据质量检查</a:t>
            </a:r>
          </a:p>
        </p:txBody>
      </p:sp>
      <p:sp>
        <p:nvSpPr>
          <p:cNvPr id="45" name="矩形 44"/>
          <p:cNvSpPr/>
          <p:nvPr/>
        </p:nvSpPr>
        <p:spPr bwMode="gray">
          <a:xfrm>
            <a:off x="1358469" y="5912872"/>
            <a:ext cx="10363182" cy="453681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defTabSz="914400"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成果分析和报表交付</a:t>
            </a:r>
            <a:endParaRPr lang="en-US" altLang="zh-CN" sz="1000" b="1" dirty="0">
              <a:solidFill>
                <a:srgbClr val="012036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4774317" y="980093"/>
            <a:ext cx="848804" cy="442535"/>
            <a:chOff x="3224585" y="980599"/>
            <a:chExt cx="848804" cy="442535"/>
          </a:xfrm>
        </p:grpSpPr>
        <p:sp>
          <p:nvSpPr>
            <p:cNvPr id="5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W2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6036054" y="980093"/>
            <a:ext cx="848804" cy="442535"/>
            <a:chOff x="2362212" y="980599"/>
            <a:chExt cx="773093" cy="442535"/>
          </a:xfrm>
        </p:grpSpPr>
        <p:sp>
          <p:nvSpPr>
            <p:cNvPr id="9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0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W3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7297791" y="980093"/>
            <a:ext cx="848804" cy="442535"/>
            <a:chOff x="2362212" y="980599"/>
            <a:chExt cx="773093" cy="442535"/>
          </a:xfrm>
        </p:grpSpPr>
        <p:sp>
          <p:nvSpPr>
            <p:cNvPr id="12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W4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8559528" y="980093"/>
            <a:ext cx="848804" cy="442535"/>
            <a:chOff x="2362212" y="980599"/>
            <a:chExt cx="773093" cy="442535"/>
          </a:xfrm>
        </p:grpSpPr>
        <p:sp>
          <p:nvSpPr>
            <p:cNvPr id="1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W5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11083005" y="980093"/>
            <a:ext cx="848804" cy="442535"/>
            <a:chOff x="2362212" y="980599"/>
            <a:chExt cx="773093" cy="442535"/>
          </a:xfrm>
        </p:grpSpPr>
        <p:sp>
          <p:nvSpPr>
            <p:cNvPr id="18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W7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grpSp>
        <p:nvGrpSpPr>
          <p:cNvPr id="62" name="组合 61"/>
          <p:cNvGrpSpPr/>
          <p:nvPr/>
        </p:nvGrpSpPr>
        <p:grpSpPr>
          <a:xfrm>
            <a:off x="2293002" y="981073"/>
            <a:ext cx="806645" cy="440575"/>
            <a:chOff x="1890330" y="982705"/>
            <a:chExt cx="806645" cy="440575"/>
          </a:xfrm>
        </p:grpSpPr>
        <p:sp>
          <p:nvSpPr>
            <p:cNvPr id="46" name="Text Box 49"/>
            <p:cNvSpPr txBox="1">
              <a:spLocks noChangeArrowheads="1"/>
            </p:cNvSpPr>
            <p:nvPr/>
          </p:nvSpPr>
          <p:spPr bwMode="auto">
            <a:xfrm>
              <a:off x="1890330" y="982705"/>
              <a:ext cx="806645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W0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3" name="Oval 61"/>
            <p:cNvSpPr>
              <a:spLocks noChangeArrowheads="1"/>
            </p:cNvSpPr>
            <p:nvPr/>
          </p:nvSpPr>
          <p:spPr bwMode="auto">
            <a:xfrm>
              <a:off x="2216133" y="1274690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51" name="矩形 50"/>
          <p:cNvSpPr/>
          <p:nvPr/>
        </p:nvSpPr>
        <p:spPr>
          <a:xfrm>
            <a:off x="2708293" y="2353974"/>
            <a:ext cx="1226315" cy="252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3" name="矩形 22"/>
          <p:cNvSpPr/>
          <p:nvPr/>
        </p:nvSpPr>
        <p:spPr>
          <a:xfrm>
            <a:off x="2695012" y="1577056"/>
            <a:ext cx="1255450" cy="16442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6" name="矩形 25"/>
          <p:cNvSpPr/>
          <p:nvPr/>
        </p:nvSpPr>
        <p:spPr>
          <a:xfrm>
            <a:off x="3985506" y="2565788"/>
            <a:ext cx="1226316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7" name="矩形 26"/>
          <p:cNvSpPr/>
          <p:nvPr/>
        </p:nvSpPr>
        <p:spPr>
          <a:xfrm>
            <a:off x="3990303" y="3224220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8" name="矩形 27"/>
          <p:cNvSpPr/>
          <p:nvPr/>
        </p:nvSpPr>
        <p:spPr>
          <a:xfrm>
            <a:off x="5243656" y="3919366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29" name="矩形 28"/>
          <p:cNvSpPr/>
          <p:nvPr/>
        </p:nvSpPr>
        <p:spPr>
          <a:xfrm>
            <a:off x="5243656" y="4378978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30" name="矩形 29"/>
          <p:cNvSpPr/>
          <p:nvPr/>
        </p:nvSpPr>
        <p:spPr>
          <a:xfrm>
            <a:off x="6506738" y="4912799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2638643" y="2597966"/>
            <a:ext cx="147543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环控数据和生产数据盘点</a:t>
            </a:r>
          </a:p>
        </p:txBody>
      </p:sp>
      <p:sp>
        <p:nvSpPr>
          <p:cNvPr id="53" name="矩形 52"/>
          <p:cNvSpPr/>
          <p:nvPr/>
        </p:nvSpPr>
        <p:spPr>
          <a:xfrm>
            <a:off x="10297042" y="5927268"/>
            <a:ext cx="1349027" cy="25391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54" name="文本框 53"/>
          <p:cNvSpPr txBox="1"/>
          <p:nvPr/>
        </p:nvSpPr>
        <p:spPr>
          <a:xfrm>
            <a:off x="10095058" y="6152892"/>
            <a:ext cx="175299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5.1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报告交付和现场汇报</a:t>
            </a:r>
          </a:p>
        </p:txBody>
      </p:sp>
      <p:sp>
        <p:nvSpPr>
          <p:cNvPr id="56" name="文本框 55"/>
          <p:cNvSpPr txBox="1"/>
          <p:nvPr/>
        </p:nvSpPr>
        <p:spPr>
          <a:xfrm>
            <a:off x="3968224" y="2832674"/>
            <a:ext cx="227509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数据完整性、准确性、有效性、一致性、时效性检验</a:t>
            </a:r>
          </a:p>
        </p:txBody>
      </p:sp>
      <p:sp>
        <p:nvSpPr>
          <p:cNvPr id="63" name="文本框 62"/>
          <p:cNvSpPr txBox="1"/>
          <p:nvPr/>
        </p:nvSpPr>
        <p:spPr>
          <a:xfrm>
            <a:off x="3968224" y="3420745"/>
            <a:ext cx="1275524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2.3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数据缺失率、极值、异常值检查</a:t>
            </a:r>
          </a:p>
        </p:txBody>
      </p:sp>
      <p:sp>
        <p:nvSpPr>
          <p:cNvPr id="64" name="文本框 63"/>
          <p:cNvSpPr txBox="1"/>
          <p:nvPr/>
        </p:nvSpPr>
        <p:spPr>
          <a:xfrm>
            <a:off x="5243656" y="4154744"/>
            <a:ext cx="1216799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3.1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变量分布分析</a:t>
            </a:r>
          </a:p>
        </p:txBody>
      </p:sp>
      <p:sp>
        <p:nvSpPr>
          <p:cNvPr id="65" name="文本框 64"/>
          <p:cNvSpPr txBox="1"/>
          <p:nvPr/>
        </p:nvSpPr>
        <p:spPr>
          <a:xfrm>
            <a:off x="5171820" y="4603222"/>
            <a:ext cx="2507523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3.2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变量趋势分析及异常模式探查</a:t>
            </a:r>
          </a:p>
        </p:txBody>
      </p:sp>
      <p:sp>
        <p:nvSpPr>
          <p:cNvPr id="66" name="文本框 65"/>
          <p:cNvSpPr txBox="1"/>
          <p:nvPr/>
        </p:nvSpPr>
        <p:spPr>
          <a:xfrm>
            <a:off x="6425581" y="5130637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自变量间相关性探查</a:t>
            </a:r>
          </a:p>
        </p:txBody>
      </p:sp>
      <p:sp>
        <p:nvSpPr>
          <p:cNvPr id="48" name="文本框 47"/>
          <p:cNvSpPr txBox="1"/>
          <p:nvPr/>
        </p:nvSpPr>
        <p:spPr>
          <a:xfrm>
            <a:off x="2636350" y="1938224"/>
            <a:ext cx="177372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1.2 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分析环境搭建</a:t>
            </a:r>
          </a:p>
        </p:txBody>
      </p:sp>
      <p:sp>
        <p:nvSpPr>
          <p:cNvPr id="22" name="矩形 21"/>
          <p:cNvSpPr/>
          <p:nvPr/>
        </p:nvSpPr>
        <p:spPr bwMode="gray">
          <a:xfrm>
            <a:off x="1358469" y="3840667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现状分析</a:t>
            </a:r>
          </a:p>
        </p:txBody>
      </p:sp>
      <p:grpSp>
        <p:nvGrpSpPr>
          <p:cNvPr id="25" name="组合 24"/>
          <p:cNvGrpSpPr/>
          <p:nvPr/>
        </p:nvGrpSpPr>
        <p:grpSpPr>
          <a:xfrm>
            <a:off x="3512580" y="980093"/>
            <a:ext cx="848804" cy="442535"/>
            <a:chOff x="3224585" y="980599"/>
            <a:chExt cx="848804" cy="442535"/>
          </a:xfrm>
        </p:grpSpPr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3224585" y="980599"/>
              <a:ext cx="848804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lang="en-US" sz="1400" b="1" dirty="0">
                  <a:solidFill>
                    <a:srgbClr val="53565A"/>
                  </a:solidFill>
                  <a:latin typeface="Calibri" panose="020F0502020204030204"/>
                  <a:ea typeface="MS PGothic" panose="020B0600070205080204" charset="-128"/>
                </a:rPr>
                <a:t>W1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  <p:sp>
          <p:nvSpPr>
            <p:cNvPr id="47" name="Oval 61"/>
            <p:cNvSpPr>
              <a:spLocks noChangeArrowheads="1"/>
            </p:cNvSpPr>
            <p:nvPr/>
          </p:nvSpPr>
          <p:spPr bwMode="auto">
            <a:xfrm>
              <a:off x="3567418" y="1274544"/>
              <a:ext cx="163142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9821265" y="980093"/>
            <a:ext cx="848804" cy="442535"/>
            <a:chOff x="2362212" y="980599"/>
            <a:chExt cx="773093" cy="442535"/>
          </a:xfrm>
        </p:grpSpPr>
        <p:sp>
          <p:nvSpPr>
            <p:cNvPr id="85" name="Oval 62"/>
            <p:cNvSpPr>
              <a:spLocks noChangeArrowheads="1"/>
            </p:cNvSpPr>
            <p:nvPr/>
          </p:nvSpPr>
          <p:spPr bwMode="auto">
            <a:xfrm>
              <a:off x="2674464" y="1274544"/>
              <a:ext cx="148590" cy="148590"/>
            </a:xfrm>
            <a:prstGeom prst="ellipse">
              <a:avLst/>
            </a:prstGeom>
            <a:solidFill>
              <a:schemeClr val="accent1"/>
            </a:solidFill>
            <a:ln w="6350" algn="ctr">
              <a:solidFill>
                <a:schemeClr val="bg1"/>
              </a:solidFill>
              <a:round/>
            </a:ln>
          </p:spPr>
          <p:txBody>
            <a:bodyPr wrap="none" lIns="0" tIns="0" rIns="0" bIns="0" anchor="ctr"/>
            <a:lstStyle/>
            <a:p>
              <a:pPr marL="0" marR="0" lvl="0" indent="0" algn="ctr" defTabSz="6096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815" b="0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6" name="Text Box 49"/>
            <p:cNvSpPr txBox="1">
              <a:spLocks noChangeArrowheads="1"/>
            </p:cNvSpPr>
            <p:nvPr/>
          </p:nvSpPr>
          <p:spPr bwMode="auto">
            <a:xfrm>
              <a:off x="2362212" y="980599"/>
              <a:ext cx="773093" cy="204671"/>
            </a:xfrm>
            <a:prstGeom prst="rect">
              <a:avLst/>
            </a:prstGeom>
            <a:noFill/>
            <a:ln w="12700" algn="ctr">
              <a:noFill/>
              <a:miter lim="800000"/>
            </a:ln>
          </p:spPr>
          <p:txBody>
            <a:bodyPr lIns="0" tIns="0" rIns="0" bIns="0" anchor="b" anchorCtr="0">
              <a:spAutoFit/>
            </a:bodyPr>
            <a:lstStyle/>
            <a:p>
              <a:pPr marL="0" marR="0" lvl="0" indent="0" algn="ctr" defTabSz="6096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srgbClr val="53565A"/>
                  </a:solidFill>
                  <a:effectLst/>
                  <a:uLnTx/>
                  <a:uFillTx/>
                  <a:latin typeface="Calibri" panose="020F0502020204030204"/>
                  <a:ea typeface="MS PGothic" panose="020B0600070205080204" charset="-128"/>
                  <a:cs typeface="+mn-cs"/>
                </a:rPr>
                <a:t>W6</a:t>
              </a:r>
              <a:endPara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53565A"/>
                </a:solidFill>
                <a:effectLst/>
                <a:uLnTx/>
                <a:uFillTx/>
                <a:latin typeface="Calibri" panose="020F0502020204030204"/>
                <a:ea typeface="MS PGothic" panose="020B0600070205080204" charset="-128"/>
                <a:cs typeface="+mn-cs"/>
              </a:endParaRPr>
            </a:p>
          </p:txBody>
        </p:sp>
      </p:grpSp>
      <p:sp>
        <p:nvSpPr>
          <p:cNvPr id="89" name="文本框 88"/>
          <p:cNvSpPr txBox="1"/>
          <p:nvPr/>
        </p:nvSpPr>
        <p:spPr>
          <a:xfrm>
            <a:off x="2636350" y="1735802"/>
            <a:ext cx="157103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1.1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需求确认及数据准备</a:t>
            </a:r>
          </a:p>
        </p:txBody>
      </p:sp>
      <p:sp>
        <p:nvSpPr>
          <p:cNvPr id="90" name="矩形 89"/>
          <p:cNvSpPr/>
          <p:nvPr/>
        </p:nvSpPr>
        <p:spPr>
          <a:xfrm>
            <a:off x="5243734" y="3293787"/>
            <a:ext cx="1216722" cy="25391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solidFill>
                  <a:schemeClr val="tx1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1" name="文本框 90"/>
          <p:cNvSpPr txBox="1"/>
          <p:nvPr/>
        </p:nvSpPr>
        <p:spPr>
          <a:xfrm>
            <a:off x="5202998" y="3549910"/>
            <a:ext cx="146401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1050" b="1">
                <a:solidFill>
                  <a:schemeClr val="bg1"/>
                </a:solidFill>
                <a:latin typeface="等线" panose="02010600030101010101" pitchFamily="2" charset="-122"/>
                <a:ea typeface="等线" panose="02010600030101010101" pitchFamily="2" charset="-122"/>
              </a:defRPr>
            </a:lvl1pPr>
          </a:lstStyle>
          <a:p>
            <a:r>
              <a:rPr lang="en-US" altLang="zh-CN" dirty="0">
                <a:solidFill>
                  <a:schemeClr val="tx1"/>
                </a:solidFill>
                <a:highlight>
                  <a:srgbClr val="F1F2F4"/>
                </a:highlight>
              </a:rPr>
              <a:t>2.4</a:t>
            </a:r>
            <a:r>
              <a:rPr lang="zh-CN" altLang="en-US" dirty="0">
                <a:solidFill>
                  <a:schemeClr val="tx1"/>
                </a:solidFill>
                <a:highlight>
                  <a:srgbClr val="F1F2F4"/>
                </a:highlight>
              </a:rPr>
              <a:t>数据质量检查报告</a:t>
            </a:r>
          </a:p>
        </p:txBody>
      </p:sp>
      <p:sp>
        <p:nvSpPr>
          <p:cNvPr id="92" name="矩形 91"/>
          <p:cNvSpPr/>
          <p:nvPr/>
        </p:nvSpPr>
        <p:spPr bwMode="gray">
          <a:xfrm>
            <a:off x="1358469" y="4890483"/>
            <a:ext cx="10363182" cy="969279"/>
          </a:xfrm>
          <a:prstGeom prst="rect">
            <a:avLst/>
          </a:prstGeom>
          <a:noFill/>
          <a:ln w="3175" algn="ctr">
            <a:solidFill>
              <a:schemeClr val="tx2"/>
            </a:solidFill>
            <a:prstDash val="dash"/>
            <a:miter lim="800000"/>
          </a:ln>
        </p:spPr>
        <p:txBody>
          <a:bodyPr vert="horz" wrap="square" lIns="88900" tIns="45720" rIns="88900" bIns="88900" rtlCol="0" anchor="ctr" anchorCtr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 2" panose="05020102010507070707" pitchFamily="18" charset="2"/>
              <a:buNone/>
              <a:defRPr/>
            </a:pPr>
            <a:r>
              <a:rPr lang="zh-CN" altLang="en-US" sz="1000" b="1" dirty="0">
                <a:solidFill>
                  <a:srgbClr val="012036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效应分析</a:t>
            </a:r>
          </a:p>
        </p:txBody>
      </p:sp>
      <p:sp>
        <p:nvSpPr>
          <p:cNvPr id="93" name="矩形 92"/>
          <p:cNvSpPr/>
          <p:nvPr/>
        </p:nvSpPr>
        <p:spPr>
          <a:xfrm>
            <a:off x="6508510" y="5365777"/>
            <a:ext cx="2447835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4" name="文本框 93"/>
          <p:cNvSpPr txBox="1"/>
          <p:nvPr/>
        </p:nvSpPr>
        <p:spPr>
          <a:xfrm>
            <a:off x="6425581" y="5583615"/>
            <a:ext cx="2718419" cy="252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4.2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自变量与目标变量之间影响效应分析</a:t>
            </a:r>
            <a:endParaRPr lang="zh-CN" altLang="en-US" sz="1050" i="1" dirty="0">
              <a:highlight>
                <a:srgbClr val="F1F2F4"/>
              </a:highlight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95" name="矩形 94"/>
          <p:cNvSpPr/>
          <p:nvPr/>
        </p:nvSpPr>
        <p:spPr>
          <a:xfrm>
            <a:off x="9036391" y="5367174"/>
            <a:ext cx="1216800" cy="253916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lIns="36000" rIns="36000" rtlCol="0" anchor="ctr"/>
          <a:lstStyle/>
          <a:p>
            <a:pPr algn="ctr"/>
            <a:r>
              <a:rPr lang="en-US" altLang="zh-CN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050" b="1" i="1" u="sng" dirty="0">
                <a:latin typeface="等线" panose="02010600030101010101" pitchFamily="2" charset="-122"/>
                <a:ea typeface="等线" panose="02010600030101010101" pitchFamily="2" charset="-122"/>
              </a:rPr>
              <a:t>周</a:t>
            </a:r>
          </a:p>
        </p:txBody>
      </p:sp>
      <p:sp>
        <p:nvSpPr>
          <p:cNvPr id="96" name="文本框 95"/>
          <p:cNvSpPr txBox="1"/>
          <p:nvPr/>
        </p:nvSpPr>
        <p:spPr>
          <a:xfrm>
            <a:off x="8955234" y="5585012"/>
            <a:ext cx="1777695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4.3</a:t>
            </a:r>
            <a:r>
              <a:rPr lang="zh-CN" altLang="en-US" sz="1050" b="1" dirty="0">
                <a:highlight>
                  <a:srgbClr val="F1F2F4"/>
                </a:highlight>
                <a:latin typeface="等线" panose="02010600030101010101" pitchFamily="2" charset="-122"/>
                <a:ea typeface="等线" panose="02010600030101010101" pitchFamily="2" charset="-122"/>
              </a:rPr>
              <a:t>影响效应分析结果解读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3CEBF6-F5D3-BC53-F5FD-4A16ECA9AC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目录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4D02FC-AB0A-E09A-CFCB-79E270DFCF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92226" y="2105025"/>
            <a:ext cx="10628249" cy="3638550"/>
          </a:xfrm>
        </p:spPr>
        <p:txBody>
          <a:bodyPr/>
          <a:lstStyle/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数据清洗与整合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EEF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相关分析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514350" indent="-514350">
              <a:buClr>
                <a:schemeClr val="bg1"/>
              </a:buClr>
              <a:buFont typeface="+mj-lt"/>
              <a:buAutoNum type="arabicPeriod"/>
            </a:pP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altLang="zh-CN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863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:a16="http://schemas.microsoft.com/office/drawing/2014/main"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">
            <a:extLst>
              <a:ext uri="{FF2B5EF4-FFF2-40B4-BE49-F238E27FC236}">
                <a16:creationId xmlns:a16="http://schemas.microsoft.com/office/drawing/2014/main" id="{DB76C9A9-7EBC-723D-1351-F0902ABEC4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536"/>
            <a:ext cx="10515600" cy="517064"/>
          </a:xfrm>
        </p:spPr>
        <p:txBody>
          <a:bodyPr/>
          <a:lstStyle/>
          <a:p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Transformer With Fixed Token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模型简介</a:t>
            </a:r>
          </a:p>
        </p:txBody>
      </p:sp>
      <p:pic>
        <p:nvPicPr>
          <p:cNvPr id="5" name="图片 4" descr="文本&#10;&#10;AI 生成的内容可能不正确。">
            <a:extLst>
              <a:ext uri="{FF2B5EF4-FFF2-40B4-BE49-F238E27FC236}">
                <a16:creationId xmlns:a16="http://schemas.microsoft.com/office/drawing/2014/main" id="{3BC7603A-0783-5477-FC79-A5BB719BE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33" y="1256997"/>
            <a:ext cx="8125959" cy="217200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17F39FC5-C222-C7FC-FE4C-294B74761B2A}"/>
              </a:ext>
            </a:extLst>
          </p:cNvPr>
          <p:cNvSpPr txBox="1"/>
          <p:nvPr/>
        </p:nvSpPr>
        <p:spPr>
          <a:xfrm>
            <a:off x="1249845" y="3557506"/>
            <a:ext cx="8818494" cy="29700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100" dirty="0"/>
              <a:t>序列特征处理</a:t>
            </a:r>
          </a:p>
          <a:p>
            <a:r>
              <a:rPr lang="zh-CN" altLang="en-US" sz="1100" dirty="0"/>
              <a:t>特征重要性层：对序列特征加权，增强关键时间步的影响。</a:t>
            </a:r>
          </a:p>
          <a:p>
            <a:r>
              <a:rPr lang="zh-CN" altLang="en-US" sz="1100" dirty="0"/>
              <a:t>序列嵌入：将原始序列映射到隐藏维度（</a:t>
            </a:r>
            <a:r>
              <a:rPr lang="en-US" altLang="zh-CN" sz="1100" dirty="0" err="1"/>
              <a:t>hidden_dim</a:t>
            </a:r>
            <a:r>
              <a:rPr lang="zh-CN" altLang="en-US" sz="1100" dirty="0"/>
              <a:t>）。</a:t>
            </a:r>
          </a:p>
          <a:p>
            <a:r>
              <a:rPr lang="zh-CN" altLang="en-US" sz="1100" dirty="0"/>
              <a:t>位置编码：为序列添加时间位置信息（如正弦</a:t>
            </a:r>
            <a:r>
              <a:rPr lang="en-US" altLang="zh-CN" sz="1100" dirty="0"/>
              <a:t>/</a:t>
            </a:r>
            <a:r>
              <a:rPr lang="zh-CN" altLang="en-US" sz="1100" dirty="0"/>
              <a:t>余弦编码）。</a:t>
            </a:r>
          </a:p>
          <a:p>
            <a:r>
              <a:rPr lang="zh-CN" altLang="en-US" sz="1100" dirty="0"/>
              <a:t>固定特征处理</a:t>
            </a:r>
          </a:p>
          <a:p>
            <a:r>
              <a:rPr lang="zh-CN" altLang="en-US" sz="1100" dirty="0"/>
              <a:t>密度特征：线性嵌入到低维空间。</a:t>
            </a:r>
          </a:p>
          <a:p>
            <a:r>
              <a:rPr lang="zh-CN" altLang="en-US" sz="1100" dirty="0"/>
              <a:t>类别特征（品种、监督者）：通过嵌入层映射为向量。</a:t>
            </a:r>
          </a:p>
          <a:p>
            <a:r>
              <a:rPr lang="zh-CN" altLang="en-US" sz="1100" dirty="0"/>
              <a:t>固定</a:t>
            </a:r>
            <a:r>
              <a:rPr lang="en-US" altLang="zh-CN" sz="1100" dirty="0"/>
              <a:t>token</a:t>
            </a:r>
            <a:r>
              <a:rPr lang="zh-CN" altLang="en-US" sz="1100" dirty="0"/>
              <a:t>生成：拼接后投影到与序列相同的维度，作为全局上下文。</a:t>
            </a:r>
          </a:p>
          <a:p>
            <a:r>
              <a:rPr lang="en-US" altLang="zh-CN" sz="1100" dirty="0"/>
              <a:t>Transformer</a:t>
            </a:r>
            <a:r>
              <a:rPr lang="zh-CN" altLang="en-US" sz="1100" dirty="0"/>
              <a:t>编码器</a:t>
            </a:r>
          </a:p>
          <a:p>
            <a:r>
              <a:rPr lang="zh-CN" altLang="en-US" sz="1100" dirty="0"/>
              <a:t>多头自注意力：捕捉序列内部的动态依赖关系。</a:t>
            </a:r>
          </a:p>
          <a:p>
            <a:r>
              <a:rPr lang="zh-CN" altLang="en-US" sz="1100" dirty="0"/>
              <a:t>前馈网络（</a:t>
            </a:r>
            <a:r>
              <a:rPr lang="en-US" altLang="zh-CN" sz="1100" dirty="0"/>
              <a:t>FFN</a:t>
            </a:r>
            <a:r>
              <a:rPr lang="zh-CN" altLang="en-US" sz="1100" dirty="0"/>
              <a:t>）：增强非线性表达能力。</a:t>
            </a:r>
          </a:p>
          <a:p>
            <a:r>
              <a:rPr lang="zh-CN" altLang="en-US" sz="1100" dirty="0"/>
              <a:t>残差连接 </a:t>
            </a:r>
            <a:r>
              <a:rPr lang="en-US" altLang="zh-CN" sz="1100" dirty="0"/>
              <a:t>+ </a:t>
            </a:r>
            <a:r>
              <a:rPr lang="zh-CN" altLang="en-US" sz="1100" dirty="0"/>
              <a:t>层归一化：缓解梯度消失，提升训练稳定性。</a:t>
            </a:r>
          </a:p>
          <a:p>
            <a:r>
              <a:rPr lang="zh-CN" altLang="en-US" sz="1100" dirty="0"/>
              <a:t>注意力权重记录：支持可视化分析模型关注的序列位置。</a:t>
            </a:r>
          </a:p>
          <a:p>
            <a:r>
              <a:rPr lang="zh-CN" altLang="en-US" sz="1100" dirty="0"/>
              <a:t>输出与可解释性</a:t>
            </a:r>
          </a:p>
          <a:p>
            <a:r>
              <a:rPr lang="zh-CN" altLang="en-US" sz="1100" dirty="0"/>
              <a:t>固定</a:t>
            </a:r>
            <a:r>
              <a:rPr lang="en-US" altLang="zh-CN" sz="1100" dirty="0"/>
              <a:t>token</a:t>
            </a:r>
            <a:r>
              <a:rPr lang="zh-CN" altLang="en-US" sz="1100" dirty="0"/>
              <a:t>输出：提取</a:t>
            </a:r>
            <a:r>
              <a:rPr lang="en-US" altLang="zh-CN" sz="1100" dirty="0"/>
              <a:t>Transformer</a:t>
            </a:r>
            <a:r>
              <a:rPr lang="zh-CN" altLang="en-US" sz="1100" dirty="0"/>
              <a:t>编码后的全局表示。</a:t>
            </a:r>
          </a:p>
          <a:p>
            <a:r>
              <a:rPr lang="zh-CN" altLang="en-US" sz="1100" dirty="0"/>
              <a:t>全连接层：将隐藏状态映射到最终预测结果（如回归值）。</a:t>
            </a:r>
          </a:p>
          <a:p>
            <a:r>
              <a:rPr lang="en-US" altLang="zh-CN" sz="1100" dirty="0"/>
              <a:t>Grad-CAM</a:t>
            </a:r>
            <a:r>
              <a:rPr lang="zh-CN" altLang="en-US" sz="1100" dirty="0"/>
              <a:t>支持：通过反向传播计算输入特征的重要性权重。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496037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片包含 应用程序&#10;&#10;AI 生成的内容可能不正确。">
            <a:extLst>
              <a:ext uri="{FF2B5EF4-FFF2-40B4-BE49-F238E27FC236}">
                <a16:creationId xmlns:a16="http://schemas.microsoft.com/office/drawing/2014/main" id="{8931F682-9E82-FBF8-DFCD-B55779811FF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1878" y="412707"/>
            <a:ext cx="8483232" cy="4816457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E2BB822A-2C5E-B18B-9524-68E5429C7CF4}"/>
              </a:ext>
            </a:extLst>
          </p:cNvPr>
          <p:cNvSpPr txBox="1"/>
          <p:nvPr/>
        </p:nvSpPr>
        <p:spPr>
          <a:xfrm>
            <a:off x="1828800" y="5133366"/>
            <a:ext cx="10116357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400" b="0" i="0" dirty="0">
                <a:effectLst/>
                <a:latin typeface="Inter"/>
              </a:rPr>
              <a:t>1. </a:t>
            </a:r>
            <a:r>
              <a:rPr lang="zh-CN" altLang="en-US" sz="1400" b="0" i="0" dirty="0">
                <a:effectLst/>
                <a:latin typeface="Inter"/>
              </a:rPr>
              <a:t>上半部分：</a:t>
            </a:r>
            <a:r>
              <a:rPr lang="en-US" altLang="zh-CN" sz="1400" b="0" i="0" dirty="0">
                <a:effectLst/>
                <a:latin typeface="Inter"/>
              </a:rPr>
              <a:t>Grad-CAM </a:t>
            </a:r>
            <a:r>
              <a:rPr lang="zh-CN" altLang="en-US" sz="1400" b="0" i="0" dirty="0">
                <a:effectLst/>
                <a:latin typeface="Inter"/>
              </a:rPr>
              <a:t>重要性分数（鸡舍温度</a:t>
            </a:r>
            <a:r>
              <a:rPr lang="en-US" altLang="zh-CN" sz="1400" b="0" i="0" dirty="0">
                <a:effectLst/>
                <a:latin typeface="Inter"/>
              </a:rPr>
              <a:t>-</a:t>
            </a:r>
            <a:r>
              <a:rPr lang="zh-CN" altLang="en-US" sz="1400" b="0" i="0" dirty="0">
                <a:effectLst/>
                <a:latin typeface="Inter"/>
              </a:rPr>
              <a:t>平均）</a:t>
            </a:r>
          </a:p>
          <a:p>
            <a:r>
              <a:rPr lang="en-US" altLang="zh-CN" sz="1400" b="0" i="0" dirty="0">
                <a:effectLst/>
                <a:latin typeface="Inter"/>
              </a:rPr>
              <a:t>Y</a:t>
            </a:r>
            <a:r>
              <a:rPr lang="zh-CN" altLang="en-US" sz="1400" b="0" i="0" dirty="0">
                <a:effectLst/>
                <a:latin typeface="Inter"/>
              </a:rPr>
              <a:t>轴：标注为 </a:t>
            </a:r>
            <a:r>
              <a:rPr lang="en-US" altLang="zh-CN" sz="1400" b="0" i="0" dirty="0">
                <a:effectLst/>
                <a:latin typeface="Inter"/>
              </a:rPr>
              <a:t>“</a:t>
            </a:r>
            <a:r>
              <a:rPr lang="zh-CN" altLang="en-US" sz="1400" b="0" i="0" dirty="0">
                <a:effectLst/>
                <a:latin typeface="Inter"/>
              </a:rPr>
              <a:t>时间步</a:t>
            </a:r>
            <a:r>
              <a:rPr lang="en-US" altLang="zh-CN" sz="1400" b="0" i="0" dirty="0">
                <a:effectLst/>
                <a:latin typeface="Inter"/>
              </a:rPr>
              <a:t>”</a:t>
            </a:r>
            <a:r>
              <a:rPr lang="zh-CN" altLang="en-US" sz="1400" b="0" i="0" dirty="0">
                <a:effectLst/>
                <a:latin typeface="Inter"/>
              </a:rPr>
              <a:t>，显示具体的日龄（如 </a:t>
            </a:r>
            <a:r>
              <a:rPr lang="en-US" altLang="zh-CN" sz="1400" b="0" i="0" dirty="0">
                <a:effectLst/>
                <a:latin typeface="Inter"/>
              </a:rPr>
              <a:t>20</a:t>
            </a:r>
            <a:r>
              <a:rPr lang="zh-CN" altLang="en-US" sz="1400" b="0" i="0" dirty="0">
                <a:effectLst/>
                <a:latin typeface="Inter"/>
              </a:rPr>
              <a:t>、</a:t>
            </a:r>
            <a:r>
              <a:rPr lang="en-US" altLang="zh-CN" sz="1400" b="0" i="0" dirty="0">
                <a:effectLst/>
                <a:latin typeface="Inter"/>
              </a:rPr>
              <a:t>25</a:t>
            </a:r>
            <a:r>
              <a:rPr lang="zh-CN" altLang="en-US" sz="1400" b="0" i="0" dirty="0">
                <a:effectLst/>
                <a:latin typeface="Inter"/>
              </a:rPr>
              <a:t>）。</a:t>
            </a:r>
          </a:p>
          <a:p>
            <a:r>
              <a:rPr lang="en-US" altLang="zh-CN" sz="1400" b="0" i="0" dirty="0">
                <a:effectLst/>
                <a:latin typeface="Inter"/>
              </a:rPr>
              <a:t>X</a:t>
            </a:r>
            <a:r>
              <a:rPr lang="zh-CN" altLang="en-US" sz="1400" b="0" i="0" dirty="0">
                <a:effectLst/>
                <a:latin typeface="Inter"/>
              </a:rPr>
              <a:t>轴：未明确标注，但根据标题推断为 </a:t>
            </a:r>
            <a:r>
              <a:rPr lang="en-US" altLang="zh-CN" sz="1400" b="0" i="0" dirty="0">
                <a:effectLst/>
                <a:latin typeface="Inter"/>
              </a:rPr>
              <a:t>“</a:t>
            </a:r>
            <a:r>
              <a:rPr lang="zh-CN" altLang="en-US" sz="1400" b="0" i="0" dirty="0">
                <a:effectLst/>
                <a:latin typeface="Inter"/>
              </a:rPr>
              <a:t>重要性分数</a:t>
            </a:r>
            <a:r>
              <a:rPr lang="en-US" altLang="zh-CN" sz="1400" b="0" i="0" dirty="0">
                <a:effectLst/>
                <a:latin typeface="Inter"/>
              </a:rPr>
              <a:t>”</a:t>
            </a:r>
            <a:r>
              <a:rPr lang="zh-CN" altLang="en-US" sz="1400" b="0" i="0" dirty="0">
                <a:effectLst/>
                <a:latin typeface="Inter"/>
              </a:rPr>
              <a:t>，表示不同时间步对模型预测的贡献程度，分数越高贡献程度越高。</a:t>
            </a:r>
            <a:endParaRPr lang="en-US" altLang="zh-CN" sz="1400" b="0" i="0" dirty="0">
              <a:effectLst/>
              <a:latin typeface="Inter"/>
            </a:endParaRPr>
          </a:p>
          <a:p>
            <a:r>
              <a:rPr lang="en-US" altLang="zh-CN" sz="1400" dirty="0"/>
              <a:t>2 </a:t>
            </a:r>
            <a:r>
              <a:rPr lang="zh-CN" altLang="en-US" sz="1400" dirty="0"/>
              <a:t>下半部分：</a:t>
            </a:r>
            <a:r>
              <a:rPr lang="en-US" altLang="zh-CN" sz="1400" dirty="0"/>
              <a:t>Grad-CAM </a:t>
            </a:r>
            <a:r>
              <a:rPr lang="zh-CN" altLang="en-US" sz="1400" dirty="0"/>
              <a:t>热力图（鸡舍温度</a:t>
            </a:r>
            <a:r>
              <a:rPr lang="en-US" altLang="zh-CN" sz="1400" dirty="0"/>
              <a:t>-</a:t>
            </a:r>
            <a:r>
              <a:rPr lang="zh-CN" altLang="en-US" sz="1400" dirty="0"/>
              <a:t>平均）</a:t>
            </a:r>
          </a:p>
          <a:p>
            <a:r>
              <a:rPr lang="en-US" altLang="zh-CN" sz="1400" dirty="0"/>
              <a:t>Y</a:t>
            </a:r>
            <a:r>
              <a:rPr lang="zh-CN" altLang="en-US" sz="1400" dirty="0"/>
              <a:t>轴：</a:t>
            </a:r>
            <a:r>
              <a:rPr lang="zh-CN" altLang="en-US" sz="1400" b="0" i="0" dirty="0">
                <a:effectLst/>
                <a:latin typeface="Inter"/>
              </a:rPr>
              <a:t>标注为 </a:t>
            </a:r>
            <a:r>
              <a:rPr lang="en-US" altLang="zh-CN" sz="1400" b="0" i="0" dirty="0">
                <a:effectLst/>
                <a:latin typeface="Inter"/>
              </a:rPr>
              <a:t>“</a:t>
            </a:r>
            <a:r>
              <a:rPr lang="zh-CN" altLang="en-US" sz="1400" b="0" i="0" dirty="0">
                <a:effectLst/>
                <a:latin typeface="Inter"/>
              </a:rPr>
              <a:t>时间步</a:t>
            </a:r>
            <a:r>
              <a:rPr lang="en-US" altLang="zh-CN" sz="1400" b="0" i="0" dirty="0">
                <a:effectLst/>
                <a:latin typeface="Inter"/>
              </a:rPr>
              <a:t>”</a:t>
            </a:r>
            <a:r>
              <a:rPr lang="zh-CN" altLang="en-US" sz="1400" b="0" i="0" dirty="0">
                <a:effectLst/>
                <a:latin typeface="Inter"/>
              </a:rPr>
              <a:t>，显示具体的日龄（如 </a:t>
            </a:r>
            <a:r>
              <a:rPr lang="en-US" altLang="zh-CN" sz="1400" b="0" i="0" dirty="0">
                <a:effectLst/>
                <a:latin typeface="Inter"/>
              </a:rPr>
              <a:t>20</a:t>
            </a:r>
            <a:r>
              <a:rPr lang="zh-CN" altLang="en-US" sz="1400" b="0" i="0" dirty="0">
                <a:effectLst/>
                <a:latin typeface="Inter"/>
              </a:rPr>
              <a:t>、</a:t>
            </a:r>
            <a:r>
              <a:rPr lang="en-US" altLang="zh-CN" sz="1400" b="0" i="0" dirty="0">
                <a:effectLst/>
                <a:latin typeface="Inter"/>
              </a:rPr>
              <a:t>25</a:t>
            </a:r>
            <a:r>
              <a:rPr lang="zh-CN" altLang="en-US" sz="1400" b="0" i="0" dirty="0">
                <a:effectLst/>
                <a:latin typeface="Inter"/>
              </a:rPr>
              <a:t>）。</a:t>
            </a:r>
            <a:endParaRPr lang="en-US" altLang="zh-CN" sz="1400" b="0" i="0" dirty="0">
              <a:effectLst/>
              <a:latin typeface="Inter"/>
            </a:endParaRPr>
          </a:p>
          <a:p>
            <a:r>
              <a:rPr lang="zh-CN" altLang="en-US" sz="1400" b="0" i="0" dirty="0">
                <a:effectLst/>
                <a:latin typeface="Inter"/>
              </a:rPr>
              <a:t>颜色从紫到黄表示重要性分数从低到高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284172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散点图&#10;&#10;AI 生成的内容可能不正确。">
            <a:extLst>
              <a:ext uri="{FF2B5EF4-FFF2-40B4-BE49-F238E27FC236}">
                <a16:creationId xmlns:a16="http://schemas.microsoft.com/office/drawing/2014/main" id="{043A28D5-ADD4-6F9B-7226-8A6DE656B9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66328" y="1425269"/>
            <a:ext cx="5400261" cy="1822588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DCC045F-2153-A229-D42D-8602FCA357B6}"/>
              </a:ext>
            </a:extLst>
          </p:cNvPr>
          <p:cNvSpPr txBox="1"/>
          <p:nvPr/>
        </p:nvSpPr>
        <p:spPr>
          <a:xfrm>
            <a:off x="2236861" y="3723160"/>
            <a:ext cx="8458535" cy="22961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Y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轴（纵向）：列出了模型的 特征（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Features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），特征按重要性从上到下排列，从上到下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重要性排序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依次是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fixed_2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。</a:t>
            </a:r>
          </a:p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轴（横向）：表示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值，范围从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0.0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到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0.8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，衡量特征对模型输出的贡献（正值表示正向影响，负值表示负向影响）。</a:t>
            </a:r>
          </a:p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颜色条（右侧标注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"High"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）：表示 特征值的高低：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红色：特征值高。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蓝色：特征值低。</a:t>
            </a:r>
          </a:p>
        </p:txBody>
      </p:sp>
    </p:spTree>
    <p:extLst>
      <p:ext uri="{BB962C8B-B14F-4D97-AF65-F5344CB8AC3E}">
        <p14:creationId xmlns:p14="http://schemas.microsoft.com/office/powerpoint/2010/main" val="2866034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41F15D-AFB7-508E-FAD3-10A4485A3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图表&#10;&#10;AI 生成的内容可能不正确。">
            <a:extLst>
              <a:ext uri="{FF2B5EF4-FFF2-40B4-BE49-F238E27FC236}">
                <a16:creationId xmlns:a16="http://schemas.microsoft.com/office/drawing/2014/main" id="{885C953F-764E-6321-905D-310A71FBCFE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353" y="1055451"/>
            <a:ext cx="4302638" cy="510938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713BF9F2-7036-7A74-07F9-DE73B755427C}"/>
              </a:ext>
            </a:extLst>
          </p:cNvPr>
          <p:cNvSpPr txBox="1"/>
          <p:nvPr/>
        </p:nvSpPr>
        <p:spPr>
          <a:xfrm>
            <a:off x="5360206" y="1376835"/>
            <a:ext cx="6097712" cy="43736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Y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轴（纵向）：列出了多个时间序列特征，命名格式为 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Inter"/>
              </a:rPr>
              <a:t>seq_X_tY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，其中：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X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可能代表不同序列（如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表示两类温度序列和湿度序列）。</a:t>
            </a:r>
            <a:r>
              <a:rPr lang="en-US" altLang="zh-CN" sz="1200" b="0" i="0" dirty="0" err="1">
                <a:solidFill>
                  <a:srgbClr val="000000"/>
                </a:solidFill>
                <a:effectLst/>
                <a:latin typeface="Inter"/>
              </a:rPr>
              <a:t>tY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表示日龄（如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t1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t2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等），代表序列中的具体日龄。特征按重要性大致排序，越靠上的特征对模型输出的影响越大。</a:t>
            </a:r>
          </a:p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X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轴（横向）：表示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值，范围从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-0.04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到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0.08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，反映特征对模型输出的贡献方向与强度：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正值：增加预测结果。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负值：降低预测结果。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零值：无显著影响。</a:t>
            </a:r>
          </a:p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颜色映射：右侧标注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"High"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和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"Feature value"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，表示点的颜色对应特征值的高低：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红色：高特征值。</a:t>
            </a:r>
          </a:p>
          <a:p>
            <a:pPr marL="781050" lvl="1" indent="-17145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蓝色：低特征值。</a:t>
            </a:r>
          </a:p>
        </p:txBody>
      </p:sp>
    </p:spTree>
    <p:extLst>
      <p:ext uri="{BB962C8B-B14F-4D97-AF65-F5344CB8AC3E}">
        <p14:creationId xmlns:p14="http://schemas.microsoft.com/office/powerpoint/2010/main" val="2885667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图表, 折线图&#10;&#10;AI 生成的内容可能不正确。">
            <a:extLst>
              <a:ext uri="{FF2B5EF4-FFF2-40B4-BE49-F238E27FC236}">
                <a16:creationId xmlns:a16="http://schemas.microsoft.com/office/drawing/2014/main" id="{2E49F067-FA65-9E94-49D2-6233DA2E48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8473" y="402844"/>
            <a:ext cx="9275054" cy="4210253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7DCE407-7D30-9CA5-804F-F2E564C6C091}"/>
              </a:ext>
            </a:extLst>
          </p:cNvPr>
          <p:cNvSpPr txBox="1"/>
          <p:nvPr/>
        </p:nvSpPr>
        <p:spPr>
          <a:xfrm>
            <a:off x="1910994" y="4613097"/>
            <a:ext cx="865084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i="0" dirty="0">
                <a:solidFill>
                  <a:srgbClr val="404040"/>
                </a:solidFill>
                <a:effectLst/>
                <a:latin typeface="quote-cjk-patch"/>
              </a:rPr>
              <a:t>标题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：温度与死淘率关系 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- W3 0-2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天 外部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-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平均 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MEAN</a:t>
            </a:r>
            <a:endParaRPr lang="en-US" altLang="zh-CN" sz="1800" dirty="0">
              <a:solidFill>
                <a:srgbClr val="404040"/>
              </a:solidFill>
              <a:latin typeface="quote-cjk-patch"/>
            </a:endParaRPr>
          </a:p>
          <a:p>
            <a:r>
              <a:rPr lang="zh-CN" altLang="en-US" sz="1800" b="1" dirty="0">
                <a:solidFill>
                  <a:srgbClr val="404040"/>
                </a:solidFill>
                <a:latin typeface="quote-cjk-patch"/>
              </a:rPr>
              <a:t>字段含义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：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0-2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日龄的外部温度的平均值</a:t>
            </a:r>
            <a:br>
              <a:rPr lang="zh-CN" altLang="en-US" sz="1800" dirty="0"/>
            </a:br>
            <a:r>
              <a:rPr lang="en-US" altLang="zh-CN" sz="1800" b="1" i="0" dirty="0">
                <a:solidFill>
                  <a:srgbClr val="404040"/>
                </a:solidFill>
                <a:effectLst/>
                <a:latin typeface="quote-cjk-patch"/>
              </a:rPr>
              <a:t>X</a:t>
            </a:r>
            <a:r>
              <a:rPr lang="zh-CN" altLang="en-US" sz="1800" b="1" i="0" dirty="0">
                <a:solidFill>
                  <a:srgbClr val="404040"/>
                </a:solidFill>
                <a:effectLst/>
                <a:latin typeface="quote-cjk-patch"/>
              </a:rPr>
              <a:t>轴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：温度（℃），图片上方给出样本范围：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-2.9℃ 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至 </a:t>
            </a:r>
            <a:r>
              <a:rPr lang="en-US" altLang="zh-CN" sz="1800" b="0" i="0" dirty="0">
                <a:solidFill>
                  <a:srgbClr val="404040"/>
                </a:solidFill>
                <a:effectLst/>
                <a:latin typeface="quote-cjk-patch"/>
              </a:rPr>
              <a:t>34.6℃</a:t>
            </a:r>
          </a:p>
          <a:p>
            <a:r>
              <a:rPr lang="zh-CN" altLang="en-US" sz="1800" b="1" dirty="0">
                <a:solidFill>
                  <a:srgbClr val="404040"/>
                </a:solidFill>
                <a:latin typeface="quote-cjk-patch"/>
              </a:rPr>
              <a:t>左</a:t>
            </a:r>
            <a:r>
              <a:rPr lang="en-US" altLang="zh-CN" sz="1800" b="1" dirty="0">
                <a:solidFill>
                  <a:srgbClr val="404040"/>
                </a:solidFill>
                <a:latin typeface="quote-cjk-patch"/>
              </a:rPr>
              <a:t>y</a:t>
            </a:r>
            <a:r>
              <a:rPr lang="zh-CN" altLang="en-US" sz="1800" b="1" dirty="0">
                <a:solidFill>
                  <a:srgbClr val="404040"/>
                </a:solidFill>
                <a:latin typeface="quote-cjk-patch"/>
              </a:rPr>
              <a:t>轴：</a:t>
            </a:r>
            <a:r>
              <a:rPr lang="zh-CN" altLang="en-US" sz="1800" dirty="0">
                <a:solidFill>
                  <a:srgbClr val="404040"/>
                </a:solidFill>
                <a:latin typeface="quote-cjk-patch"/>
              </a:rPr>
              <a:t>样本数量，条形图的不同高度代表不同区间内的样本数量</a:t>
            </a:r>
            <a:br>
              <a:rPr lang="zh-CN" altLang="en-US" sz="1800" dirty="0"/>
            </a:br>
            <a:r>
              <a:rPr lang="zh-CN" altLang="en-US" sz="1800" b="1" dirty="0">
                <a:solidFill>
                  <a:srgbClr val="404040"/>
                </a:solidFill>
                <a:latin typeface="quote-cjk-patch"/>
              </a:rPr>
              <a:t>右</a:t>
            </a:r>
            <a:r>
              <a:rPr lang="en-US" altLang="zh-CN" sz="1800" dirty="0"/>
              <a:t>_</a:t>
            </a:r>
            <a:r>
              <a:rPr lang="en-US" altLang="zh-CN" sz="1800" b="1" i="0" dirty="0">
                <a:solidFill>
                  <a:srgbClr val="404040"/>
                </a:solidFill>
                <a:effectLst/>
                <a:latin typeface="quote-cjk-patch"/>
              </a:rPr>
              <a:t>Y</a:t>
            </a:r>
            <a:r>
              <a:rPr lang="zh-CN" altLang="en-US" sz="1800" b="1" i="0" dirty="0">
                <a:solidFill>
                  <a:srgbClr val="404040"/>
                </a:solidFill>
                <a:effectLst/>
                <a:latin typeface="quote-cjk-patch"/>
              </a:rPr>
              <a:t>轴</a:t>
            </a:r>
            <a:r>
              <a:rPr lang="zh-CN" altLang="en-US" sz="1800" b="0" i="0" dirty="0">
                <a:solidFill>
                  <a:srgbClr val="404040"/>
                </a:solidFill>
                <a:effectLst/>
                <a:latin typeface="quote-cjk-patch"/>
              </a:rPr>
              <a:t>：死淘率，折线图表示不同区间的死淘率均值。</a:t>
            </a:r>
            <a:endParaRPr lang="zh-CN" altLang="en-US" sz="1800" dirty="0"/>
          </a:p>
        </p:txBody>
      </p:sp>
    </p:spTree>
    <p:extLst>
      <p:ext uri="{BB962C8B-B14F-4D97-AF65-F5344CB8AC3E}">
        <p14:creationId xmlns:p14="http://schemas.microsoft.com/office/powerpoint/2010/main" val="39038432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>
            <a:extLst>
              <a:ext uri="{FF2B5EF4-FFF2-40B4-BE49-F238E27FC236}">
                <a16:creationId xmlns:a16="http://schemas.microsoft.com/office/drawing/2014/main" id="{39B6837D-820E-7A48-FAF0-C42E0A6F53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5057908"/>
              </p:ext>
            </p:extLst>
          </p:nvPr>
        </p:nvGraphicFramePr>
        <p:xfrm>
          <a:off x="838202" y="1601806"/>
          <a:ext cx="10515596" cy="2917000"/>
        </p:xfrm>
        <a:graphic>
          <a:graphicData uri="http://schemas.openxmlformats.org/drawingml/2006/table">
            <a:tbl>
              <a:tblPr>
                <a:tableStyleId>{ED083AE6-46FA-4A59-8FB0-9F97EB10719F}</a:tableStyleId>
              </a:tblPr>
              <a:tblGrid>
                <a:gridCol w="550866">
                  <a:extLst>
                    <a:ext uri="{9D8B030D-6E8A-4147-A177-3AD203B41FA5}">
                      <a16:colId xmlns:a16="http://schemas.microsoft.com/office/drawing/2014/main" val="1019282222"/>
                    </a:ext>
                  </a:extLst>
                </a:gridCol>
                <a:gridCol w="653775">
                  <a:extLst>
                    <a:ext uri="{9D8B030D-6E8A-4147-A177-3AD203B41FA5}">
                      <a16:colId xmlns:a16="http://schemas.microsoft.com/office/drawing/2014/main" val="2042482468"/>
                    </a:ext>
                  </a:extLst>
                </a:gridCol>
                <a:gridCol w="666594">
                  <a:extLst>
                    <a:ext uri="{9D8B030D-6E8A-4147-A177-3AD203B41FA5}">
                      <a16:colId xmlns:a16="http://schemas.microsoft.com/office/drawing/2014/main" val="3111259004"/>
                    </a:ext>
                  </a:extLst>
                </a:gridCol>
                <a:gridCol w="688583">
                  <a:extLst>
                    <a:ext uri="{9D8B030D-6E8A-4147-A177-3AD203B41FA5}">
                      <a16:colId xmlns:a16="http://schemas.microsoft.com/office/drawing/2014/main" val="540567312"/>
                    </a:ext>
                  </a:extLst>
                </a:gridCol>
                <a:gridCol w="709770">
                  <a:extLst>
                    <a:ext uri="{9D8B030D-6E8A-4147-A177-3AD203B41FA5}">
                      <a16:colId xmlns:a16="http://schemas.microsoft.com/office/drawing/2014/main" val="3599570454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3535392240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3362999435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2780672956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2738098192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2657503489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938902776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826527196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159645733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2993362187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1889307148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64402950"/>
                    </a:ext>
                  </a:extLst>
                </a:gridCol>
                <a:gridCol w="603834">
                  <a:extLst>
                    <a:ext uri="{9D8B030D-6E8A-4147-A177-3AD203B41FA5}">
                      <a16:colId xmlns:a16="http://schemas.microsoft.com/office/drawing/2014/main" val="1683692967"/>
                    </a:ext>
                  </a:extLst>
                </a:gridCol>
              </a:tblGrid>
              <a:tr h="162056"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000" u="none" strike="noStrike">
                          <a:effectLst/>
                        </a:rPr>
                        <a:t>　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 dirty="0">
                          <a:effectLst/>
                        </a:rPr>
                        <a:t>冬季</a:t>
                      </a:r>
                      <a:endParaRPr lang="zh-CN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>
                          <a:effectLst/>
                        </a:rPr>
                        <a:t>秋季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>
                          <a:effectLst/>
                        </a:rPr>
                        <a:t>夏季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zh-CN" altLang="en-US" sz="1000" b="1" u="none" strike="noStrike">
                          <a:effectLst/>
                        </a:rPr>
                        <a:t>春季</a:t>
                      </a:r>
                      <a:endParaRPr lang="zh-CN" alt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328073"/>
                  </a:ext>
                </a:extLst>
              </a:tr>
              <a:tr h="16205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age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out-lower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out-upper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in-lower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in-upper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out-lower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out-upper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In-lower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In-upper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out-lower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>
                          <a:effectLst/>
                        </a:rPr>
                        <a:t>out-upper</a:t>
                      </a:r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In-lower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In-upper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out-lower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out-upper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In-lower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u="none" strike="noStrike" dirty="0">
                          <a:effectLst/>
                        </a:rPr>
                        <a:t>In-upper</a:t>
                      </a:r>
                      <a:endParaRPr 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162278315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0-2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15.1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16.1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31.6(min)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33.6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32.2(max)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34.4(max)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25.6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33.8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34.4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7.5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8.2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33.6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33.8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258508189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3-5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12.8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32.6(max)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30.6(min)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31.2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31.8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33(max)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32.2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32.6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7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19.1(max)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31.6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1531882879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6-8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9.3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17.6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28.6(min)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29.1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29.8(max)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31.6(max)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31.9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9.1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16.3(max)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28.5(min)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29.4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2250346430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>
                          <a:effectLst/>
                        </a:rPr>
                        <a:t>9-11</a:t>
                      </a:r>
                      <a:endParaRPr lang="en-US" altLang="zh-CN" sz="1000" b="1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8.2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15.9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27.6(min)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30.1(max)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29.8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31.2(max)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24.6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31.6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32(max)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11.4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14.3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1848769835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12-14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13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29.1(max)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26.2(min)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26.9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29(max)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29.2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30.7(max)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31.1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29.9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14.4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17.4(max)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25.8(min)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445636619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15-17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11.9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19.1(max)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25.6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25.9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29.1(max)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30.3(max)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19.6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28.8(min)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29.2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8.6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17.9(max)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27.8(max)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2689388988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18-20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10.2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17.9(max)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23.9(min)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24.4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28.4(max)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28.1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30(max)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27.6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30.6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31.1(max)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9.8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17.3(max)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385118661"/>
                  </a:ext>
                </a:extLst>
              </a:tr>
              <a:tr h="32411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b="1" u="none" strike="noStrike" dirty="0">
                          <a:effectLst/>
                        </a:rPr>
                        <a:t>21-23</a:t>
                      </a:r>
                      <a:endParaRPr lang="en-US" altLang="zh-CN" sz="1000" b="1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8.8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15.9(max)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u="none" strike="noStrike">
                          <a:effectLst/>
                        </a:rPr>
                        <a:t>22.7(min)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000" u="none" strike="noStrike">
                          <a:effectLst/>
                        </a:rPr>
                        <a:t>23.9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21.2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22.8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30.2(max)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28.9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31(max)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30.2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>
                          <a:effectLst/>
                        </a:rPr>
                        <a:t>30.8(max)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9.2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13.8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000" u="none" strike="noStrike">
                          <a:effectLst/>
                        </a:rPr>
                        <a:t>26.4</a:t>
                      </a:r>
                      <a:endParaRPr lang="en-US" altLang="zh-CN" sz="1000" b="0" i="0" u="none" strike="noStrike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000" u="none" strike="noStrike" dirty="0">
                          <a:effectLst/>
                        </a:rPr>
                        <a:t>27.6(max)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等线" panose="02010600030101010101" pitchFamily="2" charset="-122"/>
                        <a:ea typeface="等线" panose="02010600030101010101" pitchFamily="2" charset="-122"/>
                      </a:endParaRPr>
                    </a:p>
                  </a:txBody>
                  <a:tcPr marL="6225" marR="6225" marT="6225" marB="0" anchor="ctr"/>
                </a:tc>
                <a:extLst>
                  <a:ext uri="{0D108BD9-81ED-4DB2-BD59-A6C34878D82A}">
                    <a16:rowId xmlns:a16="http://schemas.microsoft.com/office/drawing/2014/main" val="2025127991"/>
                  </a:ext>
                </a:extLst>
              </a:tr>
            </a:tbl>
          </a:graphicData>
        </a:graphic>
      </p:graphicFrame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091C8E92-C6E4-0739-4259-E3217733925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各季节内外温度最优区间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6A9CDB1-35DE-E167-80EE-F53F55637296}"/>
              </a:ext>
            </a:extLst>
          </p:cNvPr>
          <p:cNvSpPr txBox="1"/>
          <p:nvPr/>
        </p:nvSpPr>
        <p:spPr>
          <a:xfrm>
            <a:off x="418099" y="5472077"/>
            <a:ext cx="1010263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8499721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155FD-9FE5-1B80-8BC6-E88498B28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DFFB7C7-90EA-E3F4-E6DA-B1DAEF8BE078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2EEB44-93E5-2C2A-7552-6A2692356BC9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2E44C2B-611C-1E03-9118-FB79CFA4D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冬天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1181B5B-264A-F9F5-EBBF-3A12DC2BADCC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endParaRPr lang="en-US" altLang="zh-CN" sz="1600" b="1" dirty="0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600" b="0" i="0" dirty="0">
              <a:solidFill>
                <a:srgbClr val="000000"/>
              </a:solidFill>
              <a:effectLst/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A484955-304F-D786-C44C-29FC65A4B508}"/>
              </a:ext>
            </a:extLst>
          </p:cNvPr>
          <p:cNvSpPr txBox="1"/>
          <p:nvPr/>
        </p:nvSpPr>
        <p:spPr>
          <a:xfrm>
            <a:off x="951877" y="3720256"/>
            <a:ext cx="9713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With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Fixed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_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Token</a:t>
            </a:r>
            <a:endParaRPr lang="en-US" altLang="zh-CN" sz="2000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验证集指标: {‘</a:t>
            </a:r>
            <a:r>
              <a:rPr lang="zh-CN" altLang="en-US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’: 0.3710892523913423, '</a:t>
            </a:r>
            <a:r>
              <a:rPr lang="zh-CN" altLang="en-US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0.02421204, '</a:t>
            </a:r>
            <a:r>
              <a:rPr lang="zh-CN" altLang="en-US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': 0.2907966} </a:t>
            </a:r>
          </a:p>
        </p:txBody>
      </p:sp>
    </p:spTree>
    <p:extLst>
      <p:ext uri="{BB962C8B-B14F-4D97-AF65-F5344CB8AC3E}">
        <p14:creationId xmlns:p14="http://schemas.microsoft.com/office/powerpoint/2010/main" val="35641560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16918A-A6E3-61C9-B24C-660B2EEA34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DF5CD8FD-2066-5FED-6510-C59E3F57FFA7}"/>
              </a:ext>
            </a:extLst>
          </p:cNvPr>
          <p:cNvSpPr/>
          <p:nvPr/>
        </p:nvSpPr>
        <p:spPr>
          <a:xfrm>
            <a:off x="361950" y="777732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800" b="0" i="0">
                <a:effectLst/>
                <a:latin typeface="Inter"/>
              </a:rPr>
              <a:t>这组图展示了基于 </a:t>
            </a:r>
            <a:r>
              <a:rPr lang="en-US" altLang="zh-CN" sz="800" b="0" i="0">
                <a:effectLst/>
                <a:latin typeface="Inter"/>
              </a:rPr>
              <a:t>Grad - CAM</a:t>
            </a:r>
            <a:r>
              <a:rPr lang="zh-CN" altLang="en-US" sz="800" b="0" i="0">
                <a:effectLst/>
                <a:latin typeface="Inter"/>
              </a:rPr>
              <a:t>（</a:t>
            </a:r>
            <a:r>
              <a:rPr lang="en-US" altLang="zh-CN" sz="800" b="0" i="0">
                <a:effectLst/>
                <a:latin typeface="Inter"/>
              </a:rPr>
              <a:t>Gradient - weighted Class Activation Mapping</a:t>
            </a:r>
            <a:r>
              <a:rPr lang="zh-CN" altLang="en-US" sz="800" b="0" i="0">
                <a:effectLst/>
                <a:latin typeface="Inter"/>
              </a:rPr>
              <a:t>，梯度加权类激活映射 ）方法分析的鸡舍温度平均值的相关结果。上方折线图呈现了不同时间步下的 </a:t>
            </a:r>
            <a:r>
              <a:rPr lang="en-US" altLang="zh-CN" sz="800" b="0" i="0">
                <a:effectLst/>
                <a:latin typeface="Inter"/>
              </a:rPr>
              <a:t>Grad - CAM </a:t>
            </a:r>
            <a:r>
              <a:rPr lang="zh-CN" altLang="en-US" sz="800" b="0" i="0">
                <a:effectLst/>
                <a:latin typeface="Inter"/>
              </a:rPr>
              <a:t>重要性分数，可见在时间步为 </a:t>
            </a:r>
            <a:r>
              <a:rPr lang="en-US" altLang="zh-CN" sz="800" b="0" i="0">
                <a:effectLst/>
                <a:latin typeface="Inter"/>
              </a:rPr>
              <a:t>0 </a:t>
            </a:r>
            <a:r>
              <a:rPr lang="zh-CN" altLang="en-US" sz="800" b="0" i="0">
                <a:effectLst/>
                <a:latin typeface="Inter"/>
              </a:rPr>
              <a:t>时重要性分数高达 </a:t>
            </a:r>
            <a:r>
              <a:rPr lang="en-US" altLang="zh-CN" sz="800" b="0" i="0">
                <a:effectLst/>
                <a:latin typeface="Inter"/>
              </a:rPr>
              <a:t>1.0 </a:t>
            </a:r>
            <a:r>
              <a:rPr lang="zh-CN" altLang="en-US" sz="800" b="0" i="0">
                <a:effectLst/>
                <a:latin typeface="Inter"/>
              </a:rPr>
              <a:t>，随后迅速下降，之后在各时间步重要性分数基本维持在较低水平且波动极小。下方热力图同样对应各时间步，颜色从紫到黄表示重要性分数从低到高，进一步直观表明除起始时间步附近外，其余时间步重要性分数普遍较低。整体反映出在 </a:t>
            </a:r>
            <a:r>
              <a:rPr lang="en-US" altLang="zh-CN" sz="800" b="0" i="0">
                <a:effectLst/>
                <a:latin typeface="Inter"/>
              </a:rPr>
              <a:t>Grad - CAM </a:t>
            </a:r>
            <a:r>
              <a:rPr lang="zh-CN" altLang="en-US" sz="800" b="0" i="0">
                <a:effectLst/>
                <a:latin typeface="Inter"/>
              </a:rPr>
              <a:t>分析中，鸡舍温度平均值在初始时间步具有较高重要性，后续时间步重要性显著降低 。</a:t>
            </a: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006D4E-9844-D1B5-605E-E6ED75D037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8" name="图片 7" descr="图片包含 应用程序&#10;&#10;AI 生成的内容可能不正确。">
            <a:extLst>
              <a:ext uri="{FF2B5EF4-FFF2-40B4-BE49-F238E27FC236}">
                <a16:creationId xmlns:a16="http://schemas.microsoft.com/office/drawing/2014/main" id="{6DCF2B1F-BA46-CD69-1333-05FCB5716A5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477" y="1739577"/>
            <a:ext cx="5576287" cy="3166004"/>
          </a:xfrm>
          <a:prstGeom prst="rect">
            <a:avLst/>
          </a:prstGeom>
        </p:spPr>
      </p:pic>
      <p:pic>
        <p:nvPicPr>
          <p:cNvPr id="9" name="图片 8" descr="图片包含 应用程序&#10;&#10;AI 生成的内容可能不正确。">
            <a:extLst>
              <a:ext uri="{FF2B5EF4-FFF2-40B4-BE49-F238E27FC236}">
                <a16:creationId xmlns:a16="http://schemas.microsoft.com/office/drawing/2014/main" id="{D4B150F1-8A42-9710-5ABD-C720A7AB56A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9291" y="1739577"/>
            <a:ext cx="5556812" cy="315494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C795797-573A-4F1A-32EB-B03A97C7ECEE}"/>
              </a:ext>
            </a:extLst>
          </p:cNvPr>
          <p:cNvSpPr txBox="1"/>
          <p:nvPr/>
        </p:nvSpPr>
        <p:spPr>
          <a:xfrm>
            <a:off x="1037821" y="5173680"/>
            <a:ext cx="10116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这组图展示了基于 </a:t>
            </a:r>
            <a:r>
              <a:rPr lang="en-US" altLang="zh-CN" sz="1400" b="0" i="0" dirty="0">
                <a:effectLst/>
                <a:latin typeface="Inter"/>
              </a:rPr>
              <a:t>Grad - CAM</a:t>
            </a:r>
            <a:r>
              <a:rPr lang="zh-CN" altLang="en-US" sz="1400" b="0" i="0" dirty="0">
                <a:effectLst/>
                <a:latin typeface="Inter"/>
              </a:rPr>
              <a:t>方法分析的鸡舍温度</a:t>
            </a:r>
            <a:r>
              <a:rPr lang="zh-CN" altLang="en-US" sz="1400" dirty="0">
                <a:latin typeface="Inter"/>
              </a:rPr>
              <a:t>和湿度</a:t>
            </a:r>
            <a:r>
              <a:rPr lang="zh-CN" altLang="en-US" sz="1400" b="0" i="0" dirty="0">
                <a:effectLst/>
                <a:latin typeface="Inter"/>
              </a:rPr>
              <a:t>的相关结果。上方折线图呈现了不同时间步下的 </a:t>
            </a:r>
            <a:r>
              <a:rPr lang="en-US" altLang="zh-CN" sz="1400" b="0" i="0" dirty="0">
                <a:effectLst/>
                <a:latin typeface="Inter"/>
              </a:rPr>
              <a:t>Grad - CAM </a:t>
            </a:r>
            <a:r>
              <a:rPr lang="zh-CN" altLang="en-US" sz="1400" b="0" i="0" dirty="0">
                <a:effectLst/>
                <a:latin typeface="Inter"/>
              </a:rPr>
              <a:t>重要性分数。下方热力图同样对应各时间步，颜色从紫到黄表示重要性分数从低到高</a:t>
            </a:r>
            <a:r>
              <a:rPr lang="zh-CN" altLang="en-US" sz="1400" dirty="0">
                <a:latin typeface="Inter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560408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4EA22-820B-52EE-8785-1FCC5DA1B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69E6B8-C667-9B57-BEF4-0FA5FDDDC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DE8CB720-08EC-ECDE-C01F-54722BE67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739" y="1425270"/>
            <a:ext cx="5400261" cy="1822588"/>
          </a:xfrm>
          <a:prstGeom prst="rect">
            <a:avLst/>
          </a:prstGeom>
        </p:spPr>
      </p:pic>
      <p:pic>
        <p:nvPicPr>
          <p:cNvPr id="8" name="图片 7" descr="图片包含 图表&#10;&#10;AI 生成的内容可能不正确。">
            <a:extLst>
              <a:ext uri="{FF2B5EF4-FFF2-40B4-BE49-F238E27FC236}">
                <a16:creationId xmlns:a16="http://schemas.microsoft.com/office/drawing/2014/main" id="{8AA1AC3E-B7E8-2D4E-835E-FCF77D15D5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42588" y="107031"/>
            <a:ext cx="4302638" cy="5109383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6E4FBBF2-FA02-FE1F-9F20-F686FFD2EE71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E02C410-A840-0FF3-420F-25ADD0BDBDC7}"/>
              </a:ext>
            </a:extLst>
          </p:cNvPr>
          <p:cNvSpPr txBox="1"/>
          <p:nvPr/>
        </p:nvSpPr>
        <p:spPr>
          <a:xfrm>
            <a:off x="7187294" y="5564452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seq_1_t1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2573944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9212A-6940-7389-2DD9-219BB1D1A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789829D-71C1-6DDA-2EDF-C58ED501C218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12D2FA-24E1-1542-BDB0-0775655E3CFD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585079B-0FC0-3D45-8B9C-DA645ABBC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冬天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-EEF-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57E96CF-B1BB-5C86-75B0-7C7BA006AEA0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D22CB90-4F54-3013-5046-6E851FB358B7}"/>
              </a:ext>
            </a:extLst>
          </p:cNvPr>
          <p:cNvSpPr txBox="1"/>
          <p:nvPr/>
        </p:nvSpPr>
        <p:spPr>
          <a:xfrm>
            <a:off x="951877" y="3720256"/>
            <a:ext cx="1046715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 err="1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 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验证集还原后指标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0.5159186276730141,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27.320942,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0.0892119}</a:t>
            </a:r>
          </a:p>
        </p:txBody>
      </p:sp>
    </p:spTree>
    <p:extLst>
      <p:ext uri="{BB962C8B-B14F-4D97-AF65-F5344CB8AC3E}">
        <p14:creationId xmlns:p14="http://schemas.microsoft.com/office/powerpoint/2010/main" val="962295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BB8F8C-8B10-370A-5AE0-11330B8E56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5119933B-95C0-1D9D-D969-98F83480A07D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0A373CD-AB4D-CF9E-33FF-3171B0CBA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A9A1A7AD-6D94-C7D2-8878-CE90D544F0C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79" y="1852295"/>
            <a:ext cx="5554108" cy="3153412"/>
          </a:xfrm>
          <a:prstGeom prst="rect">
            <a:avLst/>
          </a:prstGeom>
        </p:spPr>
      </p:pic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D8F95365-81DB-1F42-41D4-0D8F1F424D8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941" y="1852293"/>
            <a:ext cx="5554109" cy="3153413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22176281-7707-0E6E-F463-4F29DFE0DDFA}"/>
              </a:ext>
            </a:extLst>
          </p:cNvPr>
          <p:cNvSpPr txBox="1"/>
          <p:nvPr/>
        </p:nvSpPr>
        <p:spPr>
          <a:xfrm>
            <a:off x="1037821" y="5173680"/>
            <a:ext cx="10116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这组图展示了基于 </a:t>
            </a:r>
            <a:r>
              <a:rPr lang="en-US" altLang="zh-CN" sz="1400" b="0" i="0" dirty="0">
                <a:effectLst/>
                <a:latin typeface="Inter"/>
              </a:rPr>
              <a:t>Grad - CAM</a:t>
            </a:r>
            <a:r>
              <a:rPr lang="zh-CN" altLang="en-US" sz="1400" b="0" i="0" dirty="0">
                <a:effectLst/>
                <a:latin typeface="Inter"/>
              </a:rPr>
              <a:t>方法分析的鸡舍温度</a:t>
            </a:r>
            <a:r>
              <a:rPr lang="zh-CN" altLang="en-US" sz="1400" dirty="0">
                <a:latin typeface="Inter"/>
              </a:rPr>
              <a:t>和湿度</a:t>
            </a:r>
            <a:r>
              <a:rPr lang="zh-CN" altLang="en-US" sz="1400" b="0" i="0" dirty="0">
                <a:effectLst/>
                <a:latin typeface="Inter"/>
              </a:rPr>
              <a:t>的相关结果。上方折线图呈现了不同时间步下的 </a:t>
            </a:r>
            <a:r>
              <a:rPr lang="en-US" altLang="zh-CN" sz="1400" b="0" i="0" dirty="0">
                <a:effectLst/>
                <a:latin typeface="Inter"/>
              </a:rPr>
              <a:t>Grad - CAM </a:t>
            </a:r>
            <a:r>
              <a:rPr lang="zh-CN" altLang="en-US" sz="1400" b="0" i="0" dirty="0">
                <a:effectLst/>
                <a:latin typeface="Inter"/>
              </a:rPr>
              <a:t>重要性分数。下方热力图同样对应各时间步，颜色从紫到黄表示重要性分数从低到高</a:t>
            </a:r>
            <a:r>
              <a:rPr lang="zh-CN" altLang="en-US" sz="1400" dirty="0">
                <a:latin typeface="Inter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585847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E3F12B-4A7D-F042-807C-C568C32602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F7AEACC-2B51-1442-D30A-4AFFEC5F6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冬天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C8EA45DC-722E-2E1D-EB1F-C560C1806D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469127"/>
            <a:ext cx="5430085" cy="1832654"/>
          </a:xfrm>
          <a:prstGeom prst="rect">
            <a:avLst/>
          </a:prstGeom>
        </p:spPr>
      </p:pic>
      <p:pic>
        <p:nvPicPr>
          <p:cNvPr id="7" name="图片 6" descr="图片包含 图形用户界面&#10;&#10;AI 生成的内容可能不正确。">
            <a:extLst>
              <a:ext uri="{FF2B5EF4-FFF2-40B4-BE49-F238E27FC236}">
                <a16:creationId xmlns:a16="http://schemas.microsoft.com/office/drawing/2014/main" id="{D2107609-98A1-709A-6254-B9D7FB855F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9383" y="112210"/>
            <a:ext cx="3908187" cy="4640972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55DF568F-78E4-DA1F-371F-583ABA217A74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1DBD6D9-F625-3938-2CE9-9DA0F1DEB94F}"/>
              </a:ext>
            </a:extLst>
          </p:cNvPr>
          <p:cNvSpPr txBox="1"/>
          <p:nvPr/>
        </p:nvSpPr>
        <p:spPr>
          <a:xfrm>
            <a:off x="7187294" y="5564452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29612653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A99AB3B2-9FA9-2D22-C5A2-E5B214A1525C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F4AFBCA0-E656-E6A8-1DEA-CBA10353BC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3101931"/>
              </p:ext>
            </p:extLst>
          </p:nvPr>
        </p:nvGraphicFramePr>
        <p:xfrm>
          <a:off x="1523541" y="3741694"/>
          <a:ext cx="4572459" cy="1642332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9858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308599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812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75165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808865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22158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out-lower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out-upper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in-upper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33.6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32.6(max)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30.6(min)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31.2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28.6(min)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29.1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28.1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10.2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17.9(max)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24.4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59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15.9(max)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22.7(min)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23.9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8C79D5ED-E4A2-BB45-AF5A-CDEC1F67F384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：对低温敏感，防止低温应激影响，保证内温稳定；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：对低温敏感，内温区间收窄至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30.6℃~31.2℃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：养殖过渡阶段，对外部低温敏感程度下降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8.2</a:t>
            </a:r>
            <a:r>
              <a:rPr lang="en-US" altLang="zh-CN" sz="1200" i="0" dirty="0">
                <a:solidFill>
                  <a:srgbClr val="000000"/>
                </a:solidFill>
                <a:effectLst/>
                <a:latin typeface="Inter"/>
              </a:rPr>
              <a:t>℃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为全周期最低，显示此阶段可耐受一定低温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温度敏感度回升，内温进入</a:t>
            </a:r>
            <a:r>
              <a:rPr lang="en-US" altLang="zh-CN" sz="1050" b="0" i="0" dirty="0">
                <a:solidFill>
                  <a:srgbClr val="404040"/>
                </a:solidFill>
                <a:effectLst/>
                <a:latin typeface="quote-cjk-patch"/>
              </a:rPr>
              <a:t>26℃</a:t>
            </a:r>
            <a:r>
              <a:rPr lang="zh-CN" altLang="en-US" sz="1050" b="0" i="0" dirty="0">
                <a:solidFill>
                  <a:srgbClr val="404040"/>
                </a:solidFill>
                <a:effectLst/>
                <a:latin typeface="quote-cjk-patch"/>
              </a:rPr>
              <a:t>区间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外部温度下限逐步降低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，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耐低温能力逐步增强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早期（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0-5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）和中期（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）对外部低温较为敏感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的上限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7B5743-0326-7AA6-6421-351BF8B7B2DB}"/>
              </a:ext>
            </a:extLst>
          </p:cNvPr>
          <p:cNvSpPr txBox="1"/>
          <p:nvPr/>
        </p:nvSpPr>
        <p:spPr>
          <a:xfrm>
            <a:off x="356454" y="5667286"/>
            <a:ext cx="6620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D21C5C4-06F1-2880-7BA3-67BC9E936650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4E98CC1A-620C-9C77-F8C9-93B29CCDDDB8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图片 11">
            <a:extLst>
              <a:ext uri="{FF2B5EF4-FFF2-40B4-BE49-F238E27FC236}">
                <a16:creationId xmlns:a16="http://schemas.microsoft.com/office/drawing/2014/main" id="{F8749199-8560-2705-9714-6FEBAEB3E7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256" y="561242"/>
            <a:ext cx="5846948" cy="289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28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5F79EF3-0C3C-FC25-CDCE-280324CDA510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 dirty="0">
              <a:solidFill>
                <a:srgbClr val="000000"/>
              </a:solidFill>
              <a:latin typeface="Inter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368C367-A829-977B-535F-FC57FBC10E90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</a:t>
            </a:r>
            <a:r>
              <a:rPr lang="en-US" altLang="zh-CN" sz="1600" b="1" dirty="0">
                <a:solidFill>
                  <a:schemeClr val="tx1"/>
                </a:solidFill>
              </a:rPr>
              <a:t>IV</a:t>
            </a:r>
            <a:r>
              <a:rPr lang="zh-CN" altLang="en-US" sz="1600" b="1" dirty="0">
                <a:solidFill>
                  <a:schemeClr val="tx1"/>
                </a:solidFill>
              </a:rPr>
              <a:t>值汇总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05090FA0-8BBD-179A-DF47-5F0BD572F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8270" y="821101"/>
            <a:ext cx="4828694" cy="2410513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14425B5-F60D-F8FA-109D-FE149EE9D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3429" y="3692998"/>
            <a:ext cx="6638377" cy="2195286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9E50B522-AF3B-2972-11C4-E0491E7E3420}"/>
              </a:ext>
            </a:extLst>
          </p:cNvPr>
          <p:cNvSpPr/>
          <p:nvPr/>
        </p:nvSpPr>
        <p:spPr>
          <a:xfrm>
            <a:off x="7783284" y="3429000"/>
            <a:ext cx="4012295" cy="1670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平均来看，鸡舍温度对高低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的区分能力比死淘率高，外部温度对高低死淘率的区分能力比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高。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分阶段看，冬季样本中，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6-11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天和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18-23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天的室内外温度对死淘和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的影响较大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42608E30-500A-FA8A-33BB-65C797A7A7EC}"/>
              </a:ext>
            </a:extLst>
          </p:cNvPr>
          <p:cNvSpPr txBox="1"/>
          <p:nvPr/>
        </p:nvSpPr>
        <p:spPr>
          <a:xfrm>
            <a:off x="7783284" y="1362305"/>
            <a:ext cx="34944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Information Value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，信息价值）是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评估变量预测能力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的常用指标，主要用于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特征选择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和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信用评分模型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（如逻辑回归、决策树等）。它衡量一个变量（特征）对目标变量的区分能力，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值越高，变量的预测能力越强</a:t>
            </a:r>
            <a:endParaRPr lang="zh-CN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997025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E381808-DC2B-4968-90B7-1B9740DA58B6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F3C24C8-E15F-3A92-3D01-088BD8FC2A5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9062A7-3F0B-A27C-F7ED-41E8862F6A67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日龄外部温度处于</a:t>
            </a:r>
            <a:r>
              <a:rPr lang="en-US" altLang="zh-CN" sz="1400" b="1" dirty="0">
                <a:solidFill>
                  <a:schemeClr val="tx1"/>
                </a:solidFill>
              </a:rPr>
              <a:t>15.1-16.1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31.6-33.6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8" name="图片 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D41B73D2-A3CB-A6D1-5C69-3C7DAFAF7C4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3187460"/>
            <a:ext cx="4750015" cy="2370288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2D46817-8B0E-DA6E-A450-E12C9311817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310" y="3190917"/>
            <a:ext cx="4873295" cy="2366831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2348F000-EFCA-6A81-CD3D-CFAA21EB22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5355" y="854117"/>
            <a:ext cx="4750015" cy="221214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9E648389-F94E-9127-1C33-B6857EE7BC96}"/>
              </a:ext>
            </a:extLst>
          </p:cNvPr>
          <p:cNvSpPr/>
          <p:nvPr/>
        </p:nvSpPr>
        <p:spPr>
          <a:xfrm>
            <a:off x="6629401" y="1106324"/>
            <a:ext cx="2342326" cy="4200362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EBD6291-5C28-E1F8-9783-81D31DCE26E5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3598" y="824084"/>
            <a:ext cx="4873294" cy="2212149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12D5AD-0E83-9E0C-2396-B1F541B70D3A}"/>
              </a:ext>
            </a:extLst>
          </p:cNvPr>
          <p:cNvSpPr/>
          <p:nvPr/>
        </p:nvSpPr>
        <p:spPr>
          <a:xfrm>
            <a:off x="3490812" y="1124703"/>
            <a:ext cx="179996" cy="419072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540122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2A38D-399A-9D68-9104-85A6F60EE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D948C03-F731-A01B-1E16-77235E08AE3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1E9FAB7-BDD0-5C67-FCE3-0BC0E7E9ACB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A0B6E5B-A338-ACA1-9D74-9C17C1B6DC3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大于</a:t>
            </a:r>
            <a:r>
              <a:rPr lang="en-US" altLang="zh-CN" sz="1400" b="1" dirty="0">
                <a:solidFill>
                  <a:schemeClr val="tx1"/>
                </a:solidFill>
              </a:rPr>
              <a:t>12.8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A5746E7-8234-F34F-09B5-C7522519B1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3328237"/>
            <a:ext cx="4782082" cy="2252041"/>
          </a:xfrm>
          <a:prstGeom prst="rect">
            <a:avLst/>
          </a:prstGeom>
        </p:spPr>
      </p:pic>
      <p:pic>
        <p:nvPicPr>
          <p:cNvPr id="13" name="图片 12" descr="图表, 折线图, 直方图">
            <a:extLst>
              <a:ext uri="{FF2B5EF4-FFF2-40B4-BE49-F238E27FC236}">
                <a16:creationId xmlns:a16="http://schemas.microsoft.com/office/drawing/2014/main" id="{D669D074-D177-5F51-9182-01B59D0A09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1952" y="3327884"/>
            <a:ext cx="4782081" cy="2252041"/>
          </a:xfrm>
          <a:prstGeom prst="rect">
            <a:avLst/>
          </a:prstGeom>
        </p:spPr>
      </p:pic>
      <p:pic>
        <p:nvPicPr>
          <p:cNvPr id="21" name="图片 20" descr="图表&#10;&#10;AI 生成的内容可能不正确。">
            <a:extLst>
              <a:ext uri="{FF2B5EF4-FFF2-40B4-BE49-F238E27FC236}">
                <a16:creationId xmlns:a16="http://schemas.microsoft.com/office/drawing/2014/main" id="{667C8B7C-507E-BF8E-0D9D-DE69E400590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866775"/>
            <a:ext cx="4792107" cy="235417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98212D1-50B2-AEC3-A6E5-1B9E4BD9B88F}"/>
              </a:ext>
            </a:extLst>
          </p:cNvPr>
          <p:cNvSpPr/>
          <p:nvPr/>
        </p:nvSpPr>
        <p:spPr>
          <a:xfrm>
            <a:off x="6473798" y="1145569"/>
            <a:ext cx="1199748" cy="42358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9170D268-F6F4-C197-D68E-D7967DB7FE5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0593" y="866775"/>
            <a:ext cx="4782082" cy="233916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EA93E3B-25D2-427F-2854-D3FD4CDB3E6A}"/>
              </a:ext>
            </a:extLst>
          </p:cNvPr>
          <p:cNvSpPr/>
          <p:nvPr/>
        </p:nvSpPr>
        <p:spPr>
          <a:xfrm>
            <a:off x="3354512" y="1145568"/>
            <a:ext cx="2226194" cy="4281718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1771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2247C45-DB22-7F1B-04DC-BD2099A25DB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7E27F5-5D56-FFBA-A010-D2FF41E7430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75C1BAF2-0F7C-9C8A-738A-C4754DFA7F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0" y="3220948"/>
            <a:ext cx="4792107" cy="2364602"/>
          </a:xfrm>
          <a:prstGeom prst="rect">
            <a:avLst/>
          </a:prstGeom>
        </p:spPr>
      </p:pic>
      <p:pic>
        <p:nvPicPr>
          <p:cNvPr id="14" name="图片 13" descr="图形用户界面, 图表, 应用程序&#10;&#10;AI 生成的内容可能不正确。">
            <a:extLst>
              <a:ext uri="{FF2B5EF4-FFF2-40B4-BE49-F238E27FC236}">
                <a16:creationId xmlns:a16="http://schemas.microsoft.com/office/drawing/2014/main" id="{EF30DD0B-C925-2031-50C2-9EAFD8A119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5" y="3220948"/>
            <a:ext cx="4815841" cy="2364603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0BCAAEB8-2AD2-3172-B276-F62B0A66FF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721" y="828672"/>
            <a:ext cx="4769054" cy="2265393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548F52BA-5E60-745B-E2BC-352E28FBFC9D}"/>
              </a:ext>
            </a:extLst>
          </p:cNvPr>
          <p:cNvSpPr/>
          <p:nvPr/>
        </p:nvSpPr>
        <p:spPr>
          <a:xfrm>
            <a:off x="6503542" y="1145568"/>
            <a:ext cx="914401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4BD4AA54-FFAA-1BE9-FF57-6CD2911F61B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6944" y="828671"/>
            <a:ext cx="4815841" cy="2265393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25934FC-14FA-55EF-242C-3AEE61B9437D}"/>
              </a:ext>
            </a:extLst>
          </p:cNvPr>
          <p:cNvSpPr/>
          <p:nvPr/>
        </p:nvSpPr>
        <p:spPr>
          <a:xfrm>
            <a:off x="2851079" y="1133733"/>
            <a:ext cx="1037875" cy="425277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717BD75B-8D4C-6678-11FA-AC381FE59E9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9.3-17.6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28.6-29.1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708077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554C398-A3B1-E0A7-8D71-E884C0D4D75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9E44AA9-6360-DFA1-8285-1F4FF57CB118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E8CA232D-8DF1-B91F-609F-6FED9638280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3145268"/>
            <a:ext cx="4730080" cy="2466188"/>
          </a:xfrm>
          <a:prstGeom prst="rect">
            <a:avLst/>
          </a:prstGeom>
        </p:spPr>
      </p:pic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142DB7E9-980C-5D39-D896-71ACAA3E3F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3145268"/>
            <a:ext cx="4792151" cy="2466188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1D18F89A-E220-A21C-9D18-8D69CE801C1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26" y="851461"/>
            <a:ext cx="4792151" cy="214081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9F2BD070-699A-676C-B791-D63D59CAA619}"/>
              </a:ext>
            </a:extLst>
          </p:cNvPr>
          <p:cNvSpPr/>
          <p:nvPr/>
        </p:nvSpPr>
        <p:spPr>
          <a:xfrm>
            <a:off x="6466113" y="1145567"/>
            <a:ext cx="674426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CFCD1EE5-2857-B7C1-DFDF-4831744A394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6446" y="903476"/>
            <a:ext cx="4730080" cy="2140816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A47A8D7-C32C-C1AA-4DE8-234BC70AF82B}"/>
              </a:ext>
            </a:extLst>
          </p:cNvPr>
          <p:cNvSpPr/>
          <p:nvPr/>
        </p:nvSpPr>
        <p:spPr>
          <a:xfrm>
            <a:off x="2866768" y="1145567"/>
            <a:ext cx="945291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282BEA37-5B1B-B0B6-C081-A64CBC74E0C2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8.2-15.9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27.6-28.1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4110667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E98B975-F18D-4C0E-4597-D7BFF1C73A19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4964836-C55A-675D-6F99-9A44B6D32604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5" name="图片 14" descr="图表&#10;&#10;AI 生成的内容可能不正确。">
            <a:extLst>
              <a:ext uri="{FF2B5EF4-FFF2-40B4-BE49-F238E27FC236}">
                <a16:creationId xmlns:a16="http://schemas.microsoft.com/office/drawing/2014/main" id="{E30A7176-C72D-9784-A954-49D6F3951F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3179781"/>
            <a:ext cx="4902329" cy="2443845"/>
          </a:xfrm>
          <a:prstGeom prst="rect">
            <a:avLst/>
          </a:prstGeom>
        </p:spPr>
      </p:pic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342C425-4F9F-18E7-2D04-4F08692669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3179781"/>
            <a:ext cx="4796011" cy="2462027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3EAF2D3D-FF2C-CEC2-4C9B-D5E169A45A6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325" y="887663"/>
            <a:ext cx="4902329" cy="2203312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440BF0E7-13B6-1149-749A-F54F372F8189}"/>
              </a:ext>
            </a:extLst>
          </p:cNvPr>
          <p:cNvSpPr/>
          <p:nvPr/>
        </p:nvSpPr>
        <p:spPr>
          <a:xfrm>
            <a:off x="6449033" y="1145568"/>
            <a:ext cx="1094768" cy="420264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直方图&#10;&#10;AI 生成的内容可能不正确。">
            <a:extLst>
              <a:ext uri="{FF2B5EF4-FFF2-40B4-BE49-F238E27FC236}">
                <a16:creationId xmlns:a16="http://schemas.microsoft.com/office/drawing/2014/main" id="{126EAA86-59B6-3355-510E-999E58F8571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848" y="882838"/>
            <a:ext cx="4796010" cy="2203312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C6AA3F9-2D93-1B97-1F54-7ACBA194B2F2}"/>
              </a:ext>
            </a:extLst>
          </p:cNvPr>
          <p:cNvSpPr/>
          <p:nvPr/>
        </p:nvSpPr>
        <p:spPr>
          <a:xfrm>
            <a:off x="3381982" y="1176431"/>
            <a:ext cx="2152043" cy="417178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1700E60-E7CD-3B1C-846A-F46EFB46313C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13.0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26.2-26.9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90738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3392E63-3A9A-6882-69AC-0715C7537AA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A6B51CD-7726-F7D3-96B4-EC20EAA54CE4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E452945B-47D1-0B13-9F68-B65B686C4A7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3229773"/>
            <a:ext cx="4793440" cy="2423453"/>
          </a:xfrm>
          <a:prstGeom prst="rect">
            <a:avLst/>
          </a:prstGeom>
        </p:spPr>
      </p:pic>
      <p:pic>
        <p:nvPicPr>
          <p:cNvPr id="16" name="图片 15" descr="图表, 折线图&#10;&#10;AI 生成的内容可能不正确。">
            <a:extLst>
              <a:ext uri="{FF2B5EF4-FFF2-40B4-BE49-F238E27FC236}">
                <a16:creationId xmlns:a16="http://schemas.microsoft.com/office/drawing/2014/main" id="{6BB65637-9B84-EBA8-DBB1-F9E8C26552A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2827" y="3263264"/>
            <a:ext cx="4793441" cy="2389963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2D761FAB-4936-63EF-BC32-F7F88BFB19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7640" y="859639"/>
            <a:ext cx="4793440" cy="2262769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3B20C106-30A5-7D96-D97C-18544D5FB6A9}"/>
              </a:ext>
            </a:extLst>
          </p:cNvPr>
          <p:cNvSpPr/>
          <p:nvPr/>
        </p:nvSpPr>
        <p:spPr>
          <a:xfrm>
            <a:off x="7322883" y="1159229"/>
            <a:ext cx="478091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478BDA24-EF50-7DE5-D094-ADEB6556B59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6711" y="859638"/>
            <a:ext cx="4793440" cy="226277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20E7FDED-F335-8722-E848-F678F71B782D}"/>
              </a:ext>
            </a:extLst>
          </p:cNvPr>
          <p:cNvSpPr/>
          <p:nvPr/>
        </p:nvSpPr>
        <p:spPr>
          <a:xfrm>
            <a:off x="4230061" y="1145568"/>
            <a:ext cx="1389689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9785F08-0F8F-F8F0-9FED-5A9285F8DED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11.9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25.6-25.9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48385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FD8B60-94A5-0180-9658-CB68BE103C8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C23AB86-57B7-AF36-F4AB-EEFD1A95523A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" name="图片 16" descr="图表&#10;&#10;AI 生成的内容可能不正确。">
            <a:extLst>
              <a:ext uri="{FF2B5EF4-FFF2-40B4-BE49-F238E27FC236}">
                <a16:creationId xmlns:a16="http://schemas.microsoft.com/office/drawing/2014/main" id="{8DACEA63-7FB0-B4A1-B422-D8F87DC5F7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7941" y="3306010"/>
            <a:ext cx="4879430" cy="2302000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F1542255-8A4D-3148-96EB-4DBDBFE3942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3306009"/>
            <a:ext cx="4829384" cy="2302000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7F508A17-35D3-E2B4-16A4-5896F891B46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71" y="892835"/>
            <a:ext cx="4904322" cy="2302000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74F8E338-ABCD-9958-931B-7B8BEEC2A089}"/>
              </a:ext>
            </a:extLst>
          </p:cNvPr>
          <p:cNvSpPr/>
          <p:nvPr/>
        </p:nvSpPr>
        <p:spPr>
          <a:xfrm>
            <a:off x="6457950" y="1172457"/>
            <a:ext cx="771525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6" name="图片 25" descr="图表, 折线图&#10;&#10;AI 生成的内容可能不正确。">
            <a:extLst>
              <a:ext uri="{FF2B5EF4-FFF2-40B4-BE49-F238E27FC236}">
                <a16:creationId xmlns:a16="http://schemas.microsoft.com/office/drawing/2014/main" id="{2638A323-0823-3CE0-1829-7B460213FAB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143" y="884387"/>
            <a:ext cx="4829384" cy="2302000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5023911C-403D-7397-E188-982B34963FB9}"/>
              </a:ext>
            </a:extLst>
          </p:cNvPr>
          <p:cNvSpPr/>
          <p:nvPr/>
        </p:nvSpPr>
        <p:spPr>
          <a:xfrm>
            <a:off x="4095749" y="1172457"/>
            <a:ext cx="152400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C449C3F-2FAB-62EE-B4F2-0D97EEAE61F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大于</a:t>
            </a:r>
            <a:r>
              <a:rPr lang="en-US" altLang="zh-CN" sz="1400" b="1" dirty="0">
                <a:solidFill>
                  <a:schemeClr val="tx1"/>
                </a:solidFill>
              </a:rPr>
              <a:t>10.2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23.9-24.4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39673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7EB31D4-5FA9-3A5B-49C7-C4B9CACD887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冬季，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F8EF3D3-DD2D-E766-C111-A55082C49AA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6543FEBC-0646-B5A2-6C53-C55CD2E68B4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3307348"/>
            <a:ext cx="4832555" cy="2302701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1873FBCF-952A-C251-432D-6746DDEA6CE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3283877"/>
            <a:ext cx="4832555" cy="2326172"/>
          </a:xfrm>
          <a:prstGeom prst="rect">
            <a:avLst/>
          </a:prstGeom>
        </p:spPr>
      </p:pic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B5529D41-6446-80F2-A230-5EC8CE04FA6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0669" y="855322"/>
            <a:ext cx="4832555" cy="2326171"/>
          </a:xfrm>
          <a:prstGeom prst="rect">
            <a:avLst/>
          </a:prstGeom>
        </p:spPr>
      </p:pic>
      <p:sp>
        <p:nvSpPr>
          <p:cNvPr id="14" name="矩形 13">
            <a:extLst>
              <a:ext uri="{FF2B5EF4-FFF2-40B4-BE49-F238E27FC236}">
                <a16:creationId xmlns:a16="http://schemas.microsoft.com/office/drawing/2014/main" id="{E66DDC9D-7E98-1975-2A22-69E74C99CC26}"/>
              </a:ext>
            </a:extLst>
          </p:cNvPr>
          <p:cNvSpPr/>
          <p:nvPr/>
        </p:nvSpPr>
        <p:spPr>
          <a:xfrm>
            <a:off x="6481119" y="1200458"/>
            <a:ext cx="1167457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7DF05F74-9D2F-1B25-290E-09002CDB1BC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3444" y="871261"/>
            <a:ext cx="4832555" cy="2259626"/>
          </a:xfrm>
          <a:prstGeom prst="rect">
            <a:avLst/>
          </a:prstGeom>
        </p:spPr>
      </p:pic>
      <p:sp>
        <p:nvSpPr>
          <p:cNvPr id="13" name="矩形 12">
            <a:extLst>
              <a:ext uri="{FF2B5EF4-FFF2-40B4-BE49-F238E27FC236}">
                <a16:creationId xmlns:a16="http://schemas.microsoft.com/office/drawing/2014/main" id="{0D764612-0A16-8D64-31B3-ACFA6E660DFB}"/>
              </a:ext>
            </a:extLst>
          </p:cNvPr>
          <p:cNvSpPr/>
          <p:nvPr/>
        </p:nvSpPr>
        <p:spPr>
          <a:xfrm>
            <a:off x="4065373" y="1145568"/>
            <a:ext cx="1468652" cy="422172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806884D1-4191-259B-053E-7138CF8FF11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大于</a:t>
            </a:r>
            <a:r>
              <a:rPr lang="en-US" altLang="zh-CN" sz="1400" b="1" dirty="0">
                <a:solidFill>
                  <a:schemeClr val="tx1"/>
                </a:solidFill>
              </a:rPr>
              <a:t>8.8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时，冬季样本同时有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22.7-23.9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890076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2F191-8BE3-5B61-9A3F-A48AB7EC8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2346D838-6DE9-7983-36ED-EC9ADB93F431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4648850-6D06-B3A8-06F2-6CA763C7C879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6053306-6A3C-6692-AE83-F99387E97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秋天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6E900274-7534-2193-10D0-F1F7A7F20891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0-25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0-25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233EAA6-E257-3DD1-FFD7-2B54991719FE}"/>
              </a:ext>
            </a:extLst>
          </p:cNvPr>
          <p:cNvSpPr txBox="1"/>
          <p:nvPr/>
        </p:nvSpPr>
        <p:spPr>
          <a:xfrm>
            <a:off x="951877" y="3720256"/>
            <a:ext cx="9713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0.34831244618289714,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0.009753281,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0.22853053}</a:t>
            </a:r>
          </a:p>
        </p:txBody>
      </p:sp>
    </p:spTree>
    <p:extLst>
      <p:ext uri="{BB962C8B-B14F-4D97-AF65-F5344CB8AC3E}">
        <p14:creationId xmlns:p14="http://schemas.microsoft.com/office/powerpoint/2010/main" val="5574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0EE51-2501-FC6F-B409-17CBB10DD4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82E7A921-D8B7-88D1-AD9D-78E230D9DE8C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5E58217-5776-292C-05F8-C0BBD95847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12C76D41-61AA-3FB0-8011-926C4D12C72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892" y="1852294"/>
            <a:ext cx="5554108" cy="3153412"/>
          </a:xfrm>
          <a:prstGeom prst="rect">
            <a:avLst/>
          </a:prstGeom>
        </p:spPr>
      </p:pic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08A39126-122A-BDE1-F354-4EA053E1F0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3997" y="1852293"/>
            <a:ext cx="5554109" cy="315341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A542D42-9E80-548B-627B-B1AAD139B4F0}"/>
              </a:ext>
            </a:extLst>
          </p:cNvPr>
          <p:cNvSpPr txBox="1"/>
          <p:nvPr/>
        </p:nvSpPr>
        <p:spPr>
          <a:xfrm>
            <a:off x="1037821" y="5173680"/>
            <a:ext cx="10116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这组图展示了基于 </a:t>
            </a:r>
            <a:r>
              <a:rPr lang="en-US" altLang="zh-CN" sz="1400" b="0" i="0" dirty="0">
                <a:effectLst/>
                <a:latin typeface="Inter"/>
              </a:rPr>
              <a:t>Grad - CAM</a:t>
            </a:r>
            <a:r>
              <a:rPr lang="zh-CN" altLang="en-US" sz="1400" b="0" i="0" dirty="0">
                <a:effectLst/>
                <a:latin typeface="Inter"/>
              </a:rPr>
              <a:t>方法分析的鸡舍温度</a:t>
            </a:r>
            <a:r>
              <a:rPr lang="zh-CN" altLang="en-US" sz="1400" dirty="0">
                <a:latin typeface="Inter"/>
              </a:rPr>
              <a:t>和湿度</a:t>
            </a:r>
            <a:r>
              <a:rPr lang="zh-CN" altLang="en-US" sz="1400" b="0" i="0" dirty="0">
                <a:effectLst/>
                <a:latin typeface="Inter"/>
              </a:rPr>
              <a:t>的相关结果。上方折线图呈现了不同时间步下的 </a:t>
            </a:r>
            <a:r>
              <a:rPr lang="en-US" altLang="zh-CN" sz="1400" b="0" i="0" dirty="0">
                <a:effectLst/>
                <a:latin typeface="Inter"/>
              </a:rPr>
              <a:t>Grad - CAM </a:t>
            </a:r>
            <a:r>
              <a:rPr lang="zh-CN" altLang="en-US" sz="1400" b="0" i="0" dirty="0">
                <a:effectLst/>
                <a:latin typeface="Inter"/>
              </a:rPr>
              <a:t>重要性分数。下方热力图同样对应各时间步，颜色从紫到黄表示重要性分数从低到高</a:t>
            </a:r>
            <a:r>
              <a:rPr lang="zh-CN" altLang="en-US" sz="1400" dirty="0">
                <a:latin typeface="Inter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179212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62C00-A4B2-CF51-0AC6-4A7753278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E389965-73D9-0392-5030-8D09745BF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754DD795-3926-D21D-B666-1E82E04004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414460"/>
            <a:ext cx="5969007" cy="2014540"/>
          </a:xfrm>
          <a:prstGeom prst="rect">
            <a:avLst/>
          </a:prstGeom>
        </p:spPr>
      </p:pic>
      <p:pic>
        <p:nvPicPr>
          <p:cNvPr id="8" name="图片 7" descr="图片包含 图表&#10;&#10;AI 生成的内容可能不正确。">
            <a:extLst>
              <a:ext uri="{FF2B5EF4-FFF2-40B4-BE49-F238E27FC236}">
                <a16:creationId xmlns:a16="http://schemas.microsoft.com/office/drawing/2014/main" id="{83C0AAA3-4F1D-F8CF-3B22-00C68CDE87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2245" y="356021"/>
            <a:ext cx="4584034" cy="544354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97C1B64F-8753-5181-B0F0-DA4DE5015A93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2738711-C1C8-F8E0-6DC7-3E5FE9455BDE}"/>
              </a:ext>
            </a:extLst>
          </p:cNvPr>
          <p:cNvSpPr txBox="1"/>
          <p:nvPr/>
        </p:nvSpPr>
        <p:spPr>
          <a:xfrm>
            <a:off x="7207671" y="5799561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seq_2_t16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seq_2_t19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seq_2_t20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2893430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643E2-61C6-724B-361D-DCD0CFEA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3555AC0D-E4CD-0DE2-0539-18A877936D23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32F3DAB-BA25-4137-279C-1AAD16D6A0DE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495A163-7398-CFDE-20CB-33E810A9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秋天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-EEF-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8C33BC2-26C8-0936-FD03-632A9EA83029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96E4ECA-C952-EDB3-D35F-A9FCC3AD3B37}"/>
              </a:ext>
            </a:extLst>
          </p:cNvPr>
          <p:cNvSpPr txBox="1"/>
          <p:nvPr/>
        </p:nvSpPr>
        <p:spPr>
          <a:xfrm>
            <a:off x="951877" y="3720256"/>
            <a:ext cx="97130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0.7653255298175914,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16.213701,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0.03875133}</a:t>
            </a:r>
          </a:p>
        </p:txBody>
      </p:sp>
    </p:spTree>
    <p:extLst>
      <p:ext uri="{BB962C8B-B14F-4D97-AF65-F5344CB8AC3E}">
        <p14:creationId xmlns:p14="http://schemas.microsoft.com/office/powerpoint/2010/main" val="1933525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94BA39-A9E6-013D-EB87-2681655A9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EFE1CB20-8836-5EDD-E5CF-AE13CCD028DB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4F541E3-1BC3-BE0A-051F-87275B772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794B1507-36D9-A5F3-5D6F-B0405730ADD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44" y="2024028"/>
            <a:ext cx="5440688" cy="3089016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817F7912-3B05-F552-8F70-06B7C983B6F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024029"/>
            <a:ext cx="5692408" cy="323193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380F516-1431-A685-981F-AC81758626F2}"/>
              </a:ext>
            </a:extLst>
          </p:cNvPr>
          <p:cNvSpPr txBox="1"/>
          <p:nvPr/>
        </p:nvSpPr>
        <p:spPr>
          <a:xfrm>
            <a:off x="926153" y="5398293"/>
            <a:ext cx="10116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这组图展示了基于 </a:t>
            </a:r>
            <a:r>
              <a:rPr lang="en-US" altLang="zh-CN" sz="1400" b="0" i="0" dirty="0">
                <a:effectLst/>
                <a:latin typeface="Inter"/>
              </a:rPr>
              <a:t>Grad - CAM</a:t>
            </a:r>
            <a:r>
              <a:rPr lang="zh-CN" altLang="en-US" sz="1400" b="0" i="0" dirty="0">
                <a:effectLst/>
                <a:latin typeface="Inter"/>
              </a:rPr>
              <a:t>方法分析的鸡舍温度</a:t>
            </a:r>
            <a:r>
              <a:rPr lang="zh-CN" altLang="en-US" sz="1400" dirty="0">
                <a:latin typeface="Inter"/>
              </a:rPr>
              <a:t>和湿度</a:t>
            </a:r>
            <a:r>
              <a:rPr lang="zh-CN" altLang="en-US" sz="1400" b="0" i="0" dirty="0">
                <a:effectLst/>
                <a:latin typeface="Inter"/>
              </a:rPr>
              <a:t>的相关结果。上方折线图呈现了不同时间步下的 </a:t>
            </a:r>
            <a:r>
              <a:rPr lang="en-US" altLang="zh-CN" sz="1400" b="0" i="0" dirty="0">
                <a:effectLst/>
                <a:latin typeface="Inter"/>
              </a:rPr>
              <a:t>Grad - CAM </a:t>
            </a:r>
            <a:r>
              <a:rPr lang="zh-CN" altLang="en-US" sz="1400" b="0" i="0" dirty="0">
                <a:effectLst/>
                <a:latin typeface="Inter"/>
              </a:rPr>
              <a:t>重要性分数。下方热力图同样对应各时间步，颜色从紫到黄表示重要性分数从低到高</a:t>
            </a:r>
            <a:r>
              <a:rPr lang="zh-CN" altLang="en-US" sz="1400" dirty="0">
                <a:latin typeface="Inter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990910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B7D12-E23C-07F7-1C1E-06E0A100A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3DDC8D-83AA-0BA0-01E9-F4B19C196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秋天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98E6CE7A-7E89-80C0-B485-2D8BE49345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580321"/>
            <a:ext cx="4953375" cy="1671764"/>
          </a:xfrm>
          <a:prstGeom prst="rect">
            <a:avLst/>
          </a:prstGeom>
        </p:spPr>
      </p:pic>
      <p:pic>
        <p:nvPicPr>
          <p:cNvPr id="7" name="图片 6" descr="图表, 散点图&#10;&#10;AI 生成的内容可能不正确。">
            <a:extLst>
              <a:ext uri="{FF2B5EF4-FFF2-40B4-BE49-F238E27FC236}">
                <a16:creationId xmlns:a16="http://schemas.microsoft.com/office/drawing/2014/main" id="{F2DCFB90-3605-262A-7FE9-206E5278B2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7289" y="455069"/>
            <a:ext cx="4327183" cy="5138530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A753E5E3-D7E3-322B-3651-901378CDF6D7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1B6D1E7-75E0-9BE3-72FF-F5F3D734345F}"/>
              </a:ext>
            </a:extLst>
          </p:cNvPr>
          <p:cNvSpPr txBox="1"/>
          <p:nvPr/>
        </p:nvSpPr>
        <p:spPr>
          <a:xfrm>
            <a:off x="7187294" y="5799561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seq_2_t19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seq_2_t18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547860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42A96D-6050-5904-5F87-5F7B3E18A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49DD4808-48F3-45F1-21DD-27944CC1B0F0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D038A95F-2AA8-845B-52A2-778015ECA3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39263"/>
              </p:ext>
            </p:extLst>
          </p:nvPr>
        </p:nvGraphicFramePr>
        <p:xfrm>
          <a:off x="1413863" y="3700288"/>
          <a:ext cx="4303118" cy="17455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out-upper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In-upper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32.2(max)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34.4(max)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29.8(max)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31.2(max)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30.7(max)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30.3(max)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28.4(max)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22.8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30.2(max)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5" name="矩形 4">
            <a:extLst>
              <a:ext uri="{FF2B5EF4-FFF2-40B4-BE49-F238E27FC236}">
                <a16:creationId xmlns:a16="http://schemas.microsoft.com/office/drawing/2014/main" id="{F66EEF3D-39D7-ED02-4C33-94F5FD6A16DE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：内温要求高，波动范围严格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：内温小幅下降，但仍维持较高水平</a:t>
            </a: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：维持内部环境稳定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外温下限降低，内温首次降至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30℃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以下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内温进入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28~30℃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区间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，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外温下限小幅上升后下降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i="0" dirty="0">
                <a:solidFill>
                  <a:srgbClr val="000000"/>
                </a:solidFill>
                <a:effectLst/>
                <a:latin typeface="Inter"/>
              </a:rPr>
              <a:t>外温下限大幅降低，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耐寒能力显著提升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内外温度基本呈现在最大温度区间拥有较低死淘和较高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内部温度降温节奏比冬季较快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的上限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8136101-3B14-0156-0F05-CDC37E2B4135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7E9578C8-C49C-C307-F23F-CCA0BF169F23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9BEA7591-D68C-E1B0-6DA0-D0F3D2C1B668}"/>
              </a:ext>
            </a:extLst>
          </p:cNvPr>
          <p:cNvSpPr txBox="1"/>
          <p:nvPr/>
        </p:nvSpPr>
        <p:spPr>
          <a:xfrm>
            <a:off x="356454" y="5667286"/>
            <a:ext cx="6620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9B8620D8-9491-6050-25EC-CE5B28C98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717" y="572204"/>
            <a:ext cx="5750100" cy="2856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5327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B3F6E418-F258-D0AD-3BFE-75CD8327FD3A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9A946F7F-C1E6-0C09-C78D-B72E4F0E2F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167" y="853773"/>
            <a:ext cx="5483525" cy="271578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10975DF-B9E3-80FB-93FF-C8B5545C1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842" y="3907888"/>
            <a:ext cx="6736176" cy="2227628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562E729B-D3F9-9BA4-2466-2764B85EDC6E}"/>
              </a:ext>
            </a:extLst>
          </p:cNvPr>
          <p:cNvSpPr/>
          <p:nvPr/>
        </p:nvSpPr>
        <p:spPr>
          <a:xfrm>
            <a:off x="7783284" y="3429000"/>
            <a:ext cx="4012295" cy="167011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平均来看，鸡舍温度和外部温度在各阶段对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和死淘率的区分能力各有突出，呈现较大差距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分阶段看，秋季样本中，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6-11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天和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18-23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天的室内外温度对死淘和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的影响较大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0DCDD66-7204-1A8A-13DE-A16254193843}"/>
              </a:ext>
            </a:extLst>
          </p:cNvPr>
          <p:cNvSpPr txBox="1"/>
          <p:nvPr/>
        </p:nvSpPr>
        <p:spPr>
          <a:xfrm>
            <a:off x="7783284" y="1362305"/>
            <a:ext cx="34944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Information Value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，信息价值）是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评估变量预测能力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的常用指标，主要用于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特征选择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和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信用评分模型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（如逻辑回归、决策树等）。它衡量一个变量（特征）对目标变量的区分能力，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值越高，变量的预测能力越强</a:t>
            </a:r>
            <a:endParaRPr lang="zh-CN" altLang="en-US" sz="120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CB77443-CCCB-04A2-A055-04B85B5F080E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</a:t>
            </a:r>
            <a:r>
              <a:rPr lang="en-US" altLang="zh-CN" sz="1600" b="1" dirty="0">
                <a:solidFill>
                  <a:schemeClr val="tx1"/>
                </a:solidFill>
              </a:rPr>
              <a:t>IV</a:t>
            </a:r>
            <a:r>
              <a:rPr lang="zh-CN" altLang="en-US" sz="1600" b="1" dirty="0">
                <a:solidFill>
                  <a:schemeClr val="tx1"/>
                </a:solidFill>
              </a:rPr>
              <a:t>值汇总</a:t>
            </a:r>
          </a:p>
        </p:txBody>
      </p:sp>
    </p:spTree>
    <p:extLst>
      <p:ext uri="{BB962C8B-B14F-4D97-AF65-F5344CB8AC3E}">
        <p14:creationId xmlns:p14="http://schemas.microsoft.com/office/powerpoint/2010/main" val="14180996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DC36ED-637C-30FC-BE81-66BDE5FC8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E8183DB2-6749-B03C-DAD2-BD52F4E9CC33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C57E9CF-5662-ECC0-7B5C-C8C674DBBC40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A24A1EC-1DA7-10F3-5608-6BE8D116FCD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27.1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34.0-34.4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F2919403-8890-17D6-0F17-466B4FAA6C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52144"/>
            <a:ext cx="4747542" cy="2354694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3D692B06-A283-3D48-5613-4107F9FFC39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5236" y="3220949"/>
            <a:ext cx="4776055" cy="2354694"/>
          </a:xfrm>
          <a:prstGeom prst="rect">
            <a:avLst/>
          </a:prstGeom>
        </p:spPr>
      </p:pic>
      <p:pic>
        <p:nvPicPr>
          <p:cNvPr id="26" name="图片 25" descr="图形用户界面, 图表&#10;&#10;AI 生成的内容可能不正确。">
            <a:extLst>
              <a:ext uri="{FF2B5EF4-FFF2-40B4-BE49-F238E27FC236}">
                <a16:creationId xmlns:a16="http://schemas.microsoft.com/office/drawing/2014/main" id="{B95A97CE-04F0-C197-BD89-1FE96A18BC2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19154"/>
            <a:ext cx="4726003" cy="2279999"/>
          </a:xfrm>
          <a:prstGeom prst="rect">
            <a:avLst/>
          </a:prstGeom>
        </p:spPr>
      </p:pic>
      <p:pic>
        <p:nvPicPr>
          <p:cNvPr id="28" name="图片 27" descr="图表, 折线图&#10;&#10;AI 生成的内容可能不正确。">
            <a:extLst>
              <a:ext uri="{FF2B5EF4-FFF2-40B4-BE49-F238E27FC236}">
                <a16:creationId xmlns:a16="http://schemas.microsoft.com/office/drawing/2014/main" id="{8302C9DF-537F-F3BE-F3A4-B5B4D77984C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3697" y="819154"/>
            <a:ext cx="4797595" cy="2279998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7D0E0A01-02D6-23E9-05F3-2C5A54C561D8}"/>
              </a:ext>
            </a:extLst>
          </p:cNvPr>
          <p:cNvSpPr/>
          <p:nvPr/>
        </p:nvSpPr>
        <p:spPr>
          <a:xfrm>
            <a:off x="4841507" y="1172457"/>
            <a:ext cx="72958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AB166C74-D23F-FBC0-740F-34E58956F799}"/>
              </a:ext>
            </a:extLst>
          </p:cNvPr>
          <p:cNvSpPr/>
          <p:nvPr/>
        </p:nvSpPr>
        <p:spPr>
          <a:xfrm>
            <a:off x="9638717" y="1095895"/>
            <a:ext cx="90545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2747196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1F23C-B5AF-74CB-58BB-EE781438F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BC0E477C-4067-E119-E930-9D661C7A4A6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46069C7C-35AB-33DB-1E93-987990DD790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表, 折线图, 直方图&#10;&#10;AI 生成的内容可能不正确。">
            <a:extLst>
              <a:ext uri="{FF2B5EF4-FFF2-40B4-BE49-F238E27FC236}">
                <a16:creationId xmlns:a16="http://schemas.microsoft.com/office/drawing/2014/main" id="{3CC0E6A7-600E-EEFF-4B73-046F64B5B2A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5519"/>
            <a:ext cx="4851354" cy="2381533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467D6291-0E46-219B-A55B-83164DC23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3260643"/>
            <a:ext cx="4774132" cy="2340008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C9519B4F-D3DF-3A97-0173-51F36430D0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1549" y="847332"/>
            <a:ext cx="4774132" cy="2260320"/>
          </a:xfrm>
          <a:prstGeom prst="rect">
            <a:avLst/>
          </a:prstGeom>
        </p:spPr>
      </p:pic>
      <p:pic>
        <p:nvPicPr>
          <p:cNvPr id="26" name="图片 25" descr="图表, 直方图&#10;&#10;AI 生成的内容可能不正确。">
            <a:extLst>
              <a:ext uri="{FF2B5EF4-FFF2-40B4-BE49-F238E27FC236}">
                <a16:creationId xmlns:a16="http://schemas.microsoft.com/office/drawing/2014/main" id="{1BEA6D9E-0432-042C-83B2-FB19CE15207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7332"/>
            <a:ext cx="4851354" cy="2260321"/>
          </a:xfrm>
          <a:prstGeom prst="rect">
            <a:avLst/>
          </a:prstGeom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ADDCA7F3-55EB-D8FB-81ED-A9C6F8154F86}"/>
              </a:ext>
            </a:extLst>
          </p:cNvPr>
          <p:cNvSpPr/>
          <p:nvPr/>
        </p:nvSpPr>
        <p:spPr>
          <a:xfrm>
            <a:off x="5255879" y="1172457"/>
            <a:ext cx="4115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B527B6DB-7524-31D5-043A-C588E5E2ABD6}"/>
              </a:ext>
            </a:extLst>
          </p:cNvPr>
          <p:cNvSpPr/>
          <p:nvPr/>
        </p:nvSpPr>
        <p:spPr>
          <a:xfrm>
            <a:off x="8706010" y="1172457"/>
            <a:ext cx="1901967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B4B2E7E1-0807-B976-A664-2ADB5C93EE8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27.9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31.8-33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502849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258C3-AD81-3C19-FF57-C05E821FFA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435EA1E-1362-E0F1-4786-75BF3E7EECB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0DA15C8-7BC9-38FF-3242-C300991FD5A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B8CEE371-E258-A479-4BD0-36033ED14DA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70" y="3226749"/>
            <a:ext cx="4881474" cy="2408051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7266F244-E48E-1A24-673C-220F2556C3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3226749"/>
            <a:ext cx="4799040" cy="2408051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F4767AC9-364E-C12F-8E4E-269C1E536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26037"/>
            <a:ext cx="4881473" cy="230414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A74CF139-B09F-945E-3E3E-01219169D52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9" y="844974"/>
            <a:ext cx="4799040" cy="2285203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A095C7F9-9D62-C132-DF40-E3E84DE86B32}"/>
              </a:ext>
            </a:extLst>
          </p:cNvPr>
          <p:cNvSpPr/>
          <p:nvPr/>
        </p:nvSpPr>
        <p:spPr>
          <a:xfrm>
            <a:off x="5401876" y="1172413"/>
            <a:ext cx="276625" cy="424731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880F475-B49D-C321-8EEF-057428C3EC92}"/>
              </a:ext>
            </a:extLst>
          </p:cNvPr>
          <p:cNvSpPr/>
          <p:nvPr/>
        </p:nvSpPr>
        <p:spPr>
          <a:xfrm>
            <a:off x="9251576" y="1145568"/>
            <a:ext cx="1356402" cy="4274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2477F16-BA14-C9F5-775B-3A0F2286C42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28.9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30.8-31.6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4087580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CDC31-C5A6-881B-5D1A-C0C5A463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A8B7CCA1-7FBB-77FB-E443-E0CAB59F554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775FA4B-33BA-BB91-E4C3-C920AF8F80F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0AAD724C-A5F8-DB0A-0F29-CEA893DF48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8396" y="3272981"/>
            <a:ext cx="5002031" cy="2309671"/>
          </a:xfrm>
          <a:prstGeom prst="rect">
            <a:avLst/>
          </a:prstGeom>
        </p:spPr>
      </p:pic>
      <p:pic>
        <p:nvPicPr>
          <p:cNvPr id="16" name="图片 15" descr="图表, 直方图&#10;&#10;AI 生成的内容可能不正确。">
            <a:extLst>
              <a:ext uri="{FF2B5EF4-FFF2-40B4-BE49-F238E27FC236}">
                <a16:creationId xmlns:a16="http://schemas.microsoft.com/office/drawing/2014/main" id="{81B9DD4A-6DA7-53B9-732E-912FCD53AB5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3272982"/>
            <a:ext cx="4700844" cy="2309670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C3C00A5D-1817-00DA-3F4C-59F690A571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60" y="876290"/>
            <a:ext cx="4700844" cy="2309670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E00F8831-A6FC-8196-F722-6D3AE3313CA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5" y="876290"/>
            <a:ext cx="5015672" cy="230967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71AA28E6-F41D-EA55-183A-A4CADE4A246A}"/>
              </a:ext>
            </a:extLst>
          </p:cNvPr>
          <p:cNvSpPr/>
          <p:nvPr/>
        </p:nvSpPr>
        <p:spPr>
          <a:xfrm>
            <a:off x="4887045" y="1145568"/>
            <a:ext cx="878996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5CBF3057-759A-4CCB-9876-B257C040639E}"/>
              </a:ext>
            </a:extLst>
          </p:cNvPr>
          <p:cNvSpPr/>
          <p:nvPr/>
        </p:nvSpPr>
        <p:spPr>
          <a:xfrm>
            <a:off x="8912611" y="1150307"/>
            <a:ext cx="1671446" cy="419010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6E897B9-9EAB-E26D-651B-CBB1682529CE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26.6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29.8-31.2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16171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3B8EE-FB7F-0B84-ACCF-96375F6CF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AC3EAF5-086B-0360-3CF1-D5BD67039C4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97D12D1-A9A0-84C1-A5C6-0BF02F88A4C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0" name="图片 9" descr="图表, 直方图&#10;&#10;AI 生成的内容可能不正确。">
            <a:extLst>
              <a:ext uri="{FF2B5EF4-FFF2-40B4-BE49-F238E27FC236}">
                <a16:creationId xmlns:a16="http://schemas.microsoft.com/office/drawing/2014/main" id="{49869568-9810-86CD-3C5D-AFB1A414D16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5" y="3350898"/>
            <a:ext cx="4985315" cy="2281940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9E1E6F0-EF23-4259-6FD2-E333A18261D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350898"/>
            <a:ext cx="4625975" cy="228194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03CF65B1-1191-9093-13EB-614BADCDFDA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873515"/>
            <a:ext cx="4985315" cy="2302821"/>
          </a:xfrm>
          <a:prstGeom prst="rect">
            <a:avLst/>
          </a:prstGeom>
        </p:spPr>
      </p:pic>
      <p:pic>
        <p:nvPicPr>
          <p:cNvPr id="21" name="图片 20" descr="图表, 直方图&#10;&#10;AI 生成的内容可能不正确。">
            <a:extLst>
              <a:ext uri="{FF2B5EF4-FFF2-40B4-BE49-F238E27FC236}">
                <a16:creationId xmlns:a16="http://schemas.microsoft.com/office/drawing/2014/main" id="{3EB06D0E-C528-182F-35E6-62A2BF5D8D9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873515"/>
            <a:ext cx="4625975" cy="2302821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864EBCC1-779F-A463-6CE1-5129979EB9F7}"/>
              </a:ext>
            </a:extLst>
          </p:cNvPr>
          <p:cNvSpPr/>
          <p:nvPr/>
        </p:nvSpPr>
        <p:spPr>
          <a:xfrm>
            <a:off x="5478671" y="1225162"/>
            <a:ext cx="261044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2D666CA-160A-E8F9-6C04-CAD0A0657D20}"/>
              </a:ext>
            </a:extLst>
          </p:cNvPr>
          <p:cNvSpPr/>
          <p:nvPr/>
        </p:nvSpPr>
        <p:spPr>
          <a:xfrm>
            <a:off x="9144001" y="1211162"/>
            <a:ext cx="1367758" cy="422315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7974CE1-0465-57B3-CAC0-E5505B5EB285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27.9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29.2-30.7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46153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D0CD0A-0A87-D1E3-6A89-CD9B180A3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C49D28D-D2FE-43C5-8F8C-C9066BC86E6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DF39698-7DE0-90D5-B59D-C0C2EB0094DA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AFC47DC8-9169-D296-D7B2-3F753BBA2DE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3224818"/>
            <a:ext cx="5043658" cy="2340856"/>
          </a:xfrm>
          <a:prstGeom prst="rect">
            <a:avLst/>
          </a:prstGeom>
        </p:spPr>
      </p:pic>
      <p:pic>
        <p:nvPicPr>
          <p:cNvPr id="11" name="图片 10" descr="图表&#10;&#10;AI 生成的内容可能不正确。">
            <a:extLst>
              <a:ext uri="{FF2B5EF4-FFF2-40B4-BE49-F238E27FC236}">
                <a16:creationId xmlns:a16="http://schemas.microsoft.com/office/drawing/2014/main" id="{5FE75C29-9BE8-4B70-C0BC-5CD48F07181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3224817"/>
            <a:ext cx="4720589" cy="2340855"/>
          </a:xfrm>
          <a:prstGeom prst="rect">
            <a:avLst/>
          </a:prstGeom>
        </p:spPr>
      </p:pic>
      <p:pic>
        <p:nvPicPr>
          <p:cNvPr id="15" name="图片 14" descr="图表, 折线图&#10;&#10;AI 生成的内容可能不正确。">
            <a:extLst>
              <a:ext uri="{FF2B5EF4-FFF2-40B4-BE49-F238E27FC236}">
                <a16:creationId xmlns:a16="http://schemas.microsoft.com/office/drawing/2014/main" id="{54C553FB-48CB-CACF-0317-710E59BB73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4340" y="885521"/>
            <a:ext cx="4720588" cy="2183711"/>
          </a:xfrm>
          <a:prstGeom prst="rect">
            <a:avLst/>
          </a:prstGeom>
        </p:spPr>
      </p:pic>
      <p:pic>
        <p:nvPicPr>
          <p:cNvPr id="18" name="图片 17" descr="图表, 折线图, 直方图&#10;&#10;AI 生成的内容可能不正确。">
            <a:extLst>
              <a:ext uri="{FF2B5EF4-FFF2-40B4-BE49-F238E27FC236}">
                <a16:creationId xmlns:a16="http://schemas.microsoft.com/office/drawing/2014/main" id="{AB50F704-183D-9470-E448-BA8AD462B08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9390" y="885523"/>
            <a:ext cx="5043658" cy="2183711"/>
          </a:xfrm>
          <a:prstGeom prst="rect">
            <a:avLst/>
          </a:prstGeom>
        </p:spPr>
      </p:pic>
      <p:sp>
        <p:nvSpPr>
          <p:cNvPr id="19" name="矩形 18">
            <a:extLst>
              <a:ext uri="{FF2B5EF4-FFF2-40B4-BE49-F238E27FC236}">
                <a16:creationId xmlns:a16="http://schemas.microsoft.com/office/drawing/2014/main" id="{51118FE4-55DF-AA49-E3F1-C7737ABFD699}"/>
              </a:ext>
            </a:extLst>
          </p:cNvPr>
          <p:cNvSpPr/>
          <p:nvPr/>
        </p:nvSpPr>
        <p:spPr>
          <a:xfrm>
            <a:off x="5191125" y="1172457"/>
            <a:ext cx="619125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AB8A7B63-B2AD-2024-0D9F-ADB9CDF9E147}"/>
              </a:ext>
            </a:extLst>
          </p:cNvPr>
          <p:cNvSpPr/>
          <p:nvPr/>
        </p:nvSpPr>
        <p:spPr>
          <a:xfrm>
            <a:off x="8916645" y="1167725"/>
            <a:ext cx="1741830" cy="416683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AD7BE79-C3A4-1D07-76B5-F5D262D9F3D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26.2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28.1-30.3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31579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2522FB-A30B-CB03-9260-C2AEC0B41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6E82F06D-C504-04C2-5313-FF01FDEE1CFB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31B017E-8DE4-DD58-1958-A21D91E1AC49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, 直方图&#10;&#10;AI 生成的内容可能不正确。">
            <a:extLst>
              <a:ext uri="{FF2B5EF4-FFF2-40B4-BE49-F238E27FC236}">
                <a16:creationId xmlns:a16="http://schemas.microsoft.com/office/drawing/2014/main" id="{DCA01495-3DE7-4289-0D69-57C453BD421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2" y="3205213"/>
            <a:ext cx="5065531" cy="2398510"/>
          </a:xfrm>
          <a:prstGeom prst="rect">
            <a:avLst/>
          </a:prstGeom>
        </p:spPr>
      </p:pic>
      <p:pic>
        <p:nvPicPr>
          <p:cNvPr id="12" name="图片 11" descr="图表, 直方图&#10;&#10;AI 生成的内容可能不正确。">
            <a:extLst>
              <a:ext uri="{FF2B5EF4-FFF2-40B4-BE49-F238E27FC236}">
                <a16:creationId xmlns:a16="http://schemas.microsoft.com/office/drawing/2014/main" id="{E12B4551-2BB2-88FF-96A0-A2A68DE682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3205213"/>
            <a:ext cx="4626290" cy="2398510"/>
          </a:xfrm>
          <a:prstGeom prst="rect">
            <a:avLst/>
          </a:prstGeom>
        </p:spPr>
      </p:pic>
      <p:pic>
        <p:nvPicPr>
          <p:cNvPr id="16" name="图片 15" descr="图表, 折线图, 直方图&#10;&#10;AI 生成的内容可能不正确。">
            <a:extLst>
              <a:ext uri="{FF2B5EF4-FFF2-40B4-BE49-F238E27FC236}">
                <a16:creationId xmlns:a16="http://schemas.microsoft.com/office/drawing/2014/main" id="{FDC80555-F80D-A49C-FABF-5D91115AA08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875899"/>
            <a:ext cx="5065531" cy="2220605"/>
          </a:xfrm>
          <a:prstGeom prst="rect">
            <a:avLst/>
          </a:prstGeom>
        </p:spPr>
      </p:pic>
      <p:pic>
        <p:nvPicPr>
          <p:cNvPr id="19" name="图片 18" descr="图表, 直方图&#10;&#10;AI 生成的内容可能不正确。">
            <a:extLst>
              <a:ext uri="{FF2B5EF4-FFF2-40B4-BE49-F238E27FC236}">
                <a16:creationId xmlns:a16="http://schemas.microsoft.com/office/drawing/2014/main" id="{59DBDDB2-8793-57E6-F559-47350FF87D2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0889" y="875899"/>
            <a:ext cx="4626290" cy="222060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ABCFCE28-8790-A8BB-B4E3-E14A9F64EC16}"/>
              </a:ext>
            </a:extLst>
          </p:cNvPr>
          <p:cNvSpPr/>
          <p:nvPr/>
        </p:nvSpPr>
        <p:spPr>
          <a:xfrm>
            <a:off x="5286614" y="1172457"/>
            <a:ext cx="553251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5329D4A3-23B3-AD9B-15D5-32A5196C9124}"/>
              </a:ext>
            </a:extLst>
          </p:cNvPr>
          <p:cNvSpPr/>
          <p:nvPr/>
        </p:nvSpPr>
        <p:spPr>
          <a:xfrm>
            <a:off x="9353550" y="1084127"/>
            <a:ext cx="1254427" cy="4283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76DC06-ED83-F443-3537-AC206AD390A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26.2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28.1-30.0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033589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1DC046-8B3A-8502-5EFC-1A0349268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AA70B32-7340-20E7-A8CF-63D04534C1F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秋季，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FFFECF9-ABEF-4A31-F268-15739513D72B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31B0831E-C39D-F9D8-F7E4-4101111FD65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1" y="3202683"/>
            <a:ext cx="5005477" cy="2398715"/>
          </a:xfrm>
          <a:prstGeom prst="rect">
            <a:avLst/>
          </a:prstGeom>
        </p:spPr>
      </p:pic>
      <p:pic>
        <p:nvPicPr>
          <p:cNvPr id="18" name="图片 17" descr="图表&#10;&#10;AI 生成的内容可能不正确。">
            <a:extLst>
              <a:ext uri="{FF2B5EF4-FFF2-40B4-BE49-F238E27FC236}">
                <a16:creationId xmlns:a16="http://schemas.microsoft.com/office/drawing/2014/main" id="{6437E24D-834E-B0D1-02E5-BB7C2BED62C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02683"/>
            <a:ext cx="4698757" cy="239871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E620B38C-33BE-3ED3-C31F-605330293F9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866273"/>
            <a:ext cx="4698757" cy="2225375"/>
          </a:xfrm>
          <a:prstGeom prst="rect">
            <a:avLst/>
          </a:prstGeom>
        </p:spPr>
      </p:pic>
      <p:pic>
        <p:nvPicPr>
          <p:cNvPr id="23" name="图片 22" descr="图表, 直方图&#10;&#10;AI 生成的内容可能不正确。">
            <a:extLst>
              <a:ext uri="{FF2B5EF4-FFF2-40B4-BE49-F238E27FC236}">
                <a16:creationId xmlns:a16="http://schemas.microsoft.com/office/drawing/2014/main" id="{AC17852F-2AD2-BBF0-5FCB-2D3D6DE31DD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866273"/>
            <a:ext cx="5005477" cy="2225375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47EB8D98-880C-5062-F1B0-102B6D1A8DA6}"/>
              </a:ext>
            </a:extLst>
          </p:cNvPr>
          <p:cNvSpPr/>
          <p:nvPr/>
        </p:nvSpPr>
        <p:spPr>
          <a:xfrm>
            <a:off x="4000501" y="1172457"/>
            <a:ext cx="390524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35FAF5E-9608-92E7-EC96-084FD4C1BC0A}"/>
              </a:ext>
            </a:extLst>
          </p:cNvPr>
          <p:cNvSpPr/>
          <p:nvPr/>
        </p:nvSpPr>
        <p:spPr>
          <a:xfrm>
            <a:off x="8513910" y="1172455"/>
            <a:ext cx="2094068" cy="4194841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9193DA28-E266-B585-63BC-0F2C3A07E3B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21.2-22.8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时，秋季样本同时有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26.4-30.2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2159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DFD6B-9076-9AC5-F35D-6BDECF03E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7CDC09A-AC26-1BF8-B46F-2AC351CAE722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55E6AD5-4D15-F592-336E-EE41A2952AAB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4F5E995-6928-E152-8515-2CA77135FF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夏天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4AF9EF5-E9C2-2139-18E0-1A92961B6EFB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0-25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0-25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C943158-6A38-0E39-4E34-74E9DAA41546}"/>
              </a:ext>
            </a:extLst>
          </p:cNvPr>
          <p:cNvSpPr txBox="1"/>
          <p:nvPr/>
        </p:nvSpPr>
        <p:spPr>
          <a:xfrm>
            <a:off x="951877" y="3720256"/>
            <a:ext cx="10156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验证集还原后指标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0.467324735871648,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0.00830224,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0.2051844}</a:t>
            </a:r>
          </a:p>
        </p:txBody>
      </p:sp>
    </p:spTree>
    <p:extLst>
      <p:ext uri="{BB962C8B-B14F-4D97-AF65-F5344CB8AC3E}">
        <p14:creationId xmlns:p14="http://schemas.microsoft.com/office/powerpoint/2010/main" val="2660281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C67F6F-6FF9-C27F-8277-13BFF78E4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B394DA13-0AE5-D58A-4AE9-9732BC269C75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C7D392A7-52FE-60A7-0EAD-CBD24A3A9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0C7332A4-B411-39FE-403E-A1A663391D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645" y="1878292"/>
            <a:ext cx="5585408" cy="3171183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80844C95-0855-3EA3-DCD2-782DED5247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78292"/>
            <a:ext cx="5601541" cy="3180343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E854239F-CA21-CBB7-1832-D19FDC0BE92E}"/>
              </a:ext>
            </a:extLst>
          </p:cNvPr>
          <p:cNvSpPr txBox="1"/>
          <p:nvPr/>
        </p:nvSpPr>
        <p:spPr>
          <a:xfrm>
            <a:off x="1037821" y="5173680"/>
            <a:ext cx="10116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这组图展示了基于 </a:t>
            </a:r>
            <a:r>
              <a:rPr lang="en-US" altLang="zh-CN" sz="1400" b="0" i="0" dirty="0">
                <a:effectLst/>
                <a:latin typeface="Inter"/>
              </a:rPr>
              <a:t>Grad - CAM</a:t>
            </a:r>
            <a:r>
              <a:rPr lang="zh-CN" altLang="en-US" sz="1400" b="0" i="0" dirty="0">
                <a:effectLst/>
                <a:latin typeface="Inter"/>
              </a:rPr>
              <a:t>方法分析的鸡舍温度</a:t>
            </a:r>
            <a:r>
              <a:rPr lang="zh-CN" altLang="en-US" sz="1400" dirty="0">
                <a:latin typeface="Inter"/>
              </a:rPr>
              <a:t>和湿度</a:t>
            </a:r>
            <a:r>
              <a:rPr lang="zh-CN" altLang="en-US" sz="1400" b="0" i="0" dirty="0">
                <a:effectLst/>
                <a:latin typeface="Inter"/>
              </a:rPr>
              <a:t>的相关结果。上方折线图呈现了不同时间步下的 </a:t>
            </a:r>
            <a:r>
              <a:rPr lang="en-US" altLang="zh-CN" sz="1400" b="0" i="0" dirty="0">
                <a:effectLst/>
                <a:latin typeface="Inter"/>
              </a:rPr>
              <a:t>Grad - CAM </a:t>
            </a:r>
            <a:r>
              <a:rPr lang="zh-CN" altLang="en-US" sz="1400" b="0" i="0" dirty="0">
                <a:effectLst/>
                <a:latin typeface="Inter"/>
              </a:rPr>
              <a:t>重要性分数。下方热力图同样对应各时间步，颜色从紫到黄表示重要性分数从低到高</a:t>
            </a:r>
            <a:r>
              <a:rPr lang="zh-CN" altLang="en-US" sz="1400" dirty="0">
                <a:latin typeface="Inter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239711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E5AFF6-1449-CB93-43B6-79403BD5C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51E9E41-1E6E-2EC6-5CCA-F85D6D09B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4D447967-B073-4BE5-E4A6-F04F735F8B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2860" y="1548515"/>
            <a:ext cx="5571808" cy="1880485"/>
          </a:xfrm>
          <a:prstGeom prst="rect">
            <a:avLst/>
          </a:prstGeom>
        </p:spPr>
      </p:pic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5B71D1CC-7220-A229-AFCB-8F94246BE0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767" y="279635"/>
            <a:ext cx="4263517" cy="5062927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75D884AB-D874-C244-00CB-C0DF0A800E43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ED17421-C291-968C-D5FC-6B92FCBE8E00}"/>
              </a:ext>
            </a:extLst>
          </p:cNvPr>
          <p:cNvSpPr txBox="1"/>
          <p:nvPr/>
        </p:nvSpPr>
        <p:spPr>
          <a:xfrm>
            <a:off x="7187294" y="5564452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626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73E46-806A-0EA5-99C3-22A4BA7E3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00FD77C6-9140-399C-5A40-BE254EE12537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67F5570B-888F-B8C5-D9EB-B85E6CFE1799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616DA66-03A2-5695-6278-D1067D5747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夏天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-EEF-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72918DD-8BB7-107E-F3E3-1428B45A08F9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57FE6F9-DF46-421A-0A9A-F4E348698F84}"/>
              </a:ext>
            </a:extLst>
          </p:cNvPr>
          <p:cNvSpPr txBox="1"/>
          <p:nvPr/>
        </p:nvSpPr>
        <p:spPr>
          <a:xfrm>
            <a:off x="951877" y="3720256"/>
            <a:ext cx="10156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验证集还原后指标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0.7303398511888876,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8.646428,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0.01949703}</a:t>
            </a:r>
          </a:p>
        </p:txBody>
      </p:sp>
    </p:spTree>
    <p:extLst>
      <p:ext uri="{BB962C8B-B14F-4D97-AF65-F5344CB8AC3E}">
        <p14:creationId xmlns:p14="http://schemas.microsoft.com/office/powerpoint/2010/main" val="1833331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D01EB-33AE-D957-621E-EA329F05E4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66DE3E7-C01F-4970-627E-3E9B914EF1D1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1A19426-BF51-A828-C2D6-1122691D4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2DB75488-67C6-5C7F-6350-9003A20473F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286" y="1404211"/>
            <a:ext cx="5393551" cy="3062254"/>
          </a:xfrm>
          <a:prstGeom prst="rect">
            <a:avLst/>
          </a:prstGeom>
        </p:spPr>
      </p:pic>
      <p:pic>
        <p:nvPicPr>
          <p:cNvPr id="4" name="图片 3" descr="图表&#10;&#10;AI 生成的内容可能不正确。">
            <a:extLst>
              <a:ext uri="{FF2B5EF4-FFF2-40B4-BE49-F238E27FC236}">
                <a16:creationId xmlns:a16="http://schemas.microsoft.com/office/drawing/2014/main" id="{979F7206-2CF5-EA15-743C-D541B94665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0505" y="1404211"/>
            <a:ext cx="5739545" cy="325869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B6C81CE8-7911-E10E-4E1A-5E067231CB1D}"/>
              </a:ext>
            </a:extLst>
          </p:cNvPr>
          <p:cNvSpPr txBox="1"/>
          <p:nvPr/>
        </p:nvSpPr>
        <p:spPr>
          <a:xfrm>
            <a:off x="1037821" y="5173680"/>
            <a:ext cx="10116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这组图展示了基于 </a:t>
            </a:r>
            <a:r>
              <a:rPr lang="en-US" altLang="zh-CN" sz="1400" b="0" i="0" dirty="0">
                <a:effectLst/>
                <a:latin typeface="Inter"/>
              </a:rPr>
              <a:t>Grad - CAM</a:t>
            </a:r>
            <a:r>
              <a:rPr lang="zh-CN" altLang="en-US" sz="1400" b="0" i="0" dirty="0">
                <a:effectLst/>
                <a:latin typeface="Inter"/>
              </a:rPr>
              <a:t>方法分析的鸡舍温度</a:t>
            </a:r>
            <a:r>
              <a:rPr lang="zh-CN" altLang="en-US" sz="1400" dirty="0">
                <a:latin typeface="Inter"/>
              </a:rPr>
              <a:t>和湿度</a:t>
            </a:r>
            <a:r>
              <a:rPr lang="zh-CN" altLang="en-US" sz="1400" b="0" i="0" dirty="0">
                <a:effectLst/>
                <a:latin typeface="Inter"/>
              </a:rPr>
              <a:t>的相关结果。上方折线图呈现了不同时间步下的 </a:t>
            </a:r>
            <a:r>
              <a:rPr lang="en-US" altLang="zh-CN" sz="1400" b="0" i="0" dirty="0">
                <a:effectLst/>
                <a:latin typeface="Inter"/>
              </a:rPr>
              <a:t>Grad - CAM </a:t>
            </a:r>
            <a:r>
              <a:rPr lang="zh-CN" altLang="en-US" sz="1400" b="0" i="0" dirty="0">
                <a:effectLst/>
                <a:latin typeface="Inter"/>
              </a:rPr>
              <a:t>重要性分数。下方热力图同样对应各时间步，颜色从紫到黄表示重要性分数从低到高</a:t>
            </a:r>
            <a:r>
              <a:rPr lang="zh-CN" altLang="en-US" sz="1400" dirty="0">
                <a:latin typeface="Inter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33134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49E44-4CC6-6B95-DAD6-3CAD3ACC9A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6DBD73-646B-E505-0ADD-F0AB4F045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夏天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6" name="图片 5" descr="图表, 散点图&#10;&#10;AI 生成的内容可能不正确。">
            <a:extLst>
              <a:ext uri="{FF2B5EF4-FFF2-40B4-BE49-F238E27FC236}">
                <a16:creationId xmlns:a16="http://schemas.microsoft.com/office/drawing/2014/main" id="{09EFC176-85F9-2C0E-2A2B-9EE3A5D86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883" y="1498820"/>
            <a:ext cx="4953375" cy="1671764"/>
          </a:xfrm>
          <a:prstGeom prst="rect">
            <a:avLst/>
          </a:prstGeom>
        </p:spPr>
      </p:pic>
      <p:pic>
        <p:nvPicPr>
          <p:cNvPr id="9" name="图片 8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01C2E761-E8F7-C6D5-F424-0A14D27501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3559" y="449686"/>
            <a:ext cx="4073182" cy="4836904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14FDB756-D690-2043-128F-F7CB38C69A89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994E1C9-EA7F-2A02-ED67-758A91CCBA91}"/>
              </a:ext>
            </a:extLst>
          </p:cNvPr>
          <p:cNvSpPr txBox="1"/>
          <p:nvPr/>
        </p:nvSpPr>
        <p:spPr>
          <a:xfrm>
            <a:off x="7187294" y="5564452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seq_2_t16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seq_2_t15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701043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71167-C9B8-10B6-1146-7F9440F6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B74F7E6-6175-AA1E-B934-E0E6BA859712}"/>
              </a:ext>
            </a:extLst>
          </p:cNvPr>
          <p:cNvSpPr/>
          <p:nvPr/>
        </p:nvSpPr>
        <p:spPr>
          <a:xfrm>
            <a:off x="474966" y="607016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22B5B1D-EAFE-F32E-CCDE-2E0A9D694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1725006"/>
              </p:ext>
            </p:extLst>
          </p:nvPr>
        </p:nvGraphicFramePr>
        <p:xfrm>
          <a:off x="1408546" y="3756145"/>
          <a:ext cx="4303118" cy="17455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22033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out-upper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In-upper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34.4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32.6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24.6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32(max)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28.8(min)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29.2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31.1(max)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28.9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30.8(max)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3C6D213E-7180-A048-6433-789B1AC3BAE9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CF67030B-A74C-E427-0D3D-694AF7520C74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15C2FC4B-9E6E-98BD-666F-E10C1FFC63C0}"/>
              </a:ext>
            </a:extLst>
          </p:cNvPr>
          <p:cNvSpPr txBox="1"/>
          <p:nvPr/>
        </p:nvSpPr>
        <p:spPr>
          <a:xfrm>
            <a:off x="356454" y="5667286"/>
            <a:ext cx="6620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C4082910-8E5D-63ED-DD19-052AFA64BF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9887" y="672511"/>
            <a:ext cx="5676829" cy="2827985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D0FB8AAF-8475-454B-2CC3-909F8E9CB956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：内温要求高，波动范围严格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：内温小幅下降，但仍维持较高水平，内外温差开始缩小</a:t>
            </a: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：维持内部环境稳定，内温开始标准下降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外温下限降低，内温出现回调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外温波动剧烈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内温出现回调，内外温差下降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内外温度的最优区间基本通过分箱得到，较少为实际观测的最高或者最低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的上限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336057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7E21BFB5-F4F5-2B83-88B0-DD4C1B64E316}"/>
              </a:ext>
            </a:extLst>
          </p:cNvPr>
          <p:cNvSpPr/>
          <p:nvPr/>
        </p:nvSpPr>
        <p:spPr>
          <a:xfrm>
            <a:off x="361950" y="419050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51D90DD-CB32-1842-22FE-BE5A7F98834C}"/>
              </a:ext>
            </a:extLst>
          </p:cNvPr>
          <p:cNvSpPr/>
          <p:nvPr/>
        </p:nvSpPr>
        <p:spPr>
          <a:xfrm>
            <a:off x="7783284" y="3488333"/>
            <a:ext cx="4012295" cy="9323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分阶段看，夏季样本中，早期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的室内外温度对死淘和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的影响较大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EED33D3-2D6F-E814-02BD-68921FA30E4C}"/>
              </a:ext>
            </a:extLst>
          </p:cNvPr>
          <p:cNvSpPr txBox="1"/>
          <p:nvPr/>
        </p:nvSpPr>
        <p:spPr>
          <a:xfrm>
            <a:off x="7783284" y="1421638"/>
            <a:ext cx="34944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Information Value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，信息价值）是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评估变量预测能力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的常用指标，主要用于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特征选择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和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信用评分模型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（如逻辑回归、决策树等）。它衡量一个变量（特征）对目标变量的区分能力，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值越高，变量的预测能力越强</a:t>
            </a:r>
            <a:endParaRPr lang="zh-CN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72F2E38-6AF4-E244-AF86-A8448DB2FE1B}"/>
              </a:ext>
            </a:extLst>
          </p:cNvPr>
          <p:cNvSpPr/>
          <p:nvPr/>
        </p:nvSpPr>
        <p:spPr>
          <a:xfrm>
            <a:off x="5152705" y="193780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</a:t>
            </a:r>
            <a:r>
              <a:rPr lang="en-US" altLang="zh-CN" sz="1600" b="1" dirty="0">
                <a:solidFill>
                  <a:schemeClr val="tx1"/>
                </a:solidFill>
              </a:rPr>
              <a:t>IV</a:t>
            </a:r>
            <a:r>
              <a:rPr lang="zh-CN" altLang="en-US" sz="1600" b="1" dirty="0">
                <a:solidFill>
                  <a:schemeClr val="tx1"/>
                </a:solidFill>
              </a:rPr>
              <a:t>值汇总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28722E00-73B0-380C-69EA-8C27DE1FA5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972" y="703385"/>
            <a:ext cx="5614431" cy="2784948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46D02DB8-3EF7-7082-1F80-D4D2691D5B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5753" y="4144585"/>
            <a:ext cx="6078177" cy="2010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1860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EEA44E-D0C8-07BA-0F14-59BBD26B35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6AE2688-33B3-FC5F-739E-1485CBB13C6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7629D31-D96E-DDDD-C95D-13ADBD3286C5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9E2E56D-D50B-FA9D-599B-86BA7F454B7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25.6-27.4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33.8-34.4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5" name="图片 4" descr="图表&#10;&#10;AI 生成的内容可能不正确。">
            <a:extLst>
              <a:ext uri="{FF2B5EF4-FFF2-40B4-BE49-F238E27FC236}">
                <a16:creationId xmlns:a16="http://schemas.microsoft.com/office/drawing/2014/main" id="{AE32D3A0-DB44-ADF5-6ACC-A96983F1082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5902" y="3220948"/>
            <a:ext cx="4797595" cy="2346527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CDF6046E-5AEE-368F-FE91-B2B53B05387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08782"/>
            <a:ext cx="4726003" cy="2372868"/>
          </a:xfrm>
          <a:prstGeom prst="rect">
            <a:avLst/>
          </a:prstGeom>
        </p:spPr>
      </p:pic>
      <p:pic>
        <p:nvPicPr>
          <p:cNvPr id="11" name="图片 10" descr="图表, 直方图&#10;&#10;AI 生成的内容可能不正确。">
            <a:extLst>
              <a:ext uri="{FF2B5EF4-FFF2-40B4-BE49-F238E27FC236}">
                <a16:creationId xmlns:a16="http://schemas.microsoft.com/office/drawing/2014/main" id="{85991A5E-6B68-05A8-D843-3FEA4244F18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857242"/>
            <a:ext cx="4795951" cy="2260405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D23F43E5-7F62-A7FA-0287-0CE8CE35594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857242"/>
            <a:ext cx="4726003" cy="2260405"/>
          </a:xfrm>
          <a:prstGeom prst="rect">
            <a:avLst/>
          </a:prstGeom>
        </p:spPr>
      </p:pic>
      <p:sp>
        <p:nvSpPr>
          <p:cNvPr id="29" name="矩形 28">
            <a:extLst>
              <a:ext uri="{FF2B5EF4-FFF2-40B4-BE49-F238E27FC236}">
                <a16:creationId xmlns:a16="http://schemas.microsoft.com/office/drawing/2014/main" id="{60D86B0C-7DF7-4ACE-BC30-85CED08E48CD}"/>
              </a:ext>
            </a:extLst>
          </p:cNvPr>
          <p:cNvSpPr/>
          <p:nvPr/>
        </p:nvSpPr>
        <p:spPr>
          <a:xfrm>
            <a:off x="4227815" y="1194789"/>
            <a:ext cx="31336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6A4D5F4-B926-ECAB-4226-A32A93E7EF5F}"/>
              </a:ext>
            </a:extLst>
          </p:cNvPr>
          <p:cNvSpPr/>
          <p:nvPr/>
        </p:nvSpPr>
        <p:spPr>
          <a:xfrm>
            <a:off x="7484249" y="1095895"/>
            <a:ext cx="1728907" cy="429373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79139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1A52E-3CF6-8C7F-3A6C-CAD0A4A81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10F27C45-1699-EEA8-26CE-39138C189B80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2D8980C2-4CC5-7600-7FBD-426CACA7BD83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图表, 直方图&#10;&#10;AI 生成的内容可能不正确。">
            <a:extLst>
              <a:ext uri="{FF2B5EF4-FFF2-40B4-BE49-F238E27FC236}">
                <a16:creationId xmlns:a16="http://schemas.microsoft.com/office/drawing/2014/main" id="{A10F23E0-A065-D7C9-F47E-C2AE5C9D21A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0949"/>
            <a:ext cx="4851354" cy="2389276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F0AFAEBE-2224-ECEC-FB8D-EB5710DDA2E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45244"/>
            <a:ext cx="4851354" cy="2299210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987B13E7-3EC8-C0E8-82D0-B21CACDB26D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845244"/>
            <a:ext cx="4771001" cy="2288424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B485A970-B064-261C-58DD-C79CCB30FFDE}"/>
              </a:ext>
            </a:extLst>
          </p:cNvPr>
          <p:cNvSpPr/>
          <p:nvPr/>
        </p:nvSpPr>
        <p:spPr>
          <a:xfrm>
            <a:off x="4723034" y="1221596"/>
            <a:ext cx="41918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615B2E94-DBB4-EAD7-34D3-2F147074E9F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3209608"/>
            <a:ext cx="4771001" cy="240061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49D83615-0E39-E64F-1A56-70DBB6BD265B}"/>
              </a:ext>
            </a:extLst>
          </p:cNvPr>
          <p:cNvSpPr/>
          <p:nvPr/>
        </p:nvSpPr>
        <p:spPr>
          <a:xfrm>
            <a:off x="8124568" y="1247775"/>
            <a:ext cx="803190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BDB5FB-65B2-1720-BF7A-4CABB90A21A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28.4-30.6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32.2-32.6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777360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703F81-35B8-EB21-8216-262185667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26D38370-B21F-BAF1-236A-5BE55FA2145A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6A87B09-841C-33F8-129F-BBB18D7D122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F2F5423D-3323-85ED-27E9-B92DFE6B9A6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3265710"/>
            <a:ext cx="4881473" cy="2328575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B28B9FBF-419B-0D30-3214-7C101F0821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3264155"/>
            <a:ext cx="4799040" cy="2328574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0350A5BC-C852-5FA9-0E14-61FFBA02BC5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833317"/>
            <a:ext cx="4799040" cy="2343557"/>
          </a:xfrm>
          <a:prstGeom prst="rect">
            <a:avLst/>
          </a:prstGeom>
        </p:spPr>
      </p:pic>
      <p:pic>
        <p:nvPicPr>
          <p:cNvPr id="14" name="图片 13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A50F1EAD-A95E-A97D-CD60-D0BA8047345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34872"/>
            <a:ext cx="4881473" cy="2343557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FB59719-F8A7-1077-7437-492A55FEADF9}"/>
              </a:ext>
            </a:extLst>
          </p:cNvPr>
          <p:cNvSpPr/>
          <p:nvPr/>
        </p:nvSpPr>
        <p:spPr>
          <a:xfrm>
            <a:off x="4675373" y="1183305"/>
            <a:ext cx="292043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697AD4C-5D1A-95F0-6E6E-EED2467E94CD}"/>
              </a:ext>
            </a:extLst>
          </p:cNvPr>
          <p:cNvSpPr/>
          <p:nvPr/>
        </p:nvSpPr>
        <p:spPr>
          <a:xfrm>
            <a:off x="7860766" y="1209484"/>
            <a:ext cx="1613647" cy="414185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6DFFE97-69F8-15A5-01E8-2D81D1CB417D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27.2-28.9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30.8-31.9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45154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FDE06-FFDB-6BB8-3732-56A45EB2B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6AE9D7A-C0E0-9A08-9D5F-2035FBC0A58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62C4BA0-6FB8-1B33-72D2-C0C7D978E14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D46DA6F7-70FA-1E28-5AAB-AF70BF9447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3304249"/>
            <a:ext cx="4700844" cy="2305436"/>
          </a:xfrm>
          <a:prstGeom prst="rect">
            <a:avLst/>
          </a:prstGeom>
        </p:spPr>
      </p:pic>
      <p:pic>
        <p:nvPicPr>
          <p:cNvPr id="11" name="图片 10" descr="图表, 折线图, 直方图&#10;&#10;AI 生成的内容可能不正确。">
            <a:extLst>
              <a:ext uri="{FF2B5EF4-FFF2-40B4-BE49-F238E27FC236}">
                <a16:creationId xmlns:a16="http://schemas.microsoft.com/office/drawing/2014/main" id="{5C9D399B-6820-6E7B-3362-14308A99B2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3304249"/>
            <a:ext cx="5015671" cy="2305437"/>
          </a:xfrm>
          <a:prstGeom prst="rect">
            <a:avLst/>
          </a:prstGeom>
        </p:spPr>
      </p:pic>
      <p:pic>
        <p:nvPicPr>
          <p:cNvPr id="12" name="图片 11" descr="图形用户界面, 应用程序&#10;&#10;AI 生成的内容可能不正确。">
            <a:extLst>
              <a:ext uri="{FF2B5EF4-FFF2-40B4-BE49-F238E27FC236}">
                <a16:creationId xmlns:a16="http://schemas.microsoft.com/office/drawing/2014/main" id="{FC4A65D5-E076-37FD-5A32-757959CFFA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876290"/>
            <a:ext cx="5015671" cy="2315386"/>
          </a:xfrm>
          <a:prstGeom prst="rect">
            <a:avLst/>
          </a:prstGeom>
        </p:spPr>
      </p:pic>
      <p:pic>
        <p:nvPicPr>
          <p:cNvPr id="14" name="图片 13" descr="图表, 折线图&#10;&#10;AI 生成的内容可能不正确。">
            <a:extLst>
              <a:ext uri="{FF2B5EF4-FFF2-40B4-BE49-F238E27FC236}">
                <a16:creationId xmlns:a16="http://schemas.microsoft.com/office/drawing/2014/main" id="{3A1F4E60-8BF1-81EB-C1C9-E18D2A7825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876290"/>
            <a:ext cx="4700844" cy="2344659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A6602755-656A-ADD1-81F5-1D3C83837857}"/>
              </a:ext>
            </a:extLst>
          </p:cNvPr>
          <p:cNvSpPr/>
          <p:nvPr/>
        </p:nvSpPr>
        <p:spPr>
          <a:xfrm>
            <a:off x="4341479" y="1209484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E26FF95A-DCAD-B286-4FED-287E6EC2F867}"/>
              </a:ext>
            </a:extLst>
          </p:cNvPr>
          <p:cNvSpPr/>
          <p:nvPr/>
        </p:nvSpPr>
        <p:spPr>
          <a:xfrm>
            <a:off x="10140013" y="1201682"/>
            <a:ext cx="487696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401635A6-B0B7-2AC0-4B54-B03505CB0F5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24.6-27.2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31.6-32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001245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162322-7050-2113-3561-4AA570FCBB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632132E-86AC-F441-33BF-118488420DC2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4B70D2DD-7EB0-F784-FB96-97899A173D1E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表&#10;&#10;AI 生成的内容可能不正确。">
            <a:extLst>
              <a:ext uri="{FF2B5EF4-FFF2-40B4-BE49-F238E27FC236}">
                <a16:creationId xmlns:a16="http://schemas.microsoft.com/office/drawing/2014/main" id="{D1BB8986-01FD-4313-25CF-C8202D6ADD3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3293531"/>
            <a:ext cx="4985315" cy="2302821"/>
          </a:xfrm>
          <a:prstGeom prst="rect">
            <a:avLst/>
          </a:prstGeom>
        </p:spPr>
      </p:pic>
      <p:pic>
        <p:nvPicPr>
          <p:cNvPr id="8" name="图片 7" descr="图表&#10;&#10;AI 生成的内容可能不正确。">
            <a:extLst>
              <a:ext uri="{FF2B5EF4-FFF2-40B4-BE49-F238E27FC236}">
                <a16:creationId xmlns:a16="http://schemas.microsoft.com/office/drawing/2014/main" id="{255EF84E-0B5E-9E7A-968A-309001644EF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2" y="3293531"/>
            <a:ext cx="4625975" cy="2293778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07214AC2-A575-FBC8-09E7-21FBB32B856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7203" y="751037"/>
            <a:ext cx="4625574" cy="2429753"/>
          </a:xfrm>
          <a:prstGeom prst="rect">
            <a:avLst/>
          </a:prstGeom>
        </p:spPr>
      </p:pic>
      <p:sp>
        <p:nvSpPr>
          <p:cNvPr id="18" name="矩形 17">
            <a:extLst>
              <a:ext uri="{FF2B5EF4-FFF2-40B4-BE49-F238E27FC236}">
                <a16:creationId xmlns:a16="http://schemas.microsoft.com/office/drawing/2014/main" id="{BF119A7E-03B6-0376-A99C-EA60D69A9A52}"/>
              </a:ext>
            </a:extLst>
          </p:cNvPr>
          <p:cNvSpPr/>
          <p:nvPr/>
        </p:nvSpPr>
        <p:spPr>
          <a:xfrm>
            <a:off x="10063172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C09E8918-681C-9BB3-D0C0-36182B80ADC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751037"/>
            <a:ext cx="4985315" cy="2426414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3EB20458-5B8D-4990-C3C0-C9DFDFF1B786}"/>
              </a:ext>
            </a:extLst>
          </p:cNvPr>
          <p:cNvSpPr/>
          <p:nvPr/>
        </p:nvSpPr>
        <p:spPr>
          <a:xfrm>
            <a:off x="5248195" y="1169683"/>
            <a:ext cx="207469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9E5410D-51D5-FF9D-6CFA-3A30350EDADF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30-31.1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29.9-30.9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09729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CDFFEA-8C7C-7C38-D721-42C6A0BEF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197FAA7-3617-05E2-8A39-09C4F4CB7DD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3D5273-226B-596A-27F7-FA5CF7F4D888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9" name="图片 8" descr="图表, 直方图&#10;&#10;AI 生成的内容可能不正确。">
            <a:extLst>
              <a:ext uri="{FF2B5EF4-FFF2-40B4-BE49-F238E27FC236}">
                <a16:creationId xmlns:a16="http://schemas.microsoft.com/office/drawing/2014/main" id="{AA5936A8-1297-9592-CAC2-FF9E18DA53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3394184"/>
            <a:ext cx="4720588" cy="2222584"/>
          </a:xfrm>
          <a:prstGeom prst="rect">
            <a:avLst/>
          </a:prstGeom>
        </p:spPr>
      </p:pic>
      <p:pic>
        <p:nvPicPr>
          <p:cNvPr id="18" name="图片 17" descr="图表, 折线图&#10;&#10;AI 生成的内容可能不正确。">
            <a:extLst>
              <a:ext uri="{FF2B5EF4-FFF2-40B4-BE49-F238E27FC236}">
                <a16:creationId xmlns:a16="http://schemas.microsoft.com/office/drawing/2014/main" id="{F6CE910E-D3F8-3F07-22AB-9B9800C577C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3394184"/>
            <a:ext cx="4852750" cy="2222584"/>
          </a:xfrm>
          <a:prstGeom prst="rect">
            <a:avLst/>
          </a:prstGeom>
        </p:spPr>
      </p:pic>
      <p:pic>
        <p:nvPicPr>
          <p:cNvPr id="24" name="图片 23" descr="图表, 折线图&#10;&#10;AI 生成的内容可能不正确。">
            <a:extLst>
              <a:ext uri="{FF2B5EF4-FFF2-40B4-BE49-F238E27FC236}">
                <a16:creationId xmlns:a16="http://schemas.microsoft.com/office/drawing/2014/main" id="{627471E7-E7D8-48BD-18E2-8BBB4A2C79E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861089"/>
            <a:ext cx="4852750" cy="2430608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1CD06A4B-B9AC-4E14-2426-7FE4C8F1D942}"/>
              </a:ext>
            </a:extLst>
          </p:cNvPr>
          <p:cNvSpPr/>
          <p:nvPr/>
        </p:nvSpPr>
        <p:spPr>
          <a:xfrm>
            <a:off x="3611496" y="1196123"/>
            <a:ext cx="1244813" cy="419010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0" name="图片 29" descr="图表&#10;&#10;AI 生成的内容可能不正确。">
            <a:extLst>
              <a:ext uri="{FF2B5EF4-FFF2-40B4-BE49-F238E27FC236}">
                <a16:creationId xmlns:a16="http://schemas.microsoft.com/office/drawing/2014/main" id="{4FC804A0-EDD5-A357-F0CC-2B07662334C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852206"/>
            <a:ext cx="4720588" cy="2409277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C2291D9A-3000-D61A-093A-DDEF286DBF62}"/>
              </a:ext>
            </a:extLst>
          </p:cNvPr>
          <p:cNvSpPr/>
          <p:nvPr/>
        </p:nvSpPr>
        <p:spPr>
          <a:xfrm>
            <a:off x="6657655" y="1136743"/>
            <a:ext cx="650928" cy="424948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AA3F41C-6C85-5C0A-3601-7DEB18985F72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19.6-27.2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28.8-29.2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75335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FD593-E929-541D-30E4-C1599285F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8A1B5292-3F6B-5C60-C83B-5EA37492BBB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FD4EBB4-4ED0-B845-46CC-9E13951D4C8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 descr="图表, 折线图&#10;&#10;AI 生成的内容可能不正确。">
            <a:extLst>
              <a:ext uri="{FF2B5EF4-FFF2-40B4-BE49-F238E27FC236}">
                <a16:creationId xmlns:a16="http://schemas.microsoft.com/office/drawing/2014/main" id="{14FDB460-1143-556E-8DF1-07D71A687D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1" y="779093"/>
            <a:ext cx="5065531" cy="2354575"/>
          </a:xfrm>
          <a:prstGeom prst="rect">
            <a:avLst/>
          </a:prstGeom>
        </p:spPr>
      </p:pic>
      <p:pic>
        <p:nvPicPr>
          <p:cNvPr id="27" name="图片 26" descr="图表&#10;&#10;AI 生成的内容可能不正确。">
            <a:extLst>
              <a:ext uri="{FF2B5EF4-FFF2-40B4-BE49-F238E27FC236}">
                <a16:creationId xmlns:a16="http://schemas.microsoft.com/office/drawing/2014/main" id="{A810808C-01DD-8AF2-C723-EAB40C1F551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91" y="554904"/>
            <a:ext cx="4173815" cy="2544009"/>
          </a:xfrm>
          <a:prstGeom prst="rect">
            <a:avLst/>
          </a:prstGeom>
        </p:spPr>
      </p:pic>
      <p:pic>
        <p:nvPicPr>
          <p:cNvPr id="29" name="图片 28" descr="图表, 折线图&#10;&#10;AI 生成的内容可能不正确。">
            <a:extLst>
              <a:ext uri="{FF2B5EF4-FFF2-40B4-BE49-F238E27FC236}">
                <a16:creationId xmlns:a16="http://schemas.microsoft.com/office/drawing/2014/main" id="{5423DFC1-C9B7-D787-1E9E-229B44FA4DA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5138" y="3296930"/>
            <a:ext cx="4976783" cy="2252240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16BF75D-1359-3253-6526-C01322275BE1}"/>
              </a:ext>
            </a:extLst>
          </p:cNvPr>
          <p:cNvSpPr/>
          <p:nvPr/>
        </p:nvSpPr>
        <p:spPr>
          <a:xfrm>
            <a:off x="5158946" y="1172457"/>
            <a:ext cx="222422" cy="419484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35" name="图片 34" descr="图表, 折线图&#10;&#10;AI 生成的内容可能不正确。">
            <a:extLst>
              <a:ext uri="{FF2B5EF4-FFF2-40B4-BE49-F238E27FC236}">
                <a16:creationId xmlns:a16="http://schemas.microsoft.com/office/drawing/2014/main" id="{1D414F9F-6C73-6229-4335-A5A52ADC81A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613" y="3251904"/>
            <a:ext cx="4144293" cy="2297266"/>
          </a:xfrm>
          <a:prstGeom prst="rect">
            <a:avLst/>
          </a:prstGeom>
        </p:spPr>
      </p:pic>
      <p:sp>
        <p:nvSpPr>
          <p:cNvPr id="16" name="矩形 15">
            <a:extLst>
              <a:ext uri="{FF2B5EF4-FFF2-40B4-BE49-F238E27FC236}">
                <a16:creationId xmlns:a16="http://schemas.microsoft.com/office/drawing/2014/main" id="{5AFE9C6A-BB1C-3CD6-72C2-4C4ED19520A4}"/>
              </a:ext>
            </a:extLst>
          </p:cNvPr>
          <p:cNvSpPr/>
          <p:nvPr/>
        </p:nvSpPr>
        <p:spPr>
          <a:xfrm>
            <a:off x="9756161" y="899032"/>
            <a:ext cx="468316" cy="4436170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18A4BDA-0662-1211-6D8A-00F9BCD6C73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27.6-28.9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30.6-31.1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571420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103CF-5178-4B82-D5DF-05C026301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7DCD49B-FB76-6024-AF02-C21AD1A47A5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夏季，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BA6C2B2-826E-5B10-AA68-074F331F37B7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 descr="图形用户界面&#10;&#10;AI 生成的内容可能不正确。">
            <a:extLst>
              <a:ext uri="{FF2B5EF4-FFF2-40B4-BE49-F238E27FC236}">
                <a16:creationId xmlns:a16="http://schemas.microsoft.com/office/drawing/2014/main" id="{3FAC2895-8A29-99E2-B9DD-7D60756BAD4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8320" y="3220948"/>
            <a:ext cx="5005477" cy="2320909"/>
          </a:xfrm>
          <a:prstGeom prst="rect">
            <a:avLst/>
          </a:prstGeom>
        </p:spPr>
      </p:pic>
      <p:pic>
        <p:nvPicPr>
          <p:cNvPr id="11" name="图片 10" descr="图表, 折线图&#10;&#10;AI 生成的内容可能不正确。">
            <a:extLst>
              <a:ext uri="{FF2B5EF4-FFF2-40B4-BE49-F238E27FC236}">
                <a16:creationId xmlns:a16="http://schemas.microsoft.com/office/drawing/2014/main" id="{B38AB310-32FE-2879-5E45-72BC1A9537F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220947"/>
            <a:ext cx="4698756" cy="2320909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F2D2099D-BBC5-14D7-5D17-AFCDCBA0161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747048"/>
            <a:ext cx="4993645" cy="2320909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7181CBC3-BE0F-5418-7784-80BA72731F0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747046"/>
            <a:ext cx="4698756" cy="2320910"/>
          </a:xfrm>
          <a:prstGeom prst="rect">
            <a:avLst/>
          </a:prstGeom>
        </p:spPr>
      </p:pic>
      <p:sp>
        <p:nvSpPr>
          <p:cNvPr id="25" name="矩形 24">
            <a:extLst>
              <a:ext uri="{FF2B5EF4-FFF2-40B4-BE49-F238E27FC236}">
                <a16:creationId xmlns:a16="http://schemas.microsoft.com/office/drawing/2014/main" id="{A81396EA-83D3-909D-51E2-6EB9A038D76A}"/>
              </a:ext>
            </a:extLst>
          </p:cNvPr>
          <p:cNvSpPr/>
          <p:nvPr/>
        </p:nvSpPr>
        <p:spPr>
          <a:xfrm>
            <a:off x="5386338" y="1145568"/>
            <a:ext cx="390524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AEDAA2BE-70C1-25E5-A859-67719B621827}"/>
              </a:ext>
            </a:extLst>
          </p:cNvPr>
          <p:cNvSpPr/>
          <p:nvPr/>
        </p:nvSpPr>
        <p:spPr>
          <a:xfrm>
            <a:off x="9844880" y="1109611"/>
            <a:ext cx="763098" cy="4257685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A63CFF3-0488-7982-5476-25B3B382672F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28.9-31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时，夏季样本同时有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30.2-30.8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740310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474ED9-F6DA-30EA-6C24-748E5D602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E95474D8-8FD5-569B-42D1-7A88885BB843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1A31D17-1098-AD22-AFD1-69AC58E699A5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6511819-CD66-80F5-AF5E-D523C5383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春天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死淘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EFF2EDC-7A7F-B2B7-F1BF-FDC8CC034A09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0-25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0-25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CF7FA354-A0A7-52D7-4E28-C19116FFBAAD}"/>
              </a:ext>
            </a:extLst>
          </p:cNvPr>
          <p:cNvSpPr txBox="1"/>
          <p:nvPr/>
        </p:nvSpPr>
        <p:spPr>
          <a:xfrm>
            <a:off x="951877" y="3720256"/>
            <a:ext cx="10156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0.4204063074894706,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0.034290317,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0.31648165}</a:t>
            </a:r>
          </a:p>
        </p:txBody>
      </p:sp>
    </p:spTree>
    <p:extLst>
      <p:ext uri="{BB962C8B-B14F-4D97-AF65-F5344CB8AC3E}">
        <p14:creationId xmlns:p14="http://schemas.microsoft.com/office/powerpoint/2010/main" val="959834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FAFCC-664B-9A9F-CAF7-077AD0FDB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36513702-9FBB-02D9-9C39-D5C18F2873BC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0501CC5F-F0B8-886F-04EB-5154037657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C0C52BE4-B50E-6599-D707-620FEB1E50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853" y="2145063"/>
            <a:ext cx="5482041" cy="3112495"/>
          </a:xfrm>
          <a:prstGeom prst="rect">
            <a:avLst/>
          </a:prstGeom>
        </p:spPr>
      </p:pic>
      <p:pic>
        <p:nvPicPr>
          <p:cNvPr id="4" name="图片 3" descr="图表, 折线图&#10;&#10;AI 生成的内容可能不正确。">
            <a:extLst>
              <a:ext uri="{FF2B5EF4-FFF2-40B4-BE49-F238E27FC236}">
                <a16:creationId xmlns:a16="http://schemas.microsoft.com/office/drawing/2014/main" id="{4CCE4020-AC7F-7379-A2D4-F431CC6F02F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3688" y="2104094"/>
            <a:ext cx="5726621" cy="3251358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D44F5925-7DD8-0203-2AC3-919E263D297B}"/>
              </a:ext>
            </a:extLst>
          </p:cNvPr>
          <p:cNvSpPr txBox="1"/>
          <p:nvPr/>
        </p:nvSpPr>
        <p:spPr>
          <a:xfrm>
            <a:off x="1037821" y="5519497"/>
            <a:ext cx="10116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这组图展示了基于 </a:t>
            </a:r>
            <a:r>
              <a:rPr lang="en-US" altLang="zh-CN" sz="1400" b="0" i="0" dirty="0">
                <a:effectLst/>
                <a:latin typeface="Inter"/>
              </a:rPr>
              <a:t>Grad - CAM</a:t>
            </a:r>
            <a:r>
              <a:rPr lang="zh-CN" altLang="en-US" sz="1400" b="0" i="0" dirty="0">
                <a:effectLst/>
                <a:latin typeface="Inter"/>
              </a:rPr>
              <a:t>方法分析的鸡舍温度</a:t>
            </a:r>
            <a:r>
              <a:rPr lang="zh-CN" altLang="en-US" sz="1400" dirty="0">
                <a:latin typeface="Inter"/>
              </a:rPr>
              <a:t>和湿度</a:t>
            </a:r>
            <a:r>
              <a:rPr lang="zh-CN" altLang="en-US" sz="1400" b="0" i="0" dirty="0">
                <a:effectLst/>
                <a:latin typeface="Inter"/>
              </a:rPr>
              <a:t>的相关结果。上方折线图呈现了不同时间步下的 </a:t>
            </a:r>
            <a:r>
              <a:rPr lang="en-US" altLang="zh-CN" sz="1400" b="0" i="0" dirty="0">
                <a:effectLst/>
                <a:latin typeface="Inter"/>
              </a:rPr>
              <a:t>Grad - CAM </a:t>
            </a:r>
            <a:r>
              <a:rPr lang="zh-CN" altLang="en-US" sz="1400" b="0" i="0" dirty="0">
                <a:effectLst/>
                <a:latin typeface="Inter"/>
              </a:rPr>
              <a:t>重要性分数。下方热力图同样对应各时间步，颜色从紫到黄表示重要性分数从低到高</a:t>
            </a:r>
            <a:r>
              <a:rPr lang="zh-CN" altLang="en-US" sz="1400" dirty="0">
                <a:latin typeface="Inter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3631013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7669B2-7A9F-F4A2-FF4F-915A4483B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DB1998-3658-1A4A-66A5-4B48FBF68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死淘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5" name="图片 4" descr="图表, 散点图&#10;&#10;AI 生成的内容可能不正确。">
            <a:extLst>
              <a:ext uri="{FF2B5EF4-FFF2-40B4-BE49-F238E27FC236}">
                <a16:creationId xmlns:a16="http://schemas.microsoft.com/office/drawing/2014/main" id="{C08D7532-A2E7-4BDC-8670-A083503CD5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193" y="1721998"/>
            <a:ext cx="6083308" cy="2053116"/>
          </a:xfrm>
          <a:prstGeom prst="rect">
            <a:avLst/>
          </a:prstGeom>
        </p:spPr>
      </p:pic>
      <p:pic>
        <p:nvPicPr>
          <p:cNvPr id="8" name="图片 7" descr="图表, 散点图&#10;&#10;AI 生成的内容可能不正确。">
            <a:extLst>
              <a:ext uri="{FF2B5EF4-FFF2-40B4-BE49-F238E27FC236}">
                <a16:creationId xmlns:a16="http://schemas.microsoft.com/office/drawing/2014/main" id="{C1F147E1-98A1-8C4E-920D-902080879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283" y="318890"/>
            <a:ext cx="4263193" cy="506254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E6ED74A1-083F-E466-491D-968EC3218FE3}"/>
              </a:ext>
            </a:extLst>
          </p:cNvPr>
          <p:cNvSpPr txBox="1"/>
          <p:nvPr/>
        </p:nvSpPr>
        <p:spPr>
          <a:xfrm>
            <a:off x="1158077" y="3869544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FAF06A-8EE4-CCB2-8784-D404E0C447CC}"/>
              </a:ext>
            </a:extLst>
          </p:cNvPr>
          <p:cNvSpPr txBox="1"/>
          <p:nvPr/>
        </p:nvSpPr>
        <p:spPr>
          <a:xfrm>
            <a:off x="7187294" y="5564452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seq_2_t3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seq_2_t22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3876881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A5FB86-1A8B-2607-668A-2133D38F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55B0874D-8F8F-6DA7-7679-BB04F49CFC7B}"/>
              </a:ext>
            </a:extLst>
          </p:cNvPr>
          <p:cNvSpPr/>
          <p:nvPr/>
        </p:nvSpPr>
        <p:spPr>
          <a:xfrm>
            <a:off x="361950" y="3342016"/>
            <a:ext cx="11484153" cy="14643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37C3691-C8FE-C119-DAF2-2BF507094459}"/>
              </a:ext>
            </a:extLst>
          </p:cNvPr>
          <p:cNvSpPr/>
          <p:nvPr/>
        </p:nvSpPr>
        <p:spPr>
          <a:xfrm>
            <a:off x="361950" y="1221827"/>
            <a:ext cx="11484153" cy="182129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A61226A-5D5F-52AD-807A-531F9823B2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春天</a:t>
            </a:r>
            <a:r>
              <a:rPr lang="en-US" altLang="zh-CN" dirty="0">
                <a:latin typeface="等线" panose="02010600030101010101" pitchFamily="2" charset="-122"/>
                <a:ea typeface="等线" panose="02010600030101010101" pitchFamily="2" charset="-122"/>
              </a:rPr>
              <a:t>-EEF-</a:t>
            </a:r>
            <a:r>
              <a:rPr lang="zh-CN" altLang="en-US" dirty="0">
                <a:latin typeface="等线" panose="02010600030101010101" pitchFamily="2" charset="-122"/>
                <a:ea typeface="等线" panose="02010600030101010101" pitchFamily="2" charset="-122"/>
              </a:rPr>
              <a:t>模型效果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33FA28F-EDBD-BC2F-0F91-F3FE25CFD477}"/>
              </a:ext>
            </a:extLst>
          </p:cNvPr>
          <p:cNvSpPr/>
          <p:nvPr/>
        </p:nvSpPr>
        <p:spPr>
          <a:xfrm>
            <a:off x="951877" y="1382537"/>
            <a:ext cx="10401923" cy="12331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1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日鸡舍温度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输入序列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2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0-26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日湿度内部平均</a:t>
            </a:r>
          </a:p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p"/>
            </a:pP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固定序列：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Fixed_1-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密度（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Density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Fixed_2-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种鸡（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BirdsVariety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  <a:r>
              <a:rPr lang="en-US" altLang="zh-CN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, Fixed_3-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饲养者（</a:t>
            </a:r>
            <a:r>
              <a:rPr lang="en-US" altLang="zh-CN" sz="1600" b="1" dirty="0" err="1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FarmSupervisor</a:t>
            </a:r>
            <a:r>
              <a:rPr lang="zh-CN" altLang="en-US" sz="1600" b="1" dirty="0">
                <a:solidFill>
                  <a:srgbClr val="000000"/>
                </a:solidFill>
                <a:latin typeface="等线" panose="02010600030101010101" pitchFamily="2" charset="-122"/>
                <a:ea typeface="等线" panose="02010600030101010101" pitchFamily="2" charset="-122"/>
              </a:rPr>
              <a:t>）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BBACDD2-8ED2-B5E3-4A9F-8C5F5D76ED13}"/>
              </a:ext>
            </a:extLst>
          </p:cNvPr>
          <p:cNvSpPr txBox="1"/>
          <p:nvPr/>
        </p:nvSpPr>
        <p:spPr>
          <a:xfrm>
            <a:off x="951877" y="3720256"/>
            <a:ext cx="101566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Transformer_With_Fixed_Token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验证集指标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: {'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R2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0.5964619459503626,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32.62063, '</a:t>
            </a:r>
            <a:r>
              <a:rPr lang="en-US" altLang="zh-CN" sz="2000" b="1" dirty="0">
                <a:latin typeface="等线" panose="02010600030101010101" pitchFamily="2" charset="-122"/>
                <a:ea typeface="等线" panose="02010600030101010101" pitchFamily="2" charset="-122"/>
              </a:rPr>
              <a:t>MAPE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': 0.12778008}</a:t>
            </a:r>
          </a:p>
        </p:txBody>
      </p:sp>
    </p:spTree>
    <p:extLst>
      <p:ext uri="{BB962C8B-B14F-4D97-AF65-F5344CB8AC3E}">
        <p14:creationId xmlns:p14="http://schemas.microsoft.com/office/powerpoint/2010/main" val="2413842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D7C4F5-A6BC-B161-391C-DCD6612AA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id="{0AAC8665-9923-9ABF-6C00-0B87E8B452B6}"/>
              </a:ext>
            </a:extLst>
          </p:cNvPr>
          <p:cNvSpPr/>
          <p:nvPr/>
        </p:nvSpPr>
        <p:spPr>
          <a:xfrm>
            <a:off x="361950" y="885328"/>
            <a:ext cx="11484153" cy="5844655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660F504-8511-6676-1762-30949ABA5A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5613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Grad-CAM </a:t>
            </a:r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图</a:t>
            </a:r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7240904F-4711-DDFD-BDC2-71C0A66F989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474" y="2133475"/>
            <a:ext cx="5482041" cy="3112495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0C943367-3219-8A57-1536-10BE3CF232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6137" y="2133475"/>
            <a:ext cx="5703344" cy="323814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13D18FF7-6DD9-C84A-3E6E-C2915EEDBCC0}"/>
              </a:ext>
            </a:extLst>
          </p:cNvPr>
          <p:cNvSpPr txBox="1"/>
          <p:nvPr/>
        </p:nvSpPr>
        <p:spPr>
          <a:xfrm>
            <a:off x="977958" y="5711062"/>
            <a:ext cx="1011635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b="0" i="0" dirty="0">
                <a:effectLst/>
                <a:latin typeface="Inter"/>
              </a:rPr>
              <a:t>这组图展示了基于 </a:t>
            </a:r>
            <a:r>
              <a:rPr lang="en-US" altLang="zh-CN" sz="1400" b="0" i="0" dirty="0">
                <a:effectLst/>
                <a:latin typeface="Inter"/>
              </a:rPr>
              <a:t>Grad - CAM</a:t>
            </a:r>
            <a:r>
              <a:rPr lang="zh-CN" altLang="en-US" sz="1400" b="0" i="0" dirty="0">
                <a:effectLst/>
                <a:latin typeface="Inter"/>
              </a:rPr>
              <a:t>方法分析的鸡舍温度</a:t>
            </a:r>
            <a:r>
              <a:rPr lang="zh-CN" altLang="en-US" sz="1400" dirty="0">
                <a:latin typeface="Inter"/>
              </a:rPr>
              <a:t>和湿度</a:t>
            </a:r>
            <a:r>
              <a:rPr lang="zh-CN" altLang="en-US" sz="1400" b="0" i="0" dirty="0">
                <a:effectLst/>
                <a:latin typeface="Inter"/>
              </a:rPr>
              <a:t>的相关结果。上方折线图呈现了不同时间步下的 </a:t>
            </a:r>
            <a:r>
              <a:rPr lang="en-US" altLang="zh-CN" sz="1400" b="0" i="0" dirty="0">
                <a:effectLst/>
                <a:latin typeface="Inter"/>
              </a:rPr>
              <a:t>Grad - CAM </a:t>
            </a:r>
            <a:r>
              <a:rPr lang="zh-CN" altLang="en-US" sz="1400" b="0" i="0" dirty="0">
                <a:effectLst/>
                <a:latin typeface="Inter"/>
              </a:rPr>
              <a:t>重要性分数。下方热力图同样对应各时间步，颜色从紫到黄表示重要性分数从低到高</a:t>
            </a:r>
            <a:r>
              <a:rPr lang="zh-CN" altLang="en-US" sz="1400" dirty="0">
                <a:latin typeface="Inter"/>
              </a:rPr>
              <a:t>。</a:t>
            </a:r>
            <a:endParaRPr lang="zh-CN" altLang="en-US" sz="1400" dirty="0"/>
          </a:p>
        </p:txBody>
      </p:sp>
    </p:spTree>
    <p:extLst>
      <p:ext uri="{BB962C8B-B14F-4D97-AF65-F5344CB8AC3E}">
        <p14:creationId xmlns:p14="http://schemas.microsoft.com/office/powerpoint/2010/main" val="2861105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BC3A0-834B-328C-18A5-E42C519D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951D8BD-62EA-7176-4498-87C5782D7F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5069"/>
            <a:ext cx="10515600" cy="553998"/>
          </a:xfrm>
        </p:spPr>
        <p:txBody>
          <a:bodyPr/>
          <a:lstStyle/>
          <a:p>
            <a:r>
              <a:rPr lang="zh-CN" altLang="en-US" dirty="0">
                <a:latin typeface="DengXian" panose="02010600030101010101" pitchFamily="2" charset="-122"/>
                <a:ea typeface="DengXian" panose="02010600030101010101" pitchFamily="2" charset="-122"/>
              </a:rPr>
              <a:t>春天</a:t>
            </a:r>
            <a:r>
              <a:rPr lang="en-US" altLang="zh-CN" dirty="0">
                <a:latin typeface="DengXian" panose="02010600030101010101" pitchFamily="2" charset="-122"/>
                <a:ea typeface="DengXian" panose="02010600030101010101" pitchFamily="2" charset="-122"/>
              </a:rPr>
              <a:t>-EEF-</a:t>
            </a:r>
            <a:r>
              <a:rPr lang="en-US" altLang="zh-CN" sz="4000" dirty="0"/>
              <a:t> </a:t>
            </a:r>
            <a:r>
              <a:rPr lang="en-US" altLang="zh-CN" dirty="0" err="1">
                <a:latin typeface="DengXian" panose="02010600030101010101" pitchFamily="2" charset="-122"/>
                <a:ea typeface="DengXian" panose="02010600030101010101" pitchFamily="2" charset="-122"/>
              </a:rPr>
              <a:t>Shap</a:t>
            </a:r>
            <a:endParaRPr lang="zh-CN" altLang="en-US" dirty="0">
              <a:latin typeface="DengXian" panose="02010600030101010101" pitchFamily="2" charset="-122"/>
              <a:ea typeface="DengXian" panose="02010600030101010101" pitchFamily="2" charset="-122"/>
            </a:endParaRPr>
          </a:p>
        </p:txBody>
      </p:sp>
      <p:pic>
        <p:nvPicPr>
          <p:cNvPr id="4" name="图片 3" descr="图表, 散点图&#10;&#10;AI 生成的内容可能不正确。">
            <a:extLst>
              <a:ext uri="{FF2B5EF4-FFF2-40B4-BE49-F238E27FC236}">
                <a16:creationId xmlns:a16="http://schemas.microsoft.com/office/drawing/2014/main" id="{0131CBDE-8A70-115A-D37C-405B361E78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278" y="1429247"/>
            <a:ext cx="5618929" cy="1896388"/>
          </a:xfrm>
          <a:prstGeom prst="rect">
            <a:avLst/>
          </a:prstGeom>
        </p:spPr>
      </p:pic>
      <p:pic>
        <p:nvPicPr>
          <p:cNvPr id="7" name="图片 6" descr="图表, 散点图&#10;&#10;AI 生成的内容可能不正确。">
            <a:extLst>
              <a:ext uri="{FF2B5EF4-FFF2-40B4-BE49-F238E27FC236}">
                <a16:creationId xmlns:a16="http://schemas.microsoft.com/office/drawing/2014/main" id="{3BD9F8C8-AA23-5BA5-A682-BF4D559D7B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7294" y="527513"/>
            <a:ext cx="3873357" cy="4599612"/>
          </a:xfrm>
          <a:prstGeom prst="rect">
            <a:avLst/>
          </a:prstGeo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05F77517-FCC3-0114-09CC-4F3B00FC399A}"/>
              </a:ext>
            </a:extLst>
          </p:cNvPr>
          <p:cNvSpPr txBox="1"/>
          <p:nvPr/>
        </p:nvSpPr>
        <p:spPr>
          <a:xfrm>
            <a:off x="1137528" y="3664061"/>
            <a:ext cx="3187892" cy="334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Fixed_3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对模型预测的影响最大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C2D2FEEB-2023-AF02-7B4A-0CE206164E31}"/>
              </a:ext>
            </a:extLst>
          </p:cNvPr>
          <p:cNvSpPr txBox="1"/>
          <p:nvPr/>
        </p:nvSpPr>
        <p:spPr>
          <a:xfrm>
            <a:off x="7187294" y="5564452"/>
            <a:ext cx="4073182" cy="6033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seq_2_t1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seq_2_t3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seq_2_t2 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等靠前的特征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SHAP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值较高，表明这些时间点的数据对预测结果影响显著。</a:t>
            </a:r>
          </a:p>
        </p:txBody>
      </p:sp>
    </p:spTree>
    <p:extLst>
      <p:ext uri="{BB962C8B-B14F-4D97-AF65-F5344CB8AC3E}">
        <p14:creationId xmlns:p14="http://schemas.microsoft.com/office/powerpoint/2010/main" val="3689028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59598B-D66C-307C-CF16-EAA4ABE3E0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E56BD75-21B4-1BB5-8F1C-8A3BA4FE42A8}"/>
              </a:ext>
            </a:extLst>
          </p:cNvPr>
          <p:cNvSpPr/>
          <p:nvPr/>
        </p:nvSpPr>
        <p:spPr>
          <a:xfrm>
            <a:off x="361950" y="359717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BEA69F4-1105-E524-154A-1FF54F7564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1187177"/>
              </p:ext>
            </p:extLst>
          </p:nvPr>
        </p:nvGraphicFramePr>
        <p:xfrm>
          <a:off x="1417371" y="3672707"/>
          <a:ext cx="4303118" cy="17455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563325">
                  <a:extLst>
                    <a:ext uri="{9D8B030D-6E8A-4147-A177-3AD203B41FA5}">
                      <a16:colId xmlns:a16="http://schemas.microsoft.com/office/drawing/2014/main" val="3706777486"/>
                    </a:ext>
                  </a:extLst>
                </a:gridCol>
                <a:gridCol w="1231516">
                  <a:extLst>
                    <a:ext uri="{9D8B030D-6E8A-4147-A177-3AD203B41FA5}">
                      <a16:colId xmlns:a16="http://schemas.microsoft.com/office/drawing/2014/main" val="513429383"/>
                    </a:ext>
                  </a:extLst>
                </a:gridCol>
                <a:gridCol w="923445">
                  <a:extLst>
                    <a:ext uri="{9D8B030D-6E8A-4147-A177-3AD203B41FA5}">
                      <a16:colId xmlns:a16="http://schemas.microsoft.com/office/drawing/2014/main" val="2690794754"/>
                    </a:ext>
                  </a:extLst>
                </a:gridCol>
                <a:gridCol w="823613">
                  <a:extLst>
                    <a:ext uri="{9D8B030D-6E8A-4147-A177-3AD203B41FA5}">
                      <a16:colId xmlns:a16="http://schemas.microsoft.com/office/drawing/2014/main" val="370371725"/>
                    </a:ext>
                  </a:extLst>
                </a:gridCol>
                <a:gridCol w="761219">
                  <a:extLst>
                    <a:ext uri="{9D8B030D-6E8A-4147-A177-3AD203B41FA5}">
                      <a16:colId xmlns:a16="http://schemas.microsoft.com/office/drawing/2014/main" val="3994217970"/>
                    </a:ext>
                  </a:extLst>
                </a:gridCol>
              </a:tblGrid>
              <a:tr h="17716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age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out-upper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In-lower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Anova Light" panose="020B0403020203020204"/>
                          <a:ea typeface="等线" panose="02010600030101010101" pitchFamily="2" charset="-122"/>
                        </a:rPr>
                        <a:t>In-upper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25186485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0-2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7.5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33.8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77349861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3-5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19.1(max)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30.8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31.6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119360953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6-8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16.3(max)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28.5(min)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29.4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695966500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9-11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11.4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28.8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1929813106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12-14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14.4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17.4(max)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25.8(min)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26.4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936996792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15-17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8.6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17.9(max)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27.1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27.8(max)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719035364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18-20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17.3(max)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26.9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3391861171"/>
                  </a:ext>
                </a:extLst>
              </a:tr>
              <a:tr h="1771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21-23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9.2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13.8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altLang="zh-CN" sz="1200" b="0" i="0" u="none" strike="noStrike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26.4</a:t>
                      </a:r>
                    </a:p>
                  </a:txBody>
                  <a:tcPr marL="7684" marR="7684" marT="7684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等线" panose="02010600030101010101" pitchFamily="2" charset="-122"/>
                          <a:ea typeface="等线" panose="02010600030101010101" pitchFamily="2" charset="-122"/>
                        </a:rPr>
                        <a:t>27.6(max)</a:t>
                      </a:r>
                    </a:p>
                  </a:txBody>
                  <a:tcPr marL="7684" marR="7684" marT="7684" marB="0" anchor="ctr"/>
                </a:tc>
                <a:extLst>
                  <a:ext uri="{0D108BD9-81ED-4DB2-BD59-A6C34878D82A}">
                    <a16:rowId xmlns:a16="http://schemas.microsoft.com/office/drawing/2014/main" val="891754756"/>
                  </a:ext>
                </a:extLst>
              </a:tr>
            </a:tbl>
          </a:graphicData>
        </a:graphic>
      </p:graphicFrame>
      <p:sp>
        <p:nvSpPr>
          <p:cNvPr id="10" name="矩形 9">
            <a:extLst>
              <a:ext uri="{FF2B5EF4-FFF2-40B4-BE49-F238E27FC236}">
                <a16:creationId xmlns:a16="http://schemas.microsoft.com/office/drawing/2014/main" id="{7CB874FC-6FDD-2911-EAA5-5B03D6E7F73E}"/>
              </a:ext>
            </a:extLst>
          </p:cNvPr>
          <p:cNvSpPr/>
          <p:nvPr/>
        </p:nvSpPr>
        <p:spPr>
          <a:xfrm>
            <a:off x="5152705" y="134447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各阶段温度建议</a:t>
            </a:r>
          </a:p>
        </p:txBody>
      </p: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802A23E8-897F-7023-0322-B6FDFC287F54}"/>
              </a:ext>
            </a:extLst>
          </p:cNvPr>
          <p:cNvCxnSpPr/>
          <p:nvPr/>
        </p:nvCxnSpPr>
        <p:spPr>
          <a:xfrm>
            <a:off x="7294652" y="671177"/>
            <a:ext cx="0" cy="5703152"/>
          </a:xfrm>
          <a:prstGeom prst="line">
            <a:avLst/>
          </a:prstGeom>
          <a:ln w="12700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550802FB-8FE9-517A-2C93-2340072E6686}"/>
              </a:ext>
            </a:extLst>
          </p:cNvPr>
          <p:cNvSpPr txBox="1"/>
          <p:nvPr/>
        </p:nvSpPr>
        <p:spPr>
          <a:xfrm>
            <a:off x="356454" y="5667286"/>
            <a:ext cx="66200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200" b="0" i="0" dirty="0">
                <a:solidFill>
                  <a:srgbClr val="404040"/>
                </a:solidFill>
                <a:effectLst/>
                <a:latin typeface="DeepSeek-CJK-patch"/>
              </a:rPr>
              <a:t>*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“max”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 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DeepSeek-CJK-patch"/>
              </a:rPr>
              <a:t>温度上限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是实际样本中观测到的最高温度值，而非通过统计方法估算的理论最优值。</a:t>
            </a:r>
            <a:endParaRPr lang="en-US" altLang="zh-CN" sz="1200" b="0" i="0" dirty="0">
              <a:solidFill>
                <a:srgbClr val="404040"/>
              </a:solidFill>
              <a:effectLst/>
              <a:latin typeface="DeepSeek-CJK-patch"/>
            </a:endParaRPr>
          </a:p>
          <a:p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标注 </a:t>
            </a:r>
            <a:r>
              <a:rPr lang="en-US" altLang="zh-CN" sz="1200" b="1" i="0" dirty="0">
                <a:solidFill>
                  <a:srgbClr val="404040"/>
                </a:solidFill>
                <a:effectLst/>
                <a:latin typeface="DeepSeek-CJK-patch"/>
              </a:rPr>
              <a:t>“min”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 表示该年龄组的 </a:t>
            </a:r>
            <a:r>
              <a:rPr lang="zh-CN" altLang="en-US" sz="1200" b="1" dirty="0">
                <a:solidFill>
                  <a:srgbClr val="404040"/>
                </a:solidFill>
                <a:latin typeface="DeepSeek-CJK-patch"/>
              </a:rPr>
              <a:t>温度下限 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DeepSeek-CJK-patch"/>
              </a:rPr>
              <a:t>是实际样本中观测到的最低温度值，而非通过统计方法估算的理论最优值。</a:t>
            </a:r>
            <a:endParaRPr lang="zh-CN" altLang="en-US" sz="1200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693238AA-DCD5-D2F2-CC5F-56810527A6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001" y="671177"/>
            <a:ext cx="5613973" cy="2777345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9AF4782E-6FAA-2F6B-33F9-793AC51A0771}"/>
              </a:ext>
            </a:extLst>
          </p:cNvPr>
          <p:cNvSpPr/>
          <p:nvPr/>
        </p:nvSpPr>
        <p:spPr>
          <a:xfrm>
            <a:off x="7612807" y="359716"/>
            <a:ext cx="4012295" cy="629825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algn="l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日龄分段管理逻辑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0-2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：内温要求高，波动范围严格</a:t>
            </a: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3-5</a:t>
            </a: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：内温小幅下降，但仍维持较高水平，整体对外部温度适应范围有拓展但内部仍敏感</a:t>
            </a:r>
          </a:p>
          <a:p>
            <a:pPr marL="0" lvl="1" indent="-285750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6-8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：外温有适度空间，内温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波动范围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窄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9-11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温度波动容忍度低，敏感性高。</a:t>
            </a:r>
            <a:endParaRPr lang="en-US" altLang="zh-CN" sz="1200" i="0" dirty="0">
              <a:solidFill>
                <a:srgbClr val="000000"/>
              </a:solidFill>
              <a:effectLst/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12-17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理论区间内调整相对安全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0" lvl="1" indent="-285750" algn="l">
              <a:spcBef>
                <a:spcPts val="3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en-US" altLang="zh-CN" sz="1200" b="1" i="0" dirty="0">
                <a:solidFill>
                  <a:srgbClr val="000000"/>
                </a:solidFill>
                <a:effectLst/>
                <a:latin typeface="Inter"/>
              </a:rPr>
              <a:t>18-23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日龄：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内外区间宽度适中，对温度波动有一定耐受但仍需关注稳定。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2. 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综合来看：</a:t>
            </a:r>
            <a:endParaRPr lang="en-US" altLang="zh-CN" sz="1200" b="1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日龄越小理论最优区间越窄（如 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0 - 2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、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9 - 11 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日龄 ），无实际极值缓冲，管理需极致精准，优先匹配理论最优。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marL="228600" indent="-228600" algn="l">
              <a:spcBef>
                <a:spcPts val="600"/>
              </a:spcBef>
              <a:spcAft>
                <a:spcPts val="600"/>
              </a:spcAft>
              <a:buFont typeface="+mj-lt"/>
              <a:buAutoNum type="alphaLcPeriod"/>
            </a:pP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当外部温度不佳时，依旧可以通过内部温度控制较低的死淘和较高的</a:t>
            </a: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。</a:t>
            </a:r>
            <a:endParaRPr lang="en-US" altLang="zh-CN" sz="1200" dirty="0">
              <a:solidFill>
                <a:srgbClr val="000000"/>
              </a:solidFill>
              <a:latin typeface="Inter"/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en-US" altLang="zh-CN" sz="1200" b="0" i="0" dirty="0">
              <a:solidFill>
                <a:srgbClr val="000000"/>
              </a:solidFill>
              <a:effectLst/>
              <a:latin typeface="Inter"/>
            </a:endParaRPr>
          </a:p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altLang="zh-CN" sz="1200" dirty="0">
                <a:solidFill>
                  <a:srgbClr val="000000"/>
                </a:solidFill>
                <a:latin typeface="Inter"/>
              </a:rPr>
              <a:t>3. 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异常值警示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：</a:t>
            </a:r>
            <a:b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</a:b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标注 </a:t>
            </a:r>
            <a:r>
              <a:rPr lang="en-US" altLang="zh-CN" sz="1200" b="0" i="0" dirty="0">
                <a:solidFill>
                  <a:srgbClr val="000000"/>
                </a:solidFill>
                <a:effectLst/>
                <a:latin typeface="Inter"/>
              </a:rPr>
              <a:t>max</a:t>
            </a:r>
            <a:r>
              <a:rPr lang="zh-CN" altLang="en-US" sz="1200" dirty="0">
                <a:solidFill>
                  <a:srgbClr val="000000"/>
                </a:solidFill>
                <a:latin typeface="Inter"/>
              </a:rPr>
              <a:t>的上限</a:t>
            </a:r>
            <a:r>
              <a:rPr lang="zh-CN" altLang="en-US" sz="1200" b="0" i="0" dirty="0">
                <a:solidFill>
                  <a:srgbClr val="000000"/>
                </a:solidFill>
                <a:effectLst/>
                <a:latin typeface="Inter"/>
              </a:rPr>
              <a:t>可能为特殊环境下的偶然观测值，需结合实际生产验证，不可作为常规管理阈值。</a:t>
            </a:r>
          </a:p>
          <a:p>
            <a:pPr algn="l">
              <a:spcBef>
                <a:spcPts val="600"/>
              </a:spcBef>
              <a:spcAft>
                <a:spcPts val="600"/>
              </a:spcAft>
            </a:pP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11168194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E8D7FFCA-8C26-B907-1739-8BA0B9B3D996}"/>
              </a:ext>
            </a:extLst>
          </p:cNvPr>
          <p:cNvSpPr/>
          <p:nvPr/>
        </p:nvSpPr>
        <p:spPr>
          <a:xfrm>
            <a:off x="361950" y="419050"/>
            <a:ext cx="11484153" cy="6298258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endParaRPr lang="zh-CN" altLang="en-US" sz="900" b="1">
              <a:solidFill>
                <a:srgbClr val="000000"/>
              </a:solidFill>
              <a:latin typeface="Inter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5384FB-0425-53EC-5618-4379454981F6}"/>
              </a:ext>
            </a:extLst>
          </p:cNvPr>
          <p:cNvSpPr txBox="1"/>
          <p:nvPr/>
        </p:nvSpPr>
        <p:spPr>
          <a:xfrm>
            <a:off x="7783284" y="1421638"/>
            <a:ext cx="3494435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Information Value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，信息价值）是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评估变量预测能力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的常用指标，主要用于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特征选择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和</a:t>
            </a:r>
            <a:r>
              <a:rPr lang="zh-CN" altLang="en-US" sz="1200" b="1" i="0" dirty="0">
                <a:solidFill>
                  <a:srgbClr val="404040"/>
                </a:solidFill>
                <a:effectLst/>
                <a:latin typeface="quote-cjk-patch"/>
              </a:rPr>
              <a:t>信用评分模型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（如逻辑回归、决策树等）。它衡量一个变量（特征）对目标变量的区分能力，</a:t>
            </a:r>
            <a:r>
              <a:rPr lang="en-US" altLang="zh-CN" sz="1200" b="0" i="0" dirty="0">
                <a:solidFill>
                  <a:srgbClr val="404040"/>
                </a:solidFill>
                <a:effectLst/>
                <a:latin typeface="quote-cjk-patch"/>
              </a:rPr>
              <a:t>IV</a:t>
            </a:r>
            <a:r>
              <a:rPr lang="zh-CN" altLang="en-US" sz="1200" b="0" i="0" dirty="0">
                <a:solidFill>
                  <a:srgbClr val="404040"/>
                </a:solidFill>
                <a:effectLst/>
                <a:latin typeface="quote-cjk-patch"/>
              </a:rPr>
              <a:t>值越高，变量的预测能力越强</a:t>
            </a:r>
            <a:endParaRPr lang="zh-CN" altLang="en-US" sz="1200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20F7E30-D7AB-AE03-B4AF-CD1B9461A7D8}"/>
              </a:ext>
            </a:extLst>
          </p:cNvPr>
          <p:cNvSpPr/>
          <p:nvPr/>
        </p:nvSpPr>
        <p:spPr>
          <a:xfrm>
            <a:off x="5152705" y="193780"/>
            <a:ext cx="1902642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 b="1" dirty="0">
                <a:solidFill>
                  <a:schemeClr val="tx1"/>
                </a:solidFill>
              </a:rPr>
              <a:t>各阶段</a:t>
            </a:r>
            <a:r>
              <a:rPr lang="en-US" altLang="zh-CN" sz="1600" b="1" dirty="0">
                <a:solidFill>
                  <a:schemeClr val="tx1"/>
                </a:solidFill>
              </a:rPr>
              <a:t>IV</a:t>
            </a:r>
            <a:r>
              <a:rPr lang="zh-CN" altLang="en-US" sz="1600" b="1" dirty="0">
                <a:solidFill>
                  <a:schemeClr val="tx1"/>
                </a:solidFill>
              </a:rPr>
              <a:t>值汇总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843F0953-2A6E-CB36-81E8-9BA987CB01A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7484" y="921736"/>
            <a:ext cx="5084920" cy="2566597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91F95A12-55DB-3478-0FAF-26F0504B14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319" y="3768495"/>
            <a:ext cx="5584597" cy="1846805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29C7B889-0707-A778-6815-876FB70F5C3A}"/>
              </a:ext>
            </a:extLst>
          </p:cNvPr>
          <p:cNvSpPr/>
          <p:nvPr/>
        </p:nvSpPr>
        <p:spPr>
          <a:xfrm>
            <a:off x="7783284" y="3488333"/>
            <a:ext cx="4012295" cy="93236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216000" rtlCol="0" anchor="t" anchorCtr="0"/>
          <a:lstStyle/>
          <a:p>
            <a:pPr marL="171450" indent="-171450" algn="l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分阶段看，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春季</a:t>
            </a:r>
            <a:r>
              <a:rPr lang="zh-CN" altLang="en-US" sz="1200" b="1" i="0" dirty="0">
                <a:solidFill>
                  <a:srgbClr val="000000"/>
                </a:solidFill>
                <a:effectLst/>
                <a:latin typeface="Inter"/>
              </a:rPr>
              <a:t>样本中，早期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的室内外温度对死淘和</a:t>
            </a:r>
            <a:r>
              <a:rPr lang="en-US" altLang="zh-CN" sz="1200" b="1" dirty="0">
                <a:solidFill>
                  <a:srgbClr val="000000"/>
                </a:solidFill>
                <a:latin typeface="Inter"/>
              </a:rPr>
              <a:t>EEF</a:t>
            </a:r>
            <a:r>
              <a:rPr lang="zh-CN" altLang="en-US" sz="1200" b="1" dirty="0">
                <a:solidFill>
                  <a:srgbClr val="000000"/>
                </a:solidFill>
                <a:latin typeface="Inter"/>
              </a:rPr>
              <a:t>的影响较大</a:t>
            </a:r>
            <a:endParaRPr lang="zh-CN" altLang="en-US" sz="1200" b="0" i="0" dirty="0">
              <a:solidFill>
                <a:srgbClr val="000000"/>
              </a:solidFill>
              <a:effectLst/>
              <a:latin typeface="Inter"/>
            </a:endParaRPr>
          </a:p>
        </p:txBody>
      </p:sp>
    </p:spTree>
    <p:extLst>
      <p:ext uri="{BB962C8B-B14F-4D97-AF65-F5344CB8AC3E}">
        <p14:creationId xmlns:p14="http://schemas.microsoft.com/office/powerpoint/2010/main" val="2034075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148E34-C736-AC1D-4A69-37784EB5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719D30A4-FE64-1386-DE2F-FD80DF18D6B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0-2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7B3F727-2999-3F53-3A3C-EA0A2687926F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EF6A046-A53F-6F8E-8458-22333B4CFD9B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7.5-8.2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0-2</a:t>
            </a:r>
            <a:r>
              <a:rPr lang="zh-CN" altLang="en-US" sz="1400" dirty="0">
                <a:solidFill>
                  <a:schemeClr val="tx1"/>
                </a:solidFill>
              </a:rPr>
              <a:t>日龄时外部温度不在上述区间内，可将鸡舍内部平均温度控制在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33.6-33.8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2613A884-F51F-50B0-CB49-D5A29CC5F2A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8" y="3204431"/>
            <a:ext cx="4726003" cy="2404914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01BC4B6B-B93F-770C-FCBF-9DFA2F09B3D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3204430"/>
            <a:ext cx="4795951" cy="2404913"/>
          </a:xfrm>
          <a:prstGeom prst="rect">
            <a:avLst/>
          </a:prstGeom>
        </p:spPr>
      </p:pic>
      <p:pic>
        <p:nvPicPr>
          <p:cNvPr id="18" name="图片 17" descr="图表, 直方图&#10;&#10;AI 生成的内容可能不正确。">
            <a:extLst>
              <a:ext uri="{FF2B5EF4-FFF2-40B4-BE49-F238E27FC236}">
                <a16:creationId xmlns:a16="http://schemas.microsoft.com/office/drawing/2014/main" id="{C96BED56-6D3B-44A6-3EC5-D60B845BEE4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8457" y="883578"/>
            <a:ext cx="4726003" cy="2217766"/>
          </a:xfrm>
          <a:prstGeom prst="rect">
            <a:avLst/>
          </a:prstGeom>
        </p:spPr>
      </p:pic>
      <p:pic>
        <p:nvPicPr>
          <p:cNvPr id="22" name="图片 21" descr="图表&#10;&#10;AI 生成的内容可能不正确。">
            <a:extLst>
              <a:ext uri="{FF2B5EF4-FFF2-40B4-BE49-F238E27FC236}">
                <a16:creationId xmlns:a16="http://schemas.microsoft.com/office/drawing/2014/main" id="{06311F80-5A7C-15F3-4E2A-579E6856260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6826" y="883577"/>
            <a:ext cx="4795950" cy="2233571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1587630-4667-F723-0975-CA410A287922}"/>
              </a:ext>
            </a:extLst>
          </p:cNvPr>
          <p:cNvSpPr/>
          <p:nvPr/>
        </p:nvSpPr>
        <p:spPr>
          <a:xfrm>
            <a:off x="3184989" y="1145568"/>
            <a:ext cx="14897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CAED97DA-802D-C004-50DC-14338C0463C5}"/>
              </a:ext>
            </a:extLst>
          </p:cNvPr>
          <p:cNvSpPr/>
          <p:nvPr/>
        </p:nvSpPr>
        <p:spPr>
          <a:xfrm>
            <a:off x="7746715" y="1109611"/>
            <a:ext cx="25428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725219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7F4F0-1FED-5D30-9458-75FB8F1371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0F208A8A-685E-FE5E-641D-A6407178DBC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3-5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42A7D98-5E56-2CD2-2996-761D1EBDB161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C08C43B-1393-1201-51D4-3B6FEB7A1BD1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7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3-5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30.8-31.6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C6EB5334-1E6E-83DB-DF38-281361B38F2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9" y="3220949"/>
            <a:ext cx="4771001" cy="2376088"/>
          </a:xfrm>
          <a:prstGeom prst="rect">
            <a:avLst/>
          </a:prstGeom>
        </p:spPr>
      </p:pic>
      <p:pic>
        <p:nvPicPr>
          <p:cNvPr id="10" name="图片 9" descr="图形用户界面, 图表&#10;&#10;AI 生成的内容可能不正确。">
            <a:extLst>
              <a:ext uri="{FF2B5EF4-FFF2-40B4-BE49-F238E27FC236}">
                <a16:creationId xmlns:a16="http://schemas.microsoft.com/office/drawing/2014/main" id="{0BB0A0D1-3F50-BF5A-77E7-85F3231571B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3220949"/>
            <a:ext cx="4851354" cy="2376088"/>
          </a:xfrm>
          <a:prstGeom prst="rect">
            <a:avLst/>
          </a:prstGeom>
        </p:spPr>
      </p:pic>
      <p:pic>
        <p:nvPicPr>
          <p:cNvPr id="14" name="图片 13" descr="图表, 直方图&#10;&#10;AI 生成的内容可能不正确。">
            <a:extLst>
              <a:ext uri="{FF2B5EF4-FFF2-40B4-BE49-F238E27FC236}">
                <a16:creationId xmlns:a16="http://schemas.microsoft.com/office/drawing/2014/main" id="{4A03BE13-FFD2-8579-199F-F8C024DA473F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4678" y="855723"/>
            <a:ext cx="4771001" cy="2249832"/>
          </a:xfrm>
          <a:prstGeom prst="rect">
            <a:avLst/>
          </a:prstGeom>
        </p:spPr>
      </p:pic>
      <p:pic>
        <p:nvPicPr>
          <p:cNvPr id="20" name="图片 19" descr="图表, 直方图&#10;&#10;AI 生成的内容可能不正确。">
            <a:extLst>
              <a:ext uri="{FF2B5EF4-FFF2-40B4-BE49-F238E27FC236}">
                <a16:creationId xmlns:a16="http://schemas.microsoft.com/office/drawing/2014/main" id="{6618ED9E-2D67-D64D-B8B2-1C5F7094CD90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8706" y="855722"/>
            <a:ext cx="4851354" cy="228873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169343C8-F365-5064-172D-930FAEF4B16D}"/>
              </a:ext>
            </a:extLst>
          </p:cNvPr>
          <p:cNvSpPr/>
          <p:nvPr/>
        </p:nvSpPr>
        <p:spPr>
          <a:xfrm>
            <a:off x="3324225" y="1145568"/>
            <a:ext cx="2400300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836376EC-4275-1808-887D-2DDA0A940906}"/>
              </a:ext>
            </a:extLst>
          </p:cNvPr>
          <p:cNvSpPr/>
          <p:nvPr/>
        </p:nvSpPr>
        <p:spPr>
          <a:xfrm>
            <a:off x="6591301" y="1109611"/>
            <a:ext cx="1078743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1984635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6BB1DE-5BB1-AFE7-9F95-291652BA3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3D3C1C32-F03A-C03C-E6C4-DCF32F4EABFC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6-8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23E533B-CDB8-F9AA-CB91-9AF847B15855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4AD0090B-FBC7-9685-25E4-8F120BE5949C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3280724"/>
            <a:ext cx="4799040" cy="2331931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F4E566F6-3188-007E-EEB6-2606BA9A71E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3283835"/>
            <a:ext cx="4881472" cy="2331932"/>
          </a:xfrm>
          <a:prstGeom prst="rect">
            <a:avLst/>
          </a:prstGeom>
        </p:spPr>
      </p:pic>
      <p:pic>
        <p:nvPicPr>
          <p:cNvPr id="18" name="图片 17" descr="图表, 直方图&#10;&#10;AI 生成的内容可能不正确。">
            <a:extLst>
              <a:ext uri="{FF2B5EF4-FFF2-40B4-BE49-F238E27FC236}">
                <a16:creationId xmlns:a16="http://schemas.microsoft.com/office/drawing/2014/main" id="{6449D908-F72A-E36B-D941-20E65096A92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569" y="854860"/>
            <a:ext cx="4881472" cy="2331932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86798F40-FE8F-7688-5723-62326A540BD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37388" y="854860"/>
            <a:ext cx="4799040" cy="233193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F95491B-0A04-8290-BCD8-A723D476EB3F}"/>
              </a:ext>
            </a:extLst>
          </p:cNvPr>
          <p:cNvSpPr/>
          <p:nvPr/>
        </p:nvSpPr>
        <p:spPr>
          <a:xfrm>
            <a:off x="4032737" y="1145568"/>
            <a:ext cx="165295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EF2D223-B3A3-DAF9-3D08-70F77067A534}"/>
              </a:ext>
            </a:extLst>
          </p:cNvPr>
          <p:cNvSpPr/>
          <p:nvPr/>
        </p:nvSpPr>
        <p:spPr>
          <a:xfrm>
            <a:off x="6591301" y="1109611"/>
            <a:ext cx="1162563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19EB4E02-F18A-4B7E-A9DE-FE3D8D3E3CC6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9.1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6-8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28.5-29.4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12636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78CF25-1712-4DB5-1C83-4358C1A57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9C809286-180F-DC15-04CE-F616CDB8F788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9-11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BDD2EE3-CF3D-A112-7801-89B2CE82BF02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表, 直方图&#10;&#10;AI 生成的内容可能不正确。">
            <a:extLst>
              <a:ext uri="{FF2B5EF4-FFF2-40B4-BE49-F238E27FC236}">
                <a16:creationId xmlns:a16="http://schemas.microsoft.com/office/drawing/2014/main" id="{F459FC2E-953A-12F6-F551-8EE677E2828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3338501"/>
            <a:ext cx="5015671" cy="2315386"/>
          </a:xfrm>
          <a:prstGeom prst="rect">
            <a:avLst/>
          </a:prstGeom>
        </p:spPr>
      </p:pic>
      <p:pic>
        <p:nvPicPr>
          <p:cNvPr id="13" name="图片 12" descr="图表&#10;&#10;AI 生成的内容可能不正确。">
            <a:extLst>
              <a:ext uri="{FF2B5EF4-FFF2-40B4-BE49-F238E27FC236}">
                <a16:creationId xmlns:a16="http://schemas.microsoft.com/office/drawing/2014/main" id="{1C4A220F-7C60-DA0F-FA50-A4D3700C062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7" y="3338501"/>
            <a:ext cx="4700844" cy="2315386"/>
          </a:xfrm>
          <a:prstGeom prst="rect">
            <a:avLst/>
          </a:prstGeom>
        </p:spPr>
      </p:pic>
      <p:pic>
        <p:nvPicPr>
          <p:cNvPr id="20" name="图片 19" descr="图表&#10;&#10;AI 生成的内容可能不正确。">
            <a:extLst>
              <a:ext uri="{FF2B5EF4-FFF2-40B4-BE49-F238E27FC236}">
                <a16:creationId xmlns:a16="http://schemas.microsoft.com/office/drawing/2014/main" id="{3C78D4E3-461C-6EA8-59E9-56A9FEC7A81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754" y="842481"/>
            <a:ext cx="5015671" cy="2389253"/>
          </a:xfrm>
          <a:prstGeom prst="rect">
            <a:avLst/>
          </a:prstGeom>
        </p:spPr>
      </p:pic>
      <p:pic>
        <p:nvPicPr>
          <p:cNvPr id="22" name="图片 21" descr="图表, 折线图&#10;&#10;AI 生成的内容可能不正确。">
            <a:extLst>
              <a:ext uri="{FF2B5EF4-FFF2-40B4-BE49-F238E27FC236}">
                <a16:creationId xmlns:a16="http://schemas.microsoft.com/office/drawing/2014/main" id="{433B0159-32C9-0A33-0144-F79F3901AFF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5956" y="842482"/>
            <a:ext cx="4700843" cy="2378468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9A72A759-118C-1315-27F0-69C78CA14B7E}"/>
              </a:ext>
            </a:extLst>
          </p:cNvPr>
          <p:cNvSpPr/>
          <p:nvPr/>
        </p:nvSpPr>
        <p:spPr>
          <a:xfrm>
            <a:off x="4295775" y="1145567"/>
            <a:ext cx="61912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F32826CA-C22F-645B-4097-B30D537FFA0F}"/>
              </a:ext>
            </a:extLst>
          </p:cNvPr>
          <p:cNvSpPr/>
          <p:nvPr/>
        </p:nvSpPr>
        <p:spPr>
          <a:xfrm>
            <a:off x="8315325" y="1109611"/>
            <a:ext cx="276225" cy="4329599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31C514A-B74B-4A09-DF5C-1DD3F4B59D1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11.4-14.3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9-11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28.6-28.8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9336944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10F99-E7C2-BD4A-578F-8BD3711A6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C1B214BD-DB28-1F9C-0829-CE7DCAF8B1D4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12-14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8ACBF54-9B9A-DCBA-A964-3188863E8116}"/>
              </a:ext>
            </a:extLst>
          </p:cNvPr>
          <p:cNvSpPr/>
          <p:nvPr/>
        </p:nvSpPr>
        <p:spPr>
          <a:xfrm>
            <a:off x="1194220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D9BC6492-91BB-26AC-136F-D598E7532A2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4" y="3248024"/>
            <a:ext cx="4625574" cy="2381250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C8859644-B575-9AC6-7E88-E70598D35DC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3248026"/>
            <a:ext cx="4985314" cy="2381250"/>
          </a:xfrm>
          <a:prstGeom prst="rect">
            <a:avLst/>
          </a:prstGeom>
        </p:spPr>
      </p:pic>
      <p:pic>
        <p:nvPicPr>
          <p:cNvPr id="13" name="图片 12" descr="图表, 直方图&#10;&#10;AI 生成的内容可能不正确。">
            <a:extLst>
              <a:ext uri="{FF2B5EF4-FFF2-40B4-BE49-F238E27FC236}">
                <a16:creationId xmlns:a16="http://schemas.microsoft.com/office/drawing/2014/main" id="{B6F83489-AD10-74F2-84F2-B5DD115936D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0356" y="800043"/>
            <a:ext cx="4985314" cy="2381250"/>
          </a:xfrm>
          <a:prstGeom prst="rect">
            <a:avLst/>
          </a:prstGeom>
        </p:spPr>
      </p:pic>
      <p:pic>
        <p:nvPicPr>
          <p:cNvPr id="19" name="图片 18" descr="图表, 折线图&#10;&#10;AI 生成的内容可能不正确。">
            <a:extLst>
              <a:ext uri="{FF2B5EF4-FFF2-40B4-BE49-F238E27FC236}">
                <a16:creationId xmlns:a16="http://schemas.microsoft.com/office/drawing/2014/main" id="{3DA5F72D-AC6B-BDB4-2158-32FB438318ED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6804" y="800043"/>
            <a:ext cx="4625574" cy="2371485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D460334F-DA87-65AA-6307-CC20BC93E263}"/>
              </a:ext>
            </a:extLst>
          </p:cNvPr>
          <p:cNvSpPr/>
          <p:nvPr/>
        </p:nvSpPr>
        <p:spPr>
          <a:xfrm>
            <a:off x="5067299" y="1145568"/>
            <a:ext cx="65722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91A20913-3A63-E93C-024E-7A2290035652}"/>
              </a:ext>
            </a:extLst>
          </p:cNvPr>
          <p:cNvSpPr/>
          <p:nvPr/>
        </p:nvSpPr>
        <p:spPr>
          <a:xfrm>
            <a:off x="6591301" y="1109611"/>
            <a:ext cx="857249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99D5648-D856-BF60-C896-7B90ABBADBF0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14.4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12-14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25.8-26.4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2120259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9369A2-239A-3C50-FB46-68DE11B37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0B8CC7B-64F3-B6FE-B789-115DB01FB767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15-17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C05899D-C930-C8BF-F03E-F1D92B3B10C7}"/>
              </a:ext>
            </a:extLst>
          </p:cNvPr>
          <p:cNvSpPr/>
          <p:nvPr/>
        </p:nvSpPr>
        <p:spPr>
          <a:xfrm>
            <a:off x="1159222" y="738291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表, 折线图&#10;&#10;AI 生成的内容可能不正确。">
            <a:extLst>
              <a:ext uri="{FF2B5EF4-FFF2-40B4-BE49-F238E27FC236}">
                <a16:creationId xmlns:a16="http://schemas.microsoft.com/office/drawing/2014/main" id="{07B9596C-ED98-9283-C7C9-A6551159D5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3314700"/>
            <a:ext cx="4720588" cy="2294928"/>
          </a:xfrm>
          <a:prstGeom prst="rect">
            <a:avLst/>
          </a:prstGeom>
        </p:spPr>
      </p:pic>
      <p:pic>
        <p:nvPicPr>
          <p:cNvPr id="17" name="图片 16" descr="图表, 折线图&#10;&#10;AI 生成的内容可能不正确。">
            <a:extLst>
              <a:ext uri="{FF2B5EF4-FFF2-40B4-BE49-F238E27FC236}">
                <a16:creationId xmlns:a16="http://schemas.microsoft.com/office/drawing/2014/main" id="{29E54CAE-1F15-C30B-CA08-32604F34516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7" y="896765"/>
            <a:ext cx="4852750" cy="231457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1D6A7F71-69A3-66C7-3D06-E375D85B158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610" y="896765"/>
            <a:ext cx="4720588" cy="2314575"/>
          </a:xfrm>
          <a:prstGeom prst="rect">
            <a:avLst/>
          </a:prstGeom>
        </p:spPr>
      </p:pic>
      <p:sp>
        <p:nvSpPr>
          <p:cNvPr id="22" name="矩形 21">
            <a:extLst>
              <a:ext uri="{FF2B5EF4-FFF2-40B4-BE49-F238E27FC236}">
                <a16:creationId xmlns:a16="http://schemas.microsoft.com/office/drawing/2014/main" id="{ECAA3E80-CC5E-8842-FABE-7AB54D2AB45C}"/>
              </a:ext>
            </a:extLst>
          </p:cNvPr>
          <p:cNvSpPr/>
          <p:nvPr/>
        </p:nvSpPr>
        <p:spPr>
          <a:xfrm>
            <a:off x="8905875" y="1109611"/>
            <a:ext cx="1743075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pic>
        <p:nvPicPr>
          <p:cNvPr id="25" name="图片 24" descr="图表&#10;&#10;AI 生成的内容可能不正确。">
            <a:extLst>
              <a:ext uri="{FF2B5EF4-FFF2-40B4-BE49-F238E27FC236}">
                <a16:creationId xmlns:a16="http://schemas.microsoft.com/office/drawing/2014/main" id="{4D95D73C-268A-62B2-6D7E-D651FF529E7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4938" y="3336637"/>
            <a:ext cx="4852750" cy="2228434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BF338709-0EDE-1D7B-4F10-6C24584D3F58}"/>
              </a:ext>
            </a:extLst>
          </p:cNvPr>
          <p:cNvSpPr/>
          <p:nvPr/>
        </p:nvSpPr>
        <p:spPr>
          <a:xfrm>
            <a:off x="3700849" y="1145568"/>
            <a:ext cx="202367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203EC229-D214-4C21-774E-D565FB52ABA3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8.6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15-17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27.1-27.8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9734282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449D45-0E50-8670-9483-17612E6C28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5F0F9757-287F-AE43-7B49-F341217A521F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18-20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B46B97-64EC-5C78-0041-9B9429F1652D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6" name="图片 5" descr="图表, 折线图&#10;&#10;AI 生成的内容可能不正确。">
            <a:extLst>
              <a:ext uri="{FF2B5EF4-FFF2-40B4-BE49-F238E27FC236}">
                <a16:creationId xmlns:a16="http://schemas.microsoft.com/office/drawing/2014/main" id="{1496A527-BC91-2273-D0B9-27C22A626A9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89" y="3220947"/>
            <a:ext cx="4596586" cy="2350164"/>
          </a:xfrm>
          <a:prstGeom prst="rect">
            <a:avLst/>
          </a:prstGeom>
        </p:spPr>
      </p:pic>
      <p:pic>
        <p:nvPicPr>
          <p:cNvPr id="10" name="图片 9" descr="图表&#10;&#10;AI 生成的内容可能不正确。">
            <a:extLst>
              <a:ext uri="{FF2B5EF4-FFF2-40B4-BE49-F238E27FC236}">
                <a16:creationId xmlns:a16="http://schemas.microsoft.com/office/drawing/2014/main" id="{E868D7A3-244C-8ABA-C8F8-EE71ABFCFDB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0" y="3220948"/>
            <a:ext cx="5065531" cy="2350163"/>
          </a:xfrm>
          <a:prstGeom prst="rect">
            <a:avLst/>
          </a:prstGeom>
        </p:spPr>
      </p:pic>
      <p:pic>
        <p:nvPicPr>
          <p:cNvPr id="12" name="图片 11" descr="图表, 折线图&#10;&#10;AI 生成的内容可能不正确。">
            <a:extLst>
              <a:ext uri="{FF2B5EF4-FFF2-40B4-BE49-F238E27FC236}">
                <a16:creationId xmlns:a16="http://schemas.microsoft.com/office/drawing/2014/main" id="{B2AB97E9-A9AB-F731-CF31-3D2B7408C78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90" y="800125"/>
            <a:ext cx="5065531" cy="2350164"/>
          </a:xfrm>
          <a:prstGeom prst="rect">
            <a:avLst/>
          </a:prstGeom>
        </p:spPr>
      </p:pic>
      <p:pic>
        <p:nvPicPr>
          <p:cNvPr id="15" name="图片 14" descr="图表, 直方图&#10;&#10;AI 生成的内容可能不正确。">
            <a:extLst>
              <a:ext uri="{FF2B5EF4-FFF2-40B4-BE49-F238E27FC236}">
                <a16:creationId xmlns:a16="http://schemas.microsoft.com/office/drawing/2014/main" id="{37B4F400-25E6-9CBA-85A9-FE2CCB079A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9089" y="800126"/>
            <a:ext cx="4596586" cy="2350164"/>
          </a:xfrm>
          <a:prstGeom prst="rect">
            <a:avLst/>
          </a:prstGeom>
        </p:spPr>
      </p:pic>
      <p:sp>
        <p:nvSpPr>
          <p:cNvPr id="17" name="矩形 16">
            <a:extLst>
              <a:ext uri="{FF2B5EF4-FFF2-40B4-BE49-F238E27FC236}">
                <a16:creationId xmlns:a16="http://schemas.microsoft.com/office/drawing/2014/main" id="{F37F0C45-DDFA-B6C1-2DCE-928851334A88}"/>
              </a:ext>
            </a:extLst>
          </p:cNvPr>
          <p:cNvSpPr/>
          <p:nvPr/>
        </p:nvSpPr>
        <p:spPr>
          <a:xfrm>
            <a:off x="3514725" y="1145568"/>
            <a:ext cx="2266950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3C564EB8-FFCD-2D62-F926-FD828DFEF61D}"/>
              </a:ext>
            </a:extLst>
          </p:cNvPr>
          <p:cNvSpPr/>
          <p:nvPr/>
        </p:nvSpPr>
        <p:spPr>
          <a:xfrm>
            <a:off x="8801100" y="1109611"/>
            <a:ext cx="781050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EA55A6-3B07-BAFB-8B8D-880BDECBC15A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高于</a:t>
            </a:r>
            <a:r>
              <a:rPr lang="en-US" altLang="zh-CN" sz="1400" b="1" dirty="0">
                <a:solidFill>
                  <a:schemeClr val="tx1"/>
                </a:solidFill>
              </a:rPr>
              <a:t>9.8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18-20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26.2-26.9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0878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54C13-7DB0-1BEB-D4AB-681B7B2CF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4FF4D184-0B48-F6AA-E1BD-C6E780DFCB6E}"/>
              </a:ext>
            </a:extLst>
          </p:cNvPr>
          <p:cNvSpPr/>
          <p:nvPr/>
        </p:nvSpPr>
        <p:spPr>
          <a:xfrm>
            <a:off x="0" y="0"/>
            <a:ext cx="8067675" cy="576475"/>
          </a:xfrm>
          <a:prstGeom prst="homePlat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春季，</a:t>
            </a:r>
            <a:r>
              <a:rPr lang="en-US" altLang="zh-CN" sz="2000" dirty="0">
                <a:latin typeface="等线" panose="02010600030101010101" pitchFamily="2" charset="-122"/>
                <a:ea typeface="等线" panose="02010600030101010101" pitchFamily="2" charset="-122"/>
              </a:rPr>
              <a:t>21-23</a:t>
            </a:r>
            <a:r>
              <a:rPr lang="zh-CN" altLang="en-US" sz="2000" dirty="0">
                <a:latin typeface="等线" panose="02010600030101010101" pitchFamily="2" charset="-122"/>
                <a:ea typeface="等线" panose="02010600030101010101" pitchFamily="2" charset="-122"/>
              </a:rPr>
              <a:t>天外部温度和鸡舍温度分析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7C2A2FA5-2429-35C3-1776-CF091584CABF}"/>
              </a:ext>
            </a:extLst>
          </p:cNvPr>
          <p:cNvSpPr/>
          <p:nvPr/>
        </p:nvSpPr>
        <p:spPr>
          <a:xfrm>
            <a:off x="1159222" y="729466"/>
            <a:ext cx="10162899" cy="4982966"/>
          </a:xfrm>
          <a:prstGeom prst="rect">
            <a:avLst/>
          </a:prstGeom>
          <a:pattFill prst="ltDnDiag">
            <a:fgClr>
              <a:schemeClr val="bg2">
                <a:lumMod val="20000"/>
                <a:lumOff val="8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表&#10;&#10;AI 生成的内容可能不正确。">
            <a:extLst>
              <a:ext uri="{FF2B5EF4-FFF2-40B4-BE49-F238E27FC236}">
                <a16:creationId xmlns:a16="http://schemas.microsoft.com/office/drawing/2014/main" id="{DD639B0F-59AD-9914-1F06-DFCE387986F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3153901"/>
            <a:ext cx="4993645" cy="2440085"/>
          </a:xfrm>
          <a:prstGeom prst="rect">
            <a:avLst/>
          </a:prstGeom>
        </p:spPr>
      </p:pic>
      <p:pic>
        <p:nvPicPr>
          <p:cNvPr id="16" name="图片 15" descr="图表&#10;&#10;AI 生成的内容可能不正确。">
            <a:extLst>
              <a:ext uri="{FF2B5EF4-FFF2-40B4-BE49-F238E27FC236}">
                <a16:creationId xmlns:a16="http://schemas.microsoft.com/office/drawing/2014/main" id="{E2B01506-41B1-C49A-1184-DA399354EB0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3153900"/>
            <a:ext cx="4698756" cy="2440085"/>
          </a:xfrm>
          <a:prstGeom prst="rect">
            <a:avLst/>
          </a:prstGeom>
        </p:spPr>
      </p:pic>
      <p:pic>
        <p:nvPicPr>
          <p:cNvPr id="20" name="图片 19" descr="图表, 折线图&#10;&#10;AI 生成的内容可能不正确。">
            <a:extLst>
              <a:ext uri="{FF2B5EF4-FFF2-40B4-BE49-F238E27FC236}">
                <a16:creationId xmlns:a16="http://schemas.microsoft.com/office/drawing/2014/main" id="{84931936-0C5B-9988-116A-59208CEBC08B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0151" y="845950"/>
            <a:ext cx="4993644" cy="2220670"/>
          </a:xfrm>
          <a:prstGeom prst="rect">
            <a:avLst/>
          </a:prstGeom>
        </p:spPr>
      </p:pic>
      <p:pic>
        <p:nvPicPr>
          <p:cNvPr id="22" name="图片 21" descr="图表, 直方图&#10;&#10;AI 生成的内容可能不正确。">
            <a:extLst>
              <a:ext uri="{FF2B5EF4-FFF2-40B4-BE49-F238E27FC236}">
                <a16:creationId xmlns:a16="http://schemas.microsoft.com/office/drawing/2014/main" id="{A7D43E62-0C89-04AA-ED11-3C067F16FB9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7298" y="845950"/>
            <a:ext cx="4698756" cy="2220670"/>
          </a:xfrm>
          <a:prstGeom prst="rect">
            <a:avLst/>
          </a:prstGeom>
        </p:spPr>
      </p:pic>
      <p:sp>
        <p:nvSpPr>
          <p:cNvPr id="23" name="矩形 22">
            <a:extLst>
              <a:ext uri="{FF2B5EF4-FFF2-40B4-BE49-F238E27FC236}">
                <a16:creationId xmlns:a16="http://schemas.microsoft.com/office/drawing/2014/main" id="{0BC90D1D-2968-57D8-1FC1-4967988B7E71}"/>
              </a:ext>
            </a:extLst>
          </p:cNvPr>
          <p:cNvSpPr/>
          <p:nvPr/>
        </p:nvSpPr>
        <p:spPr>
          <a:xfrm>
            <a:off x="3276600" y="1145568"/>
            <a:ext cx="1343025" cy="4257686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BC795DE-6EDD-6825-88C6-DCB2523BA1FD}"/>
              </a:ext>
            </a:extLst>
          </p:cNvPr>
          <p:cNvSpPr/>
          <p:nvPr/>
        </p:nvSpPr>
        <p:spPr>
          <a:xfrm>
            <a:off x="9205472" y="1109611"/>
            <a:ext cx="1406178" cy="4293643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008000"/>
              </a:highlight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B82FD51-8644-6CDD-6CF0-B2AADB1DEB12}"/>
              </a:ext>
            </a:extLst>
          </p:cNvPr>
          <p:cNvSpPr/>
          <p:nvPr/>
        </p:nvSpPr>
        <p:spPr>
          <a:xfrm>
            <a:off x="1159222" y="5886994"/>
            <a:ext cx="10162899" cy="729466"/>
          </a:xfrm>
          <a:prstGeom prst="rect">
            <a:avLst/>
          </a:prstGeom>
          <a:pattFill prst="ltDnDiag">
            <a:fgClr>
              <a:schemeClr val="accent3"/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根据上图可以看出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</a:t>
            </a:r>
            <a:r>
              <a:rPr lang="zh-CN" altLang="en-US" sz="1400" b="1" dirty="0">
                <a:solidFill>
                  <a:schemeClr val="tx1"/>
                </a:solidFill>
              </a:rPr>
              <a:t>处于</a:t>
            </a:r>
            <a:r>
              <a:rPr lang="en-US" altLang="zh-CN" sz="1400" b="1" dirty="0">
                <a:solidFill>
                  <a:schemeClr val="tx1"/>
                </a:solidFill>
              </a:rPr>
              <a:t>9.2-13.8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时，春季样本同时有</a:t>
            </a:r>
            <a:r>
              <a:rPr lang="zh-CN" altLang="en-US" sz="1400" b="1" dirty="0">
                <a:solidFill>
                  <a:schemeClr val="tx1"/>
                </a:solidFill>
              </a:rPr>
              <a:t>较低的死淘率和较高的</a:t>
            </a:r>
            <a:r>
              <a:rPr lang="en-US" altLang="zh-CN" sz="1400" b="1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zh-CN" altLang="en-US" sz="1400" dirty="0">
                <a:solidFill>
                  <a:schemeClr val="tx1"/>
                </a:solidFill>
              </a:rPr>
              <a:t>若</a:t>
            </a:r>
            <a:r>
              <a:rPr lang="en-US" altLang="zh-CN" sz="1400" dirty="0">
                <a:solidFill>
                  <a:schemeClr val="tx1"/>
                </a:solidFill>
              </a:rPr>
              <a:t>21-23</a:t>
            </a:r>
            <a:r>
              <a:rPr lang="zh-CN" altLang="en-US" sz="1400" dirty="0">
                <a:solidFill>
                  <a:schemeClr val="tx1"/>
                </a:solidFill>
              </a:rPr>
              <a:t>日龄外部温度不在上述区间内，可将鸡舍内部平均温度控制在</a:t>
            </a:r>
            <a:r>
              <a:rPr lang="en-US" altLang="zh-CN" sz="1400" b="1" dirty="0">
                <a:solidFill>
                  <a:schemeClr val="tx1"/>
                </a:solidFill>
              </a:rPr>
              <a:t>26.4-27.6</a:t>
            </a:r>
            <a:r>
              <a:rPr lang="zh-CN" altLang="en-US" sz="1400" b="1" dirty="0">
                <a:solidFill>
                  <a:schemeClr val="tx1"/>
                </a:solidFill>
              </a:rPr>
              <a:t>度</a:t>
            </a:r>
            <a:r>
              <a:rPr lang="zh-CN" altLang="en-US" sz="1400" dirty="0">
                <a:solidFill>
                  <a:schemeClr val="tx1"/>
                </a:solidFill>
              </a:rPr>
              <a:t>，依旧可保持较低的死淘和较高的</a:t>
            </a:r>
            <a:r>
              <a:rPr lang="en-US" altLang="zh-CN" sz="1400" dirty="0">
                <a:solidFill>
                  <a:schemeClr val="tx1"/>
                </a:solidFill>
              </a:rPr>
              <a:t>EEF</a:t>
            </a:r>
            <a:r>
              <a:rPr lang="zh-CN" altLang="en-US" sz="1400" dirty="0">
                <a:solidFill>
                  <a:schemeClr val="tx1"/>
                </a:solidFill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797727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E1759-B493-67DE-1F9E-D3F539CEB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7F18B6-B26F-09DF-E000-A7BF0AD0D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226" y="957768"/>
            <a:ext cx="8082481" cy="861774"/>
          </a:xfrm>
        </p:spPr>
        <p:txBody>
          <a:bodyPr/>
          <a:lstStyle/>
          <a:p>
            <a:r>
              <a:rPr lang="zh-CN" altLang="en-US" sz="4400" dirty="0">
                <a:latin typeface="等线" panose="02010600030101010101" pitchFamily="2" charset="-122"/>
                <a:ea typeface="等线" panose="02010600030101010101" pitchFamily="2" charset="-122"/>
              </a:rPr>
              <a:t>下周计划</a:t>
            </a:r>
            <a:endParaRPr lang="en-US" sz="4400" dirty="0">
              <a:latin typeface="等线" panose="02010600030101010101" pitchFamily="2" charset="-122"/>
              <a:ea typeface="等线" panose="02010600030101010101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2344FB5-5D1A-25EB-41D1-35CC3CFE31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69212" y="2246743"/>
            <a:ext cx="9192622" cy="2088951"/>
          </a:xfrm>
        </p:spPr>
        <p:txBody>
          <a:bodyPr/>
          <a:lstStyle/>
          <a:p>
            <a:pPr marL="457200" indent="-457200">
              <a:buClr>
                <a:schemeClr val="bg1"/>
              </a:buClr>
              <a:buFont typeface="Wingdings" panose="05000000000000000000" pitchFamily="2" charset="2"/>
              <a:buChar char="l"/>
            </a:pP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1994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DESIGN_ID_1_2020-TEMPLATE-EXTERNAL" val="pdtUH84H"/>
  <p:tag name="ARTICULATE_DESIGN_ID_SAS-EXTERNAL-16X9-2023" val="CJxW6PTk"/>
  <p:tag name="ARTICULATE_DESIGN_ID_1_NDA" val="5KPCLKMf"/>
  <p:tag name="ARTICULATE_DESIGN_ID_1_SAS-EXTERNAL-16X9-2023" val="OvZPFYIY"/>
  <p:tag name="ARTICULATE_DESIGN_ID_SAS - EXTERNAL - 16X9 - 2023" val="iju6vBOG"/>
  <p:tag name="ARTICULATE_DESIGN_ID_SAS - EXTERNAL" val="IZ9bNYet"/>
  <p:tag name="ARTICULATE_DESIGN_ID_SAS - EXTERNAL - NDA" val="RR4fBfJW"/>
  <p:tag name="ARTICULATE_SLIDE_THUMBNAIL_REFRESH" val="1"/>
  <p:tag name="ARTICULATE_DESIGN_ID_CUSTOM DESIGN" val="WASRYxhz"/>
  <p:tag name="ARTICULATE_SLIDE_COUNT" val="11"/>
  <p:tag name="ARTICULATE_PROJECT_OPEN" val="0"/>
  <p:tag name="COMMONDATA" val="eyJoZGlkIjoiY2FmNGJlNDAzN2U1NmMyNzMzZTc0YjA1YWNhMzZlNTE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SAS - EXTERNAL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AS - EXTERNAL - NDA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dirty="0" smtClean="0">
            <a:solidFill>
              <a:schemeClr val="tx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SAS-2023">
      <a:dk1>
        <a:srgbClr val="000000"/>
      </a:dk1>
      <a:lt1>
        <a:srgbClr val="FFFFFF"/>
      </a:lt1>
      <a:dk2>
        <a:srgbClr val="032954"/>
      </a:dk2>
      <a:lt2>
        <a:srgbClr val="0766D1"/>
      </a:lt2>
      <a:accent1>
        <a:srgbClr val="0766D1"/>
      </a:accent1>
      <a:accent2>
        <a:srgbClr val="4398F9"/>
      </a:accent2>
      <a:accent3>
        <a:srgbClr val="C4DEFD"/>
      </a:accent3>
      <a:accent4>
        <a:srgbClr val="032954"/>
      </a:accent4>
      <a:accent5>
        <a:srgbClr val="7E889A"/>
      </a:accent5>
      <a:accent6>
        <a:srgbClr val="BAC0C9"/>
      </a:accent6>
      <a:hlink>
        <a:srgbClr val="4398F9"/>
      </a:hlink>
      <a:folHlink>
        <a:srgbClr val="C4DEFD"/>
      </a:folHlink>
    </a:clrScheme>
    <a:fontScheme name="Anova">
      <a:majorFont>
        <a:latin typeface="Anova Bold"/>
        <a:ea typeface=""/>
        <a:cs typeface=""/>
      </a:majorFont>
      <a:minorFont>
        <a:latin typeface="A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252B48C136D414EB12EC6609A2B4A69" ma:contentTypeVersion="5" ma:contentTypeDescription="Create a new document." ma:contentTypeScope="" ma:versionID="c506d0840867f1adddbc926f9a8dfc6f">
  <xsd:schema xmlns:xsd="http://www.w3.org/2001/XMLSchema" xmlns:xs="http://www.w3.org/2001/XMLSchema" xmlns:p="http://schemas.microsoft.com/office/2006/metadata/properties" xmlns:ns2="d21cdafc-5a3a-425e-9674-4fb06b514c0e" xmlns:ns3="6e647c50-2143-4825-9865-d236e7692e65" targetNamespace="http://schemas.microsoft.com/office/2006/metadata/properties" ma:root="true" ma:fieldsID="0df08590ed69fcf4c72a3fc3581b1869" ns2:_="" ns3:_="">
    <xsd:import namespace="d21cdafc-5a3a-425e-9674-4fb06b514c0e"/>
    <xsd:import namespace="6e647c50-2143-4825-9865-d236e7692e6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21cdafc-5a3a-425e-9674-4fb06b514c0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647c50-2143-4825-9865-d236e7692e65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3E925E4-5239-4639-A029-07B3CFD6A3F1}">
  <ds:schemaRefs/>
</ds:datastoreItem>
</file>

<file path=customXml/itemProps2.xml><?xml version="1.0" encoding="utf-8"?>
<ds:datastoreItem xmlns:ds="http://schemas.openxmlformats.org/officeDocument/2006/customXml" ds:itemID="{E2663518-7548-4643-8219-608BFF0DFA0C}">
  <ds:schemaRefs/>
</ds:datastoreItem>
</file>

<file path=customXml/itemProps3.xml><?xml version="1.0" encoding="utf-8"?>
<ds:datastoreItem xmlns:ds="http://schemas.openxmlformats.org/officeDocument/2006/customXml" ds:itemID="{51779852-367B-483D-8C46-CF2C7DC5D261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EXTERNAL_Template_2023</Template>
  <TotalTime>7455</TotalTime>
  <Words>6979</Words>
  <Application>Microsoft Office PowerPoint</Application>
  <PresentationFormat>宽屏</PresentationFormat>
  <Paragraphs>700</Paragraphs>
  <Slides>74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74</vt:i4>
      </vt:variant>
    </vt:vector>
  </HeadingPairs>
  <TitlesOfParts>
    <vt:vector size="88" baseType="lpstr">
      <vt:lpstr>Anova Bold</vt:lpstr>
      <vt:lpstr>Anova Light</vt:lpstr>
      <vt:lpstr>DeepSeek-CJK-patch</vt:lpstr>
      <vt:lpstr>Inter</vt:lpstr>
      <vt:lpstr>quote-cjk-patch</vt:lpstr>
      <vt:lpstr>等线</vt:lpstr>
      <vt:lpstr>等线</vt:lpstr>
      <vt:lpstr>等线 Light</vt:lpstr>
      <vt:lpstr>Arial</vt:lpstr>
      <vt:lpstr>Calibri</vt:lpstr>
      <vt:lpstr>Wingdings</vt:lpstr>
      <vt:lpstr>Wingdings 2</vt:lpstr>
      <vt:lpstr>SAS - EXTERNAL</vt:lpstr>
      <vt:lpstr>SAS - EXTERNAL - NDA</vt:lpstr>
      <vt:lpstr>数智驱动的肉鸡养殖根因分析实施方案  第五周成果汇报</vt:lpstr>
      <vt:lpstr>PowerPoint 演示文稿</vt:lpstr>
      <vt:lpstr>目录</vt:lpstr>
      <vt:lpstr>Transformer With Fixed Token 模型简介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冬天-死淘-模型效果</vt:lpstr>
      <vt:lpstr>冬天-死淘- Grad-CAM 图</vt:lpstr>
      <vt:lpstr>冬天-死淘- Shap</vt:lpstr>
      <vt:lpstr>冬天-EEF-模型效果</vt:lpstr>
      <vt:lpstr>冬天-EEF- Grad-CAM 图</vt:lpstr>
      <vt:lpstr>冬天-EEF- Shap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秋天-死淘-模型效果</vt:lpstr>
      <vt:lpstr>秋天-死淘- Grad-CAM 图</vt:lpstr>
      <vt:lpstr>秋天-死淘- Shap</vt:lpstr>
      <vt:lpstr>秋天-EEF-模型效果</vt:lpstr>
      <vt:lpstr>秋天-EEF- Grad-CAM 图</vt:lpstr>
      <vt:lpstr>秋天-EEF- Shap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夏天-死淘-模型效果</vt:lpstr>
      <vt:lpstr>夏天-死淘- Grad-CAM 图</vt:lpstr>
      <vt:lpstr>夏天-死淘- Shap</vt:lpstr>
      <vt:lpstr>夏天-EEF-模型效果</vt:lpstr>
      <vt:lpstr>夏天-EEF- Grad-CAM 图</vt:lpstr>
      <vt:lpstr>夏天-EEF- Shap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春天-死淘-模型效果</vt:lpstr>
      <vt:lpstr>春天-死淘- Grad-CAM 图</vt:lpstr>
      <vt:lpstr>春天-死淘- Shap</vt:lpstr>
      <vt:lpstr>春天-EEF-模型效果</vt:lpstr>
      <vt:lpstr>春天-EEF- Grad-CAM 图</vt:lpstr>
      <vt:lpstr>春天-EEF- Shap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下周计划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Plus Solution assist Value</dc:title>
  <dc:creator>Alex Zhang</dc:creator>
  <cp:lastModifiedBy>渊琰 肖</cp:lastModifiedBy>
  <cp:revision>247</cp:revision>
  <dcterms:created xsi:type="dcterms:W3CDTF">2023-10-08T03:09:00Z</dcterms:created>
  <dcterms:modified xsi:type="dcterms:W3CDTF">2025-06-05T11:00:40Z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rticulateGUID">
    <vt:lpwstr>451006F2-8E20-4D4E-B05C-4B5D02827FD6</vt:lpwstr>
  </property>
  <property fmtid="{D5CDD505-2E9C-101B-9397-08002B2CF9AE}" pid="3" name="ArticulatePath">
    <vt:lpwstr>2020-Template-External</vt:lpwstr>
  </property>
  <property fmtid="{D5CDD505-2E9C-101B-9397-08002B2CF9AE}" pid="4" name="ContentTypeId">
    <vt:lpwstr>0x0101008252B48C136D414EB12EC6609A2B4A69</vt:lpwstr>
  </property>
  <property fmtid="{D5CDD505-2E9C-101B-9397-08002B2CF9AE}" pid="5" name="ICV">
    <vt:lpwstr>5DA87FED2261458DA9A831FC15E03DC4_13</vt:lpwstr>
  </property>
  <property fmtid="{D5CDD505-2E9C-101B-9397-08002B2CF9AE}" pid="6" name="KSOProductBuildVer">
    <vt:lpwstr>2052-12.1.0.20784</vt:lpwstr>
  </property>
</Properties>
</file>