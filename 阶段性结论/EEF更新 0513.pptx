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  <p:sldMasterId id="2147483660" r:id="rId5"/>
  </p:sldMasterIdLst>
  <p:notesMasterIdLst>
    <p:notesMasterId r:id="rId16"/>
  </p:notesMasterIdLst>
  <p:handoutMasterIdLst>
    <p:handoutMasterId r:id="rId17"/>
  </p:handoutMasterIdLst>
  <p:sldIdLst>
    <p:sldId id="16771194" r:id="rId6"/>
    <p:sldId id="2147477478" r:id="rId7"/>
    <p:sldId id="2147477475" r:id="rId8"/>
    <p:sldId id="2147477476" r:id="rId9"/>
    <p:sldId id="2147477477" r:id="rId10"/>
    <p:sldId id="2147477471" r:id="rId11"/>
    <p:sldId id="2147477472" r:id="rId12"/>
    <p:sldId id="2147477473" r:id="rId13"/>
    <p:sldId id="2147477445" r:id="rId14"/>
    <p:sldId id="2147477474" r:id="rId15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5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165" algn="l" defTabSz="6096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9C3829F-2C56-4915-AA34-5F93EE359221}">
          <p14:sldIdLst>
            <p14:sldId id="16771194"/>
          </p14:sldIdLst>
        </p14:section>
        <p14:section name="数据" id="{2FECDC8B-DE91-4323-AA2B-D801C56C963D}">
          <p14:sldIdLst/>
        </p14:section>
        <p14:section name="死淘" id="{132B593A-E1D9-4DD8-8D75-8389B5773F71}">
          <p14:sldIdLst/>
        </p14:section>
        <p14:section name="eef" id="{0CBA3FCE-B567-4F49-936C-7A69C0064915}">
          <p14:sldIdLst>
            <p14:sldId id="2147477478"/>
            <p14:sldId id="2147477475"/>
            <p14:sldId id="2147477476"/>
            <p14:sldId id="2147477477"/>
            <p14:sldId id="2147477471"/>
            <p14:sldId id="2147477472"/>
            <p14:sldId id="2147477473"/>
            <p14:sldId id="2147477445"/>
            <p14:sldId id="2147477474"/>
          </p14:sldIdLst>
        </p14:section>
        <p14:section name="下周计划" id="{AAB4484A-A58E-4FF9-9CE2-A3928016DD3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03" userDrawn="1">
          <p15:clr>
            <a:srgbClr val="A4A3A4"/>
          </p15:clr>
        </p15:guide>
        <p15:guide id="2" pos="254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FFFFF"/>
    <a:srgbClr val="F1F2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76" autoAdjust="0"/>
    <p:restoredTop sz="93438" autoAdjust="0"/>
  </p:normalViewPr>
  <p:slideViewPr>
    <p:cSldViewPr snapToGrid="0" showGuides="1">
      <p:cViewPr varScale="1">
        <p:scale>
          <a:sx n="81" d="100"/>
          <a:sy n="81" d="100"/>
        </p:scale>
        <p:origin x="634" y="68"/>
      </p:cViewPr>
      <p:guideLst>
        <p:guide orient="horz" pos="2103"/>
        <p:guide pos="254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134" y="8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CE34E3-7E5C-436A-9E6D-2FFC8FFCFCBF}" type="datetimeFigureOut">
              <a:rPr lang="en-US" smtClean="0">
                <a:latin typeface="Anova Light" panose="020B0403020203020204" pitchFamily="34" charset="0"/>
              </a:rPr>
              <a:t>5/12/2025</a:t>
            </a:fld>
            <a:endParaRPr lang="en-US" dirty="0">
              <a:latin typeface="Anova Light" panose="020B0403020203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0" y="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l"/>
            <a:fld id="{C4EF46A2-9381-4C51-8277-3C7F2938E9F9}" type="slidenum">
              <a:rPr lang="en-US" smtClean="0">
                <a:latin typeface="Anova Light" panose="020B0403020203020204" pitchFamily="34" charset="0"/>
              </a:rPr>
              <a:t>‹#›</a:t>
            </a:fld>
            <a:endParaRPr lang="en-US" dirty="0">
              <a:latin typeface="Anova Light" panose="020B04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solidFill>
                  <a:schemeClr val="tx1"/>
                </a:solidFill>
                <a:latin typeface="Anova Light" panose="020B0403020203020204" pitchFamily="34" charset="0"/>
              </a:defRPr>
            </a:lvl1pPr>
          </a:lstStyle>
          <a:p>
            <a:fld id="{D46682E9-A1D3-F04F-A14F-ABAA4D2618F2}" type="datetimeFigureOut">
              <a:rPr lang="en-US" smtClean="0"/>
              <a:t>5/12/2025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685800" y="8879554"/>
            <a:ext cx="2514600" cy="169277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27432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00" b="0" i="0" u="none" strike="noStrike" kern="300" cap="none" spc="50" normalizeH="0" baseline="0" noProof="0" dirty="0">
                <a:ln>
                  <a:noFill/>
                </a:ln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5"/>
          </p:nvPr>
        </p:nvSpPr>
        <p:spPr>
          <a:xfrm>
            <a:off x="0" y="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solidFill>
                  <a:schemeClr val="tx1"/>
                </a:solidFill>
                <a:latin typeface="Anova Light" panose="020B0403020203020204" pitchFamily="34" charset="0"/>
              </a:defRPr>
            </a:lvl1pPr>
          </a:lstStyle>
          <a:p>
            <a:pPr algn="l"/>
            <a:fld id="{C4EF46A2-9381-4C51-8277-3C7F2938E9F9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2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5992336" y="8788172"/>
            <a:ext cx="627951" cy="260659"/>
          </a:xfrm>
          <a:prstGeom prst="rect">
            <a:avLst/>
          </a:prstGeom>
        </p:spPr>
      </p:pic>
      <p:sp>
        <p:nvSpPr>
          <p:cNvPr id="6" name="TextBox 2"/>
          <p:cNvSpPr txBox="1"/>
          <p:nvPr/>
        </p:nvSpPr>
        <p:spPr>
          <a:xfrm>
            <a:off x="2493335" y="8732520"/>
            <a:ext cx="1871330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 defTabSz="182880"/>
            <a:r>
              <a:rPr lang="en-US" sz="800" dirty="0">
                <a:solidFill>
                  <a:schemeClr val="tx1"/>
                </a:solidFill>
                <a:latin typeface="Anova Light" panose="020B0403020203020204" pitchFamily="34" charset="0"/>
              </a:rPr>
              <a:t>sas.com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2286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1600" b="0" i="0" kern="1200">
        <a:solidFill>
          <a:schemeClr val="tx1"/>
        </a:solidFill>
        <a:latin typeface="+mn-lt"/>
        <a:ea typeface="+mn-ea"/>
        <a:cs typeface="+mn-cs"/>
      </a:defRPr>
    </a:lvl1pPr>
    <a:lvl2pPr marL="8382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–"/>
      <a:defRPr sz="1335" b="0" i="0" kern="1200">
        <a:solidFill>
          <a:schemeClr val="tx1"/>
        </a:solidFill>
        <a:latin typeface="+mn-lt"/>
        <a:ea typeface="+mn-ea"/>
        <a:cs typeface="+mn-cs"/>
      </a:defRPr>
    </a:lvl2pPr>
    <a:lvl3pPr marL="14478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1200" b="0" i="0" kern="1200">
        <a:solidFill>
          <a:schemeClr val="tx1"/>
        </a:solidFill>
        <a:latin typeface="+mn-lt"/>
        <a:ea typeface="+mn-ea"/>
        <a:cs typeface="+mn-cs"/>
      </a:defRPr>
    </a:lvl3pPr>
    <a:lvl4pPr marL="20574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–"/>
      <a:defRPr sz="1065" b="0" i="0" kern="1200">
        <a:solidFill>
          <a:schemeClr val="tx1"/>
        </a:solidFill>
        <a:latin typeface="+mn-lt"/>
        <a:ea typeface="+mn-ea"/>
        <a:cs typeface="+mn-cs"/>
      </a:defRPr>
    </a:lvl4pPr>
    <a:lvl5pPr marL="2667000" indent="-228600" algn="l" defTabSz="1219200" rtl="0" eaLnBrk="1" latinLnBrk="0" hangingPunct="1">
      <a:buClr>
        <a:schemeClr val="accent5"/>
      </a:buClr>
      <a:buFont typeface="Anova Light" panose="020B0403020203020204" pitchFamily="34" charset="0"/>
      <a:buChar char="•"/>
      <a:defRPr sz="935" b="0" i="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5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16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4" y="1890117"/>
            <a:ext cx="10518846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4" y="2813447"/>
            <a:ext cx="10518846" cy="615553"/>
          </a:xfrm>
        </p:spPr>
        <p:txBody>
          <a:bodyPr wrap="square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accent3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Slideshow Subtitle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Presenter Info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Sectio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505670"/>
            <a:ext cx="8082481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3561836"/>
            <a:ext cx="8082481" cy="615553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bg1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Section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AS - Title &amp;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457676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/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idx="1"/>
          </p:nvPr>
        </p:nvSpPr>
        <p:spPr>
          <a:xfrm>
            <a:off x="838199" y="1600201"/>
            <a:ext cx="5161231" cy="45767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1"/>
          </p:nvPr>
        </p:nvSpPr>
        <p:spPr>
          <a:xfrm>
            <a:off x="6192571" y="1600201"/>
            <a:ext cx="5161232" cy="45767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 Only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2911937"/>
            <a:ext cx="2952184" cy="103412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&amp; Subtitle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3947330"/>
            <a:ext cx="3336233" cy="3662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834955" y="2768821"/>
            <a:ext cx="3334512" cy="1034386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/>
            </a:lvl1pPr>
          </a:lstStyle>
          <a:p>
            <a:pPr marL="0"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967336"/>
            <a:ext cx="8708755" cy="923330"/>
          </a:xfrm>
          <a:prstGeom prst="rect">
            <a:avLst/>
          </a:prstGeom>
        </p:spPr>
        <p:txBody>
          <a:bodyPr vert="horz" wrap="square" lIns="0" tIns="0" rIns="0" bIns="182880" rtlCol="0" anchor="ctr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Closing</a:t>
            </a:r>
          </a:p>
        </p:txBody>
      </p:sp>
      <p:sp>
        <p:nvSpPr>
          <p:cNvPr id="2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a website or email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AS - 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AS - Vide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2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42533" y="5517984"/>
            <a:ext cx="1711268" cy="705016"/>
          </a:xfrm>
          <a:prstGeom prst="rect">
            <a:avLst/>
          </a:prstGeom>
        </p:spPr>
      </p:pic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1890117"/>
            <a:ext cx="10521696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2813447"/>
            <a:ext cx="10521696" cy="615553"/>
          </a:xfrm>
        </p:spPr>
        <p:txBody>
          <a:bodyPr wrap="square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accent3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Slideshow Subtitle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Presenter Info</a:t>
            </a:r>
          </a:p>
        </p:txBody>
      </p:sp>
      <p:sp>
        <p:nvSpPr>
          <p:cNvPr id="2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Sectio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505670"/>
            <a:ext cx="8082481" cy="923330"/>
          </a:xfrm>
          <a:prstGeom prst="rect">
            <a:avLst/>
          </a:prstGeom>
        </p:spPr>
        <p:txBody>
          <a:bodyPr vert="horz" wrap="square" lIns="0" tIns="0" rIns="0" bIns="182880" rtlCol="0" anchor="b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34955" y="3561836"/>
            <a:ext cx="8082481" cy="615553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3200">
                <a:solidFill>
                  <a:schemeClr val="bg1"/>
                </a:solidFill>
              </a:defRPr>
            </a:lvl1pPr>
            <a:lvl2pPr marL="243840" indent="0">
              <a:buNone/>
              <a:defRPr>
                <a:solidFill>
                  <a:schemeClr val="accent3"/>
                </a:solidFill>
              </a:defRPr>
            </a:lvl2pPr>
            <a:lvl3pPr marL="48768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Section Subtitle</a:t>
            </a:r>
          </a:p>
        </p:txBody>
      </p:sp>
      <p:sp>
        <p:nvSpPr>
          <p:cNvPr id="2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>
                    <a:lumMod val="20000"/>
                    <a:lumOff val="80000"/>
                  </a:schemeClr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3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S - 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/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accent1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Add Slide 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idx="1"/>
          </p:nvPr>
        </p:nvSpPr>
        <p:spPr>
          <a:xfrm>
            <a:off x="838199" y="1600200"/>
            <a:ext cx="5161231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1"/>
          </p:nvPr>
        </p:nvSpPr>
        <p:spPr>
          <a:xfrm>
            <a:off x="6192571" y="1600200"/>
            <a:ext cx="5161232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sz="2400"/>
            </a:lvl1pPr>
            <a:lvl2pPr>
              <a:defRPr sz="1865">
                <a:latin typeface="+mn-lt"/>
              </a:defRPr>
            </a:lvl2pPr>
            <a:lvl3pPr>
              <a:defRPr sz="1600"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41400"/>
            <a:ext cx="10515600" cy="366255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Only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8200" y="2911937"/>
            <a:ext cx="2952184" cy="103412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S - Title &amp; Subtitle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3947330"/>
            <a:ext cx="3336233" cy="3662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243840" indent="0">
              <a:buNone/>
              <a:defRPr/>
            </a:lvl2pPr>
            <a:lvl3pPr marL="48768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834955" y="2768821"/>
            <a:ext cx="3334512" cy="1034386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/>
            </a:lvl1pPr>
          </a:lstStyle>
          <a:p>
            <a:pPr marL="0"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 dirty="0"/>
              <a:t>Click to Add 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S - 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834955" y="2967336"/>
            <a:ext cx="8708755" cy="923330"/>
          </a:xfrm>
          <a:prstGeom prst="rect">
            <a:avLst/>
          </a:prstGeom>
        </p:spPr>
        <p:txBody>
          <a:bodyPr vert="horz" wrap="square" lIns="0" tIns="0" rIns="0" bIns="182880" rtlCol="0" anchor="ctr" anchorCtr="0">
            <a:spAutoFit/>
          </a:bodyPr>
          <a:lstStyle>
            <a:lvl1pPr>
              <a:lnSpc>
                <a:spcPct val="100000"/>
              </a:lnSpc>
              <a:spcBef>
                <a:spcPts val="400"/>
              </a:spcBef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Slideshow Closing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42533" y="5517984"/>
            <a:ext cx="1711268" cy="705016"/>
          </a:xfrm>
          <a:prstGeom prst="rect">
            <a:avLst/>
          </a:prstGeom>
        </p:spPr>
      </p:pic>
      <p:sp>
        <p:nvSpPr>
          <p:cNvPr id="2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834955" y="5517985"/>
            <a:ext cx="8082481" cy="705015"/>
          </a:xfrm>
        </p:spPr>
        <p:txBody>
          <a:bodyPr wrap="squar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65">
                <a:solidFill>
                  <a:schemeClr val="accent3"/>
                </a:solidFill>
              </a:defRPr>
            </a:lvl1pPr>
            <a:lvl2pPr marL="243840" indent="0">
              <a:buNone/>
              <a:defRPr sz="1465">
                <a:solidFill>
                  <a:schemeClr val="accent3"/>
                </a:solidFill>
              </a:defRPr>
            </a:lvl2pPr>
            <a:lvl3pPr marL="487680" indent="0">
              <a:buNone/>
              <a:defRPr sz="1400">
                <a:solidFill>
                  <a:schemeClr val="accent3"/>
                </a:solidFill>
              </a:defRPr>
            </a:lvl3pPr>
            <a:lvl4pPr marL="1371600" indent="0">
              <a:buNone/>
              <a:defRPr sz="1335">
                <a:solidFill>
                  <a:schemeClr val="accent3"/>
                </a:solidFill>
              </a:defRPr>
            </a:lvl4pPr>
            <a:lvl5pPr marL="1828800" indent="0">
              <a:buNone/>
              <a:defRPr sz="1335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a website or email</a:t>
            </a:r>
          </a:p>
        </p:txBody>
      </p:sp>
      <p:sp>
        <p:nvSpPr>
          <p:cNvPr id="3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AS - 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S - Vide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ags" Target="../tags/tag3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5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4955" y="1600200"/>
            <a:ext cx="10515600" cy="457676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4955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Add Slide Title</a:t>
            </a:r>
          </a:p>
        </p:txBody>
      </p:sp>
      <p:pic>
        <p:nvPicPr>
          <p:cNvPr id="5" name="Picture 6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242570" y="4400550"/>
            <a:ext cx="4064000" cy="3689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735" b="1" i="0" kern="1200">
          <a:solidFill>
            <a:schemeClr val="accent5"/>
          </a:solidFill>
          <a:latin typeface="Anova Bold" panose="020B0703020203020204" pitchFamily="34" charset="0"/>
          <a:ea typeface="+mj-ea"/>
          <a:cs typeface="+mj-cs"/>
        </a:defRPr>
      </a:lvl1pPr>
    </p:titleStyle>
    <p:bodyStyle>
      <a:lvl1pPr marL="24384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–"/>
        <a:defRPr sz="1865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0984752" y="6096000"/>
            <a:ext cx="1207248" cy="76200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096000"/>
            <a:ext cx="10984752" cy="762001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4955" y="1600200"/>
            <a:ext cx="10515600" cy="429618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4955" y="473536"/>
            <a:ext cx="10515600" cy="517064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Add Slide Title</a:t>
            </a:r>
          </a:p>
        </p:txBody>
      </p:sp>
      <p:sp>
        <p:nvSpPr>
          <p:cNvPr id="8" name="TextBox 4"/>
          <p:cNvSpPr txBox="1"/>
          <p:nvPr userDrawn="1"/>
        </p:nvSpPr>
        <p:spPr>
          <a:xfrm>
            <a:off x="834955" y="6180007"/>
            <a:ext cx="5725995" cy="420564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2135" b="1" i="0" u="none" strike="noStrike" kern="300" cap="none" spc="67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nova Bold" panose="020B07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CONFIDENTIAL — DO NOT DISCLOSE</a:t>
            </a:r>
          </a:p>
        </p:txBody>
      </p:sp>
      <p:sp>
        <p:nvSpPr>
          <p:cNvPr id="10" name="TextBox 4"/>
          <p:cNvSpPr txBox="1"/>
          <p:nvPr userDrawn="1"/>
        </p:nvSpPr>
        <p:spPr>
          <a:xfrm>
            <a:off x="834955" y="6539393"/>
            <a:ext cx="3352800" cy="194990"/>
          </a:xfrm>
          <a:prstGeom prst="rect">
            <a:avLst/>
          </a:prstGeom>
          <a:noFill/>
        </p:spPr>
        <p:txBody>
          <a:bodyPr wrap="square" lIns="0" anchor="b" anchorCtr="0">
            <a:spAutoFit/>
          </a:bodyPr>
          <a:lstStyle/>
          <a:p>
            <a:pPr marL="0" marR="0" lvl="0" indent="0" algn="l" defTabSz="36576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5" b="0" i="0" u="none" strike="noStrike" kern="300" cap="none" spc="67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nova Light" panose="020B0403020203020204" pitchFamily="34" charset="0"/>
                <a:ea typeface="Anova Bold" panose="020B0703020203020204" pitchFamily="34" charset="0"/>
                <a:cs typeface="Anova Light" panose="020B0403020203020204" pitchFamily="34" charset="0"/>
              </a:rPr>
              <a:t>Copyright © SAS Institute Inc. All rights reserved.</a:t>
            </a:r>
          </a:p>
        </p:txBody>
      </p:sp>
      <p:pic>
        <p:nvPicPr>
          <p:cNvPr id="4" name="Picture 6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>
          <a:xfrm>
            <a:off x="11217439" y="6344362"/>
            <a:ext cx="741875" cy="307948"/>
          </a:xfrm>
          <a:prstGeom prst="rect">
            <a:avLst/>
          </a:prstGeom>
        </p:spPr>
      </p:pic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735" b="1" i="0" kern="1200">
          <a:solidFill>
            <a:schemeClr val="accent5"/>
          </a:solidFill>
          <a:latin typeface="Anova Bold" panose="020B0703020203020204" pitchFamily="34" charset="0"/>
          <a:ea typeface="+mj-ea"/>
          <a:cs typeface="+mj-cs"/>
        </a:defRPr>
      </a:lvl1pPr>
    </p:titleStyle>
    <p:bodyStyle>
      <a:lvl1pPr marL="24384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–"/>
        <a:defRPr sz="1865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43840" algn="l" defTabSz="914400" rtl="0" eaLnBrk="1" latinLnBrk="0" hangingPunct="1">
        <a:lnSpc>
          <a:spcPct val="85000"/>
        </a:lnSpc>
        <a:spcBef>
          <a:spcPts val="1065"/>
        </a:spcBef>
        <a:buClr>
          <a:schemeClr val="accent5"/>
        </a:buClr>
        <a:buFont typeface="Anova Light" panose="020B0403020203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bg2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nova Light" panose="020B0403020203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745419" y="1213071"/>
            <a:ext cx="10518846" cy="2400657"/>
          </a:xfrm>
        </p:spPr>
        <p:txBody>
          <a:bodyPr/>
          <a:lstStyle/>
          <a:p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数智驱动的肉鸡养殖根因分析实施方案</a:t>
            </a:r>
            <a:b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</a:br>
            <a:b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</a:b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</a:rPr>
              <a:t>第二周成果汇报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>
          <a:xfrm>
            <a:off x="834955" y="4308945"/>
            <a:ext cx="8082481" cy="705015"/>
          </a:xfrm>
        </p:spPr>
        <p:txBody>
          <a:bodyPr/>
          <a:lstStyle/>
          <a:p>
            <a:r>
              <a:rPr lang="en-US" altLang="zh-CN" dirty="0"/>
              <a:t>2025.05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C3D1F99E-E435-7DBE-EF0A-67C3496583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430939"/>
              </p:ext>
            </p:extLst>
          </p:nvPr>
        </p:nvGraphicFramePr>
        <p:xfrm>
          <a:off x="892175" y="2094672"/>
          <a:ext cx="4486278" cy="3197448"/>
        </p:xfrm>
        <a:graphic>
          <a:graphicData uri="http://schemas.openxmlformats.org/drawingml/2006/table">
            <a:tbl>
              <a:tblPr/>
              <a:tblGrid>
                <a:gridCol w="747713">
                  <a:extLst>
                    <a:ext uri="{9D8B030D-6E8A-4147-A177-3AD203B41FA5}">
                      <a16:colId xmlns:a16="http://schemas.microsoft.com/office/drawing/2014/main" val="3996273480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664346447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170777999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1177513116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3730236407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2660415651"/>
                    </a:ext>
                  </a:extLst>
                </a:gridCol>
              </a:tblGrid>
              <a:tr h="495846"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</a:pPr>
                      <a:endParaRPr lang="zh-CN" altLang="en-US" b="1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9683767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mean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1.09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1.45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1.65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1.73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1.77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530979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std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3.47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3.39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3.41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3.51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3.69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51920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min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-51.00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-327.70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-59.60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-30.40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-30.00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174422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25%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69404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50%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8912641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75%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08194"/>
                  </a:ext>
                </a:extLst>
              </a:tr>
              <a:tr h="3172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max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32.40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303.50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72.80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41.80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55.8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30912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661544C5-DD3D-475B-4C88-EBE0E0C2EB9F}"/>
              </a:ext>
            </a:extLst>
          </p:cNvPr>
          <p:cNvSpPr txBox="1"/>
          <p:nvPr/>
        </p:nvSpPr>
        <p:spPr>
          <a:xfrm>
            <a:off x="679450" y="5573122"/>
            <a:ext cx="10814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因为</a:t>
            </a:r>
            <a:r>
              <a:rPr lang="zh-CN" altLang="en-US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探头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温度和目标差异高于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度的占比较高（接近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25%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故温度差异上限以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95%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分位数盖帽处理，下限以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r>
              <a:rPr lang="zh-CN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盖帽处理</a:t>
            </a:r>
            <a:r>
              <a:rPr lang="zh-CN" altLang="en-US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，再以盖帽后的温度差异修正温度</a:t>
            </a:r>
            <a:r>
              <a:rPr lang="en-US" altLang="zh-CN" sz="16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1-</a:t>
            </a:r>
            <a:r>
              <a:rPr lang="zh-CN" altLang="en-US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的值（即探头</a:t>
            </a:r>
            <a:r>
              <a:rPr lang="en-US" altLang="zh-CN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1-</a:t>
            </a:r>
            <a:r>
              <a:rPr lang="zh-CN" altLang="en-US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探头</a:t>
            </a:r>
            <a:r>
              <a:rPr lang="en-US" altLang="zh-CN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endParaRPr lang="zh-CN" altLang="zh-CN" sz="16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080726B-0BB5-B39C-CA17-A21B6F721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8435311"/>
              </p:ext>
            </p:extLst>
          </p:nvPr>
        </p:nvGraphicFramePr>
        <p:xfrm>
          <a:off x="6772275" y="2094672"/>
          <a:ext cx="4486278" cy="3197448"/>
        </p:xfrm>
        <a:graphic>
          <a:graphicData uri="http://schemas.openxmlformats.org/drawingml/2006/table">
            <a:tbl>
              <a:tblPr/>
              <a:tblGrid>
                <a:gridCol w="747713">
                  <a:extLst>
                    <a:ext uri="{9D8B030D-6E8A-4147-A177-3AD203B41FA5}">
                      <a16:colId xmlns:a16="http://schemas.microsoft.com/office/drawing/2014/main" val="268490361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2314696005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1887016926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759769463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187340800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3707292979"/>
                    </a:ext>
                  </a:extLst>
                </a:gridCol>
              </a:tblGrid>
              <a:tr h="60199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zh-CN" altLang="en-US" b="1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温度 </a:t>
                      </a:r>
                      <a:r>
                        <a:rPr lang="en-US" altLang="zh-CN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 </a:t>
                      </a: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与目标差异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241312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mean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1.17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1.49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1.67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1.75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1.81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132859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std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2.68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2.58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2.73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2.88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3.07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305022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min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078581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25%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530873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50%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1124743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75%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2.70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3.00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3.20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3.40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827534"/>
                  </a:ext>
                </a:extLst>
              </a:tr>
              <a:tr h="2891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max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7.50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7.60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8.10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8.50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altLang="zh-CN" sz="1100" b="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8.90</a:t>
                      </a:r>
                    </a:p>
                  </a:txBody>
                  <a:tcPr marL="138313" marR="138313" marT="92208" marB="922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5873631"/>
                  </a:ext>
                </a:extLst>
              </a:tr>
            </a:tbl>
          </a:graphicData>
        </a:graphic>
      </p:graphicFrame>
      <p:sp>
        <p:nvSpPr>
          <p:cNvPr id="10" name="箭头: 右 9">
            <a:extLst>
              <a:ext uri="{FF2B5EF4-FFF2-40B4-BE49-F238E27FC236}">
                <a16:creationId xmlns:a16="http://schemas.microsoft.com/office/drawing/2014/main" id="{83CB2B56-C774-2BA1-109E-4E61AB569CF6}"/>
              </a:ext>
            </a:extLst>
          </p:cNvPr>
          <p:cNvSpPr/>
          <p:nvPr/>
        </p:nvSpPr>
        <p:spPr>
          <a:xfrm>
            <a:off x="5800725" y="3390900"/>
            <a:ext cx="571500" cy="438150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箭头: 五边形 10">
            <a:extLst>
              <a:ext uri="{FF2B5EF4-FFF2-40B4-BE49-F238E27FC236}">
                <a16:creationId xmlns:a16="http://schemas.microsoft.com/office/drawing/2014/main" id="{ABC64254-A217-5DD1-743D-7CD37E771F09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4C5570D1-5DF1-03AB-6D69-BF1DFB4FDD2B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32E5AD0-0264-926D-1CD4-529BF48D2671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B0FAECE-33C5-B47F-6A19-65163A9D5CC2}"/>
              </a:ext>
            </a:extLst>
          </p:cNvPr>
          <p:cNvSpPr/>
          <p:nvPr/>
        </p:nvSpPr>
        <p:spPr>
          <a:xfrm>
            <a:off x="492981" y="1606658"/>
            <a:ext cx="11239200" cy="483224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6B4827B-04F9-8632-71F8-A3668FF6AFE7}"/>
              </a:ext>
            </a:extLst>
          </p:cNvPr>
          <p:cNvSpPr/>
          <p:nvPr/>
        </p:nvSpPr>
        <p:spPr>
          <a:xfrm>
            <a:off x="492980" y="1606656"/>
            <a:ext cx="2154969" cy="334203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数据处理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4B6CE10-8DAB-F7E9-0084-3D75E928F4B5}"/>
              </a:ext>
            </a:extLst>
          </p:cNvPr>
          <p:cNvSpPr txBox="1"/>
          <p:nvPr/>
        </p:nvSpPr>
        <p:spPr>
          <a:xfrm>
            <a:off x="5719762" y="3117471"/>
            <a:ext cx="73342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1400" dirty="0">
                <a:solidFill>
                  <a:schemeClr val="tx1"/>
                </a:solidFill>
              </a:rPr>
              <a:t>盖帽处理</a:t>
            </a:r>
          </a:p>
        </p:txBody>
      </p:sp>
    </p:spTree>
    <p:extLst>
      <p:ext uri="{BB962C8B-B14F-4D97-AF65-F5344CB8AC3E}">
        <p14:creationId xmlns:p14="http://schemas.microsoft.com/office/powerpoint/2010/main" val="1439522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A0759-4693-0A0C-ACDC-5905187D4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898C5510-52E4-5F17-8F58-E1674B9C0A82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25258E28-3C99-B66E-450A-6361CF46D28A}"/>
              </a:ext>
            </a:extLst>
          </p:cNvPr>
          <p:cNvSpPr txBox="1"/>
          <p:nvPr/>
        </p:nvSpPr>
        <p:spPr>
          <a:xfrm>
            <a:off x="313885" y="21618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412E042-B907-2C9D-B5FB-ECE5DA326DF9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9F98D27A-D41A-3AC9-4696-C0E95C63D380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0C40686-6F80-4903-7E76-A7A6235E22D2}"/>
              </a:ext>
            </a:extLst>
          </p:cNvPr>
          <p:cNvSpPr/>
          <p:nvPr/>
        </p:nvSpPr>
        <p:spPr>
          <a:xfrm>
            <a:off x="492981" y="1606656"/>
            <a:ext cx="387864" cy="1464628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714E6C7-4119-3171-5FD4-D81293C3AC5D}"/>
              </a:ext>
            </a:extLst>
          </p:cNvPr>
          <p:cNvSpPr/>
          <p:nvPr/>
        </p:nvSpPr>
        <p:spPr>
          <a:xfrm>
            <a:off x="492981" y="1606658"/>
            <a:ext cx="11060104" cy="1464626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23E00E7A-01CA-1CF7-0C29-62B7806EE1F4}"/>
              </a:ext>
            </a:extLst>
          </p:cNvPr>
          <p:cNvSpPr txBox="1"/>
          <p:nvPr/>
        </p:nvSpPr>
        <p:spPr>
          <a:xfrm>
            <a:off x="971850" y="1660386"/>
            <a:ext cx="10581235" cy="12114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取每月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排名前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的栋舍记为高效群，后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为低效群。高效群平均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418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，低效群平均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302</a:t>
            </a:r>
          </a:p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字段含义：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分别取字段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mean(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max(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最高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作为该日龄的最低温度，平均温度，最高温度，得到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左边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图像。取五个探头每个日龄的平均温度作为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右图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的温度分布</a:t>
            </a:r>
            <a:endParaRPr lang="en-US" altLang="zh-CN" sz="16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F6B041-4458-5EE0-56A5-E47D6759D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155" y="3258557"/>
            <a:ext cx="5631689" cy="320363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C804C7F-E281-3160-8D72-19BE31DF8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13" y="3539600"/>
            <a:ext cx="5308334" cy="2641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391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28D7A-2FF8-4367-E35C-3FFAF72F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342D3851-5F4E-42C8-3573-A4A2D412DA1D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E5335BE9-2755-2208-1B70-8791A6FE534F}"/>
              </a:ext>
            </a:extLst>
          </p:cNvPr>
          <p:cNvSpPr txBox="1"/>
          <p:nvPr/>
        </p:nvSpPr>
        <p:spPr>
          <a:xfrm>
            <a:off x="313885" y="21618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804C28C-0C73-8E1E-829B-0DA18AB910C9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ABC08890-A922-7127-5A06-9D61C636437F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9E7C4A3-732F-211A-8420-45D4302EDF0E}"/>
              </a:ext>
            </a:extLst>
          </p:cNvPr>
          <p:cNvSpPr/>
          <p:nvPr/>
        </p:nvSpPr>
        <p:spPr>
          <a:xfrm>
            <a:off x="492981" y="1606656"/>
            <a:ext cx="387864" cy="1464628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9532516-8E14-AA39-EB1F-2762830EE04F}"/>
              </a:ext>
            </a:extLst>
          </p:cNvPr>
          <p:cNvSpPr/>
          <p:nvPr/>
        </p:nvSpPr>
        <p:spPr>
          <a:xfrm>
            <a:off x="492981" y="1606658"/>
            <a:ext cx="11060104" cy="1464626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4C792D1-6FB9-3CA0-3FE1-98152828C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20" y="3324498"/>
            <a:ext cx="5347179" cy="309767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C0A5D4A-2CE4-24D9-C08E-9FADF1CAA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81" y="3582835"/>
            <a:ext cx="5570213" cy="2739737"/>
          </a:xfrm>
          <a:prstGeom prst="rect">
            <a:avLst/>
          </a:prstGeom>
        </p:spPr>
      </p:pic>
      <p:sp>
        <p:nvSpPr>
          <p:cNvPr id="9" name="标题 1">
            <a:extLst>
              <a:ext uri="{FF2B5EF4-FFF2-40B4-BE49-F238E27FC236}">
                <a16:creationId xmlns:a16="http://schemas.microsoft.com/office/drawing/2014/main" id="{21C95AF4-AE39-C85C-6E09-DD1D2C61856A}"/>
              </a:ext>
            </a:extLst>
          </p:cNvPr>
          <p:cNvSpPr txBox="1"/>
          <p:nvPr/>
        </p:nvSpPr>
        <p:spPr>
          <a:xfrm>
            <a:off x="971850" y="1660386"/>
            <a:ext cx="10581235" cy="12114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取每月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排名前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的栋舍记为高效群，后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为低效群。高效群平均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418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，低效群平均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302</a:t>
            </a:r>
          </a:p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字段含义：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分别取字段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mean(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max(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最高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作为该日龄的最低温度，平均温度，最高温度，得到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左边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图像。取五个探头每个日龄的平均温度作为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右图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的温度分布</a:t>
            </a:r>
            <a:endParaRPr lang="en-US" altLang="zh-CN" sz="16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96161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6A7FD-EFE9-984A-B2AA-F54E27836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5B601A3A-DFAA-86C0-39F8-CA5FFABC3B8C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28FBFE4F-BBA7-1751-838A-A6CB0152F77D}"/>
              </a:ext>
            </a:extLst>
          </p:cNvPr>
          <p:cNvSpPr txBox="1"/>
          <p:nvPr/>
        </p:nvSpPr>
        <p:spPr>
          <a:xfrm>
            <a:off x="313885" y="21618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8906FC7-1FCD-89EC-BE8C-349800469D93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4AA1DD7-41C8-B64D-DB01-C4AA8D183845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EDD79E9-1EE3-D2DF-F2E8-BD20F4CA0CB0}"/>
              </a:ext>
            </a:extLst>
          </p:cNvPr>
          <p:cNvSpPr/>
          <p:nvPr/>
        </p:nvSpPr>
        <p:spPr>
          <a:xfrm>
            <a:off x="492981" y="1606656"/>
            <a:ext cx="387864" cy="1464628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A3AFACA-236E-DFF7-3B56-649E1D9AD194}"/>
              </a:ext>
            </a:extLst>
          </p:cNvPr>
          <p:cNvSpPr/>
          <p:nvPr/>
        </p:nvSpPr>
        <p:spPr>
          <a:xfrm>
            <a:off x="492981" y="1606658"/>
            <a:ext cx="11060104" cy="1464626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D49ACFC2-1F5D-DA61-0383-992ACEF82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8872" y="3236990"/>
            <a:ext cx="5977606" cy="337113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B677714-2BE8-1AEC-EAF3-91FD90ECE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3" y="3591442"/>
            <a:ext cx="5347019" cy="2662229"/>
          </a:xfrm>
          <a:prstGeom prst="rect">
            <a:avLst/>
          </a:prstGeom>
        </p:spPr>
      </p:pic>
      <p:sp>
        <p:nvSpPr>
          <p:cNvPr id="6" name="标题 1">
            <a:extLst>
              <a:ext uri="{FF2B5EF4-FFF2-40B4-BE49-F238E27FC236}">
                <a16:creationId xmlns:a16="http://schemas.microsoft.com/office/drawing/2014/main" id="{D45F1CFD-A0A1-0DD3-D513-9E1A36849F3B}"/>
              </a:ext>
            </a:extLst>
          </p:cNvPr>
          <p:cNvSpPr txBox="1"/>
          <p:nvPr/>
        </p:nvSpPr>
        <p:spPr>
          <a:xfrm>
            <a:off x="971850" y="1660386"/>
            <a:ext cx="10581235" cy="12114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取每月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排名前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的栋舍记为高效群，后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为低效群。高效群平均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418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，低效群平均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302</a:t>
            </a:r>
          </a:p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字段含义：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分别取字段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mean(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max(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最高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作为该日龄的最低温度，平均温度，最高温度，得到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左边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图像。取五个探头每个日龄的平均温度作为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右图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的温度分布</a:t>
            </a:r>
            <a:endParaRPr lang="en-US" altLang="zh-CN" sz="16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2183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135FD-FAFB-764F-0DE1-194C859E8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0DDA7278-D480-7C03-37ED-3DB19047079F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647D668-7DE6-1AF7-7489-EE9281DB1A42}"/>
              </a:ext>
            </a:extLst>
          </p:cNvPr>
          <p:cNvSpPr txBox="1"/>
          <p:nvPr/>
        </p:nvSpPr>
        <p:spPr>
          <a:xfrm>
            <a:off x="313885" y="21618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6B2321F-445C-3CEB-68A7-D93DD4AC2392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6B908365-191B-BB78-25A8-D6E70A1480CD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06A08B0-765B-453A-A798-08548A067C3D}"/>
              </a:ext>
            </a:extLst>
          </p:cNvPr>
          <p:cNvSpPr/>
          <p:nvPr/>
        </p:nvSpPr>
        <p:spPr>
          <a:xfrm>
            <a:off x="492981" y="1606656"/>
            <a:ext cx="387864" cy="1464628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1944E5E-4D0C-CAD9-DD03-12609AA2C767}"/>
              </a:ext>
            </a:extLst>
          </p:cNvPr>
          <p:cNvSpPr/>
          <p:nvPr/>
        </p:nvSpPr>
        <p:spPr>
          <a:xfrm>
            <a:off x="492981" y="1606658"/>
            <a:ext cx="11060104" cy="1464626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FEDDE131-B547-8EC2-CBF6-E3AE733C2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627" y="3204829"/>
            <a:ext cx="5858547" cy="329452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826BE45-D6CE-0A84-0507-4CBAF9F46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15" y="3419682"/>
            <a:ext cx="5775212" cy="2864821"/>
          </a:xfrm>
          <a:prstGeom prst="rect">
            <a:avLst/>
          </a:prstGeom>
        </p:spPr>
      </p:pic>
      <p:sp>
        <p:nvSpPr>
          <p:cNvPr id="9" name="标题 1">
            <a:extLst>
              <a:ext uri="{FF2B5EF4-FFF2-40B4-BE49-F238E27FC236}">
                <a16:creationId xmlns:a16="http://schemas.microsoft.com/office/drawing/2014/main" id="{5CBBFD69-F7EE-83CF-7E7A-90542C3F9961}"/>
              </a:ext>
            </a:extLst>
          </p:cNvPr>
          <p:cNvSpPr txBox="1"/>
          <p:nvPr/>
        </p:nvSpPr>
        <p:spPr>
          <a:xfrm>
            <a:off x="971850" y="1660386"/>
            <a:ext cx="10581235" cy="12114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取每月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排名前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的栋舍记为高效群，后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为低效群。高效群平均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418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，低效群平均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302</a:t>
            </a:r>
          </a:p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字段含义：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分别取字段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mean(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max(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最高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作为该日龄的最低温度，平均温度，最高温度，得到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左边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图像。取五个探头每个日龄的平均温度作为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右图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的温度分布</a:t>
            </a:r>
            <a:endParaRPr lang="en-US" altLang="zh-CN" sz="16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2492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ED547-D480-11CA-4F97-86A459B7A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5F4268F3-46B9-90B8-E69A-C7B1E771CDF5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2B0AF94-5BD7-4521-FD34-A78819677A2D}"/>
              </a:ext>
            </a:extLst>
          </p:cNvPr>
          <p:cNvSpPr txBox="1"/>
          <p:nvPr/>
        </p:nvSpPr>
        <p:spPr>
          <a:xfrm>
            <a:off x="313885" y="21618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3B4989-06B8-7D41-2B9B-2FD998C3E274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405485BF-1451-967A-B822-8464B7D79565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9D44198-E22F-5DBD-6A77-E3AECAACE349}"/>
              </a:ext>
            </a:extLst>
          </p:cNvPr>
          <p:cNvSpPr/>
          <p:nvPr/>
        </p:nvSpPr>
        <p:spPr>
          <a:xfrm>
            <a:off x="492981" y="1606656"/>
            <a:ext cx="387864" cy="1464628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58A7F18-51F5-7F40-8BCF-BD14A98FEB96}"/>
              </a:ext>
            </a:extLst>
          </p:cNvPr>
          <p:cNvSpPr/>
          <p:nvPr/>
        </p:nvSpPr>
        <p:spPr>
          <a:xfrm>
            <a:off x="492981" y="1606658"/>
            <a:ext cx="11060104" cy="1464626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062C3078-C692-9B20-BA4B-5BF786BE5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802" y="3204829"/>
            <a:ext cx="6087313" cy="3429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0A8D135-8C33-074B-86A2-FC3BB3641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81" y="3343523"/>
            <a:ext cx="5376023" cy="2838202"/>
          </a:xfrm>
          <a:prstGeom prst="rect">
            <a:avLst/>
          </a:prstGeom>
        </p:spPr>
      </p:pic>
      <p:sp>
        <p:nvSpPr>
          <p:cNvPr id="9" name="标题 1">
            <a:extLst>
              <a:ext uri="{FF2B5EF4-FFF2-40B4-BE49-F238E27FC236}">
                <a16:creationId xmlns:a16="http://schemas.microsoft.com/office/drawing/2014/main" id="{5EEE2A49-5D41-C745-49BA-32A1BB41AF91}"/>
              </a:ext>
            </a:extLst>
          </p:cNvPr>
          <p:cNvSpPr txBox="1"/>
          <p:nvPr/>
        </p:nvSpPr>
        <p:spPr>
          <a:xfrm>
            <a:off x="971850" y="1660386"/>
            <a:ext cx="10581235" cy="12114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取每月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排名前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的栋舍记为高效群，后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为低效群。高效群平均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418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，低效群平均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302</a:t>
            </a:r>
          </a:p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字段含义：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分别取字段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mean(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max(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最高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作为该日龄的最低温度，平均温度，最高温度，得到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左边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图像。取五个探头每个日龄的平均温度作为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右图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的温度分布</a:t>
            </a:r>
            <a:endParaRPr lang="en-US" altLang="zh-CN" sz="16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2399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7D69-92CF-F272-46F4-36431ADFD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39B87B28-0783-F334-EB78-5881D9563664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F9F5F74-50F2-3631-E7AC-63CC35DD3421}"/>
              </a:ext>
            </a:extLst>
          </p:cNvPr>
          <p:cNvSpPr txBox="1"/>
          <p:nvPr/>
        </p:nvSpPr>
        <p:spPr>
          <a:xfrm>
            <a:off x="313885" y="21618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72A9E01-16A7-AAC6-1C20-A9E51F4FE345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E76D63FD-6AED-B3D2-3C4D-7265C7B6A279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E37E87D-316E-0374-D825-FC7247810AC1}"/>
              </a:ext>
            </a:extLst>
          </p:cNvPr>
          <p:cNvSpPr/>
          <p:nvPr/>
        </p:nvSpPr>
        <p:spPr>
          <a:xfrm>
            <a:off x="492981" y="1606656"/>
            <a:ext cx="387864" cy="1464628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CD9E3C4-F5D8-30B1-3F12-2CD17EFA2AF1}"/>
              </a:ext>
            </a:extLst>
          </p:cNvPr>
          <p:cNvSpPr/>
          <p:nvPr/>
        </p:nvSpPr>
        <p:spPr>
          <a:xfrm>
            <a:off x="492981" y="1606658"/>
            <a:ext cx="11060104" cy="1464626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258115DA-8436-7F23-B617-83EF3BBE0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3938" y="3307474"/>
            <a:ext cx="5885652" cy="3429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75E8C94-BAEE-A341-C8BC-684DCB648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52" y="3541789"/>
            <a:ext cx="5600700" cy="2772272"/>
          </a:xfrm>
          <a:prstGeom prst="rect">
            <a:avLst/>
          </a:prstGeom>
        </p:spPr>
      </p:pic>
      <p:sp>
        <p:nvSpPr>
          <p:cNvPr id="9" name="标题 1">
            <a:extLst>
              <a:ext uri="{FF2B5EF4-FFF2-40B4-BE49-F238E27FC236}">
                <a16:creationId xmlns:a16="http://schemas.microsoft.com/office/drawing/2014/main" id="{78B94D33-DD1B-4569-9462-D45F827FC477}"/>
              </a:ext>
            </a:extLst>
          </p:cNvPr>
          <p:cNvSpPr txBox="1"/>
          <p:nvPr/>
        </p:nvSpPr>
        <p:spPr>
          <a:xfrm>
            <a:off x="971850" y="1660386"/>
            <a:ext cx="10581235" cy="12114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取每月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排名前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的栋舍记为高效群，后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为低效群。高效群平均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418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，低效群平均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302</a:t>
            </a:r>
          </a:p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字段含义：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分别取字段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mean(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max(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最高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作为该日龄的最低温度，平均温度，最高温度，得到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左边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图像。取五个探头每个日龄的平均温度作为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右图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的温度分布</a:t>
            </a:r>
            <a:endParaRPr lang="en-US" altLang="zh-CN" sz="16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12373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D3F58-FBA0-5890-E017-0F64302C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241ECC46-522F-F7FD-BAC3-0D9D652D5EB7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853EC75-9F03-0F26-BE76-066836FDB224}"/>
              </a:ext>
            </a:extLst>
          </p:cNvPr>
          <p:cNvSpPr txBox="1"/>
          <p:nvPr/>
        </p:nvSpPr>
        <p:spPr>
          <a:xfrm>
            <a:off x="313885" y="21618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6514734-1069-88B2-2F78-BCB1D5306C5C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545CDCD8-EA6E-F0F4-45DF-34DD3ACC17D4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A1AA45-A00E-CFD4-9F95-C8996EC931AE}"/>
              </a:ext>
            </a:extLst>
          </p:cNvPr>
          <p:cNvSpPr/>
          <p:nvPr/>
        </p:nvSpPr>
        <p:spPr>
          <a:xfrm>
            <a:off x="492981" y="1606656"/>
            <a:ext cx="387864" cy="1464628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C9904C1-9323-10EC-3DF3-15D8847329D5}"/>
              </a:ext>
            </a:extLst>
          </p:cNvPr>
          <p:cNvSpPr/>
          <p:nvPr/>
        </p:nvSpPr>
        <p:spPr>
          <a:xfrm>
            <a:off x="492981" y="1606658"/>
            <a:ext cx="11060104" cy="1464626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95BF5985-B13C-4617-C1F6-0B38904BC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411" y="3259716"/>
            <a:ext cx="5384963" cy="307953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9AE443E-C185-AF42-5FE5-2C28C0B82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480" y="3348004"/>
            <a:ext cx="5808987" cy="2902959"/>
          </a:xfrm>
          <a:prstGeom prst="rect">
            <a:avLst/>
          </a:prstGeom>
        </p:spPr>
      </p:pic>
      <p:sp>
        <p:nvSpPr>
          <p:cNvPr id="9" name="标题 1">
            <a:extLst>
              <a:ext uri="{FF2B5EF4-FFF2-40B4-BE49-F238E27FC236}">
                <a16:creationId xmlns:a16="http://schemas.microsoft.com/office/drawing/2014/main" id="{696A7F48-77FF-57BE-8327-5A4B1BD7252C}"/>
              </a:ext>
            </a:extLst>
          </p:cNvPr>
          <p:cNvSpPr txBox="1"/>
          <p:nvPr/>
        </p:nvSpPr>
        <p:spPr>
          <a:xfrm>
            <a:off x="971850" y="1660386"/>
            <a:ext cx="10581235" cy="12114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取每月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排名前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的栋舍记为高效群，后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为低效群。高效群平均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418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，低效群平均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302</a:t>
            </a:r>
          </a:p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字段含义：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分别取字段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mean(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max(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最高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作为该日龄的最低温度，平均温度，最高温度，得到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左边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图像。取五个探头每个日龄的平均温度作为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右图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的温度分布</a:t>
            </a:r>
            <a:endParaRPr lang="en-US" altLang="zh-CN" sz="16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45508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B8CBE-0CF3-D692-0C65-31C16B4DE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3FB370D2-14C2-6B5A-685F-303272F44DF2}"/>
              </a:ext>
            </a:extLst>
          </p:cNvPr>
          <p:cNvSpPr/>
          <p:nvPr/>
        </p:nvSpPr>
        <p:spPr>
          <a:xfrm>
            <a:off x="0" y="864476"/>
            <a:ext cx="7592037" cy="576475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2450C629-97D7-7125-0984-92106B0B7087}"/>
              </a:ext>
            </a:extLst>
          </p:cNvPr>
          <p:cNvSpPr txBox="1"/>
          <p:nvPr/>
        </p:nvSpPr>
        <p:spPr>
          <a:xfrm>
            <a:off x="313885" y="216182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877E6FF-EFE0-E155-E59E-C74EAC8F7352}"/>
              </a:ext>
            </a:extLst>
          </p:cNvPr>
          <p:cNvSpPr txBox="1"/>
          <p:nvPr/>
        </p:nvSpPr>
        <p:spPr>
          <a:xfrm>
            <a:off x="551901" y="832313"/>
            <a:ext cx="6528407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前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的温度曲线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5900873E-72B7-A8BC-D17F-52EF09411E78}"/>
              </a:ext>
            </a:extLst>
          </p:cNvPr>
          <p:cNvSpPr txBox="1"/>
          <p:nvPr/>
        </p:nvSpPr>
        <p:spPr>
          <a:xfrm>
            <a:off x="339052" y="121526"/>
            <a:ext cx="11239200" cy="64080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2800" dirty="0">
                <a:solidFill>
                  <a:schemeClr val="accent5">
                    <a:lumMod val="75000"/>
                  </a:schemeClr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分析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75000"/>
                </a:schemeClr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C5C474B-719D-640A-6226-5C3E08FB14AF}"/>
              </a:ext>
            </a:extLst>
          </p:cNvPr>
          <p:cNvSpPr/>
          <p:nvPr/>
        </p:nvSpPr>
        <p:spPr>
          <a:xfrm>
            <a:off x="492981" y="1606656"/>
            <a:ext cx="387864" cy="1464628"/>
          </a:xfrm>
          <a:prstGeom prst="rect">
            <a:avLst/>
          </a:prstGeom>
          <a:pattFill prst="ltDn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dirty="0">
                <a:solidFill>
                  <a:srgbClr val="33A3FF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探查方法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33A3FF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FACBC7A-B75E-4EA2-84AA-D3355CEC8D59}"/>
              </a:ext>
            </a:extLst>
          </p:cNvPr>
          <p:cNvSpPr/>
          <p:nvPr/>
        </p:nvSpPr>
        <p:spPr>
          <a:xfrm>
            <a:off x="492981" y="1606658"/>
            <a:ext cx="11060104" cy="1464626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936FCF19-A3EC-F7ED-649B-E592D40FC3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4777" y="3402042"/>
            <a:ext cx="5468171" cy="313094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CB0988B-F4C4-EB97-09C5-35288DF76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67" y="3531834"/>
            <a:ext cx="5371133" cy="2678466"/>
          </a:xfrm>
          <a:prstGeom prst="rect">
            <a:avLst/>
          </a:prstGeom>
        </p:spPr>
      </p:pic>
      <p:sp>
        <p:nvSpPr>
          <p:cNvPr id="9" name="标题 1">
            <a:extLst>
              <a:ext uri="{FF2B5EF4-FFF2-40B4-BE49-F238E27FC236}">
                <a16:creationId xmlns:a16="http://schemas.microsoft.com/office/drawing/2014/main" id="{A40436A4-C123-E685-3A1F-856006608600}"/>
              </a:ext>
            </a:extLst>
          </p:cNvPr>
          <p:cNvSpPr txBox="1"/>
          <p:nvPr/>
        </p:nvSpPr>
        <p:spPr>
          <a:xfrm>
            <a:off x="971850" y="1660386"/>
            <a:ext cx="10581235" cy="1211410"/>
          </a:xfrm>
          <a:prstGeom prst="rect">
            <a:avLst/>
          </a:prstGeom>
        </p:spPr>
        <p:txBody>
          <a:bodyPr vert="horz" wrap="square" lIns="121920" tIns="60960" rIns="121920" bIns="60960" rtlCol="0" anchor="ctr" anchorCtr="0">
            <a:noAutofit/>
          </a:bodyPr>
          <a:lstStyle>
            <a:lvl1pPr algn="ctr" defTabSz="182880" rtl="0" eaLnBrk="1" latinLnBrk="0" hangingPunct="1">
              <a:spcBef>
                <a:spcPct val="0"/>
              </a:spcBef>
              <a:buNone/>
              <a:defRPr lang="en-US" sz="1500" b="1" kern="1200" cap="none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</a:rPr>
              <a:t>数据处理：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取每月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排名前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的栋舍记为高效群，后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20%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为低效群。高效群平均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418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，低效群平均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EEF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为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302</a:t>
            </a:r>
          </a:p>
          <a:p>
            <a:pPr marL="0" marR="0" lvl="0" indent="0" algn="l" defTabSz="18288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字段含义：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分别取字段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最低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mean(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平均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max(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鸡舍温度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-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最高</a:t>
            </a:r>
            <a:r>
              <a:rPr lang="en-US" altLang="zh-CN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作为该日龄的最低温度，平均温度，最高温度，得到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左边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图像。取五个探头每个日龄的平均温度作为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右图</a:t>
            </a:r>
            <a:r>
              <a:rPr lang="zh-CN" altLang="en-US" sz="1600" b="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的温度分布</a:t>
            </a:r>
            <a:endParaRPr lang="en-US" altLang="zh-CN" sz="1600" b="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24227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2020-TEMPLATE-EXTERNAL" val="pdtUH84H"/>
  <p:tag name="ARTICULATE_DESIGN_ID_SAS-EXTERNAL-16X9-2023" val="CJxW6PTk"/>
  <p:tag name="ARTICULATE_DESIGN_ID_1_NDA" val="5KPCLKMf"/>
  <p:tag name="ARTICULATE_DESIGN_ID_1_SAS-EXTERNAL-16X9-2023" val="OvZPFYIY"/>
  <p:tag name="ARTICULATE_DESIGN_ID_SAS - EXTERNAL - 16X9 - 2023" val="iju6vBOG"/>
  <p:tag name="ARTICULATE_DESIGN_ID_SAS - EXTERNAL" val="IZ9bNYet"/>
  <p:tag name="ARTICULATE_DESIGN_ID_SAS - EXTERNAL - NDA" val="RR4fBfJW"/>
  <p:tag name="ARTICULATE_SLIDE_THUMBNAIL_REFRESH" val="1"/>
  <p:tag name="ARTICULATE_DESIGN_ID_CUSTOM DESIGN" val="WASRYxhz"/>
  <p:tag name="ARTICULATE_SLIDE_COUNT" val="11"/>
  <p:tag name="ARTICULATE_PROJECT_OPEN" val="0"/>
  <p:tag name="COMMONDATA" val="eyJoZGlkIjoiY2FmNGJlNDAzN2U1NmMyNzMzZTc0YjA1YWNhMzZlNTE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AS - EXTERNAL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AS - EXTERNAL - NDA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SAS-2023">
      <a:dk1>
        <a:srgbClr val="000000"/>
      </a:dk1>
      <a:lt1>
        <a:srgbClr val="FFFFFF"/>
      </a:lt1>
      <a:dk2>
        <a:srgbClr val="032954"/>
      </a:dk2>
      <a:lt2>
        <a:srgbClr val="0766D1"/>
      </a:lt2>
      <a:accent1>
        <a:srgbClr val="0766D1"/>
      </a:accent1>
      <a:accent2>
        <a:srgbClr val="4398F9"/>
      </a:accent2>
      <a:accent3>
        <a:srgbClr val="C4DEFD"/>
      </a:accent3>
      <a:accent4>
        <a:srgbClr val="032954"/>
      </a:accent4>
      <a:accent5>
        <a:srgbClr val="7E889A"/>
      </a:accent5>
      <a:accent6>
        <a:srgbClr val="BAC0C9"/>
      </a:accent6>
      <a:hlink>
        <a:srgbClr val="4398F9"/>
      </a:hlink>
      <a:folHlink>
        <a:srgbClr val="C4DEFD"/>
      </a:folHlink>
    </a:clrScheme>
    <a:fontScheme name="Anova">
      <a:majorFont>
        <a:latin typeface="Anova Bold"/>
        <a:ea typeface=""/>
        <a:cs typeface=""/>
      </a:majorFont>
      <a:minorFont>
        <a:latin typeface="A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52B48C136D414EB12EC6609A2B4A69" ma:contentTypeVersion="5" ma:contentTypeDescription="Create a new document." ma:contentTypeScope="" ma:versionID="c506d0840867f1adddbc926f9a8dfc6f">
  <xsd:schema xmlns:xsd="http://www.w3.org/2001/XMLSchema" xmlns:xs="http://www.w3.org/2001/XMLSchema" xmlns:p="http://schemas.microsoft.com/office/2006/metadata/properties" xmlns:ns2="d21cdafc-5a3a-425e-9674-4fb06b514c0e" xmlns:ns3="6e647c50-2143-4825-9865-d236e7692e65" targetNamespace="http://schemas.microsoft.com/office/2006/metadata/properties" ma:root="true" ma:fieldsID="0df08590ed69fcf4c72a3fc3581b1869" ns2:_="" ns3:_="">
    <xsd:import namespace="d21cdafc-5a3a-425e-9674-4fb06b514c0e"/>
    <xsd:import namespace="6e647c50-2143-4825-9865-d236e7692e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1cdafc-5a3a-425e-9674-4fb06b514c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647c50-2143-4825-9865-d236e7692e6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1779852-367B-483D-8C46-CF2C7DC5D261}">
  <ds:schemaRefs/>
</ds:datastoreItem>
</file>

<file path=customXml/itemProps2.xml><?xml version="1.0" encoding="utf-8"?>
<ds:datastoreItem xmlns:ds="http://schemas.openxmlformats.org/officeDocument/2006/customXml" ds:itemID="{E3E925E4-5239-4639-A029-07B3CFD6A3F1}">
  <ds:schemaRefs/>
</ds:datastoreItem>
</file>

<file path=customXml/itemProps3.xml><?xml version="1.0" encoding="utf-8"?>
<ds:datastoreItem xmlns:ds="http://schemas.openxmlformats.org/officeDocument/2006/customXml" ds:itemID="{E2663518-7548-4643-8219-608BFF0DFA0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EXTERNAL_Template_2023</Template>
  <TotalTime>3696</TotalTime>
  <Words>1119</Words>
  <Application>Microsoft Office PowerPoint</Application>
  <PresentationFormat>宽屏</PresentationFormat>
  <Paragraphs>141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Anova Bold</vt:lpstr>
      <vt:lpstr>Anova Light</vt:lpstr>
      <vt:lpstr>等线</vt:lpstr>
      <vt:lpstr>Arial</vt:lpstr>
      <vt:lpstr>SAS - EXTERNAL</vt:lpstr>
      <vt:lpstr>SAS - EXTERNAL - NDA</vt:lpstr>
      <vt:lpstr>数智驱动的肉鸡养殖根因分析实施方案  第二周成果汇报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Plus Solution assist Value</dc:title>
  <dc:creator>Alex Zhang</dc:creator>
  <cp:lastModifiedBy>渊琰 肖</cp:lastModifiedBy>
  <cp:revision>184</cp:revision>
  <dcterms:created xsi:type="dcterms:W3CDTF">2023-10-08T03:09:00Z</dcterms:created>
  <dcterms:modified xsi:type="dcterms:W3CDTF">2025-05-13T01:13:01Z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451006F2-8E20-4D4E-B05C-4B5D02827FD6</vt:lpwstr>
  </property>
  <property fmtid="{D5CDD505-2E9C-101B-9397-08002B2CF9AE}" pid="3" name="ArticulatePath">
    <vt:lpwstr>2020-Template-External</vt:lpwstr>
  </property>
  <property fmtid="{D5CDD505-2E9C-101B-9397-08002B2CF9AE}" pid="4" name="ContentTypeId">
    <vt:lpwstr>0x0101008252B48C136D414EB12EC6609A2B4A69</vt:lpwstr>
  </property>
  <property fmtid="{D5CDD505-2E9C-101B-9397-08002B2CF9AE}" pid="5" name="ICV">
    <vt:lpwstr>5DA87FED2261458DA9A831FC15E03DC4_13</vt:lpwstr>
  </property>
  <property fmtid="{D5CDD505-2E9C-101B-9397-08002B2CF9AE}" pid="6" name="KSOProductBuildVer">
    <vt:lpwstr>2052-12.1.0.20784</vt:lpwstr>
  </property>
</Properties>
</file>