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2.xml" ContentType="application/vnd.openxmlformats-officedocument.presentationml.tags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ags/tag3.xml" ContentType="application/vnd.openxmlformats-officedocument.presentationml.tags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4"/>
    <p:sldMasterId id="2147483660" r:id="rId5"/>
  </p:sldMasterIdLst>
  <p:notesMasterIdLst>
    <p:notesMasterId r:id="rId16"/>
  </p:notesMasterIdLst>
  <p:handoutMasterIdLst>
    <p:handoutMasterId r:id="rId17"/>
  </p:handoutMasterIdLst>
  <p:sldIdLst>
    <p:sldId id="16771194" r:id="rId6"/>
    <p:sldId id="2147477478" r:id="rId7"/>
    <p:sldId id="2147477475" r:id="rId8"/>
    <p:sldId id="2147477476" r:id="rId9"/>
    <p:sldId id="2147477477" r:id="rId10"/>
    <p:sldId id="2147477471" r:id="rId11"/>
    <p:sldId id="2147477472" r:id="rId12"/>
    <p:sldId id="2147477473" r:id="rId13"/>
    <p:sldId id="2147477445" r:id="rId14"/>
    <p:sldId id="2147477474" r:id="rId15"/>
  </p:sldIdLst>
  <p:sldSz cx="12192000" cy="6858000"/>
  <p:notesSz cx="6858000" cy="9144000"/>
  <p:custDataLst>
    <p:tags r:id="rId18"/>
  </p:custDataLst>
  <p:defaultTextStyle>
    <a:defPPr>
      <a:defRPr lang="en-US"/>
    </a:defPPr>
    <a:lvl1pPr marL="0" algn="l" defTabSz="6096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600" algn="l" defTabSz="6096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9200" algn="l" defTabSz="6096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800" algn="l" defTabSz="6096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8400" algn="l" defTabSz="6096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8000" algn="l" defTabSz="6096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6965" algn="l" defTabSz="6096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6565" algn="l" defTabSz="6096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6165" algn="l" defTabSz="6096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E9C3829F-2C56-4915-AA34-5F93EE359221}">
          <p14:sldIdLst>
            <p14:sldId id="16771194"/>
          </p14:sldIdLst>
        </p14:section>
        <p14:section name="数据" id="{2FECDC8B-DE91-4323-AA2B-D801C56C963D}">
          <p14:sldIdLst/>
        </p14:section>
        <p14:section name="死淘" id="{132B593A-E1D9-4DD8-8D75-8389B5773F71}">
          <p14:sldIdLst/>
        </p14:section>
        <p14:section name="eef" id="{0CBA3FCE-B567-4F49-936C-7A69C0064915}">
          <p14:sldIdLst>
            <p14:sldId id="2147477478"/>
            <p14:sldId id="2147477475"/>
            <p14:sldId id="2147477476"/>
            <p14:sldId id="2147477477"/>
            <p14:sldId id="2147477471"/>
            <p14:sldId id="2147477472"/>
            <p14:sldId id="2147477473"/>
            <p14:sldId id="2147477445"/>
            <p14:sldId id="2147477474"/>
          </p14:sldIdLst>
        </p14:section>
        <p14:section name="下周计划" id="{AAB4484A-A58E-4FF9-9CE2-A3928016DD34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103" userDrawn="1">
          <p15:clr>
            <a:srgbClr val="A4A3A4"/>
          </p15:clr>
        </p15:guide>
        <p15:guide id="2" pos="2545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FFFFFF"/>
    <a:srgbClr val="F1F2F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中度样式 2 - 强调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376" autoAdjust="0"/>
    <p:restoredTop sz="93438" autoAdjust="0"/>
  </p:normalViewPr>
  <p:slideViewPr>
    <p:cSldViewPr snapToGrid="0" showGuides="1">
      <p:cViewPr varScale="1">
        <p:scale>
          <a:sx n="81" d="100"/>
          <a:sy n="81" d="100"/>
        </p:scale>
        <p:origin x="634" y="68"/>
      </p:cViewPr>
      <p:guideLst>
        <p:guide orient="horz" pos="2103"/>
        <p:guide pos="2545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0"/>
    </p:cViewPr>
  </p:sorterViewPr>
  <p:notesViewPr>
    <p:cSldViewPr snapToGrid="0">
      <p:cViewPr varScale="1">
        <p:scale>
          <a:sx n="63" d="100"/>
          <a:sy n="63" d="100"/>
        </p:scale>
        <p:origin x="3134" y="8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tags" Target="tags/tag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10" Type="http://schemas.openxmlformats.org/officeDocument/2006/relationships/slide" Target="slides/slide5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5CE34E3-7E5C-436A-9E6D-2FFC8FFCFCBF}" type="datetimeFigureOut">
              <a:rPr lang="en-US" smtClean="0">
                <a:latin typeface="Anova Light" panose="020B0403020203020204" pitchFamily="34" charset="0"/>
              </a:rPr>
              <a:t>5/13/2025</a:t>
            </a:fld>
            <a:endParaRPr lang="en-US" dirty="0">
              <a:latin typeface="Anova Light" panose="020B040302020302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0" y="0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algn="l"/>
            <a:fld id="{C4EF46A2-9381-4C51-8277-3C7F2938E9F9}" type="slidenum">
              <a:rPr lang="en-US" smtClean="0">
                <a:latin typeface="Anova Light" panose="020B0403020203020204" pitchFamily="34" charset="0"/>
              </a:rPr>
              <a:t>‹#›</a:t>
            </a:fld>
            <a:endParaRPr lang="en-US" dirty="0">
              <a:latin typeface="Anova Light" panose="020B040302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solidFill>
                  <a:schemeClr val="tx1"/>
                </a:solidFill>
                <a:latin typeface="Anova Light" panose="020B0403020203020204" pitchFamily="34" charset="0"/>
              </a:defRPr>
            </a:lvl1pPr>
          </a:lstStyle>
          <a:p>
            <a:fld id="{D46682E9-A1D3-F04F-A14F-ABAA4D2618F2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extBox 4"/>
          <p:cNvSpPr txBox="1"/>
          <p:nvPr/>
        </p:nvSpPr>
        <p:spPr>
          <a:xfrm>
            <a:off x="685800" y="8879554"/>
            <a:ext cx="2514600" cy="169277"/>
          </a:xfrm>
          <a:prstGeom prst="rect">
            <a:avLst/>
          </a:prstGeom>
          <a:noFill/>
        </p:spPr>
        <p:txBody>
          <a:bodyPr wrap="square" lIns="0" anchor="b" anchorCtr="0">
            <a:spAutoFit/>
          </a:bodyPr>
          <a:lstStyle/>
          <a:p>
            <a:pPr marL="0" marR="0" lvl="0" indent="0" algn="l" defTabSz="27432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500" b="0" i="0" u="none" strike="noStrike" kern="300" cap="none" spc="50" normalizeH="0" baseline="0" noProof="0" dirty="0">
                <a:ln>
                  <a:noFill/>
                </a:ln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uLnTx/>
                <a:uFillTx/>
                <a:latin typeface="Anova Light" panose="020B0403020203020204" pitchFamily="34" charset="0"/>
                <a:ea typeface="Anova Bold" panose="020B0703020203020204" pitchFamily="34" charset="0"/>
                <a:cs typeface="Anova Light" panose="020B0403020203020204" pitchFamily="34" charset="0"/>
              </a:rPr>
              <a:t>Copyright © SAS Institute Inc. All rights reserved.</a:t>
            </a:r>
          </a:p>
        </p:txBody>
      </p:sp>
      <p:sp>
        <p:nvSpPr>
          <p:cNvPr id="10" name="Slide Number Placeholder 4"/>
          <p:cNvSpPr>
            <a:spLocks noGrp="1"/>
          </p:cNvSpPr>
          <p:nvPr>
            <p:ph type="sldNum" sz="quarter" idx="5"/>
          </p:nvPr>
        </p:nvSpPr>
        <p:spPr>
          <a:xfrm>
            <a:off x="0" y="0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solidFill>
                  <a:schemeClr val="tx1"/>
                </a:solidFill>
                <a:latin typeface="Anova Light" panose="020B0403020203020204" pitchFamily="34" charset="0"/>
              </a:defRPr>
            </a:lvl1pPr>
          </a:lstStyle>
          <a:p>
            <a:pPr algn="l"/>
            <a:fld id="{C4EF46A2-9381-4C51-8277-3C7F2938E9F9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2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5992336" y="8788172"/>
            <a:ext cx="627951" cy="260659"/>
          </a:xfrm>
          <a:prstGeom prst="rect">
            <a:avLst/>
          </a:prstGeom>
        </p:spPr>
      </p:pic>
      <p:sp>
        <p:nvSpPr>
          <p:cNvPr id="6" name="TextBox 2"/>
          <p:cNvSpPr txBox="1"/>
          <p:nvPr/>
        </p:nvSpPr>
        <p:spPr>
          <a:xfrm>
            <a:off x="2493335" y="8732520"/>
            <a:ext cx="1871330" cy="21544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 defTabSz="182880"/>
            <a:r>
              <a:rPr lang="en-US" sz="800" dirty="0">
                <a:solidFill>
                  <a:schemeClr val="tx1"/>
                </a:solidFill>
                <a:latin typeface="Anova Light" panose="020B0403020203020204" pitchFamily="34" charset="0"/>
              </a:rPr>
              <a:t>sas.com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228600" indent="-228600" algn="l" defTabSz="1219200" rtl="0" eaLnBrk="1" latinLnBrk="0" hangingPunct="1">
      <a:buClr>
        <a:schemeClr val="accent5"/>
      </a:buClr>
      <a:buFont typeface="Anova Light" panose="020B0403020203020204" pitchFamily="34" charset="0"/>
      <a:buChar char="•"/>
      <a:defRPr sz="1600" b="0" i="0" kern="1200">
        <a:solidFill>
          <a:schemeClr val="tx1"/>
        </a:solidFill>
        <a:latin typeface="+mn-lt"/>
        <a:ea typeface="+mn-ea"/>
        <a:cs typeface="+mn-cs"/>
      </a:defRPr>
    </a:lvl1pPr>
    <a:lvl2pPr marL="838200" indent="-228600" algn="l" defTabSz="1219200" rtl="0" eaLnBrk="1" latinLnBrk="0" hangingPunct="1">
      <a:buClr>
        <a:schemeClr val="accent5"/>
      </a:buClr>
      <a:buFont typeface="Anova Light" panose="020B0403020203020204" pitchFamily="34" charset="0"/>
      <a:buChar char="–"/>
      <a:defRPr sz="1335" b="0" i="0" kern="1200">
        <a:solidFill>
          <a:schemeClr val="tx1"/>
        </a:solidFill>
        <a:latin typeface="+mn-lt"/>
        <a:ea typeface="+mn-ea"/>
        <a:cs typeface="+mn-cs"/>
      </a:defRPr>
    </a:lvl2pPr>
    <a:lvl3pPr marL="1447800" indent="-228600" algn="l" defTabSz="1219200" rtl="0" eaLnBrk="1" latinLnBrk="0" hangingPunct="1">
      <a:buClr>
        <a:schemeClr val="accent5"/>
      </a:buClr>
      <a:buFont typeface="Anova Light" panose="020B0403020203020204" pitchFamily="34" charset="0"/>
      <a:buChar char="•"/>
      <a:defRPr sz="1200" b="0" i="0" kern="1200">
        <a:solidFill>
          <a:schemeClr val="tx1"/>
        </a:solidFill>
        <a:latin typeface="+mn-lt"/>
        <a:ea typeface="+mn-ea"/>
        <a:cs typeface="+mn-cs"/>
      </a:defRPr>
    </a:lvl3pPr>
    <a:lvl4pPr marL="2057400" indent="-228600" algn="l" defTabSz="1219200" rtl="0" eaLnBrk="1" latinLnBrk="0" hangingPunct="1">
      <a:buClr>
        <a:schemeClr val="accent5"/>
      </a:buClr>
      <a:buFont typeface="Anova Light" panose="020B0403020203020204" pitchFamily="34" charset="0"/>
      <a:buChar char="–"/>
      <a:defRPr sz="1065" b="0" i="0" kern="1200">
        <a:solidFill>
          <a:schemeClr val="tx1"/>
        </a:solidFill>
        <a:latin typeface="+mn-lt"/>
        <a:ea typeface="+mn-ea"/>
        <a:cs typeface="+mn-cs"/>
      </a:defRPr>
    </a:lvl4pPr>
    <a:lvl5pPr marL="2667000" indent="-228600" algn="l" defTabSz="1219200" rtl="0" eaLnBrk="1" latinLnBrk="0" hangingPunct="1">
      <a:buClr>
        <a:schemeClr val="accent5"/>
      </a:buClr>
      <a:buFont typeface="Anova Light" panose="020B0403020203020204" pitchFamily="34" charset="0"/>
      <a:buChar char="•"/>
      <a:defRPr sz="935" b="0" i="0" kern="1200">
        <a:solidFill>
          <a:schemeClr val="tx1"/>
        </a:solidFill>
        <a:latin typeface="+mn-lt"/>
        <a:ea typeface="+mn-ea"/>
        <a:cs typeface="+mn-cs"/>
      </a:defRPr>
    </a:lvl5pPr>
    <a:lvl6pPr marL="30480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6965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6565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6165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AS - Titl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834954" y="1890117"/>
            <a:ext cx="10518846" cy="923330"/>
          </a:xfrm>
          <a:prstGeom prst="rect">
            <a:avLst/>
          </a:prstGeom>
        </p:spPr>
        <p:txBody>
          <a:bodyPr vert="horz" wrap="square" lIns="0" tIns="0" rIns="0" bIns="182880" rtlCol="0" anchor="b" anchorCtr="0">
            <a:spAutoFit/>
          </a:bodyPr>
          <a:lstStyle>
            <a:lvl1pPr>
              <a:lnSpc>
                <a:spcPct val="100000"/>
              </a:lnSpc>
              <a:spcBef>
                <a:spcPts val="400"/>
              </a:spcBef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Slideshow Title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10" hasCustomPrompt="1"/>
          </p:nvPr>
        </p:nvSpPr>
        <p:spPr>
          <a:xfrm>
            <a:off x="834954" y="2813447"/>
            <a:ext cx="10518846" cy="615553"/>
          </a:xfrm>
        </p:spPr>
        <p:txBody>
          <a:bodyPr wrap="square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3200">
                <a:solidFill>
                  <a:schemeClr val="accent3"/>
                </a:solidFill>
              </a:defRPr>
            </a:lvl1pPr>
            <a:lvl2pPr marL="243840" indent="0">
              <a:buNone/>
              <a:defRPr>
                <a:solidFill>
                  <a:schemeClr val="accent3"/>
                </a:solidFill>
              </a:defRPr>
            </a:lvl2pPr>
            <a:lvl3pPr marL="487680" indent="0">
              <a:buNone/>
              <a:defRPr>
                <a:solidFill>
                  <a:schemeClr val="accent3"/>
                </a:solidFill>
              </a:defRPr>
            </a:lvl3pPr>
            <a:lvl4pPr marL="1371600" indent="0">
              <a:buNone/>
              <a:defRPr>
                <a:solidFill>
                  <a:schemeClr val="accent3"/>
                </a:solidFill>
              </a:defRPr>
            </a:lvl4pPr>
            <a:lvl5pPr marL="1828800" indent="0">
              <a:buNone/>
              <a:defRPr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Click to Add Slideshow Subtitle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1" hasCustomPrompt="1"/>
          </p:nvPr>
        </p:nvSpPr>
        <p:spPr>
          <a:xfrm>
            <a:off x="834955" y="5517985"/>
            <a:ext cx="8082481" cy="705015"/>
          </a:xfrm>
        </p:spPr>
        <p:txBody>
          <a:bodyPr wrap="square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865">
                <a:solidFill>
                  <a:schemeClr val="accent3"/>
                </a:solidFill>
              </a:defRPr>
            </a:lvl1pPr>
            <a:lvl2pPr marL="243840" indent="0">
              <a:buNone/>
              <a:defRPr sz="1465">
                <a:solidFill>
                  <a:schemeClr val="accent3"/>
                </a:solidFill>
              </a:defRPr>
            </a:lvl2pPr>
            <a:lvl3pPr marL="487680" indent="0">
              <a:buNone/>
              <a:defRPr sz="1400">
                <a:solidFill>
                  <a:schemeClr val="accent3"/>
                </a:solidFill>
              </a:defRPr>
            </a:lvl3pPr>
            <a:lvl4pPr marL="1371600" indent="0">
              <a:buNone/>
              <a:defRPr sz="1335">
                <a:solidFill>
                  <a:schemeClr val="accent3"/>
                </a:solidFill>
              </a:defRPr>
            </a:lvl4pPr>
            <a:lvl5pPr marL="1828800" indent="0">
              <a:buNone/>
              <a:defRPr sz="1335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Click to Add Presenter Info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AS - Section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834955" y="2505670"/>
            <a:ext cx="8082481" cy="923330"/>
          </a:xfrm>
          <a:prstGeom prst="rect">
            <a:avLst/>
          </a:prstGeom>
        </p:spPr>
        <p:txBody>
          <a:bodyPr vert="horz" wrap="square" lIns="0" tIns="0" rIns="0" bIns="182880" rtlCol="0" anchor="b" anchorCtr="0">
            <a:spAutoFit/>
          </a:bodyPr>
          <a:lstStyle>
            <a:lvl1pPr>
              <a:lnSpc>
                <a:spcPct val="100000"/>
              </a:lnSpc>
              <a:spcBef>
                <a:spcPts val="400"/>
              </a:spcBef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Section Title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10" hasCustomPrompt="1"/>
          </p:nvPr>
        </p:nvSpPr>
        <p:spPr>
          <a:xfrm>
            <a:off x="834955" y="3561836"/>
            <a:ext cx="8082481" cy="615553"/>
          </a:xfrm>
        </p:spPr>
        <p:txBody>
          <a:bodyPr wrap="square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3200">
                <a:solidFill>
                  <a:schemeClr val="bg1"/>
                </a:solidFill>
              </a:defRPr>
            </a:lvl1pPr>
            <a:lvl2pPr marL="243840" indent="0">
              <a:buNone/>
              <a:defRPr>
                <a:solidFill>
                  <a:schemeClr val="accent3"/>
                </a:solidFill>
              </a:defRPr>
            </a:lvl2pPr>
            <a:lvl3pPr marL="487680" indent="0">
              <a:buNone/>
              <a:defRPr>
                <a:solidFill>
                  <a:schemeClr val="accent3"/>
                </a:solidFill>
              </a:defRPr>
            </a:lvl3pPr>
            <a:lvl4pPr marL="1371600" indent="0">
              <a:buNone/>
              <a:defRPr>
                <a:solidFill>
                  <a:schemeClr val="accent3"/>
                </a:solidFill>
              </a:defRPr>
            </a:lvl4pPr>
            <a:lvl5pPr marL="1828800" indent="0">
              <a:buNone/>
              <a:defRPr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Click to Add Section Subtitle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AS - 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838200" y="473536"/>
            <a:ext cx="10515600" cy="517064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/>
          <a:p>
            <a:r>
              <a:rPr lang="en-US" dirty="0"/>
              <a:t>Click to Add Slide Title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AS - Title &amp; Sub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 algn="l"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Click to Add Slide Title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1041400"/>
            <a:ext cx="10515600" cy="366255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>
              <a:buNone/>
              <a:defRPr>
                <a:solidFill>
                  <a:schemeClr val="bg2"/>
                </a:solidFill>
              </a:defRPr>
            </a:lvl1pPr>
            <a:lvl2pPr marL="243840" indent="0">
              <a:buNone/>
              <a:defRPr/>
            </a:lvl2pPr>
            <a:lvl3pPr marL="4876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AS -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Click to Add Slide Title</a:t>
            </a:r>
          </a:p>
        </p:txBody>
      </p:sp>
      <p:sp>
        <p:nvSpPr>
          <p:cNvPr id="4" name="Text Placeholder 2"/>
          <p:cNvSpPr>
            <a:spLocks noGrp="1"/>
          </p:cNvSpPr>
          <p:nvPr>
            <p:ph idx="1"/>
          </p:nvPr>
        </p:nvSpPr>
        <p:spPr>
          <a:xfrm>
            <a:off x="838200" y="1600200"/>
            <a:ext cx="10515600" cy="4576764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defRPr sz="2400"/>
            </a:lvl1pPr>
            <a:lvl2pPr>
              <a:defRPr sz="1865"/>
            </a:lvl2pPr>
            <a:lvl3pPr>
              <a:defRPr sz="1600">
                <a:latin typeface="+mn-lt"/>
              </a:defRPr>
            </a:lvl3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</p:txBody>
      </p:sp>
      <p:sp>
        <p:nvSpPr>
          <p:cNvPr id="8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1041400"/>
            <a:ext cx="10515600" cy="366255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>
              <a:buNone/>
              <a:defRPr>
                <a:solidFill>
                  <a:schemeClr val="bg2"/>
                </a:solidFill>
              </a:defRPr>
            </a:lvl1pPr>
            <a:lvl2pPr marL="243840" indent="0">
              <a:buNone/>
              <a:defRPr/>
            </a:lvl2pPr>
            <a:lvl3pPr marL="4876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AS - 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Click to Add Slide Title</a:t>
            </a:r>
          </a:p>
        </p:txBody>
      </p:sp>
      <p:sp>
        <p:nvSpPr>
          <p:cNvPr id="5" name="Text Placeholder 2"/>
          <p:cNvSpPr>
            <a:spLocks noGrp="1"/>
          </p:cNvSpPr>
          <p:nvPr>
            <p:ph idx="1"/>
          </p:nvPr>
        </p:nvSpPr>
        <p:spPr>
          <a:xfrm>
            <a:off x="838199" y="1600201"/>
            <a:ext cx="5161231" cy="4576763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defRPr sz="2400"/>
            </a:lvl1pPr>
            <a:lvl2pPr>
              <a:defRPr sz="1865">
                <a:latin typeface="+mn-lt"/>
              </a:defRPr>
            </a:lvl2pPr>
            <a:lvl3pPr>
              <a:defRPr sz="1600">
                <a:latin typeface="+mn-lt"/>
              </a:defRPr>
            </a:lvl3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</p:txBody>
      </p:sp>
      <p:sp>
        <p:nvSpPr>
          <p:cNvPr id="7" name="Text Placeholder 2"/>
          <p:cNvSpPr>
            <a:spLocks noGrp="1"/>
          </p:cNvSpPr>
          <p:nvPr>
            <p:ph idx="11"/>
          </p:nvPr>
        </p:nvSpPr>
        <p:spPr>
          <a:xfrm>
            <a:off x="6192571" y="1600201"/>
            <a:ext cx="5161232" cy="4576763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defRPr sz="2400"/>
            </a:lvl1pPr>
            <a:lvl2pPr>
              <a:defRPr sz="1865">
                <a:latin typeface="+mn-lt"/>
              </a:defRPr>
            </a:lvl2pPr>
            <a:lvl3pPr>
              <a:defRPr sz="1600">
                <a:latin typeface="+mn-lt"/>
              </a:defRPr>
            </a:lvl3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1041400"/>
            <a:ext cx="10515600" cy="366255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>
              <a:buNone/>
              <a:defRPr>
                <a:solidFill>
                  <a:schemeClr val="bg2"/>
                </a:solidFill>
              </a:defRPr>
            </a:lvl1pPr>
            <a:lvl2pPr marL="243840" indent="0">
              <a:buNone/>
              <a:defRPr/>
            </a:lvl2pPr>
            <a:lvl3pPr marL="4876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AS - Title Only R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838200" y="2911937"/>
            <a:ext cx="2952184" cy="1034129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en-US" dirty="0"/>
              <a:t>Click to Add Slide Title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AS - Title &amp; Subtitle R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3947330"/>
            <a:ext cx="3336233" cy="366255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 algn="l">
              <a:buNone/>
              <a:defRPr>
                <a:solidFill>
                  <a:schemeClr val="bg2"/>
                </a:solidFill>
              </a:defRPr>
            </a:lvl1pPr>
            <a:lvl2pPr marL="243840" indent="0">
              <a:buNone/>
              <a:defRPr/>
            </a:lvl2pPr>
            <a:lvl3pPr marL="4876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hasCustomPrompt="1"/>
          </p:nvPr>
        </p:nvSpPr>
        <p:spPr>
          <a:xfrm>
            <a:off x="834955" y="2768821"/>
            <a:ext cx="3334512" cy="1034386"/>
          </a:xfrm>
        </p:spPr>
        <p:txBody>
          <a:bodyPr vert="horz" wrap="square" lIns="0" tIns="0" rIns="0" bIns="0" rtlCol="0" anchor="b" anchorCtr="0">
            <a:spAutoFit/>
          </a:bodyPr>
          <a:lstStyle>
            <a:lvl1pPr>
              <a:defRPr lang="en-US"/>
            </a:lvl1pPr>
          </a:lstStyle>
          <a:p>
            <a:pPr marL="0" lvl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dirty="0"/>
              <a:t>Click to Add Slide Title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AS - Closing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834955" y="2967336"/>
            <a:ext cx="8708755" cy="923330"/>
          </a:xfrm>
          <a:prstGeom prst="rect">
            <a:avLst/>
          </a:prstGeom>
        </p:spPr>
        <p:txBody>
          <a:bodyPr vert="horz" wrap="square" lIns="0" tIns="0" rIns="0" bIns="182880" rtlCol="0" anchor="ctr" anchorCtr="0">
            <a:spAutoFit/>
          </a:bodyPr>
          <a:lstStyle>
            <a:lvl1pPr>
              <a:lnSpc>
                <a:spcPct val="100000"/>
              </a:lnSpc>
              <a:spcBef>
                <a:spcPts val="400"/>
              </a:spcBef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Slideshow Closing</a:t>
            </a:r>
          </a:p>
        </p:txBody>
      </p:sp>
      <p:sp>
        <p:nvSpPr>
          <p:cNvPr id="2" name="Text Placeholder 15"/>
          <p:cNvSpPr>
            <a:spLocks noGrp="1"/>
          </p:cNvSpPr>
          <p:nvPr>
            <p:ph type="body" sz="quarter" idx="11" hasCustomPrompt="1"/>
          </p:nvPr>
        </p:nvSpPr>
        <p:spPr>
          <a:xfrm>
            <a:off x="834955" y="5517985"/>
            <a:ext cx="8082481" cy="705015"/>
          </a:xfrm>
        </p:spPr>
        <p:txBody>
          <a:bodyPr wrap="square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865">
                <a:solidFill>
                  <a:schemeClr val="accent3"/>
                </a:solidFill>
              </a:defRPr>
            </a:lvl1pPr>
            <a:lvl2pPr marL="243840" indent="0">
              <a:buNone/>
              <a:defRPr sz="1465">
                <a:solidFill>
                  <a:schemeClr val="accent3"/>
                </a:solidFill>
              </a:defRPr>
            </a:lvl2pPr>
            <a:lvl3pPr marL="487680" indent="0">
              <a:buNone/>
              <a:defRPr sz="1400">
                <a:solidFill>
                  <a:schemeClr val="accent3"/>
                </a:solidFill>
              </a:defRPr>
            </a:lvl3pPr>
            <a:lvl4pPr marL="1371600" indent="0">
              <a:buNone/>
              <a:defRPr sz="1335">
                <a:solidFill>
                  <a:schemeClr val="accent3"/>
                </a:solidFill>
              </a:defRPr>
            </a:lvl4pPr>
            <a:lvl5pPr marL="1828800" indent="0">
              <a:buNone/>
              <a:defRPr sz="1335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Click to add a website or email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SAS - Blank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AS - Video Only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4"/>
          <p:cNvSpPr txBox="1"/>
          <p:nvPr userDrawn="1"/>
        </p:nvSpPr>
        <p:spPr>
          <a:xfrm>
            <a:off x="834955" y="6539393"/>
            <a:ext cx="3352800" cy="194990"/>
          </a:xfrm>
          <a:prstGeom prst="rect">
            <a:avLst/>
          </a:prstGeom>
          <a:noFill/>
        </p:spPr>
        <p:txBody>
          <a:bodyPr wrap="square" lIns="0" anchor="b" anchorCtr="0">
            <a:spAutoFit/>
          </a:bodyPr>
          <a:lstStyle/>
          <a:p>
            <a:pPr marL="0" marR="0" lvl="0" indent="0" algn="l" defTabSz="36576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665" b="0" i="0" u="none" strike="noStrike" kern="300" cap="none" spc="67" normalizeH="0" baseline="0" noProof="0" dirty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Anova Light" panose="020B0403020203020204" pitchFamily="34" charset="0"/>
                <a:ea typeface="Anova Bold" panose="020B0703020203020204" pitchFamily="34" charset="0"/>
                <a:cs typeface="Anova Light" panose="020B0403020203020204" pitchFamily="34" charset="0"/>
              </a:rPr>
              <a:t>Copyright © SAS Institute Inc. All rights reserved.</a:t>
            </a:r>
          </a:p>
        </p:txBody>
      </p:sp>
      <p:pic>
        <p:nvPicPr>
          <p:cNvPr id="2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11217439" y="6344362"/>
            <a:ext cx="741875" cy="30794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AS - Titl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642533" y="5517984"/>
            <a:ext cx="1711268" cy="705016"/>
          </a:xfrm>
          <a:prstGeom prst="rect">
            <a:avLst/>
          </a:prstGeom>
        </p:spPr>
      </p:pic>
      <p:sp>
        <p:nvSpPr>
          <p:cNvPr id="7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834955" y="1890117"/>
            <a:ext cx="10521696" cy="923330"/>
          </a:xfrm>
          <a:prstGeom prst="rect">
            <a:avLst/>
          </a:prstGeom>
        </p:spPr>
        <p:txBody>
          <a:bodyPr vert="horz" wrap="square" lIns="0" tIns="0" rIns="0" bIns="182880" rtlCol="0" anchor="b" anchorCtr="0">
            <a:spAutoFit/>
          </a:bodyPr>
          <a:lstStyle>
            <a:lvl1pPr>
              <a:lnSpc>
                <a:spcPct val="100000"/>
              </a:lnSpc>
              <a:spcBef>
                <a:spcPts val="400"/>
              </a:spcBef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Slideshow Title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10" hasCustomPrompt="1"/>
          </p:nvPr>
        </p:nvSpPr>
        <p:spPr>
          <a:xfrm>
            <a:off x="834955" y="2813447"/>
            <a:ext cx="10521696" cy="615553"/>
          </a:xfrm>
        </p:spPr>
        <p:txBody>
          <a:bodyPr wrap="square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3200">
                <a:solidFill>
                  <a:schemeClr val="accent3"/>
                </a:solidFill>
              </a:defRPr>
            </a:lvl1pPr>
            <a:lvl2pPr marL="243840" indent="0">
              <a:buNone/>
              <a:defRPr>
                <a:solidFill>
                  <a:schemeClr val="accent3"/>
                </a:solidFill>
              </a:defRPr>
            </a:lvl2pPr>
            <a:lvl3pPr marL="487680" indent="0">
              <a:buNone/>
              <a:defRPr>
                <a:solidFill>
                  <a:schemeClr val="accent3"/>
                </a:solidFill>
              </a:defRPr>
            </a:lvl3pPr>
            <a:lvl4pPr marL="1371600" indent="0">
              <a:buNone/>
              <a:defRPr>
                <a:solidFill>
                  <a:schemeClr val="accent3"/>
                </a:solidFill>
              </a:defRPr>
            </a:lvl4pPr>
            <a:lvl5pPr marL="1828800" indent="0">
              <a:buNone/>
              <a:defRPr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Click to Add Slideshow Subtitle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1" hasCustomPrompt="1"/>
          </p:nvPr>
        </p:nvSpPr>
        <p:spPr>
          <a:xfrm>
            <a:off x="834955" y="5517985"/>
            <a:ext cx="8082481" cy="705015"/>
          </a:xfrm>
        </p:spPr>
        <p:txBody>
          <a:bodyPr wrap="square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865">
                <a:solidFill>
                  <a:schemeClr val="accent3"/>
                </a:solidFill>
              </a:defRPr>
            </a:lvl1pPr>
            <a:lvl2pPr marL="243840" indent="0">
              <a:buNone/>
              <a:defRPr sz="1465">
                <a:solidFill>
                  <a:schemeClr val="accent3"/>
                </a:solidFill>
              </a:defRPr>
            </a:lvl2pPr>
            <a:lvl3pPr marL="487680" indent="0">
              <a:buNone/>
              <a:defRPr sz="1400">
                <a:solidFill>
                  <a:schemeClr val="accent3"/>
                </a:solidFill>
              </a:defRPr>
            </a:lvl3pPr>
            <a:lvl4pPr marL="1371600" indent="0">
              <a:buNone/>
              <a:defRPr sz="1335">
                <a:solidFill>
                  <a:schemeClr val="accent3"/>
                </a:solidFill>
              </a:defRPr>
            </a:lvl4pPr>
            <a:lvl5pPr marL="1828800" indent="0">
              <a:buNone/>
              <a:defRPr sz="1335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Click to Add Presenter Info</a:t>
            </a:r>
          </a:p>
        </p:txBody>
      </p:sp>
      <p:sp>
        <p:nvSpPr>
          <p:cNvPr id="2" name="TextBox 4"/>
          <p:cNvSpPr txBox="1"/>
          <p:nvPr userDrawn="1"/>
        </p:nvSpPr>
        <p:spPr>
          <a:xfrm>
            <a:off x="834955" y="6539393"/>
            <a:ext cx="3352800" cy="194990"/>
          </a:xfrm>
          <a:prstGeom prst="rect">
            <a:avLst/>
          </a:prstGeom>
          <a:noFill/>
        </p:spPr>
        <p:txBody>
          <a:bodyPr wrap="square" lIns="0" anchor="b" anchorCtr="0">
            <a:spAutoFit/>
          </a:bodyPr>
          <a:lstStyle/>
          <a:p>
            <a:pPr marL="0" marR="0" lvl="0" indent="0" algn="l" defTabSz="36576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665" b="0" i="0" u="none" strike="noStrike" kern="300" cap="none" spc="67" normalizeH="0" baseline="0" noProof="0" dirty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Anova Light" panose="020B0403020203020204" pitchFamily="34" charset="0"/>
                <a:ea typeface="Anova Bold" panose="020B0703020203020204" pitchFamily="34" charset="0"/>
                <a:cs typeface="Anova Light" panose="020B0403020203020204" pitchFamily="34" charset="0"/>
              </a:rPr>
              <a:t>Copyright © SAS Institute Inc. All rights reserved.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AS - Section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834955" y="2505670"/>
            <a:ext cx="8082481" cy="923330"/>
          </a:xfrm>
          <a:prstGeom prst="rect">
            <a:avLst/>
          </a:prstGeom>
        </p:spPr>
        <p:txBody>
          <a:bodyPr vert="horz" wrap="square" lIns="0" tIns="0" rIns="0" bIns="182880" rtlCol="0" anchor="b" anchorCtr="0">
            <a:spAutoFit/>
          </a:bodyPr>
          <a:lstStyle>
            <a:lvl1pPr>
              <a:lnSpc>
                <a:spcPct val="100000"/>
              </a:lnSpc>
              <a:spcBef>
                <a:spcPts val="400"/>
              </a:spcBef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Section Title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10" hasCustomPrompt="1"/>
          </p:nvPr>
        </p:nvSpPr>
        <p:spPr>
          <a:xfrm>
            <a:off x="834955" y="3561836"/>
            <a:ext cx="8082481" cy="615553"/>
          </a:xfrm>
        </p:spPr>
        <p:txBody>
          <a:bodyPr wrap="square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3200">
                <a:solidFill>
                  <a:schemeClr val="bg1"/>
                </a:solidFill>
              </a:defRPr>
            </a:lvl1pPr>
            <a:lvl2pPr marL="243840" indent="0">
              <a:buNone/>
              <a:defRPr>
                <a:solidFill>
                  <a:schemeClr val="accent3"/>
                </a:solidFill>
              </a:defRPr>
            </a:lvl2pPr>
            <a:lvl3pPr marL="487680" indent="0">
              <a:buNone/>
              <a:defRPr>
                <a:solidFill>
                  <a:schemeClr val="accent3"/>
                </a:solidFill>
              </a:defRPr>
            </a:lvl3pPr>
            <a:lvl4pPr marL="1371600" indent="0">
              <a:buNone/>
              <a:defRPr>
                <a:solidFill>
                  <a:schemeClr val="accent3"/>
                </a:solidFill>
              </a:defRPr>
            </a:lvl4pPr>
            <a:lvl5pPr marL="1828800" indent="0">
              <a:buNone/>
              <a:defRPr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Click to Add Section Subtitle</a:t>
            </a:r>
          </a:p>
        </p:txBody>
      </p:sp>
      <p:sp>
        <p:nvSpPr>
          <p:cNvPr id="2" name="TextBox 4"/>
          <p:cNvSpPr txBox="1"/>
          <p:nvPr userDrawn="1"/>
        </p:nvSpPr>
        <p:spPr>
          <a:xfrm>
            <a:off x="834955" y="6539393"/>
            <a:ext cx="3352800" cy="194990"/>
          </a:xfrm>
          <a:prstGeom prst="rect">
            <a:avLst/>
          </a:prstGeom>
          <a:noFill/>
        </p:spPr>
        <p:txBody>
          <a:bodyPr wrap="square" lIns="0" anchor="b" anchorCtr="0">
            <a:spAutoFit/>
          </a:bodyPr>
          <a:lstStyle/>
          <a:p>
            <a:pPr marL="0" marR="0" lvl="0" indent="0" algn="l" defTabSz="36576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665" b="0" i="0" u="none" strike="noStrike" kern="300" cap="none" spc="67" normalizeH="0" baseline="0" noProof="0" dirty="0">
                <a:ln>
                  <a:noFill/>
                </a:ln>
                <a:solidFill>
                  <a:schemeClr val="accent5">
                    <a:lumMod val="20000"/>
                    <a:lumOff val="80000"/>
                  </a:schemeClr>
                </a:solidFill>
                <a:effectLst/>
                <a:uLnTx/>
                <a:uFillTx/>
                <a:latin typeface="Anova Light" panose="020B0403020203020204" pitchFamily="34" charset="0"/>
                <a:ea typeface="Anova Bold" panose="020B0703020203020204" pitchFamily="34" charset="0"/>
                <a:cs typeface="Anova Light" panose="020B0403020203020204" pitchFamily="34" charset="0"/>
              </a:rPr>
              <a:t>Copyright © SAS Institute Inc. All rights reserved.</a:t>
            </a:r>
          </a:p>
        </p:txBody>
      </p:sp>
      <p:pic>
        <p:nvPicPr>
          <p:cNvPr id="3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11217439" y="6344362"/>
            <a:ext cx="741875" cy="30794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AS - 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838200" y="473536"/>
            <a:ext cx="10515600" cy="517064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/>
          <a:p>
            <a:r>
              <a:rPr lang="en-US" dirty="0"/>
              <a:t>Click to Add Slide Title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AS - Title &amp;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 algn="l"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Click to Add Slide Title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1041400"/>
            <a:ext cx="10515600" cy="366255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>
              <a:buNone/>
              <a:defRPr>
                <a:solidFill>
                  <a:schemeClr val="bg2"/>
                </a:solidFill>
              </a:defRPr>
            </a:lvl1pPr>
            <a:lvl2pPr marL="243840" indent="0">
              <a:buNone/>
              <a:defRPr/>
            </a:lvl2pPr>
            <a:lvl3pPr marL="4876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AS -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Click to Add Slide Title</a:t>
            </a:r>
          </a:p>
        </p:txBody>
      </p:sp>
      <p:sp>
        <p:nvSpPr>
          <p:cNvPr id="4" name="Text Placeholder 2"/>
          <p:cNvSpPr>
            <a:spLocks noGrp="1"/>
          </p:cNvSpPr>
          <p:nvPr>
            <p:ph idx="1"/>
          </p:nvPr>
        </p:nvSpPr>
        <p:spPr>
          <a:xfrm>
            <a:off x="838200" y="1600200"/>
            <a:ext cx="10515600" cy="4296182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defRPr sz="2400"/>
            </a:lvl1pPr>
            <a:lvl2pPr>
              <a:defRPr sz="1865"/>
            </a:lvl2pPr>
            <a:lvl3pPr>
              <a:defRPr sz="1600">
                <a:latin typeface="+mn-lt"/>
              </a:defRPr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8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1041400"/>
            <a:ext cx="10515600" cy="366255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>
              <a:buNone/>
              <a:defRPr>
                <a:solidFill>
                  <a:schemeClr val="accent1"/>
                </a:solidFill>
              </a:defRPr>
            </a:lvl1pPr>
            <a:lvl2pPr marL="243840" indent="0">
              <a:buNone/>
              <a:defRPr/>
            </a:lvl2pPr>
            <a:lvl3pPr marL="4876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AS - 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Click to Add Slide Title</a:t>
            </a:r>
          </a:p>
        </p:txBody>
      </p:sp>
      <p:sp>
        <p:nvSpPr>
          <p:cNvPr id="5" name="Text Placeholder 2"/>
          <p:cNvSpPr>
            <a:spLocks noGrp="1"/>
          </p:cNvSpPr>
          <p:nvPr>
            <p:ph idx="1"/>
          </p:nvPr>
        </p:nvSpPr>
        <p:spPr>
          <a:xfrm>
            <a:off x="838199" y="1600200"/>
            <a:ext cx="5161231" cy="4296182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defRPr sz="2400"/>
            </a:lvl1pPr>
            <a:lvl2pPr>
              <a:defRPr sz="1865">
                <a:latin typeface="+mn-lt"/>
              </a:defRPr>
            </a:lvl2pPr>
            <a:lvl3pPr>
              <a:defRPr sz="1600">
                <a:latin typeface="+mn-lt"/>
              </a:defRPr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7" name="Text Placeholder 2"/>
          <p:cNvSpPr>
            <a:spLocks noGrp="1"/>
          </p:cNvSpPr>
          <p:nvPr>
            <p:ph idx="11"/>
          </p:nvPr>
        </p:nvSpPr>
        <p:spPr>
          <a:xfrm>
            <a:off x="6192571" y="1600200"/>
            <a:ext cx="5161232" cy="4296182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defRPr sz="2400"/>
            </a:lvl1pPr>
            <a:lvl2pPr>
              <a:defRPr sz="1865">
                <a:latin typeface="+mn-lt"/>
              </a:defRPr>
            </a:lvl2pPr>
            <a:lvl3pPr>
              <a:defRPr sz="1600">
                <a:latin typeface="+mn-lt"/>
              </a:defRPr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1041400"/>
            <a:ext cx="10515600" cy="366255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>
              <a:buNone/>
              <a:defRPr>
                <a:solidFill>
                  <a:schemeClr val="bg2"/>
                </a:solidFill>
              </a:defRPr>
            </a:lvl1pPr>
            <a:lvl2pPr marL="243840" indent="0">
              <a:buNone/>
              <a:defRPr/>
            </a:lvl2pPr>
            <a:lvl3pPr marL="4876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AS - Title Only R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838200" y="2911937"/>
            <a:ext cx="2952184" cy="1034129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en-US" dirty="0"/>
              <a:t>Click to Add Slide Title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AS - Title &amp; Subtitle R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3947330"/>
            <a:ext cx="3336233" cy="366255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 algn="l">
              <a:buNone/>
              <a:defRPr>
                <a:solidFill>
                  <a:schemeClr val="bg2"/>
                </a:solidFill>
              </a:defRPr>
            </a:lvl1pPr>
            <a:lvl2pPr marL="243840" indent="0">
              <a:buNone/>
              <a:defRPr/>
            </a:lvl2pPr>
            <a:lvl3pPr marL="4876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hasCustomPrompt="1"/>
          </p:nvPr>
        </p:nvSpPr>
        <p:spPr>
          <a:xfrm>
            <a:off x="834955" y="2768821"/>
            <a:ext cx="3334512" cy="1034386"/>
          </a:xfrm>
        </p:spPr>
        <p:txBody>
          <a:bodyPr vert="horz" wrap="square" lIns="0" tIns="0" rIns="0" bIns="0" rtlCol="0" anchor="b" anchorCtr="0">
            <a:spAutoFit/>
          </a:bodyPr>
          <a:lstStyle>
            <a:lvl1pPr>
              <a:defRPr lang="en-US"/>
            </a:lvl1pPr>
          </a:lstStyle>
          <a:p>
            <a:pPr marL="0" lvl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dirty="0"/>
              <a:t>Click to Add Slide Title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AS - Closing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834955" y="2967336"/>
            <a:ext cx="8708755" cy="923330"/>
          </a:xfrm>
          <a:prstGeom prst="rect">
            <a:avLst/>
          </a:prstGeom>
        </p:spPr>
        <p:txBody>
          <a:bodyPr vert="horz" wrap="square" lIns="0" tIns="0" rIns="0" bIns="182880" rtlCol="0" anchor="ctr" anchorCtr="0">
            <a:spAutoFit/>
          </a:bodyPr>
          <a:lstStyle>
            <a:lvl1pPr>
              <a:lnSpc>
                <a:spcPct val="100000"/>
              </a:lnSpc>
              <a:spcBef>
                <a:spcPts val="400"/>
              </a:spcBef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Slideshow Closing</a:t>
            </a:r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642533" y="5517984"/>
            <a:ext cx="1711268" cy="705016"/>
          </a:xfrm>
          <a:prstGeom prst="rect">
            <a:avLst/>
          </a:prstGeom>
        </p:spPr>
      </p:pic>
      <p:sp>
        <p:nvSpPr>
          <p:cNvPr id="2" name="Text Placeholder 15"/>
          <p:cNvSpPr>
            <a:spLocks noGrp="1"/>
          </p:cNvSpPr>
          <p:nvPr>
            <p:ph type="body" sz="quarter" idx="11" hasCustomPrompt="1"/>
          </p:nvPr>
        </p:nvSpPr>
        <p:spPr>
          <a:xfrm>
            <a:off x="834955" y="5517985"/>
            <a:ext cx="8082481" cy="705015"/>
          </a:xfrm>
        </p:spPr>
        <p:txBody>
          <a:bodyPr wrap="square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865">
                <a:solidFill>
                  <a:schemeClr val="accent3"/>
                </a:solidFill>
              </a:defRPr>
            </a:lvl1pPr>
            <a:lvl2pPr marL="243840" indent="0">
              <a:buNone/>
              <a:defRPr sz="1465">
                <a:solidFill>
                  <a:schemeClr val="accent3"/>
                </a:solidFill>
              </a:defRPr>
            </a:lvl2pPr>
            <a:lvl3pPr marL="487680" indent="0">
              <a:buNone/>
              <a:defRPr sz="1400">
                <a:solidFill>
                  <a:schemeClr val="accent3"/>
                </a:solidFill>
              </a:defRPr>
            </a:lvl3pPr>
            <a:lvl4pPr marL="1371600" indent="0">
              <a:buNone/>
              <a:defRPr sz="1335">
                <a:solidFill>
                  <a:schemeClr val="accent3"/>
                </a:solidFill>
              </a:defRPr>
            </a:lvl4pPr>
            <a:lvl5pPr marL="1828800" indent="0">
              <a:buNone/>
              <a:defRPr sz="1335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Click to add a website or email</a:t>
            </a:r>
          </a:p>
        </p:txBody>
      </p:sp>
      <p:sp>
        <p:nvSpPr>
          <p:cNvPr id="3" name="TextBox 4"/>
          <p:cNvSpPr txBox="1"/>
          <p:nvPr userDrawn="1"/>
        </p:nvSpPr>
        <p:spPr>
          <a:xfrm>
            <a:off x="834955" y="6539393"/>
            <a:ext cx="3352800" cy="194990"/>
          </a:xfrm>
          <a:prstGeom prst="rect">
            <a:avLst/>
          </a:prstGeom>
          <a:noFill/>
        </p:spPr>
        <p:txBody>
          <a:bodyPr wrap="square" lIns="0" anchor="b" anchorCtr="0">
            <a:spAutoFit/>
          </a:bodyPr>
          <a:lstStyle/>
          <a:p>
            <a:pPr marL="0" marR="0" lvl="0" indent="0" algn="l" defTabSz="36576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665" b="0" i="0" u="none" strike="noStrike" kern="300" cap="none" spc="67" normalizeH="0" baseline="0" noProof="0" dirty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Anova Light" panose="020B0403020203020204" pitchFamily="34" charset="0"/>
                <a:ea typeface="Anova Bold" panose="020B0703020203020204" pitchFamily="34" charset="0"/>
                <a:cs typeface="Anova Light" panose="020B0403020203020204" pitchFamily="34" charset="0"/>
              </a:rPr>
              <a:t>Copyright © SAS Institute Inc. All rights reserved.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AS - Blank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AS - Video Only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ags" Target="../tags/tag2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sv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ags" Target="../tags/tag3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6" Type="http://schemas.openxmlformats.org/officeDocument/2006/relationships/image" Target="../media/image4.svg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image" Target="../media/image5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4"/>
          <p:cNvSpPr txBox="1"/>
          <p:nvPr userDrawn="1"/>
        </p:nvSpPr>
        <p:spPr>
          <a:xfrm>
            <a:off x="834955" y="6539393"/>
            <a:ext cx="3352800" cy="194990"/>
          </a:xfrm>
          <a:prstGeom prst="rect">
            <a:avLst/>
          </a:prstGeom>
          <a:noFill/>
        </p:spPr>
        <p:txBody>
          <a:bodyPr wrap="square" lIns="0" anchor="b" anchorCtr="0">
            <a:spAutoFit/>
          </a:bodyPr>
          <a:lstStyle/>
          <a:p>
            <a:pPr marL="0" marR="0" lvl="0" indent="0" algn="l" defTabSz="36576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665" b="0" i="0" u="none" strike="noStrike" kern="300" cap="none" spc="67" normalizeH="0" baseline="0" noProof="0" dirty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Anova Light" panose="020B0403020203020204" pitchFamily="34" charset="0"/>
                <a:ea typeface="Anova Bold" panose="020B0703020203020204" pitchFamily="34" charset="0"/>
                <a:cs typeface="Anova Light" panose="020B0403020203020204" pitchFamily="34" charset="0"/>
              </a:rPr>
              <a:t>Copyright © SAS Institute Inc. All rights reserved.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4955" y="1600200"/>
            <a:ext cx="10515600" cy="4576764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4955" y="473536"/>
            <a:ext cx="10515600" cy="517064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r>
              <a:rPr lang="en-US" dirty="0"/>
              <a:t>Click to Add Slide Title</a:t>
            </a:r>
          </a:p>
        </p:txBody>
      </p:sp>
      <p:pic>
        <p:nvPicPr>
          <p:cNvPr id="5" name="Picture 6"/>
          <p:cNvPicPr>
            <a:picLocks noChangeAspect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rcRect/>
          <a:stretch>
            <a:fillRect/>
          </a:stretch>
        </p:blipFill>
        <p:spPr>
          <a:xfrm>
            <a:off x="11217439" y="6344362"/>
            <a:ext cx="741875" cy="307948"/>
          </a:xfrm>
          <a:prstGeom prst="rect">
            <a:avLst/>
          </a:prstGeom>
        </p:spPr>
      </p:pic>
      <p:sp>
        <p:nvSpPr>
          <p:cNvPr id="4" name="文本框 3"/>
          <p:cNvSpPr txBox="1"/>
          <p:nvPr userDrawn="1"/>
        </p:nvSpPr>
        <p:spPr>
          <a:xfrm>
            <a:off x="242570" y="4400550"/>
            <a:ext cx="4064000" cy="36893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endParaRPr lang="zh-CN" altLang="en-US" dirty="0">
              <a:solidFill>
                <a:schemeClr val="tx1"/>
              </a:solidFill>
            </a:endParaRPr>
          </a:p>
        </p:txBody>
      </p:sp>
    </p:spTree>
    <p:custDataLst>
      <p:tags r:id="rId13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735" b="1" i="0" kern="1200">
          <a:solidFill>
            <a:schemeClr val="accent5"/>
          </a:solidFill>
          <a:latin typeface="Anova Bold" panose="020B0703020203020204" pitchFamily="34" charset="0"/>
          <a:ea typeface="+mj-ea"/>
          <a:cs typeface="+mj-cs"/>
        </a:defRPr>
      </a:lvl1pPr>
    </p:titleStyle>
    <p:bodyStyle>
      <a:lvl1pPr marL="243840" indent="-243840" algn="l" defTabSz="914400" rtl="0" eaLnBrk="1" latinLnBrk="0" hangingPunct="1">
        <a:lnSpc>
          <a:spcPct val="85000"/>
        </a:lnSpc>
        <a:spcBef>
          <a:spcPts val="1065"/>
        </a:spcBef>
        <a:buClr>
          <a:schemeClr val="accent5"/>
        </a:buClr>
        <a:buFont typeface="Anova Light" panose="020B0403020203020204" pitchFamily="34" charset="0"/>
        <a:buChar char="•"/>
        <a:defRPr sz="2400" b="0" i="0" kern="1200">
          <a:solidFill>
            <a:schemeClr val="tx1"/>
          </a:solidFill>
          <a:latin typeface="+mn-lt"/>
          <a:ea typeface="+mn-ea"/>
          <a:cs typeface="+mn-cs"/>
        </a:defRPr>
      </a:lvl1pPr>
      <a:lvl2pPr marL="487680" indent="-243840" algn="l" defTabSz="914400" rtl="0" eaLnBrk="1" latinLnBrk="0" hangingPunct="1">
        <a:lnSpc>
          <a:spcPct val="85000"/>
        </a:lnSpc>
        <a:spcBef>
          <a:spcPts val="1065"/>
        </a:spcBef>
        <a:buClr>
          <a:schemeClr val="accent5"/>
        </a:buClr>
        <a:buFont typeface="Anova Light" panose="020B0403020203020204" pitchFamily="34" charset="0"/>
        <a:buChar char="–"/>
        <a:defRPr sz="1865" b="0" i="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43840" algn="l" defTabSz="914400" rtl="0" eaLnBrk="1" latinLnBrk="0" hangingPunct="1">
        <a:lnSpc>
          <a:spcPct val="85000"/>
        </a:lnSpc>
        <a:spcBef>
          <a:spcPts val="1065"/>
        </a:spcBef>
        <a:buClr>
          <a:schemeClr val="accent5"/>
        </a:buClr>
        <a:buFont typeface="Anova Light" panose="020B0403020203020204" pitchFamily="34" charset="0"/>
        <a:buChar char="•"/>
        <a:defRPr sz="1600" b="0" i="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nova Light" panose="020B0403020203020204" pitchFamily="34" charset="0"/>
        <a:buChar char="•"/>
        <a:defRPr sz="1800" kern="1200">
          <a:solidFill>
            <a:schemeClr val="bg2"/>
          </a:solidFill>
          <a:latin typeface="+mj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nova Light" panose="020B0403020203020204" pitchFamily="34" charset="0"/>
        <a:buChar char="•"/>
        <a:defRPr sz="1800" kern="1200">
          <a:solidFill>
            <a:schemeClr val="bg2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nova Light" panose="020B0403020203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nova Light" panose="020B0403020203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nova Light" panose="020B0403020203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nova Light" panose="020B0403020203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10984752" y="6096000"/>
            <a:ext cx="1207248" cy="762001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0" y="6096000"/>
            <a:ext cx="10984752" cy="762001"/>
          </a:xfrm>
          <a:prstGeom prst="rect">
            <a:avLst/>
          </a:prstGeom>
        </p:spPr>
      </p:pic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4955" y="1600200"/>
            <a:ext cx="10515600" cy="4296182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4955" y="473536"/>
            <a:ext cx="10515600" cy="517064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r>
              <a:rPr lang="en-US" dirty="0"/>
              <a:t>Click to Add Slide Title</a:t>
            </a:r>
          </a:p>
        </p:txBody>
      </p:sp>
      <p:sp>
        <p:nvSpPr>
          <p:cNvPr id="8" name="TextBox 4"/>
          <p:cNvSpPr txBox="1"/>
          <p:nvPr userDrawn="1"/>
        </p:nvSpPr>
        <p:spPr>
          <a:xfrm>
            <a:off x="834955" y="6180007"/>
            <a:ext cx="5725995" cy="420564"/>
          </a:xfrm>
          <a:prstGeom prst="rect">
            <a:avLst/>
          </a:prstGeom>
          <a:noFill/>
        </p:spPr>
        <p:txBody>
          <a:bodyPr wrap="square" lIns="0" anchor="b" anchorCtr="0">
            <a:spAutoFit/>
          </a:bodyPr>
          <a:lstStyle/>
          <a:p>
            <a:pPr marL="0" marR="0" lvl="0" indent="0" algn="l" defTabSz="36576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2135" b="1" i="0" u="none" strike="noStrike" kern="300" cap="none" spc="67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nova Bold" panose="020B0703020203020204" pitchFamily="34" charset="0"/>
                <a:ea typeface="Anova Bold" panose="020B0703020203020204" pitchFamily="34" charset="0"/>
                <a:cs typeface="Anova Light" panose="020B0403020203020204" pitchFamily="34" charset="0"/>
              </a:rPr>
              <a:t>CONFIDENTIAL — DO NOT DISCLOSE</a:t>
            </a:r>
          </a:p>
        </p:txBody>
      </p:sp>
      <p:sp>
        <p:nvSpPr>
          <p:cNvPr id="10" name="TextBox 4"/>
          <p:cNvSpPr txBox="1"/>
          <p:nvPr userDrawn="1"/>
        </p:nvSpPr>
        <p:spPr>
          <a:xfrm>
            <a:off x="834955" y="6539393"/>
            <a:ext cx="3352800" cy="194990"/>
          </a:xfrm>
          <a:prstGeom prst="rect">
            <a:avLst/>
          </a:prstGeom>
          <a:noFill/>
        </p:spPr>
        <p:txBody>
          <a:bodyPr wrap="square" lIns="0" anchor="b" anchorCtr="0">
            <a:spAutoFit/>
          </a:bodyPr>
          <a:lstStyle/>
          <a:p>
            <a:pPr marL="0" marR="0" lvl="0" indent="0" algn="l" defTabSz="36576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665" b="0" i="0" u="none" strike="noStrike" kern="300" cap="none" spc="67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nova Light" panose="020B0403020203020204" pitchFamily="34" charset="0"/>
                <a:ea typeface="Anova Bold" panose="020B0703020203020204" pitchFamily="34" charset="0"/>
                <a:cs typeface="Anova Light" panose="020B0403020203020204" pitchFamily="34" charset="0"/>
              </a:rPr>
              <a:t>Copyright © SAS Institute Inc. All rights reserved.</a:t>
            </a:r>
          </a:p>
        </p:txBody>
      </p:sp>
      <p:pic>
        <p:nvPicPr>
          <p:cNvPr id="4" name="Picture 6"/>
          <p:cNvPicPr>
            <a:picLocks noChangeAspect="1"/>
          </p:cNvPicPr>
          <p:nvPr userDrawn="1"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rcRect/>
          <a:stretch>
            <a:fillRect/>
          </a:stretch>
        </p:blipFill>
        <p:spPr>
          <a:xfrm>
            <a:off x="11217439" y="6344362"/>
            <a:ext cx="741875" cy="307948"/>
          </a:xfrm>
          <a:prstGeom prst="rect">
            <a:avLst/>
          </a:prstGeom>
        </p:spPr>
      </p:pic>
    </p:spTree>
    <p:custDataLst>
      <p:tags r:id="rId13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735" b="1" i="0" kern="1200">
          <a:solidFill>
            <a:schemeClr val="accent5"/>
          </a:solidFill>
          <a:latin typeface="Anova Bold" panose="020B0703020203020204" pitchFamily="34" charset="0"/>
          <a:ea typeface="+mj-ea"/>
          <a:cs typeface="+mj-cs"/>
        </a:defRPr>
      </a:lvl1pPr>
    </p:titleStyle>
    <p:bodyStyle>
      <a:lvl1pPr marL="243840" indent="-243840" algn="l" defTabSz="914400" rtl="0" eaLnBrk="1" latinLnBrk="0" hangingPunct="1">
        <a:lnSpc>
          <a:spcPct val="85000"/>
        </a:lnSpc>
        <a:spcBef>
          <a:spcPts val="1065"/>
        </a:spcBef>
        <a:buClr>
          <a:schemeClr val="accent5"/>
        </a:buClr>
        <a:buFont typeface="Anova Light" panose="020B0403020203020204" pitchFamily="34" charset="0"/>
        <a:buChar char="•"/>
        <a:defRPr sz="2400" b="0" i="0" kern="1200">
          <a:solidFill>
            <a:schemeClr val="tx1"/>
          </a:solidFill>
          <a:latin typeface="+mn-lt"/>
          <a:ea typeface="+mn-ea"/>
          <a:cs typeface="+mn-cs"/>
        </a:defRPr>
      </a:lvl1pPr>
      <a:lvl2pPr marL="487680" indent="-243840" algn="l" defTabSz="914400" rtl="0" eaLnBrk="1" latinLnBrk="0" hangingPunct="1">
        <a:lnSpc>
          <a:spcPct val="85000"/>
        </a:lnSpc>
        <a:spcBef>
          <a:spcPts val="1065"/>
        </a:spcBef>
        <a:buClr>
          <a:schemeClr val="accent5"/>
        </a:buClr>
        <a:buFont typeface="Anova Light" panose="020B0403020203020204" pitchFamily="34" charset="0"/>
        <a:buChar char="–"/>
        <a:defRPr sz="1865" b="0" i="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43840" algn="l" defTabSz="914400" rtl="0" eaLnBrk="1" latinLnBrk="0" hangingPunct="1">
        <a:lnSpc>
          <a:spcPct val="85000"/>
        </a:lnSpc>
        <a:spcBef>
          <a:spcPts val="1065"/>
        </a:spcBef>
        <a:buClr>
          <a:schemeClr val="accent5"/>
        </a:buClr>
        <a:buFont typeface="Anova Light" panose="020B0403020203020204" pitchFamily="34" charset="0"/>
        <a:buChar char="•"/>
        <a:defRPr sz="1600" b="0" i="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nova Light" panose="020B0403020203020204" pitchFamily="34" charset="0"/>
        <a:buChar char="•"/>
        <a:defRPr sz="1800" kern="1200">
          <a:solidFill>
            <a:schemeClr val="bg2"/>
          </a:solidFill>
          <a:latin typeface="+mj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nova Light" panose="020B0403020203020204" pitchFamily="34" charset="0"/>
        <a:buChar char="•"/>
        <a:defRPr sz="1800" kern="1200">
          <a:solidFill>
            <a:schemeClr val="bg2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nova Light" panose="020B0403020203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nova Light" panose="020B0403020203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nova Light" panose="020B0403020203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nova Light" panose="020B0403020203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745419" y="1213071"/>
            <a:ext cx="10518846" cy="2400657"/>
          </a:xfrm>
        </p:spPr>
        <p:txBody>
          <a:bodyPr/>
          <a:lstStyle/>
          <a:p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数智驱动的肉鸡养殖根因分析实施方案</a:t>
            </a:r>
            <a:b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</a:br>
            <a:b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</a:b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第二周成果汇报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1"/>
          </p:nvPr>
        </p:nvSpPr>
        <p:spPr>
          <a:xfrm>
            <a:off x="834955" y="4308945"/>
            <a:ext cx="8082481" cy="705015"/>
          </a:xfrm>
        </p:spPr>
        <p:txBody>
          <a:bodyPr/>
          <a:lstStyle/>
          <a:p>
            <a:r>
              <a:rPr lang="en-US" altLang="zh-CN" dirty="0"/>
              <a:t>2025.05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C3D1F99E-E435-7DBE-EF0A-67C3496583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32430939"/>
              </p:ext>
            </p:extLst>
          </p:nvPr>
        </p:nvGraphicFramePr>
        <p:xfrm>
          <a:off x="892175" y="2094672"/>
          <a:ext cx="4486278" cy="3197448"/>
        </p:xfrm>
        <a:graphic>
          <a:graphicData uri="http://schemas.openxmlformats.org/drawingml/2006/table">
            <a:tbl>
              <a:tblPr/>
              <a:tblGrid>
                <a:gridCol w="747713">
                  <a:extLst>
                    <a:ext uri="{9D8B030D-6E8A-4147-A177-3AD203B41FA5}">
                      <a16:colId xmlns:a16="http://schemas.microsoft.com/office/drawing/2014/main" val="3996273480"/>
                    </a:ext>
                  </a:extLst>
                </a:gridCol>
                <a:gridCol w="747713">
                  <a:extLst>
                    <a:ext uri="{9D8B030D-6E8A-4147-A177-3AD203B41FA5}">
                      <a16:colId xmlns:a16="http://schemas.microsoft.com/office/drawing/2014/main" val="664346447"/>
                    </a:ext>
                  </a:extLst>
                </a:gridCol>
                <a:gridCol w="747713">
                  <a:extLst>
                    <a:ext uri="{9D8B030D-6E8A-4147-A177-3AD203B41FA5}">
                      <a16:colId xmlns:a16="http://schemas.microsoft.com/office/drawing/2014/main" val="170777999"/>
                    </a:ext>
                  </a:extLst>
                </a:gridCol>
                <a:gridCol w="747713">
                  <a:extLst>
                    <a:ext uri="{9D8B030D-6E8A-4147-A177-3AD203B41FA5}">
                      <a16:colId xmlns:a16="http://schemas.microsoft.com/office/drawing/2014/main" val="1177513116"/>
                    </a:ext>
                  </a:extLst>
                </a:gridCol>
                <a:gridCol w="747713">
                  <a:extLst>
                    <a:ext uri="{9D8B030D-6E8A-4147-A177-3AD203B41FA5}">
                      <a16:colId xmlns:a16="http://schemas.microsoft.com/office/drawing/2014/main" val="3730236407"/>
                    </a:ext>
                  </a:extLst>
                </a:gridCol>
                <a:gridCol w="747713">
                  <a:extLst>
                    <a:ext uri="{9D8B030D-6E8A-4147-A177-3AD203B41FA5}">
                      <a16:colId xmlns:a16="http://schemas.microsoft.com/office/drawing/2014/main" val="2660415651"/>
                    </a:ext>
                  </a:extLst>
                </a:gridCol>
              </a:tblGrid>
              <a:tr h="495846"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</a:pPr>
                      <a:endParaRPr lang="zh-CN" altLang="en-US" b="1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138313" marR="138313" marT="92208" marB="922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zh-CN" altLang="en-US" sz="1200" b="1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温度 </a:t>
                      </a:r>
                      <a:r>
                        <a:rPr lang="en-US" altLang="zh-CN" sz="1200" b="1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 </a:t>
                      </a:r>
                      <a:r>
                        <a:rPr lang="zh-CN" altLang="en-US" sz="1200" b="1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与目标差异</a:t>
                      </a:r>
                    </a:p>
                  </a:txBody>
                  <a:tcPr marL="138313" marR="138313" marT="92208" marB="922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zh-CN" altLang="en-US" sz="1200" b="1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温度 </a:t>
                      </a:r>
                      <a:r>
                        <a:rPr lang="en-US" altLang="zh-CN" sz="1200" b="1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 </a:t>
                      </a:r>
                      <a:r>
                        <a:rPr lang="zh-CN" altLang="en-US" sz="1200" b="1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与目标差异</a:t>
                      </a:r>
                    </a:p>
                  </a:txBody>
                  <a:tcPr marL="138313" marR="138313" marT="92208" marB="922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zh-CN" altLang="en-US" sz="1200" b="1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温度 </a:t>
                      </a:r>
                      <a:r>
                        <a:rPr lang="en-US" altLang="zh-CN" sz="1200" b="1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 </a:t>
                      </a:r>
                      <a:r>
                        <a:rPr lang="zh-CN" altLang="en-US" sz="1200" b="1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与目标差异</a:t>
                      </a:r>
                    </a:p>
                  </a:txBody>
                  <a:tcPr marL="138313" marR="138313" marT="92208" marB="922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zh-CN" altLang="en-US" sz="1200" b="1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温度 </a:t>
                      </a:r>
                      <a:r>
                        <a:rPr lang="en-US" altLang="zh-CN" sz="1200" b="1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4 </a:t>
                      </a:r>
                      <a:r>
                        <a:rPr lang="zh-CN" altLang="en-US" sz="1200" b="1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与目标差异</a:t>
                      </a:r>
                    </a:p>
                  </a:txBody>
                  <a:tcPr marL="138313" marR="138313" marT="92208" marB="922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zh-CN" altLang="en-US" sz="1200" b="1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温度 </a:t>
                      </a:r>
                      <a:r>
                        <a:rPr lang="en-US" altLang="zh-CN" sz="1200" b="1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5 </a:t>
                      </a:r>
                      <a:r>
                        <a:rPr lang="zh-CN" altLang="en-US" sz="1200" b="1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与目标差异</a:t>
                      </a:r>
                    </a:p>
                  </a:txBody>
                  <a:tcPr marL="138313" marR="138313" marT="92208" marB="922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9683767"/>
                  </a:ext>
                </a:extLst>
              </a:tr>
              <a:tr h="3172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100" b="1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mean</a:t>
                      </a:r>
                    </a:p>
                  </a:txBody>
                  <a:tcPr marL="138313" marR="138313" marT="92208" marB="922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zh-CN" sz="1100" b="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1.09</a:t>
                      </a:r>
                    </a:p>
                  </a:txBody>
                  <a:tcPr marL="138313" marR="138313" marT="92208" marB="922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zh-CN" sz="1100" b="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1.45</a:t>
                      </a:r>
                    </a:p>
                  </a:txBody>
                  <a:tcPr marL="138313" marR="138313" marT="92208" marB="922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zh-CN" sz="1100" b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1.65</a:t>
                      </a:r>
                    </a:p>
                  </a:txBody>
                  <a:tcPr marL="138313" marR="138313" marT="92208" marB="922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zh-CN" sz="1100" b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1.73</a:t>
                      </a:r>
                    </a:p>
                  </a:txBody>
                  <a:tcPr marL="138313" marR="138313" marT="92208" marB="922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zh-CN" sz="1100" b="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1.77</a:t>
                      </a:r>
                    </a:p>
                  </a:txBody>
                  <a:tcPr marL="138313" marR="138313" marT="92208" marB="922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5530979"/>
                  </a:ext>
                </a:extLst>
              </a:tr>
              <a:tr h="3172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100" b="1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std</a:t>
                      </a:r>
                    </a:p>
                  </a:txBody>
                  <a:tcPr marL="138313" marR="138313" marT="92208" marB="922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zh-CN" sz="1100" b="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3.47</a:t>
                      </a:r>
                    </a:p>
                  </a:txBody>
                  <a:tcPr marL="138313" marR="138313" marT="92208" marB="922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zh-CN" sz="1100" b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3.39</a:t>
                      </a:r>
                    </a:p>
                  </a:txBody>
                  <a:tcPr marL="138313" marR="138313" marT="92208" marB="922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zh-CN" sz="1100" b="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3.41</a:t>
                      </a:r>
                    </a:p>
                  </a:txBody>
                  <a:tcPr marL="138313" marR="138313" marT="92208" marB="922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zh-CN" sz="1100" b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3.51</a:t>
                      </a:r>
                    </a:p>
                  </a:txBody>
                  <a:tcPr marL="138313" marR="138313" marT="92208" marB="922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zh-CN" sz="1100" b="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3.69</a:t>
                      </a:r>
                    </a:p>
                  </a:txBody>
                  <a:tcPr marL="138313" marR="138313" marT="92208" marB="922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951920"/>
                  </a:ext>
                </a:extLst>
              </a:tr>
              <a:tr h="3172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100" b="1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min</a:t>
                      </a:r>
                    </a:p>
                  </a:txBody>
                  <a:tcPr marL="138313" marR="138313" marT="92208" marB="922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zh-CN" sz="1100" b="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-51.00</a:t>
                      </a:r>
                    </a:p>
                  </a:txBody>
                  <a:tcPr marL="138313" marR="138313" marT="92208" marB="922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zh-CN" sz="1100" b="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-327.70</a:t>
                      </a:r>
                    </a:p>
                  </a:txBody>
                  <a:tcPr marL="138313" marR="138313" marT="92208" marB="922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zh-CN" sz="1100" b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-59.60</a:t>
                      </a:r>
                    </a:p>
                  </a:txBody>
                  <a:tcPr marL="138313" marR="138313" marT="92208" marB="922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zh-CN" sz="1100" b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-30.40</a:t>
                      </a:r>
                    </a:p>
                  </a:txBody>
                  <a:tcPr marL="138313" marR="138313" marT="92208" marB="922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zh-CN" sz="1100" b="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-30.00</a:t>
                      </a:r>
                    </a:p>
                  </a:txBody>
                  <a:tcPr marL="138313" marR="138313" marT="92208" marB="922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1174422"/>
                  </a:ext>
                </a:extLst>
              </a:tr>
              <a:tr h="3172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zh-CN" sz="1100" b="1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25%</a:t>
                      </a:r>
                    </a:p>
                  </a:txBody>
                  <a:tcPr marL="138313" marR="138313" marT="92208" marB="922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zh-CN" sz="1100" b="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-0.60</a:t>
                      </a:r>
                    </a:p>
                  </a:txBody>
                  <a:tcPr marL="138313" marR="138313" marT="92208" marB="922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zh-CN" sz="1100" b="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-0.30</a:t>
                      </a:r>
                    </a:p>
                  </a:txBody>
                  <a:tcPr marL="138313" marR="138313" marT="92208" marB="922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zh-CN" sz="1100" b="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-0.20</a:t>
                      </a:r>
                    </a:p>
                  </a:txBody>
                  <a:tcPr marL="138313" marR="138313" marT="92208" marB="922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zh-CN" sz="1100" b="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-0.20</a:t>
                      </a:r>
                    </a:p>
                  </a:txBody>
                  <a:tcPr marL="138313" marR="138313" marT="92208" marB="922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zh-CN" sz="1100" b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-0.30</a:t>
                      </a:r>
                    </a:p>
                  </a:txBody>
                  <a:tcPr marL="138313" marR="138313" marT="92208" marB="922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869404"/>
                  </a:ext>
                </a:extLst>
              </a:tr>
              <a:tr h="3172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zh-CN" sz="1100" b="1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50%</a:t>
                      </a:r>
                    </a:p>
                  </a:txBody>
                  <a:tcPr marL="138313" marR="138313" marT="92208" marB="922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zh-CN" sz="1100" b="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0.20</a:t>
                      </a:r>
                    </a:p>
                  </a:txBody>
                  <a:tcPr marL="138313" marR="138313" marT="92208" marB="922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zh-CN" sz="1100" b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0.60</a:t>
                      </a:r>
                    </a:p>
                  </a:txBody>
                  <a:tcPr marL="138313" marR="138313" marT="92208" marB="922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zh-CN" sz="1100" b="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0.70</a:t>
                      </a:r>
                    </a:p>
                  </a:txBody>
                  <a:tcPr marL="138313" marR="138313" marT="92208" marB="922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zh-CN" sz="1100" b="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0.70</a:t>
                      </a:r>
                    </a:p>
                  </a:txBody>
                  <a:tcPr marL="138313" marR="138313" marT="92208" marB="922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zh-CN" sz="1100" b="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0.70</a:t>
                      </a:r>
                    </a:p>
                  </a:txBody>
                  <a:tcPr marL="138313" marR="138313" marT="92208" marB="922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8912641"/>
                  </a:ext>
                </a:extLst>
              </a:tr>
              <a:tr h="3172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zh-CN" sz="1100" b="1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75%</a:t>
                      </a:r>
                    </a:p>
                  </a:txBody>
                  <a:tcPr marL="138313" marR="138313" marT="92208" marB="922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zh-CN" sz="1100" b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2.40</a:t>
                      </a:r>
                    </a:p>
                  </a:txBody>
                  <a:tcPr marL="138313" marR="138313" marT="92208" marB="922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zh-CN" sz="1100" b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2.70</a:t>
                      </a:r>
                    </a:p>
                  </a:txBody>
                  <a:tcPr marL="138313" marR="138313" marT="92208" marB="922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zh-CN" sz="1100" b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3.00</a:t>
                      </a:r>
                    </a:p>
                  </a:txBody>
                  <a:tcPr marL="138313" marR="138313" marT="92208" marB="922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zh-CN" sz="1100" b="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3.20</a:t>
                      </a:r>
                    </a:p>
                  </a:txBody>
                  <a:tcPr marL="138313" marR="138313" marT="92208" marB="922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zh-CN" sz="1100" b="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3.40</a:t>
                      </a:r>
                    </a:p>
                  </a:txBody>
                  <a:tcPr marL="138313" marR="138313" marT="92208" marB="922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908194"/>
                  </a:ext>
                </a:extLst>
              </a:tr>
              <a:tr h="3172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100" b="1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max</a:t>
                      </a:r>
                    </a:p>
                  </a:txBody>
                  <a:tcPr marL="138313" marR="138313" marT="92208" marB="922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zh-CN" sz="1100" b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32.40</a:t>
                      </a:r>
                    </a:p>
                  </a:txBody>
                  <a:tcPr marL="138313" marR="138313" marT="92208" marB="922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zh-CN" sz="1100" b="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303.50</a:t>
                      </a:r>
                    </a:p>
                  </a:txBody>
                  <a:tcPr marL="138313" marR="138313" marT="92208" marB="922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zh-CN" sz="1100" b="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72.80</a:t>
                      </a:r>
                    </a:p>
                  </a:txBody>
                  <a:tcPr marL="138313" marR="138313" marT="92208" marB="922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zh-CN" sz="1100" b="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41.80</a:t>
                      </a:r>
                    </a:p>
                  </a:txBody>
                  <a:tcPr marL="138313" marR="138313" marT="92208" marB="922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zh-CN" sz="1100" b="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55.8</a:t>
                      </a:r>
                    </a:p>
                  </a:txBody>
                  <a:tcPr marL="138313" marR="138313" marT="92208" marB="922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0130912"/>
                  </a:ext>
                </a:extLst>
              </a:tr>
            </a:tbl>
          </a:graphicData>
        </a:graphic>
      </p:graphicFrame>
      <p:sp>
        <p:nvSpPr>
          <p:cNvPr id="8" name="文本框 7">
            <a:extLst>
              <a:ext uri="{FF2B5EF4-FFF2-40B4-BE49-F238E27FC236}">
                <a16:creationId xmlns:a16="http://schemas.microsoft.com/office/drawing/2014/main" id="{661544C5-DD3D-475B-4C88-EBE0E0C2EB9F}"/>
              </a:ext>
            </a:extLst>
          </p:cNvPr>
          <p:cNvSpPr txBox="1"/>
          <p:nvPr/>
        </p:nvSpPr>
        <p:spPr>
          <a:xfrm>
            <a:off x="679450" y="5573122"/>
            <a:ext cx="1081405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altLang="zh-CN" sz="16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 </a:t>
            </a:r>
            <a:r>
              <a:rPr lang="zh-CN" altLang="zh-CN" sz="16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因为</a:t>
            </a:r>
            <a:r>
              <a:rPr lang="zh-CN" altLang="en-US" sz="16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探头</a:t>
            </a:r>
            <a:r>
              <a:rPr lang="zh-CN" altLang="zh-CN" sz="16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温度和目标差异高于</a:t>
            </a:r>
            <a:r>
              <a:rPr lang="en-US" altLang="zh-CN" sz="16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zh-CN" altLang="zh-CN" sz="16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度的占比较高（接近</a:t>
            </a:r>
            <a:r>
              <a:rPr lang="en-US" altLang="zh-CN" sz="16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25%</a:t>
            </a:r>
            <a:r>
              <a:rPr lang="zh-CN" altLang="zh-CN" sz="16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）</a:t>
            </a:r>
            <a:r>
              <a:rPr lang="zh-CN" altLang="en-US" sz="16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zh-CN" altLang="zh-CN" sz="16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故温度差异上限以</a:t>
            </a:r>
            <a:r>
              <a:rPr lang="en-US" altLang="zh-CN" sz="16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95%</a:t>
            </a:r>
            <a:r>
              <a:rPr lang="zh-CN" altLang="zh-CN" sz="16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分位数盖帽处理，下限以</a:t>
            </a:r>
            <a:r>
              <a:rPr lang="en-US" altLang="zh-CN" sz="16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-3</a:t>
            </a:r>
            <a:r>
              <a:rPr lang="zh-CN" altLang="zh-CN" sz="16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盖帽处理</a:t>
            </a:r>
            <a:r>
              <a:rPr lang="zh-CN" altLang="en-US" sz="16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，再以盖帽后的温度差异修正温度</a:t>
            </a:r>
            <a:r>
              <a:rPr lang="en-US" altLang="zh-CN" sz="16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1-</a:t>
            </a:r>
            <a:r>
              <a:rPr lang="zh-CN" altLang="en-US" sz="16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温度</a:t>
            </a:r>
            <a:r>
              <a:rPr lang="en-US" altLang="zh-CN" sz="16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5</a:t>
            </a:r>
            <a:r>
              <a:rPr lang="zh-CN" altLang="en-US" sz="16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的值（即探头</a:t>
            </a:r>
            <a:r>
              <a:rPr lang="en-US" altLang="zh-CN" sz="16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1-</a:t>
            </a:r>
            <a:r>
              <a:rPr lang="zh-CN" altLang="en-US" sz="16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探头</a:t>
            </a:r>
            <a:r>
              <a:rPr lang="en-US" altLang="zh-CN" sz="16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5</a:t>
            </a:r>
            <a:r>
              <a:rPr lang="zh-CN" altLang="en-US" sz="16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）</a:t>
            </a:r>
            <a:endParaRPr lang="zh-CN" altLang="zh-CN" sz="16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9" name="表格 8">
            <a:extLst>
              <a:ext uri="{FF2B5EF4-FFF2-40B4-BE49-F238E27FC236}">
                <a16:creationId xmlns:a16="http://schemas.microsoft.com/office/drawing/2014/main" id="{8080726B-0BB5-B39C-CA17-A21B6F721C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28435311"/>
              </p:ext>
            </p:extLst>
          </p:nvPr>
        </p:nvGraphicFramePr>
        <p:xfrm>
          <a:off x="6772275" y="2094672"/>
          <a:ext cx="4486278" cy="3197448"/>
        </p:xfrm>
        <a:graphic>
          <a:graphicData uri="http://schemas.openxmlformats.org/drawingml/2006/table">
            <a:tbl>
              <a:tblPr/>
              <a:tblGrid>
                <a:gridCol w="747713">
                  <a:extLst>
                    <a:ext uri="{9D8B030D-6E8A-4147-A177-3AD203B41FA5}">
                      <a16:colId xmlns:a16="http://schemas.microsoft.com/office/drawing/2014/main" val="268490361"/>
                    </a:ext>
                  </a:extLst>
                </a:gridCol>
                <a:gridCol w="747713">
                  <a:extLst>
                    <a:ext uri="{9D8B030D-6E8A-4147-A177-3AD203B41FA5}">
                      <a16:colId xmlns:a16="http://schemas.microsoft.com/office/drawing/2014/main" val="2314696005"/>
                    </a:ext>
                  </a:extLst>
                </a:gridCol>
                <a:gridCol w="747713">
                  <a:extLst>
                    <a:ext uri="{9D8B030D-6E8A-4147-A177-3AD203B41FA5}">
                      <a16:colId xmlns:a16="http://schemas.microsoft.com/office/drawing/2014/main" val="1887016926"/>
                    </a:ext>
                  </a:extLst>
                </a:gridCol>
                <a:gridCol w="747713">
                  <a:extLst>
                    <a:ext uri="{9D8B030D-6E8A-4147-A177-3AD203B41FA5}">
                      <a16:colId xmlns:a16="http://schemas.microsoft.com/office/drawing/2014/main" val="759769463"/>
                    </a:ext>
                  </a:extLst>
                </a:gridCol>
                <a:gridCol w="747713">
                  <a:extLst>
                    <a:ext uri="{9D8B030D-6E8A-4147-A177-3AD203B41FA5}">
                      <a16:colId xmlns:a16="http://schemas.microsoft.com/office/drawing/2014/main" val="187340800"/>
                    </a:ext>
                  </a:extLst>
                </a:gridCol>
                <a:gridCol w="747713">
                  <a:extLst>
                    <a:ext uri="{9D8B030D-6E8A-4147-A177-3AD203B41FA5}">
                      <a16:colId xmlns:a16="http://schemas.microsoft.com/office/drawing/2014/main" val="3707292979"/>
                    </a:ext>
                  </a:extLst>
                </a:gridCol>
              </a:tblGrid>
              <a:tr h="60199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zh-CN" altLang="en-US" b="1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138313" marR="138313" marT="92208" marB="922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zh-CN" altLang="en-US" sz="1200" b="1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温度 </a:t>
                      </a:r>
                      <a:r>
                        <a:rPr lang="en-US" altLang="zh-CN" sz="1200" b="1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 </a:t>
                      </a:r>
                      <a:r>
                        <a:rPr lang="zh-CN" altLang="en-US" sz="1200" b="1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与目标差异</a:t>
                      </a:r>
                    </a:p>
                  </a:txBody>
                  <a:tcPr marL="138313" marR="138313" marT="92208" marB="922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zh-CN" altLang="en-US" sz="1200" b="1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温度 </a:t>
                      </a:r>
                      <a:r>
                        <a:rPr lang="en-US" altLang="zh-CN" sz="1200" b="1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 </a:t>
                      </a:r>
                      <a:r>
                        <a:rPr lang="zh-CN" altLang="en-US" sz="1200" b="1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与目标差异</a:t>
                      </a:r>
                    </a:p>
                  </a:txBody>
                  <a:tcPr marL="138313" marR="138313" marT="92208" marB="922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zh-CN" altLang="en-US" sz="1200" b="1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温度 </a:t>
                      </a:r>
                      <a:r>
                        <a:rPr lang="en-US" altLang="zh-CN" sz="1200" b="1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 </a:t>
                      </a:r>
                      <a:r>
                        <a:rPr lang="zh-CN" altLang="en-US" sz="1200" b="1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与目标差异</a:t>
                      </a:r>
                    </a:p>
                  </a:txBody>
                  <a:tcPr marL="138313" marR="138313" marT="92208" marB="922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zh-CN" altLang="en-US" sz="1200" b="1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温度 </a:t>
                      </a:r>
                      <a:r>
                        <a:rPr lang="en-US" altLang="zh-CN" sz="1200" b="1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4 </a:t>
                      </a:r>
                      <a:r>
                        <a:rPr lang="zh-CN" altLang="en-US" sz="1200" b="1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与目标差异</a:t>
                      </a:r>
                    </a:p>
                  </a:txBody>
                  <a:tcPr marL="138313" marR="138313" marT="92208" marB="922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zh-CN" altLang="en-US" sz="1200" b="1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温度 </a:t>
                      </a:r>
                      <a:r>
                        <a:rPr lang="en-US" altLang="zh-CN" sz="1200" b="1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5 </a:t>
                      </a:r>
                      <a:r>
                        <a:rPr lang="zh-CN" altLang="en-US" sz="1200" b="1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与目标差异</a:t>
                      </a:r>
                    </a:p>
                  </a:txBody>
                  <a:tcPr marL="138313" marR="138313" marT="92208" marB="922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1241312"/>
                  </a:ext>
                </a:extLst>
              </a:tr>
              <a:tr h="28911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100" b="1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mean</a:t>
                      </a:r>
                    </a:p>
                  </a:txBody>
                  <a:tcPr marL="138313" marR="138313" marT="92208" marB="922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zh-CN" sz="1100" b="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1.17</a:t>
                      </a:r>
                    </a:p>
                  </a:txBody>
                  <a:tcPr marL="138313" marR="138313" marT="92208" marB="922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zh-CN" sz="1100" b="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1.49</a:t>
                      </a:r>
                    </a:p>
                  </a:txBody>
                  <a:tcPr marL="138313" marR="138313" marT="92208" marB="922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zh-CN" sz="1100" b="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1.67</a:t>
                      </a:r>
                    </a:p>
                  </a:txBody>
                  <a:tcPr marL="138313" marR="138313" marT="92208" marB="922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zh-CN" sz="1100" b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1.75</a:t>
                      </a:r>
                    </a:p>
                  </a:txBody>
                  <a:tcPr marL="138313" marR="138313" marT="92208" marB="922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zh-CN" sz="1100" b="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1.81</a:t>
                      </a:r>
                    </a:p>
                  </a:txBody>
                  <a:tcPr marL="138313" marR="138313" marT="92208" marB="922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0132859"/>
                  </a:ext>
                </a:extLst>
              </a:tr>
              <a:tr h="28911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100" b="1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std</a:t>
                      </a:r>
                    </a:p>
                  </a:txBody>
                  <a:tcPr marL="138313" marR="138313" marT="92208" marB="922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zh-CN" sz="1100" b="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2.68</a:t>
                      </a:r>
                    </a:p>
                  </a:txBody>
                  <a:tcPr marL="138313" marR="138313" marT="92208" marB="922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zh-CN" sz="1100" b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2.58</a:t>
                      </a:r>
                    </a:p>
                  </a:txBody>
                  <a:tcPr marL="138313" marR="138313" marT="92208" marB="922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zh-CN" sz="1100" b="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2.73</a:t>
                      </a:r>
                    </a:p>
                  </a:txBody>
                  <a:tcPr marL="138313" marR="138313" marT="92208" marB="922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zh-CN" sz="1100" b="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2.88</a:t>
                      </a:r>
                    </a:p>
                  </a:txBody>
                  <a:tcPr marL="138313" marR="138313" marT="92208" marB="922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zh-CN" sz="1100" b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3.07</a:t>
                      </a:r>
                    </a:p>
                  </a:txBody>
                  <a:tcPr marL="138313" marR="138313" marT="92208" marB="922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0305022"/>
                  </a:ext>
                </a:extLst>
              </a:tr>
              <a:tr h="28911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100" b="1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min</a:t>
                      </a:r>
                    </a:p>
                  </a:txBody>
                  <a:tcPr marL="138313" marR="138313" marT="92208" marB="922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zh-CN" sz="1100" b="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-3.00</a:t>
                      </a:r>
                    </a:p>
                  </a:txBody>
                  <a:tcPr marL="138313" marR="138313" marT="92208" marB="922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zh-CN" sz="1100" b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-3.00</a:t>
                      </a:r>
                    </a:p>
                  </a:txBody>
                  <a:tcPr marL="138313" marR="138313" marT="92208" marB="922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zh-CN" sz="1100" b="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-3.00</a:t>
                      </a:r>
                    </a:p>
                  </a:txBody>
                  <a:tcPr marL="138313" marR="138313" marT="92208" marB="922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zh-CN" sz="1100" b="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-3.00</a:t>
                      </a:r>
                    </a:p>
                  </a:txBody>
                  <a:tcPr marL="138313" marR="138313" marT="92208" marB="922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zh-CN" sz="1100" b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-3.00</a:t>
                      </a:r>
                    </a:p>
                  </a:txBody>
                  <a:tcPr marL="138313" marR="138313" marT="92208" marB="922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52078581"/>
                  </a:ext>
                </a:extLst>
              </a:tr>
              <a:tr h="28911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zh-CN" sz="1100" b="1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25%</a:t>
                      </a:r>
                    </a:p>
                  </a:txBody>
                  <a:tcPr marL="138313" marR="138313" marT="92208" marB="922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zh-CN" sz="1100" b="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-0.60</a:t>
                      </a:r>
                    </a:p>
                  </a:txBody>
                  <a:tcPr marL="138313" marR="138313" marT="92208" marB="922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zh-CN" sz="1100" b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-0.30</a:t>
                      </a:r>
                    </a:p>
                  </a:txBody>
                  <a:tcPr marL="138313" marR="138313" marT="92208" marB="922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zh-CN" sz="1100" b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-0.20</a:t>
                      </a:r>
                    </a:p>
                  </a:txBody>
                  <a:tcPr marL="138313" marR="138313" marT="92208" marB="922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zh-CN" sz="1100" b="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-0.20</a:t>
                      </a:r>
                    </a:p>
                  </a:txBody>
                  <a:tcPr marL="138313" marR="138313" marT="92208" marB="922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zh-CN" sz="1100" b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-0.30</a:t>
                      </a:r>
                    </a:p>
                  </a:txBody>
                  <a:tcPr marL="138313" marR="138313" marT="92208" marB="922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0530873"/>
                  </a:ext>
                </a:extLst>
              </a:tr>
              <a:tr h="28911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zh-CN" sz="1100" b="1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50%</a:t>
                      </a:r>
                    </a:p>
                  </a:txBody>
                  <a:tcPr marL="138313" marR="138313" marT="92208" marB="922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zh-CN" sz="1100" b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0.20</a:t>
                      </a:r>
                    </a:p>
                  </a:txBody>
                  <a:tcPr marL="138313" marR="138313" marT="92208" marB="922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zh-CN" sz="1100" b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0.60</a:t>
                      </a:r>
                    </a:p>
                  </a:txBody>
                  <a:tcPr marL="138313" marR="138313" marT="92208" marB="922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zh-CN" sz="1100" b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0.70</a:t>
                      </a:r>
                    </a:p>
                  </a:txBody>
                  <a:tcPr marL="138313" marR="138313" marT="92208" marB="922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zh-CN" sz="1100" b="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0.70</a:t>
                      </a:r>
                    </a:p>
                  </a:txBody>
                  <a:tcPr marL="138313" marR="138313" marT="92208" marB="922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zh-CN" sz="1100" b="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0.70</a:t>
                      </a:r>
                    </a:p>
                  </a:txBody>
                  <a:tcPr marL="138313" marR="138313" marT="92208" marB="922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1124743"/>
                  </a:ext>
                </a:extLst>
              </a:tr>
              <a:tr h="28911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zh-CN" sz="1100" b="1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75%</a:t>
                      </a:r>
                    </a:p>
                  </a:txBody>
                  <a:tcPr marL="138313" marR="138313" marT="92208" marB="922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zh-CN" sz="1100" b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2.40</a:t>
                      </a:r>
                    </a:p>
                  </a:txBody>
                  <a:tcPr marL="138313" marR="138313" marT="92208" marB="922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zh-CN" sz="1100" b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2.70</a:t>
                      </a:r>
                    </a:p>
                  </a:txBody>
                  <a:tcPr marL="138313" marR="138313" marT="92208" marB="922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zh-CN" sz="1100" b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3.00</a:t>
                      </a:r>
                    </a:p>
                  </a:txBody>
                  <a:tcPr marL="138313" marR="138313" marT="92208" marB="922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zh-CN" sz="1100" b="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3.20</a:t>
                      </a:r>
                    </a:p>
                  </a:txBody>
                  <a:tcPr marL="138313" marR="138313" marT="92208" marB="922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zh-CN" sz="1100" b="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3.40</a:t>
                      </a:r>
                    </a:p>
                  </a:txBody>
                  <a:tcPr marL="138313" marR="138313" marT="92208" marB="922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1827534"/>
                  </a:ext>
                </a:extLst>
              </a:tr>
              <a:tr h="28911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100" b="1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max</a:t>
                      </a:r>
                    </a:p>
                  </a:txBody>
                  <a:tcPr marL="138313" marR="138313" marT="92208" marB="922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zh-CN" sz="1100" b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7.50</a:t>
                      </a:r>
                    </a:p>
                  </a:txBody>
                  <a:tcPr marL="138313" marR="138313" marT="92208" marB="922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zh-CN" sz="1100" b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7.60</a:t>
                      </a:r>
                    </a:p>
                  </a:txBody>
                  <a:tcPr marL="138313" marR="138313" marT="92208" marB="922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zh-CN" sz="1100" b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8.10</a:t>
                      </a:r>
                    </a:p>
                  </a:txBody>
                  <a:tcPr marL="138313" marR="138313" marT="92208" marB="922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zh-CN" sz="1100" b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8.50</a:t>
                      </a:r>
                    </a:p>
                  </a:txBody>
                  <a:tcPr marL="138313" marR="138313" marT="92208" marB="922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zh-CN" sz="1100" b="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8.90</a:t>
                      </a:r>
                    </a:p>
                  </a:txBody>
                  <a:tcPr marL="138313" marR="138313" marT="92208" marB="922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5873631"/>
                  </a:ext>
                </a:extLst>
              </a:tr>
            </a:tbl>
          </a:graphicData>
        </a:graphic>
      </p:graphicFrame>
      <p:sp>
        <p:nvSpPr>
          <p:cNvPr id="10" name="箭头: 右 9">
            <a:extLst>
              <a:ext uri="{FF2B5EF4-FFF2-40B4-BE49-F238E27FC236}">
                <a16:creationId xmlns:a16="http://schemas.microsoft.com/office/drawing/2014/main" id="{83CB2B56-C774-2BA1-109E-4E61AB569CF6}"/>
              </a:ext>
            </a:extLst>
          </p:cNvPr>
          <p:cNvSpPr/>
          <p:nvPr/>
        </p:nvSpPr>
        <p:spPr>
          <a:xfrm>
            <a:off x="5800725" y="3390900"/>
            <a:ext cx="571500" cy="438150"/>
          </a:xfrm>
          <a:prstGeom prst="rightArrow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箭头: 五边形 10">
            <a:extLst>
              <a:ext uri="{FF2B5EF4-FFF2-40B4-BE49-F238E27FC236}">
                <a16:creationId xmlns:a16="http://schemas.microsoft.com/office/drawing/2014/main" id="{ABC64254-A217-5DD1-743D-7CD37E771F09}"/>
              </a:ext>
            </a:extLst>
          </p:cNvPr>
          <p:cNvSpPr/>
          <p:nvPr/>
        </p:nvSpPr>
        <p:spPr>
          <a:xfrm>
            <a:off x="0" y="864476"/>
            <a:ext cx="7592037" cy="576475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2" name="标题 1">
            <a:extLst>
              <a:ext uri="{FF2B5EF4-FFF2-40B4-BE49-F238E27FC236}">
                <a16:creationId xmlns:a16="http://schemas.microsoft.com/office/drawing/2014/main" id="{4C5570D1-5DF1-03AB-6D69-BF1DFB4FDD2B}"/>
              </a:ext>
            </a:extLst>
          </p:cNvPr>
          <p:cNvSpPr txBox="1"/>
          <p:nvPr/>
        </p:nvSpPr>
        <p:spPr>
          <a:xfrm>
            <a:off x="339052" y="121526"/>
            <a:ext cx="11239200" cy="640800"/>
          </a:xfrm>
          <a:prstGeom prst="rect">
            <a:avLst/>
          </a:prstGeom>
        </p:spPr>
        <p:txBody>
          <a:bodyPr vert="horz" wrap="square" lIns="121920" tIns="60960" rIns="121920" bIns="60960" rtlCol="0" anchor="ctr" anchorCtr="0">
            <a:noAutofit/>
          </a:bodyPr>
          <a:lstStyle>
            <a:lvl1pPr algn="ctr" defTabSz="182880" rtl="0" eaLnBrk="1" latinLnBrk="0" hangingPunct="1">
              <a:spcBef>
                <a:spcPct val="0"/>
              </a:spcBef>
              <a:buNone/>
              <a:defRPr lang="en-US" sz="1500" b="1" kern="1200" cap="none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18288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800" dirty="0">
                <a:solidFill>
                  <a:schemeClr val="accent5">
                    <a:lumMod val="75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EEF</a:t>
            </a:r>
            <a:r>
              <a:rPr lang="zh-CN" altLang="en-US" sz="2800" dirty="0">
                <a:solidFill>
                  <a:schemeClr val="accent5">
                    <a:lumMod val="75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分析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chemeClr val="accent5">
                  <a:lumMod val="75000"/>
                </a:schemeClr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3" name="标题 1">
            <a:extLst>
              <a:ext uri="{FF2B5EF4-FFF2-40B4-BE49-F238E27FC236}">
                <a16:creationId xmlns:a16="http://schemas.microsoft.com/office/drawing/2014/main" id="{832E5AD0-0264-926D-1CD4-529BF48D2671}"/>
              </a:ext>
            </a:extLst>
          </p:cNvPr>
          <p:cNvSpPr txBox="1"/>
          <p:nvPr/>
        </p:nvSpPr>
        <p:spPr>
          <a:xfrm>
            <a:off x="551901" y="832313"/>
            <a:ext cx="6528407" cy="640800"/>
          </a:xfrm>
          <a:prstGeom prst="rect">
            <a:avLst/>
          </a:prstGeom>
        </p:spPr>
        <p:txBody>
          <a:bodyPr vert="horz" wrap="square" lIns="121920" tIns="60960" rIns="121920" bIns="60960" rtlCol="0" anchor="ctr" anchorCtr="0">
            <a:noAutofit/>
          </a:bodyPr>
          <a:lstStyle>
            <a:lvl1pPr algn="ctr" defTabSz="182880" rtl="0" eaLnBrk="1" latinLnBrk="0" hangingPunct="1">
              <a:spcBef>
                <a:spcPct val="0"/>
              </a:spcBef>
              <a:buNone/>
              <a:defRPr lang="en-US" sz="1500" b="1" kern="1200" cap="none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18288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EEF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前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20%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的温度曲线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EB0FAECE-33C5-B47F-6A19-65163A9D5CC2}"/>
              </a:ext>
            </a:extLst>
          </p:cNvPr>
          <p:cNvSpPr/>
          <p:nvPr/>
        </p:nvSpPr>
        <p:spPr>
          <a:xfrm>
            <a:off x="492981" y="1606658"/>
            <a:ext cx="11239200" cy="4832242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76B4827B-04F9-8632-71F8-A3668FF6AFE7}"/>
              </a:ext>
            </a:extLst>
          </p:cNvPr>
          <p:cNvSpPr/>
          <p:nvPr/>
        </p:nvSpPr>
        <p:spPr>
          <a:xfrm>
            <a:off x="492980" y="1606656"/>
            <a:ext cx="2154969" cy="334203"/>
          </a:xfrm>
          <a:prstGeom prst="rect">
            <a:avLst/>
          </a:prstGeom>
          <a:pattFill prst="ltDnDiag">
            <a:fgClr>
              <a:schemeClr val="accent1">
                <a:lumMod val="20000"/>
                <a:lumOff val="80000"/>
              </a:schemeClr>
            </a:fgClr>
            <a:bgClr>
              <a:schemeClr val="bg1"/>
            </a:bgClr>
          </a:pattFill>
          <a:ln w="1905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600" b="1" dirty="0">
                <a:solidFill>
                  <a:srgbClr val="33A3FF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数据处理</a:t>
            </a: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srgbClr val="33A3FF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94B6CE10-8DAB-F7E9-0084-3D75E928F4B5}"/>
              </a:ext>
            </a:extLst>
          </p:cNvPr>
          <p:cNvSpPr txBox="1"/>
          <p:nvPr/>
        </p:nvSpPr>
        <p:spPr>
          <a:xfrm>
            <a:off x="5719762" y="3117471"/>
            <a:ext cx="733426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zh-CN" altLang="en-US" sz="1400" dirty="0">
                <a:solidFill>
                  <a:schemeClr val="tx1"/>
                </a:solidFill>
              </a:rPr>
              <a:t>盖帽处理</a:t>
            </a:r>
          </a:p>
        </p:txBody>
      </p:sp>
    </p:spTree>
    <p:extLst>
      <p:ext uri="{BB962C8B-B14F-4D97-AF65-F5344CB8AC3E}">
        <p14:creationId xmlns:p14="http://schemas.microsoft.com/office/powerpoint/2010/main" val="14395228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CA0759-4693-0A0C-ACDC-5905187D4B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箭头: 五边形 7">
            <a:extLst>
              <a:ext uri="{FF2B5EF4-FFF2-40B4-BE49-F238E27FC236}">
                <a16:creationId xmlns:a16="http://schemas.microsoft.com/office/drawing/2014/main" id="{898C5510-52E4-5F17-8F58-E1674B9C0A82}"/>
              </a:ext>
            </a:extLst>
          </p:cNvPr>
          <p:cNvSpPr/>
          <p:nvPr/>
        </p:nvSpPr>
        <p:spPr>
          <a:xfrm>
            <a:off x="0" y="864476"/>
            <a:ext cx="7592037" cy="576475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4" name="标题 1">
            <a:extLst>
              <a:ext uri="{FF2B5EF4-FFF2-40B4-BE49-F238E27FC236}">
                <a16:creationId xmlns:a16="http://schemas.microsoft.com/office/drawing/2014/main" id="{25258E28-3C99-B66E-450A-6361CF46D28A}"/>
              </a:ext>
            </a:extLst>
          </p:cNvPr>
          <p:cNvSpPr txBox="1"/>
          <p:nvPr/>
        </p:nvSpPr>
        <p:spPr>
          <a:xfrm>
            <a:off x="313885" y="216182"/>
            <a:ext cx="11239200" cy="640800"/>
          </a:xfrm>
          <a:prstGeom prst="rect">
            <a:avLst/>
          </a:prstGeom>
        </p:spPr>
        <p:txBody>
          <a:bodyPr vert="horz" wrap="square" lIns="121920" tIns="60960" rIns="121920" bIns="60960" rtlCol="0" anchor="ctr" anchorCtr="0">
            <a:noAutofit/>
          </a:bodyPr>
          <a:lstStyle>
            <a:lvl1pPr algn="ctr" defTabSz="182880" rtl="0" eaLnBrk="1" latinLnBrk="0" hangingPunct="1">
              <a:spcBef>
                <a:spcPct val="0"/>
              </a:spcBef>
              <a:buNone/>
              <a:defRPr lang="en-US" sz="1500" b="1" kern="1200" cap="none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18288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C412E042-B907-2C9D-B5FB-ECE5DA326DF9}"/>
              </a:ext>
            </a:extLst>
          </p:cNvPr>
          <p:cNvSpPr txBox="1"/>
          <p:nvPr/>
        </p:nvSpPr>
        <p:spPr>
          <a:xfrm>
            <a:off x="551901" y="832313"/>
            <a:ext cx="6528407" cy="640800"/>
          </a:xfrm>
          <a:prstGeom prst="rect">
            <a:avLst/>
          </a:prstGeom>
        </p:spPr>
        <p:txBody>
          <a:bodyPr vert="horz" wrap="square" lIns="121920" tIns="60960" rIns="121920" bIns="60960" rtlCol="0" anchor="ctr" anchorCtr="0">
            <a:noAutofit/>
          </a:bodyPr>
          <a:lstStyle>
            <a:lvl1pPr algn="ctr" defTabSz="182880" rtl="0" eaLnBrk="1" latinLnBrk="0" hangingPunct="1">
              <a:spcBef>
                <a:spcPct val="0"/>
              </a:spcBef>
              <a:buNone/>
              <a:defRPr lang="en-US" sz="1500" b="1" kern="1200" cap="none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18288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EEF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前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20%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的温度曲线</a:t>
            </a: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9F98D27A-D41A-3AC9-4696-C0E95C63D380}"/>
              </a:ext>
            </a:extLst>
          </p:cNvPr>
          <p:cNvSpPr txBox="1"/>
          <p:nvPr/>
        </p:nvSpPr>
        <p:spPr>
          <a:xfrm>
            <a:off x="339052" y="121526"/>
            <a:ext cx="11239200" cy="640800"/>
          </a:xfrm>
          <a:prstGeom prst="rect">
            <a:avLst/>
          </a:prstGeom>
        </p:spPr>
        <p:txBody>
          <a:bodyPr vert="horz" wrap="square" lIns="121920" tIns="60960" rIns="121920" bIns="60960" rtlCol="0" anchor="ctr" anchorCtr="0">
            <a:noAutofit/>
          </a:bodyPr>
          <a:lstStyle>
            <a:lvl1pPr algn="ctr" defTabSz="182880" rtl="0" eaLnBrk="1" latinLnBrk="0" hangingPunct="1">
              <a:spcBef>
                <a:spcPct val="0"/>
              </a:spcBef>
              <a:buNone/>
              <a:defRPr lang="en-US" sz="1500" b="1" kern="1200" cap="none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18288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800" dirty="0">
                <a:solidFill>
                  <a:schemeClr val="accent5">
                    <a:lumMod val="75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EEF</a:t>
            </a:r>
            <a:r>
              <a:rPr lang="zh-CN" altLang="en-US" sz="2800" dirty="0">
                <a:solidFill>
                  <a:schemeClr val="accent5">
                    <a:lumMod val="75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分析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chemeClr val="accent5">
                  <a:lumMod val="75000"/>
                </a:schemeClr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20C40686-6F80-4903-7E76-A7A6235E22D2}"/>
              </a:ext>
            </a:extLst>
          </p:cNvPr>
          <p:cNvSpPr/>
          <p:nvPr/>
        </p:nvSpPr>
        <p:spPr>
          <a:xfrm>
            <a:off x="492981" y="1606656"/>
            <a:ext cx="387864" cy="1464628"/>
          </a:xfrm>
          <a:prstGeom prst="rect">
            <a:avLst/>
          </a:prstGeom>
          <a:pattFill prst="ltDnDiag">
            <a:fgClr>
              <a:schemeClr val="accent1">
                <a:lumMod val="20000"/>
                <a:lumOff val="80000"/>
              </a:schemeClr>
            </a:fgClr>
            <a:bgClr>
              <a:schemeClr val="bg1"/>
            </a:bgClr>
          </a:pattFill>
          <a:ln w="1905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600" b="1" dirty="0">
                <a:solidFill>
                  <a:srgbClr val="33A3FF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探查方法</a:t>
            </a: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srgbClr val="33A3FF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B714E6C7-4119-3171-5FD4-D81293C3AC5D}"/>
              </a:ext>
            </a:extLst>
          </p:cNvPr>
          <p:cNvSpPr/>
          <p:nvPr/>
        </p:nvSpPr>
        <p:spPr>
          <a:xfrm>
            <a:off x="492981" y="1606658"/>
            <a:ext cx="11060104" cy="1464626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1" name="标题 1">
            <a:extLst>
              <a:ext uri="{FF2B5EF4-FFF2-40B4-BE49-F238E27FC236}">
                <a16:creationId xmlns:a16="http://schemas.microsoft.com/office/drawing/2014/main" id="{23E00E7A-01CA-1CF7-0C29-62B7806EE1F4}"/>
              </a:ext>
            </a:extLst>
          </p:cNvPr>
          <p:cNvSpPr txBox="1"/>
          <p:nvPr/>
        </p:nvSpPr>
        <p:spPr>
          <a:xfrm>
            <a:off x="971850" y="1660386"/>
            <a:ext cx="10581235" cy="1211410"/>
          </a:xfrm>
          <a:prstGeom prst="rect">
            <a:avLst/>
          </a:prstGeom>
        </p:spPr>
        <p:txBody>
          <a:bodyPr vert="horz" wrap="square" lIns="121920" tIns="60960" rIns="121920" bIns="60960" rtlCol="0" anchor="ctr" anchorCtr="0">
            <a:noAutofit/>
          </a:bodyPr>
          <a:lstStyle>
            <a:lvl1pPr algn="ctr" defTabSz="182880" rtl="0" eaLnBrk="1" latinLnBrk="0" hangingPunct="1">
              <a:spcBef>
                <a:spcPct val="0"/>
              </a:spcBef>
              <a:buNone/>
              <a:defRPr lang="en-US" sz="1500" b="1" kern="1200" cap="none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18288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数据处理：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取每月</a:t>
            </a:r>
            <a:r>
              <a:rPr lang="en-US" altLang="zh-CN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EEF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排名前</a:t>
            </a:r>
            <a:r>
              <a:rPr lang="en-US" altLang="zh-CN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20%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的栋舍记为高效群，后</a:t>
            </a:r>
            <a:r>
              <a:rPr lang="en-US" altLang="zh-CN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20%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为低效群。高效群平均</a:t>
            </a:r>
            <a:r>
              <a:rPr lang="en-US" altLang="zh-CN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EEF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为</a:t>
            </a:r>
            <a:r>
              <a:rPr lang="en-US" altLang="zh-CN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418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，低效群平均</a:t>
            </a:r>
            <a:r>
              <a:rPr lang="en-US" altLang="zh-CN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EEF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为</a:t>
            </a:r>
            <a:r>
              <a:rPr lang="en-US" altLang="zh-CN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302</a:t>
            </a:r>
          </a:p>
          <a:p>
            <a:pPr marL="0" marR="0" lvl="0" indent="0" algn="l" defTabSz="18288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字段含义：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分别取字段</a:t>
            </a:r>
            <a:r>
              <a:rPr lang="en-US" altLang="zh-CN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min(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鸡舍温度</a:t>
            </a:r>
            <a:r>
              <a:rPr lang="en-US" altLang="zh-CN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-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最低</a:t>
            </a:r>
            <a:r>
              <a:rPr lang="en-US" altLang="zh-CN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)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，</a:t>
            </a:r>
            <a:r>
              <a:rPr lang="en-US" altLang="zh-CN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mean(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鸡舍温度</a:t>
            </a:r>
            <a:r>
              <a:rPr lang="en-US" altLang="zh-CN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-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平均</a:t>
            </a:r>
            <a:r>
              <a:rPr lang="en-US" altLang="zh-CN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)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，</a:t>
            </a:r>
            <a:r>
              <a:rPr lang="en-US" altLang="zh-CN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max(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鸡舍温度</a:t>
            </a:r>
            <a:r>
              <a:rPr lang="en-US" altLang="zh-CN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-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最高</a:t>
            </a:r>
            <a:r>
              <a:rPr lang="en-US" altLang="zh-CN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)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 作为该日龄的最低温度，平均温度，最高温度，得到</a:t>
            </a:r>
            <a:r>
              <a:rPr lang="zh-CN" altLang="en-US" sz="1600" dirty="0">
                <a:latin typeface="等线" panose="02010600030101010101" pitchFamily="2" charset="-122"/>
                <a:ea typeface="等线" panose="02010600030101010101" pitchFamily="2" charset="-122"/>
              </a:rPr>
              <a:t>左边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图像。取五个探头每个日龄的平均温度作为</a:t>
            </a:r>
            <a:r>
              <a:rPr lang="zh-CN" altLang="en-US" sz="1600" dirty="0">
                <a:latin typeface="等线" panose="02010600030101010101" pitchFamily="2" charset="-122"/>
                <a:ea typeface="等线" panose="02010600030101010101" pitchFamily="2" charset="-122"/>
              </a:rPr>
              <a:t>右图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的温度分布</a:t>
            </a:r>
            <a:endParaRPr lang="en-US" altLang="zh-CN" sz="1600" b="0" dirty="0">
              <a:solidFill>
                <a:srgbClr val="000000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25F6B041-4458-5EE0-56A5-E47D6759DF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9155" y="3258557"/>
            <a:ext cx="5631689" cy="3203635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BC804C7F-E281-3160-8D72-19BE31DF80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6913" y="3539600"/>
            <a:ext cx="5308334" cy="26415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43912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B28D7A-2FF8-4367-E35C-3FFAF72F7C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箭头: 五边形 7">
            <a:extLst>
              <a:ext uri="{FF2B5EF4-FFF2-40B4-BE49-F238E27FC236}">
                <a16:creationId xmlns:a16="http://schemas.microsoft.com/office/drawing/2014/main" id="{342D3851-5F4E-42C8-3573-A4A2D412DA1D}"/>
              </a:ext>
            </a:extLst>
          </p:cNvPr>
          <p:cNvSpPr/>
          <p:nvPr/>
        </p:nvSpPr>
        <p:spPr>
          <a:xfrm>
            <a:off x="0" y="864476"/>
            <a:ext cx="7592037" cy="576475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4" name="标题 1">
            <a:extLst>
              <a:ext uri="{FF2B5EF4-FFF2-40B4-BE49-F238E27FC236}">
                <a16:creationId xmlns:a16="http://schemas.microsoft.com/office/drawing/2014/main" id="{E5335BE9-2755-2208-1B70-8791A6FE534F}"/>
              </a:ext>
            </a:extLst>
          </p:cNvPr>
          <p:cNvSpPr txBox="1"/>
          <p:nvPr/>
        </p:nvSpPr>
        <p:spPr>
          <a:xfrm>
            <a:off x="313885" y="216182"/>
            <a:ext cx="11239200" cy="640800"/>
          </a:xfrm>
          <a:prstGeom prst="rect">
            <a:avLst/>
          </a:prstGeom>
        </p:spPr>
        <p:txBody>
          <a:bodyPr vert="horz" wrap="square" lIns="121920" tIns="60960" rIns="121920" bIns="60960" rtlCol="0" anchor="ctr" anchorCtr="0">
            <a:noAutofit/>
          </a:bodyPr>
          <a:lstStyle>
            <a:lvl1pPr algn="ctr" defTabSz="182880" rtl="0" eaLnBrk="1" latinLnBrk="0" hangingPunct="1">
              <a:spcBef>
                <a:spcPct val="0"/>
              </a:spcBef>
              <a:buNone/>
              <a:defRPr lang="en-US" sz="1500" b="1" kern="1200" cap="none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18288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5804C28C-0C73-8E1E-829B-0DA18AB910C9}"/>
              </a:ext>
            </a:extLst>
          </p:cNvPr>
          <p:cNvSpPr txBox="1"/>
          <p:nvPr/>
        </p:nvSpPr>
        <p:spPr>
          <a:xfrm>
            <a:off x="551901" y="832313"/>
            <a:ext cx="6528407" cy="640800"/>
          </a:xfrm>
          <a:prstGeom prst="rect">
            <a:avLst/>
          </a:prstGeom>
        </p:spPr>
        <p:txBody>
          <a:bodyPr vert="horz" wrap="square" lIns="121920" tIns="60960" rIns="121920" bIns="60960" rtlCol="0" anchor="ctr" anchorCtr="0">
            <a:noAutofit/>
          </a:bodyPr>
          <a:lstStyle>
            <a:lvl1pPr algn="ctr" defTabSz="182880" rtl="0" eaLnBrk="1" latinLnBrk="0" hangingPunct="1">
              <a:spcBef>
                <a:spcPct val="0"/>
              </a:spcBef>
              <a:buNone/>
              <a:defRPr lang="en-US" sz="1500" b="1" kern="1200" cap="none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18288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EEF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前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20%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的温度曲线</a:t>
            </a: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ABC08890-A922-7127-5A06-9D61C636437F}"/>
              </a:ext>
            </a:extLst>
          </p:cNvPr>
          <p:cNvSpPr txBox="1"/>
          <p:nvPr/>
        </p:nvSpPr>
        <p:spPr>
          <a:xfrm>
            <a:off x="339052" y="121526"/>
            <a:ext cx="11239200" cy="640800"/>
          </a:xfrm>
          <a:prstGeom prst="rect">
            <a:avLst/>
          </a:prstGeom>
        </p:spPr>
        <p:txBody>
          <a:bodyPr vert="horz" wrap="square" lIns="121920" tIns="60960" rIns="121920" bIns="60960" rtlCol="0" anchor="ctr" anchorCtr="0">
            <a:noAutofit/>
          </a:bodyPr>
          <a:lstStyle>
            <a:lvl1pPr algn="ctr" defTabSz="182880" rtl="0" eaLnBrk="1" latinLnBrk="0" hangingPunct="1">
              <a:spcBef>
                <a:spcPct val="0"/>
              </a:spcBef>
              <a:buNone/>
              <a:defRPr lang="en-US" sz="1500" b="1" kern="1200" cap="none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18288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800" dirty="0">
                <a:solidFill>
                  <a:schemeClr val="accent5">
                    <a:lumMod val="75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EEF</a:t>
            </a:r>
            <a:r>
              <a:rPr lang="zh-CN" altLang="en-US" sz="2800" dirty="0">
                <a:solidFill>
                  <a:schemeClr val="accent5">
                    <a:lumMod val="75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分析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chemeClr val="accent5">
                  <a:lumMod val="75000"/>
                </a:schemeClr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89E7C4A3-732F-211A-8420-45D4302EDF0E}"/>
              </a:ext>
            </a:extLst>
          </p:cNvPr>
          <p:cNvSpPr/>
          <p:nvPr/>
        </p:nvSpPr>
        <p:spPr>
          <a:xfrm>
            <a:off x="492981" y="1606656"/>
            <a:ext cx="387864" cy="1464628"/>
          </a:xfrm>
          <a:prstGeom prst="rect">
            <a:avLst/>
          </a:prstGeom>
          <a:pattFill prst="ltDnDiag">
            <a:fgClr>
              <a:schemeClr val="accent1">
                <a:lumMod val="20000"/>
                <a:lumOff val="80000"/>
              </a:schemeClr>
            </a:fgClr>
            <a:bgClr>
              <a:schemeClr val="bg1"/>
            </a:bgClr>
          </a:pattFill>
          <a:ln w="1905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600" b="1" dirty="0">
                <a:solidFill>
                  <a:srgbClr val="33A3FF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探查方法</a:t>
            </a: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srgbClr val="33A3FF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69532516-8E14-AA39-EB1F-2762830EE04F}"/>
              </a:ext>
            </a:extLst>
          </p:cNvPr>
          <p:cNvSpPr/>
          <p:nvPr/>
        </p:nvSpPr>
        <p:spPr>
          <a:xfrm>
            <a:off x="492981" y="1606658"/>
            <a:ext cx="11060104" cy="1464626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04C792D1-6FB9-3CA0-3FE1-98152828C8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2920" y="3324498"/>
            <a:ext cx="5347179" cy="3097676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5C0A5D4A-2CE4-24D9-C08E-9FADF1CAAE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981" y="3582835"/>
            <a:ext cx="5570213" cy="2739737"/>
          </a:xfrm>
          <a:prstGeom prst="rect">
            <a:avLst/>
          </a:prstGeom>
        </p:spPr>
      </p:pic>
      <p:sp>
        <p:nvSpPr>
          <p:cNvPr id="9" name="标题 1">
            <a:extLst>
              <a:ext uri="{FF2B5EF4-FFF2-40B4-BE49-F238E27FC236}">
                <a16:creationId xmlns:a16="http://schemas.microsoft.com/office/drawing/2014/main" id="{21C95AF4-AE39-C85C-6E09-DD1D2C61856A}"/>
              </a:ext>
            </a:extLst>
          </p:cNvPr>
          <p:cNvSpPr txBox="1"/>
          <p:nvPr/>
        </p:nvSpPr>
        <p:spPr>
          <a:xfrm>
            <a:off x="971850" y="1660386"/>
            <a:ext cx="10581235" cy="1211410"/>
          </a:xfrm>
          <a:prstGeom prst="rect">
            <a:avLst/>
          </a:prstGeom>
        </p:spPr>
        <p:txBody>
          <a:bodyPr vert="horz" wrap="square" lIns="121920" tIns="60960" rIns="121920" bIns="60960" rtlCol="0" anchor="ctr" anchorCtr="0">
            <a:noAutofit/>
          </a:bodyPr>
          <a:lstStyle>
            <a:lvl1pPr algn="ctr" defTabSz="182880" rtl="0" eaLnBrk="1" latinLnBrk="0" hangingPunct="1">
              <a:spcBef>
                <a:spcPct val="0"/>
              </a:spcBef>
              <a:buNone/>
              <a:defRPr lang="en-US" sz="1500" b="1" kern="1200" cap="none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18288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数据处理：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取每月</a:t>
            </a:r>
            <a:r>
              <a:rPr lang="en-US" altLang="zh-CN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EEF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排名前</a:t>
            </a:r>
            <a:r>
              <a:rPr lang="en-US" altLang="zh-CN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20%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的栋舍记为高效群，后</a:t>
            </a:r>
            <a:r>
              <a:rPr lang="en-US" altLang="zh-CN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20%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为低效群。高效群平均</a:t>
            </a:r>
            <a:r>
              <a:rPr lang="en-US" altLang="zh-CN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EEF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为</a:t>
            </a:r>
            <a:r>
              <a:rPr lang="en-US" altLang="zh-CN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418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，低效群平均</a:t>
            </a:r>
            <a:r>
              <a:rPr lang="en-US" altLang="zh-CN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EEF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为</a:t>
            </a:r>
            <a:r>
              <a:rPr lang="en-US" altLang="zh-CN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302</a:t>
            </a:r>
          </a:p>
          <a:p>
            <a:pPr marL="0" marR="0" lvl="0" indent="0" algn="l" defTabSz="18288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字段含义：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分别取字段</a:t>
            </a:r>
            <a:r>
              <a:rPr lang="en-US" altLang="zh-CN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min(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鸡舍温度</a:t>
            </a:r>
            <a:r>
              <a:rPr lang="en-US" altLang="zh-CN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-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最低</a:t>
            </a:r>
            <a:r>
              <a:rPr lang="en-US" altLang="zh-CN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)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，</a:t>
            </a:r>
            <a:r>
              <a:rPr lang="en-US" altLang="zh-CN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mean(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鸡舍温度</a:t>
            </a:r>
            <a:r>
              <a:rPr lang="en-US" altLang="zh-CN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-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平均</a:t>
            </a:r>
            <a:r>
              <a:rPr lang="en-US" altLang="zh-CN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)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，</a:t>
            </a:r>
            <a:r>
              <a:rPr lang="en-US" altLang="zh-CN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max(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鸡舍温度</a:t>
            </a:r>
            <a:r>
              <a:rPr lang="en-US" altLang="zh-CN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-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最高</a:t>
            </a:r>
            <a:r>
              <a:rPr lang="en-US" altLang="zh-CN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)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 作为该日龄的最低温度，平均温度，最高温度，得到</a:t>
            </a:r>
            <a:r>
              <a:rPr lang="zh-CN" altLang="en-US" sz="1600" dirty="0">
                <a:latin typeface="等线" panose="02010600030101010101" pitchFamily="2" charset="-122"/>
                <a:ea typeface="等线" panose="02010600030101010101" pitchFamily="2" charset="-122"/>
              </a:rPr>
              <a:t>左边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图像。取五个探头每个日龄的平均温度作为</a:t>
            </a:r>
            <a:r>
              <a:rPr lang="zh-CN" altLang="en-US" sz="1600" dirty="0">
                <a:latin typeface="等线" panose="02010600030101010101" pitchFamily="2" charset="-122"/>
                <a:ea typeface="等线" panose="02010600030101010101" pitchFamily="2" charset="-122"/>
              </a:rPr>
              <a:t>右图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的温度分布</a:t>
            </a:r>
            <a:endParaRPr lang="en-US" altLang="zh-CN" sz="1600" b="0" dirty="0">
              <a:solidFill>
                <a:srgbClr val="000000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961613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F6A7FD-EFE9-984A-B2AA-F54E278361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箭头: 五边形 7">
            <a:extLst>
              <a:ext uri="{FF2B5EF4-FFF2-40B4-BE49-F238E27FC236}">
                <a16:creationId xmlns:a16="http://schemas.microsoft.com/office/drawing/2014/main" id="{5B601A3A-DFAA-86C0-39F8-CA5FFABC3B8C}"/>
              </a:ext>
            </a:extLst>
          </p:cNvPr>
          <p:cNvSpPr/>
          <p:nvPr/>
        </p:nvSpPr>
        <p:spPr>
          <a:xfrm>
            <a:off x="0" y="864476"/>
            <a:ext cx="7592037" cy="576475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4" name="标题 1">
            <a:extLst>
              <a:ext uri="{FF2B5EF4-FFF2-40B4-BE49-F238E27FC236}">
                <a16:creationId xmlns:a16="http://schemas.microsoft.com/office/drawing/2014/main" id="{28FBFE4F-BBA7-1751-838A-A6CB0152F77D}"/>
              </a:ext>
            </a:extLst>
          </p:cNvPr>
          <p:cNvSpPr txBox="1"/>
          <p:nvPr/>
        </p:nvSpPr>
        <p:spPr>
          <a:xfrm>
            <a:off x="313885" y="216182"/>
            <a:ext cx="11239200" cy="640800"/>
          </a:xfrm>
          <a:prstGeom prst="rect">
            <a:avLst/>
          </a:prstGeom>
        </p:spPr>
        <p:txBody>
          <a:bodyPr vert="horz" wrap="square" lIns="121920" tIns="60960" rIns="121920" bIns="60960" rtlCol="0" anchor="ctr" anchorCtr="0">
            <a:noAutofit/>
          </a:bodyPr>
          <a:lstStyle>
            <a:lvl1pPr algn="ctr" defTabSz="182880" rtl="0" eaLnBrk="1" latinLnBrk="0" hangingPunct="1">
              <a:spcBef>
                <a:spcPct val="0"/>
              </a:spcBef>
              <a:buNone/>
              <a:defRPr lang="en-US" sz="1500" b="1" kern="1200" cap="none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18288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28906FC7-1FCD-89EC-BE8C-349800469D93}"/>
              </a:ext>
            </a:extLst>
          </p:cNvPr>
          <p:cNvSpPr txBox="1"/>
          <p:nvPr/>
        </p:nvSpPr>
        <p:spPr>
          <a:xfrm>
            <a:off x="551901" y="832313"/>
            <a:ext cx="6528407" cy="640800"/>
          </a:xfrm>
          <a:prstGeom prst="rect">
            <a:avLst/>
          </a:prstGeom>
        </p:spPr>
        <p:txBody>
          <a:bodyPr vert="horz" wrap="square" lIns="121920" tIns="60960" rIns="121920" bIns="60960" rtlCol="0" anchor="ctr" anchorCtr="0">
            <a:noAutofit/>
          </a:bodyPr>
          <a:lstStyle>
            <a:lvl1pPr algn="ctr" defTabSz="182880" rtl="0" eaLnBrk="1" latinLnBrk="0" hangingPunct="1">
              <a:spcBef>
                <a:spcPct val="0"/>
              </a:spcBef>
              <a:buNone/>
              <a:defRPr lang="en-US" sz="1500" b="1" kern="1200" cap="none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18288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EEF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前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20%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的温度曲线</a:t>
            </a: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C4AA1DD7-41C8-B64D-DB01-C4AA8D183845}"/>
              </a:ext>
            </a:extLst>
          </p:cNvPr>
          <p:cNvSpPr txBox="1"/>
          <p:nvPr/>
        </p:nvSpPr>
        <p:spPr>
          <a:xfrm>
            <a:off x="339052" y="121526"/>
            <a:ext cx="11239200" cy="640800"/>
          </a:xfrm>
          <a:prstGeom prst="rect">
            <a:avLst/>
          </a:prstGeom>
        </p:spPr>
        <p:txBody>
          <a:bodyPr vert="horz" wrap="square" lIns="121920" tIns="60960" rIns="121920" bIns="60960" rtlCol="0" anchor="ctr" anchorCtr="0">
            <a:noAutofit/>
          </a:bodyPr>
          <a:lstStyle>
            <a:lvl1pPr algn="ctr" defTabSz="182880" rtl="0" eaLnBrk="1" latinLnBrk="0" hangingPunct="1">
              <a:spcBef>
                <a:spcPct val="0"/>
              </a:spcBef>
              <a:buNone/>
              <a:defRPr lang="en-US" sz="1500" b="1" kern="1200" cap="none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18288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800" dirty="0">
                <a:solidFill>
                  <a:schemeClr val="accent5">
                    <a:lumMod val="75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EEF</a:t>
            </a:r>
            <a:r>
              <a:rPr lang="zh-CN" altLang="en-US" sz="2800" dirty="0">
                <a:solidFill>
                  <a:schemeClr val="accent5">
                    <a:lumMod val="75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分析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chemeClr val="accent5">
                  <a:lumMod val="75000"/>
                </a:schemeClr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BEDD79E9-1EE3-D2DF-F2E8-BD20F4CA0CB0}"/>
              </a:ext>
            </a:extLst>
          </p:cNvPr>
          <p:cNvSpPr/>
          <p:nvPr/>
        </p:nvSpPr>
        <p:spPr>
          <a:xfrm>
            <a:off x="492981" y="1606656"/>
            <a:ext cx="387864" cy="1464628"/>
          </a:xfrm>
          <a:prstGeom prst="rect">
            <a:avLst/>
          </a:prstGeom>
          <a:pattFill prst="ltDnDiag">
            <a:fgClr>
              <a:schemeClr val="accent1">
                <a:lumMod val="20000"/>
                <a:lumOff val="80000"/>
              </a:schemeClr>
            </a:fgClr>
            <a:bgClr>
              <a:schemeClr val="bg1"/>
            </a:bgClr>
          </a:pattFill>
          <a:ln w="1905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600" b="1" dirty="0">
                <a:solidFill>
                  <a:srgbClr val="33A3FF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探查方法</a:t>
            </a: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srgbClr val="33A3FF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3A3AFACA-236E-DFF7-3B56-649E1D9AD194}"/>
              </a:ext>
            </a:extLst>
          </p:cNvPr>
          <p:cNvSpPr/>
          <p:nvPr/>
        </p:nvSpPr>
        <p:spPr>
          <a:xfrm>
            <a:off x="492981" y="1606658"/>
            <a:ext cx="11060104" cy="1464626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D49ACFC2-1F5D-DA61-0383-992ACEF825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28872" y="3236990"/>
            <a:ext cx="5977606" cy="3371135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CB677714-2BE8-1AEC-EAF3-91FD90ECEC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853" y="3591442"/>
            <a:ext cx="5347019" cy="2662229"/>
          </a:xfrm>
          <a:prstGeom prst="rect">
            <a:avLst/>
          </a:prstGeom>
        </p:spPr>
      </p:pic>
      <p:sp>
        <p:nvSpPr>
          <p:cNvPr id="6" name="标题 1">
            <a:extLst>
              <a:ext uri="{FF2B5EF4-FFF2-40B4-BE49-F238E27FC236}">
                <a16:creationId xmlns:a16="http://schemas.microsoft.com/office/drawing/2014/main" id="{D45F1CFD-A0A1-0DD3-D513-9E1A36849F3B}"/>
              </a:ext>
            </a:extLst>
          </p:cNvPr>
          <p:cNvSpPr txBox="1"/>
          <p:nvPr/>
        </p:nvSpPr>
        <p:spPr>
          <a:xfrm>
            <a:off x="971850" y="1660386"/>
            <a:ext cx="10581235" cy="1211410"/>
          </a:xfrm>
          <a:prstGeom prst="rect">
            <a:avLst/>
          </a:prstGeom>
        </p:spPr>
        <p:txBody>
          <a:bodyPr vert="horz" wrap="square" lIns="121920" tIns="60960" rIns="121920" bIns="60960" rtlCol="0" anchor="ctr" anchorCtr="0">
            <a:noAutofit/>
          </a:bodyPr>
          <a:lstStyle>
            <a:lvl1pPr algn="ctr" defTabSz="182880" rtl="0" eaLnBrk="1" latinLnBrk="0" hangingPunct="1">
              <a:spcBef>
                <a:spcPct val="0"/>
              </a:spcBef>
              <a:buNone/>
              <a:defRPr lang="en-US" sz="1500" b="1" kern="1200" cap="none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18288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数据处理：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取每月</a:t>
            </a:r>
            <a:r>
              <a:rPr lang="en-US" altLang="zh-CN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EEF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排名前</a:t>
            </a:r>
            <a:r>
              <a:rPr lang="en-US" altLang="zh-CN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20%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的栋舍记为高效群，后</a:t>
            </a:r>
            <a:r>
              <a:rPr lang="en-US" altLang="zh-CN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20%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为低效群。高效群平均</a:t>
            </a:r>
            <a:r>
              <a:rPr lang="en-US" altLang="zh-CN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EEF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为</a:t>
            </a:r>
            <a:r>
              <a:rPr lang="en-US" altLang="zh-CN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418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，低效群平均</a:t>
            </a:r>
            <a:r>
              <a:rPr lang="en-US" altLang="zh-CN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EEF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为</a:t>
            </a:r>
            <a:r>
              <a:rPr lang="en-US" altLang="zh-CN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302</a:t>
            </a:r>
          </a:p>
          <a:p>
            <a:pPr marL="0" marR="0" lvl="0" indent="0" algn="l" defTabSz="18288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字段含义：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分别取字段</a:t>
            </a:r>
            <a:r>
              <a:rPr lang="en-US" altLang="zh-CN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min(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鸡舍温度</a:t>
            </a:r>
            <a:r>
              <a:rPr lang="en-US" altLang="zh-CN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-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最低</a:t>
            </a:r>
            <a:r>
              <a:rPr lang="en-US" altLang="zh-CN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)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，</a:t>
            </a:r>
            <a:r>
              <a:rPr lang="en-US" altLang="zh-CN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mean(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鸡舍温度</a:t>
            </a:r>
            <a:r>
              <a:rPr lang="en-US" altLang="zh-CN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-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平均</a:t>
            </a:r>
            <a:r>
              <a:rPr lang="en-US" altLang="zh-CN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)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，</a:t>
            </a:r>
            <a:r>
              <a:rPr lang="en-US" altLang="zh-CN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max(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鸡舍温度</a:t>
            </a:r>
            <a:r>
              <a:rPr lang="en-US" altLang="zh-CN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-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最高</a:t>
            </a:r>
            <a:r>
              <a:rPr lang="en-US" altLang="zh-CN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)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 作为该日龄的最低温度，平均温度，最高温度，得到</a:t>
            </a:r>
            <a:r>
              <a:rPr lang="zh-CN" altLang="en-US" sz="1600" dirty="0">
                <a:latin typeface="等线" panose="02010600030101010101" pitchFamily="2" charset="-122"/>
                <a:ea typeface="等线" panose="02010600030101010101" pitchFamily="2" charset="-122"/>
              </a:rPr>
              <a:t>左边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图像。取五个探头每个日龄的平均温度作为</a:t>
            </a:r>
            <a:r>
              <a:rPr lang="zh-CN" altLang="en-US" sz="1600" dirty="0">
                <a:latin typeface="等线" panose="02010600030101010101" pitchFamily="2" charset="-122"/>
                <a:ea typeface="等线" panose="02010600030101010101" pitchFamily="2" charset="-122"/>
              </a:rPr>
              <a:t>右图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的温度分布</a:t>
            </a:r>
            <a:endParaRPr lang="en-US" altLang="zh-CN" sz="1600" b="0" dirty="0">
              <a:solidFill>
                <a:srgbClr val="000000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5121834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0135FD-FAFB-764F-0DE1-194C859E8C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箭头: 五边形 7">
            <a:extLst>
              <a:ext uri="{FF2B5EF4-FFF2-40B4-BE49-F238E27FC236}">
                <a16:creationId xmlns:a16="http://schemas.microsoft.com/office/drawing/2014/main" id="{0DDA7278-D480-7C03-37ED-3DB19047079F}"/>
              </a:ext>
            </a:extLst>
          </p:cNvPr>
          <p:cNvSpPr/>
          <p:nvPr/>
        </p:nvSpPr>
        <p:spPr>
          <a:xfrm>
            <a:off x="0" y="864476"/>
            <a:ext cx="7592037" cy="576475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4" name="标题 1">
            <a:extLst>
              <a:ext uri="{FF2B5EF4-FFF2-40B4-BE49-F238E27FC236}">
                <a16:creationId xmlns:a16="http://schemas.microsoft.com/office/drawing/2014/main" id="{F647D668-7DE6-1AF7-7489-EE9281DB1A42}"/>
              </a:ext>
            </a:extLst>
          </p:cNvPr>
          <p:cNvSpPr txBox="1"/>
          <p:nvPr/>
        </p:nvSpPr>
        <p:spPr>
          <a:xfrm>
            <a:off x="313885" y="216182"/>
            <a:ext cx="11239200" cy="640800"/>
          </a:xfrm>
          <a:prstGeom prst="rect">
            <a:avLst/>
          </a:prstGeom>
        </p:spPr>
        <p:txBody>
          <a:bodyPr vert="horz" wrap="square" lIns="121920" tIns="60960" rIns="121920" bIns="60960" rtlCol="0" anchor="ctr" anchorCtr="0">
            <a:noAutofit/>
          </a:bodyPr>
          <a:lstStyle>
            <a:lvl1pPr algn="ctr" defTabSz="182880" rtl="0" eaLnBrk="1" latinLnBrk="0" hangingPunct="1">
              <a:spcBef>
                <a:spcPct val="0"/>
              </a:spcBef>
              <a:buNone/>
              <a:defRPr lang="en-US" sz="1500" b="1" kern="1200" cap="none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18288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36B2321F-445C-3CEB-68A7-D93DD4AC2392}"/>
              </a:ext>
            </a:extLst>
          </p:cNvPr>
          <p:cNvSpPr txBox="1"/>
          <p:nvPr/>
        </p:nvSpPr>
        <p:spPr>
          <a:xfrm>
            <a:off x="551901" y="832313"/>
            <a:ext cx="6528407" cy="640800"/>
          </a:xfrm>
          <a:prstGeom prst="rect">
            <a:avLst/>
          </a:prstGeom>
        </p:spPr>
        <p:txBody>
          <a:bodyPr vert="horz" wrap="square" lIns="121920" tIns="60960" rIns="121920" bIns="60960" rtlCol="0" anchor="ctr" anchorCtr="0">
            <a:noAutofit/>
          </a:bodyPr>
          <a:lstStyle>
            <a:lvl1pPr algn="ctr" defTabSz="182880" rtl="0" eaLnBrk="1" latinLnBrk="0" hangingPunct="1">
              <a:spcBef>
                <a:spcPct val="0"/>
              </a:spcBef>
              <a:buNone/>
              <a:defRPr lang="en-US" sz="1500" b="1" kern="1200" cap="none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18288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EEF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前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20%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的温度曲线</a:t>
            </a: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6B908365-191B-BB78-25A8-D6E70A1480CD}"/>
              </a:ext>
            </a:extLst>
          </p:cNvPr>
          <p:cNvSpPr txBox="1"/>
          <p:nvPr/>
        </p:nvSpPr>
        <p:spPr>
          <a:xfrm>
            <a:off x="339052" y="121526"/>
            <a:ext cx="11239200" cy="640800"/>
          </a:xfrm>
          <a:prstGeom prst="rect">
            <a:avLst/>
          </a:prstGeom>
        </p:spPr>
        <p:txBody>
          <a:bodyPr vert="horz" wrap="square" lIns="121920" tIns="60960" rIns="121920" bIns="60960" rtlCol="0" anchor="ctr" anchorCtr="0">
            <a:noAutofit/>
          </a:bodyPr>
          <a:lstStyle>
            <a:lvl1pPr algn="ctr" defTabSz="182880" rtl="0" eaLnBrk="1" latinLnBrk="0" hangingPunct="1">
              <a:spcBef>
                <a:spcPct val="0"/>
              </a:spcBef>
              <a:buNone/>
              <a:defRPr lang="en-US" sz="1500" b="1" kern="1200" cap="none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18288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800" dirty="0">
                <a:solidFill>
                  <a:schemeClr val="accent5">
                    <a:lumMod val="75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EEF</a:t>
            </a:r>
            <a:r>
              <a:rPr lang="zh-CN" altLang="en-US" sz="2800" dirty="0">
                <a:solidFill>
                  <a:schemeClr val="accent5">
                    <a:lumMod val="75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分析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chemeClr val="accent5">
                  <a:lumMod val="75000"/>
                </a:schemeClr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306A08B0-765B-453A-A798-08548A067C3D}"/>
              </a:ext>
            </a:extLst>
          </p:cNvPr>
          <p:cNvSpPr/>
          <p:nvPr/>
        </p:nvSpPr>
        <p:spPr>
          <a:xfrm>
            <a:off x="492981" y="1606656"/>
            <a:ext cx="387864" cy="1464628"/>
          </a:xfrm>
          <a:prstGeom prst="rect">
            <a:avLst/>
          </a:prstGeom>
          <a:pattFill prst="ltDnDiag">
            <a:fgClr>
              <a:schemeClr val="accent1">
                <a:lumMod val="20000"/>
                <a:lumOff val="80000"/>
              </a:schemeClr>
            </a:fgClr>
            <a:bgClr>
              <a:schemeClr val="bg1"/>
            </a:bgClr>
          </a:pattFill>
          <a:ln w="1905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600" b="1" dirty="0">
                <a:solidFill>
                  <a:srgbClr val="33A3FF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探查方法</a:t>
            </a: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srgbClr val="33A3FF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31944E5E-4D0C-CAD9-DD03-12609AA2C767}"/>
              </a:ext>
            </a:extLst>
          </p:cNvPr>
          <p:cNvSpPr/>
          <p:nvPr/>
        </p:nvSpPr>
        <p:spPr>
          <a:xfrm>
            <a:off x="492981" y="1606658"/>
            <a:ext cx="11060104" cy="1464626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FEDDE131-B547-8EC2-CBF6-E3AE733C21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09627" y="3204829"/>
            <a:ext cx="5858547" cy="3294529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E826BE45-D6CE-0A84-0507-4CBAF9F460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415" y="3419682"/>
            <a:ext cx="5775212" cy="2864821"/>
          </a:xfrm>
          <a:prstGeom prst="rect">
            <a:avLst/>
          </a:prstGeom>
        </p:spPr>
      </p:pic>
      <p:sp>
        <p:nvSpPr>
          <p:cNvPr id="9" name="标题 1">
            <a:extLst>
              <a:ext uri="{FF2B5EF4-FFF2-40B4-BE49-F238E27FC236}">
                <a16:creationId xmlns:a16="http://schemas.microsoft.com/office/drawing/2014/main" id="{5CBBFD69-F7EE-83CF-7E7A-90542C3F9961}"/>
              </a:ext>
            </a:extLst>
          </p:cNvPr>
          <p:cNvSpPr txBox="1"/>
          <p:nvPr/>
        </p:nvSpPr>
        <p:spPr>
          <a:xfrm>
            <a:off x="971850" y="1660386"/>
            <a:ext cx="10581235" cy="1211410"/>
          </a:xfrm>
          <a:prstGeom prst="rect">
            <a:avLst/>
          </a:prstGeom>
        </p:spPr>
        <p:txBody>
          <a:bodyPr vert="horz" wrap="square" lIns="121920" tIns="60960" rIns="121920" bIns="60960" rtlCol="0" anchor="ctr" anchorCtr="0">
            <a:noAutofit/>
          </a:bodyPr>
          <a:lstStyle>
            <a:lvl1pPr algn="ctr" defTabSz="182880" rtl="0" eaLnBrk="1" latinLnBrk="0" hangingPunct="1">
              <a:spcBef>
                <a:spcPct val="0"/>
              </a:spcBef>
              <a:buNone/>
              <a:defRPr lang="en-US" sz="1500" b="1" kern="1200" cap="none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18288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数据处理：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取每月</a:t>
            </a:r>
            <a:r>
              <a:rPr lang="en-US" altLang="zh-CN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EEF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排名前</a:t>
            </a:r>
            <a:r>
              <a:rPr lang="en-US" altLang="zh-CN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20%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的栋舍记为高效群，后</a:t>
            </a:r>
            <a:r>
              <a:rPr lang="en-US" altLang="zh-CN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20%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为低效群。高效群平均</a:t>
            </a:r>
            <a:r>
              <a:rPr lang="en-US" altLang="zh-CN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EEF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为</a:t>
            </a:r>
            <a:r>
              <a:rPr lang="en-US" altLang="zh-CN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418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，低效群平均</a:t>
            </a:r>
            <a:r>
              <a:rPr lang="en-US" altLang="zh-CN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EEF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为</a:t>
            </a:r>
            <a:r>
              <a:rPr lang="en-US" altLang="zh-CN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302</a:t>
            </a:r>
          </a:p>
          <a:p>
            <a:pPr marL="0" marR="0" lvl="0" indent="0" algn="l" defTabSz="18288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字段含义：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分别取字段</a:t>
            </a:r>
            <a:r>
              <a:rPr lang="en-US" altLang="zh-CN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min(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鸡舍温度</a:t>
            </a:r>
            <a:r>
              <a:rPr lang="en-US" altLang="zh-CN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-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最低</a:t>
            </a:r>
            <a:r>
              <a:rPr lang="en-US" altLang="zh-CN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)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，</a:t>
            </a:r>
            <a:r>
              <a:rPr lang="en-US" altLang="zh-CN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mean(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鸡舍温度</a:t>
            </a:r>
            <a:r>
              <a:rPr lang="en-US" altLang="zh-CN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-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平均</a:t>
            </a:r>
            <a:r>
              <a:rPr lang="en-US" altLang="zh-CN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)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，</a:t>
            </a:r>
            <a:r>
              <a:rPr lang="en-US" altLang="zh-CN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max(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鸡舍温度</a:t>
            </a:r>
            <a:r>
              <a:rPr lang="en-US" altLang="zh-CN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-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最高</a:t>
            </a:r>
            <a:r>
              <a:rPr lang="en-US" altLang="zh-CN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)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 作为该日龄的最低温度，平均温度，最高温度，得到</a:t>
            </a:r>
            <a:r>
              <a:rPr lang="zh-CN" altLang="en-US" sz="1600" dirty="0">
                <a:latin typeface="等线" panose="02010600030101010101" pitchFamily="2" charset="-122"/>
                <a:ea typeface="等线" panose="02010600030101010101" pitchFamily="2" charset="-122"/>
              </a:rPr>
              <a:t>左边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图像。取五个探头每个日龄的平均温度作为</a:t>
            </a:r>
            <a:r>
              <a:rPr lang="zh-CN" altLang="en-US" sz="1600" dirty="0">
                <a:latin typeface="等线" panose="02010600030101010101" pitchFamily="2" charset="-122"/>
                <a:ea typeface="等线" panose="02010600030101010101" pitchFamily="2" charset="-122"/>
              </a:rPr>
              <a:t>右图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的温度分布</a:t>
            </a:r>
            <a:endParaRPr lang="en-US" altLang="zh-CN" sz="1600" b="0" dirty="0">
              <a:solidFill>
                <a:srgbClr val="000000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6524925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AED547-D480-11CA-4F97-86A459B7AE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箭头: 五边形 7">
            <a:extLst>
              <a:ext uri="{FF2B5EF4-FFF2-40B4-BE49-F238E27FC236}">
                <a16:creationId xmlns:a16="http://schemas.microsoft.com/office/drawing/2014/main" id="{5F4268F3-46B9-90B8-E69A-C7B1E771CDF5}"/>
              </a:ext>
            </a:extLst>
          </p:cNvPr>
          <p:cNvSpPr/>
          <p:nvPr/>
        </p:nvSpPr>
        <p:spPr>
          <a:xfrm>
            <a:off x="0" y="864476"/>
            <a:ext cx="7592037" cy="576475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4" name="标题 1">
            <a:extLst>
              <a:ext uri="{FF2B5EF4-FFF2-40B4-BE49-F238E27FC236}">
                <a16:creationId xmlns:a16="http://schemas.microsoft.com/office/drawing/2014/main" id="{02B0AF94-5BD7-4521-FD34-A78819677A2D}"/>
              </a:ext>
            </a:extLst>
          </p:cNvPr>
          <p:cNvSpPr txBox="1"/>
          <p:nvPr/>
        </p:nvSpPr>
        <p:spPr>
          <a:xfrm>
            <a:off x="313885" y="216182"/>
            <a:ext cx="11239200" cy="640800"/>
          </a:xfrm>
          <a:prstGeom prst="rect">
            <a:avLst/>
          </a:prstGeom>
        </p:spPr>
        <p:txBody>
          <a:bodyPr vert="horz" wrap="square" lIns="121920" tIns="60960" rIns="121920" bIns="60960" rtlCol="0" anchor="ctr" anchorCtr="0">
            <a:noAutofit/>
          </a:bodyPr>
          <a:lstStyle>
            <a:lvl1pPr algn="ctr" defTabSz="182880" rtl="0" eaLnBrk="1" latinLnBrk="0" hangingPunct="1">
              <a:spcBef>
                <a:spcPct val="0"/>
              </a:spcBef>
              <a:buNone/>
              <a:defRPr lang="en-US" sz="1500" b="1" kern="1200" cap="none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18288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593B4989-06B8-7D41-2B9B-2FD998C3E274}"/>
              </a:ext>
            </a:extLst>
          </p:cNvPr>
          <p:cNvSpPr txBox="1"/>
          <p:nvPr/>
        </p:nvSpPr>
        <p:spPr>
          <a:xfrm>
            <a:off x="551901" y="832313"/>
            <a:ext cx="6528407" cy="640800"/>
          </a:xfrm>
          <a:prstGeom prst="rect">
            <a:avLst/>
          </a:prstGeom>
        </p:spPr>
        <p:txBody>
          <a:bodyPr vert="horz" wrap="square" lIns="121920" tIns="60960" rIns="121920" bIns="60960" rtlCol="0" anchor="ctr" anchorCtr="0">
            <a:noAutofit/>
          </a:bodyPr>
          <a:lstStyle>
            <a:lvl1pPr algn="ctr" defTabSz="182880" rtl="0" eaLnBrk="1" latinLnBrk="0" hangingPunct="1">
              <a:spcBef>
                <a:spcPct val="0"/>
              </a:spcBef>
              <a:buNone/>
              <a:defRPr lang="en-US" sz="1500" b="1" kern="1200" cap="none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18288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EEF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前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20%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的温度曲线</a:t>
            </a: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405485BF-1451-967A-B822-8464B7D79565}"/>
              </a:ext>
            </a:extLst>
          </p:cNvPr>
          <p:cNvSpPr txBox="1"/>
          <p:nvPr/>
        </p:nvSpPr>
        <p:spPr>
          <a:xfrm>
            <a:off x="339052" y="121526"/>
            <a:ext cx="11239200" cy="640800"/>
          </a:xfrm>
          <a:prstGeom prst="rect">
            <a:avLst/>
          </a:prstGeom>
        </p:spPr>
        <p:txBody>
          <a:bodyPr vert="horz" wrap="square" lIns="121920" tIns="60960" rIns="121920" bIns="60960" rtlCol="0" anchor="ctr" anchorCtr="0">
            <a:noAutofit/>
          </a:bodyPr>
          <a:lstStyle>
            <a:lvl1pPr algn="ctr" defTabSz="182880" rtl="0" eaLnBrk="1" latinLnBrk="0" hangingPunct="1">
              <a:spcBef>
                <a:spcPct val="0"/>
              </a:spcBef>
              <a:buNone/>
              <a:defRPr lang="en-US" sz="1500" b="1" kern="1200" cap="none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18288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800" dirty="0">
                <a:solidFill>
                  <a:schemeClr val="accent5">
                    <a:lumMod val="75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EEF</a:t>
            </a:r>
            <a:r>
              <a:rPr lang="zh-CN" altLang="en-US" sz="2800" dirty="0">
                <a:solidFill>
                  <a:schemeClr val="accent5">
                    <a:lumMod val="75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分析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chemeClr val="accent5">
                  <a:lumMod val="75000"/>
                </a:schemeClr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F9D44198-E22F-5DBD-6A77-E3AECAACE349}"/>
              </a:ext>
            </a:extLst>
          </p:cNvPr>
          <p:cNvSpPr/>
          <p:nvPr/>
        </p:nvSpPr>
        <p:spPr>
          <a:xfrm>
            <a:off x="492981" y="1606656"/>
            <a:ext cx="387864" cy="1464628"/>
          </a:xfrm>
          <a:prstGeom prst="rect">
            <a:avLst/>
          </a:prstGeom>
          <a:pattFill prst="ltDnDiag">
            <a:fgClr>
              <a:schemeClr val="accent1">
                <a:lumMod val="20000"/>
                <a:lumOff val="80000"/>
              </a:schemeClr>
            </a:fgClr>
            <a:bgClr>
              <a:schemeClr val="bg1"/>
            </a:bgClr>
          </a:pattFill>
          <a:ln w="1905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600" b="1" dirty="0">
                <a:solidFill>
                  <a:srgbClr val="33A3FF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探查方法</a:t>
            </a: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srgbClr val="33A3FF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858A7F18-51F5-7F40-8BCF-BD14A98FEB96}"/>
              </a:ext>
            </a:extLst>
          </p:cNvPr>
          <p:cNvSpPr/>
          <p:nvPr/>
        </p:nvSpPr>
        <p:spPr>
          <a:xfrm>
            <a:off x="492981" y="1606658"/>
            <a:ext cx="11060104" cy="1464626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062C3078-C692-9B20-BA4B-5BF786BE59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6802" y="3204829"/>
            <a:ext cx="6087313" cy="3429000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E0A8D135-8C33-074B-86A2-FC3BB36415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981" y="3343523"/>
            <a:ext cx="5376023" cy="2838202"/>
          </a:xfrm>
          <a:prstGeom prst="rect">
            <a:avLst/>
          </a:prstGeom>
        </p:spPr>
      </p:pic>
      <p:sp>
        <p:nvSpPr>
          <p:cNvPr id="9" name="标题 1">
            <a:extLst>
              <a:ext uri="{FF2B5EF4-FFF2-40B4-BE49-F238E27FC236}">
                <a16:creationId xmlns:a16="http://schemas.microsoft.com/office/drawing/2014/main" id="{5EEE2A49-5D41-C745-49BA-32A1BB41AF91}"/>
              </a:ext>
            </a:extLst>
          </p:cNvPr>
          <p:cNvSpPr txBox="1"/>
          <p:nvPr/>
        </p:nvSpPr>
        <p:spPr>
          <a:xfrm>
            <a:off x="971850" y="1660386"/>
            <a:ext cx="10581235" cy="1211410"/>
          </a:xfrm>
          <a:prstGeom prst="rect">
            <a:avLst/>
          </a:prstGeom>
        </p:spPr>
        <p:txBody>
          <a:bodyPr vert="horz" wrap="square" lIns="121920" tIns="60960" rIns="121920" bIns="60960" rtlCol="0" anchor="ctr" anchorCtr="0">
            <a:noAutofit/>
          </a:bodyPr>
          <a:lstStyle>
            <a:lvl1pPr algn="ctr" defTabSz="182880" rtl="0" eaLnBrk="1" latinLnBrk="0" hangingPunct="1">
              <a:spcBef>
                <a:spcPct val="0"/>
              </a:spcBef>
              <a:buNone/>
              <a:defRPr lang="en-US" sz="1500" b="1" kern="1200" cap="none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18288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数据处理：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取每月</a:t>
            </a:r>
            <a:r>
              <a:rPr lang="en-US" altLang="zh-CN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EEF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排名前</a:t>
            </a:r>
            <a:r>
              <a:rPr lang="en-US" altLang="zh-CN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20%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的栋舍记为高效群，后</a:t>
            </a:r>
            <a:r>
              <a:rPr lang="en-US" altLang="zh-CN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20%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为低效群。高效群平均</a:t>
            </a:r>
            <a:r>
              <a:rPr lang="en-US" altLang="zh-CN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EEF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为</a:t>
            </a:r>
            <a:r>
              <a:rPr lang="en-US" altLang="zh-CN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418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，低效群平均</a:t>
            </a:r>
            <a:r>
              <a:rPr lang="en-US" altLang="zh-CN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EEF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为</a:t>
            </a:r>
            <a:r>
              <a:rPr lang="en-US" altLang="zh-CN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302</a:t>
            </a:r>
          </a:p>
          <a:p>
            <a:pPr marL="0" marR="0" lvl="0" indent="0" algn="l" defTabSz="18288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字段含义：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分别取字段</a:t>
            </a:r>
            <a:r>
              <a:rPr lang="en-US" altLang="zh-CN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min(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鸡舍温度</a:t>
            </a:r>
            <a:r>
              <a:rPr lang="en-US" altLang="zh-CN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-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最低</a:t>
            </a:r>
            <a:r>
              <a:rPr lang="en-US" altLang="zh-CN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)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，</a:t>
            </a:r>
            <a:r>
              <a:rPr lang="en-US" altLang="zh-CN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mean(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鸡舍温度</a:t>
            </a:r>
            <a:r>
              <a:rPr lang="en-US" altLang="zh-CN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-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平均</a:t>
            </a:r>
            <a:r>
              <a:rPr lang="en-US" altLang="zh-CN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)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，</a:t>
            </a:r>
            <a:r>
              <a:rPr lang="en-US" altLang="zh-CN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max(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鸡舍温度</a:t>
            </a:r>
            <a:r>
              <a:rPr lang="en-US" altLang="zh-CN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-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最高</a:t>
            </a:r>
            <a:r>
              <a:rPr lang="en-US" altLang="zh-CN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)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 作为该日龄的最低温度，平均温度，最高温度，得到</a:t>
            </a:r>
            <a:r>
              <a:rPr lang="zh-CN" altLang="en-US" sz="1600" dirty="0">
                <a:latin typeface="等线" panose="02010600030101010101" pitchFamily="2" charset="-122"/>
                <a:ea typeface="等线" panose="02010600030101010101" pitchFamily="2" charset="-122"/>
              </a:rPr>
              <a:t>左边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图像。取五个探头每个日龄的平均温度作为</a:t>
            </a:r>
            <a:r>
              <a:rPr lang="zh-CN" altLang="en-US" sz="1600" dirty="0">
                <a:latin typeface="等线" panose="02010600030101010101" pitchFamily="2" charset="-122"/>
                <a:ea typeface="等线" panose="02010600030101010101" pitchFamily="2" charset="-122"/>
              </a:rPr>
              <a:t>右图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的温度分布</a:t>
            </a:r>
            <a:endParaRPr lang="en-US" altLang="zh-CN" sz="1600" b="0" dirty="0">
              <a:solidFill>
                <a:srgbClr val="000000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123992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1A7D69-92CF-F272-46F4-36431ADFD3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箭头: 五边形 7">
            <a:extLst>
              <a:ext uri="{FF2B5EF4-FFF2-40B4-BE49-F238E27FC236}">
                <a16:creationId xmlns:a16="http://schemas.microsoft.com/office/drawing/2014/main" id="{39B87B28-0783-F334-EB78-5881D9563664}"/>
              </a:ext>
            </a:extLst>
          </p:cNvPr>
          <p:cNvSpPr/>
          <p:nvPr/>
        </p:nvSpPr>
        <p:spPr>
          <a:xfrm>
            <a:off x="0" y="864476"/>
            <a:ext cx="7592037" cy="576475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4" name="标题 1">
            <a:extLst>
              <a:ext uri="{FF2B5EF4-FFF2-40B4-BE49-F238E27FC236}">
                <a16:creationId xmlns:a16="http://schemas.microsoft.com/office/drawing/2014/main" id="{FF9F5F74-50F2-3631-E7AC-63CC35DD3421}"/>
              </a:ext>
            </a:extLst>
          </p:cNvPr>
          <p:cNvSpPr txBox="1"/>
          <p:nvPr/>
        </p:nvSpPr>
        <p:spPr>
          <a:xfrm>
            <a:off x="313885" y="216182"/>
            <a:ext cx="11239200" cy="640800"/>
          </a:xfrm>
          <a:prstGeom prst="rect">
            <a:avLst/>
          </a:prstGeom>
        </p:spPr>
        <p:txBody>
          <a:bodyPr vert="horz" wrap="square" lIns="121920" tIns="60960" rIns="121920" bIns="60960" rtlCol="0" anchor="ctr" anchorCtr="0">
            <a:noAutofit/>
          </a:bodyPr>
          <a:lstStyle>
            <a:lvl1pPr algn="ctr" defTabSz="182880" rtl="0" eaLnBrk="1" latinLnBrk="0" hangingPunct="1">
              <a:spcBef>
                <a:spcPct val="0"/>
              </a:spcBef>
              <a:buNone/>
              <a:defRPr lang="en-US" sz="1500" b="1" kern="1200" cap="none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18288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972A9E01-16A7-AAC6-1C20-A9E51F4FE345}"/>
              </a:ext>
            </a:extLst>
          </p:cNvPr>
          <p:cNvSpPr txBox="1"/>
          <p:nvPr/>
        </p:nvSpPr>
        <p:spPr>
          <a:xfrm>
            <a:off x="551901" y="832313"/>
            <a:ext cx="6528407" cy="640800"/>
          </a:xfrm>
          <a:prstGeom prst="rect">
            <a:avLst/>
          </a:prstGeom>
        </p:spPr>
        <p:txBody>
          <a:bodyPr vert="horz" wrap="square" lIns="121920" tIns="60960" rIns="121920" bIns="60960" rtlCol="0" anchor="ctr" anchorCtr="0">
            <a:noAutofit/>
          </a:bodyPr>
          <a:lstStyle>
            <a:lvl1pPr algn="ctr" defTabSz="182880" rtl="0" eaLnBrk="1" latinLnBrk="0" hangingPunct="1">
              <a:spcBef>
                <a:spcPct val="0"/>
              </a:spcBef>
              <a:buNone/>
              <a:defRPr lang="en-US" sz="1500" b="1" kern="1200" cap="none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18288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EEF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前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20%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的温度曲线</a:t>
            </a: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76D63FD-6AED-B3D2-3C4D-7265C7B6A279}"/>
              </a:ext>
            </a:extLst>
          </p:cNvPr>
          <p:cNvSpPr txBox="1"/>
          <p:nvPr/>
        </p:nvSpPr>
        <p:spPr>
          <a:xfrm>
            <a:off x="339052" y="121526"/>
            <a:ext cx="11239200" cy="640800"/>
          </a:xfrm>
          <a:prstGeom prst="rect">
            <a:avLst/>
          </a:prstGeom>
        </p:spPr>
        <p:txBody>
          <a:bodyPr vert="horz" wrap="square" lIns="121920" tIns="60960" rIns="121920" bIns="60960" rtlCol="0" anchor="ctr" anchorCtr="0">
            <a:noAutofit/>
          </a:bodyPr>
          <a:lstStyle>
            <a:lvl1pPr algn="ctr" defTabSz="182880" rtl="0" eaLnBrk="1" latinLnBrk="0" hangingPunct="1">
              <a:spcBef>
                <a:spcPct val="0"/>
              </a:spcBef>
              <a:buNone/>
              <a:defRPr lang="en-US" sz="1500" b="1" kern="1200" cap="none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18288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800" dirty="0">
                <a:solidFill>
                  <a:schemeClr val="accent5">
                    <a:lumMod val="75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EEF</a:t>
            </a:r>
            <a:r>
              <a:rPr lang="zh-CN" altLang="en-US" sz="2800" dirty="0">
                <a:solidFill>
                  <a:schemeClr val="accent5">
                    <a:lumMod val="75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分析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chemeClr val="accent5">
                  <a:lumMod val="75000"/>
                </a:schemeClr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1E37E87D-316E-0374-D825-FC7247810AC1}"/>
              </a:ext>
            </a:extLst>
          </p:cNvPr>
          <p:cNvSpPr/>
          <p:nvPr/>
        </p:nvSpPr>
        <p:spPr>
          <a:xfrm>
            <a:off x="492981" y="1606656"/>
            <a:ext cx="387864" cy="1464628"/>
          </a:xfrm>
          <a:prstGeom prst="rect">
            <a:avLst/>
          </a:prstGeom>
          <a:pattFill prst="ltDnDiag">
            <a:fgClr>
              <a:schemeClr val="accent1">
                <a:lumMod val="20000"/>
                <a:lumOff val="80000"/>
              </a:schemeClr>
            </a:fgClr>
            <a:bgClr>
              <a:schemeClr val="bg1"/>
            </a:bgClr>
          </a:pattFill>
          <a:ln w="1905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600" b="1" dirty="0">
                <a:solidFill>
                  <a:srgbClr val="33A3FF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探查方法</a:t>
            </a: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srgbClr val="33A3FF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1CD9E3C4-F5D8-30B1-3F12-2CD17EFA2AF1}"/>
              </a:ext>
            </a:extLst>
          </p:cNvPr>
          <p:cNvSpPr/>
          <p:nvPr/>
        </p:nvSpPr>
        <p:spPr>
          <a:xfrm>
            <a:off x="492981" y="1606658"/>
            <a:ext cx="11060104" cy="1464626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258115DA-8436-7F23-B617-83EF3BBE0D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3938" y="3307474"/>
            <a:ext cx="5885652" cy="3429000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A75E8C94-BAEE-A341-C8BC-684DCB6483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9052" y="3541789"/>
            <a:ext cx="5600700" cy="2772272"/>
          </a:xfrm>
          <a:prstGeom prst="rect">
            <a:avLst/>
          </a:prstGeom>
        </p:spPr>
      </p:pic>
      <p:sp>
        <p:nvSpPr>
          <p:cNvPr id="9" name="标题 1">
            <a:extLst>
              <a:ext uri="{FF2B5EF4-FFF2-40B4-BE49-F238E27FC236}">
                <a16:creationId xmlns:a16="http://schemas.microsoft.com/office/drawing/2014/main" id="{78B94D33-DD1B-4569-9462-D45F827FC477}"/>
              </a:ext>
            </a:extLst>
          </p:cNvPr>
          <p:cNvSpPr txBox="1"/>
          <p:nvPr/>
        </p:nvSpPr>
        <p:spPr>
          <a:xfrm>
            <a:off x="971850" y="1660386"/>
            <a:ext cx="10581235" cy="1211410"/>
          </a:xfrm>
          <a:prstGeom prst="rect">
            <a:avLst/>
          </a:prstGeom>
        </p:spPr>
        <p:txBody>
          <a:bodyPr vert="horz" wrap="square" lIns="121920" tIns="60960" rIns="121920" bIns="60960" rtlCol="0" anchor="ctr" anchorCtr="0">
            <a:noAutofit/>
          </a:bodyPr>
          <a:lstStyle>
            <a:lvl1pPr algn="ctr" defTabSz="182880" rtl="0" eaLnBrk="1" latinLnBrk="0" hangingPunct="1">
              <a:spcBef>
                <a:spcPct val="0"/>
              </a:spcBef>
              <a:buNone/>
              <a:defRPr lang="en-US" sz="1500" b="1" kern="1200" cap="none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18288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数据处理：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取每月</a:t>
            </a:r>
            <a:r>
              <a:rPr lang="en-US" altLang="zh-CN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EEF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排名前</a:t>
            </a:r>
            <a:r>
              <a:rPr lang="en-US" altLang="zh-CN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20%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的栋舍记为高效群，后</a:t>
            </a:r>
            <a:r>
              <a:rPr lang="en-US" altLang="zh-CN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20%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为低效群。高效群平均</a:t>
            </a:r>
            <a:r>
              <a:rPr lang="en-US" altLang="zh-CN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EEF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为</a:t>
            </a:r>
            <a:r>
              <a:rPr lang="en-US" altLang="zh-CN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418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，低效群平均</a:t>
            </a:r>
            <a:r>
              <a:rPr lang="en-US" altLang="zh-CN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EEF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为</a:t>
            </a:r>
            <a:r>
              <a:rPr lang="en-US" altLang="zh-CN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302</a:t>
            </a:r>
          </a:p>
          <a:p>
            <a:pPr marL="0" marR="0" lvl="0" indent="0" algn="l" defTabSz="18288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字段含义：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分别取字段</a:t>
            </a:r>
            <a:r>
              <a:rPr lang="en-US" altLang="zh-CN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min(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鸡舍温度</a:t>
            </a:r>
            <a:r>
              <a:rPr lang="en-US" altLang="zh-CN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-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最低</a:t>
            </a:r>
            <a:r>
              <a:rPr lang="en-US" altLang="zh-CN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)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，</a:t>
            </a:r>
            <a:r>
              <a:rPr lang="en-US" altLang="zh-CN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mean(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鸡舍温度</a:t>
            </a:r>
            <a:r>
              <a:rPr lang="en-US" altLang="zh-CN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-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平均</a:t>
            </a:r>
            <a:r>
              <a:rPr lang="en-US" altLang="zh-CN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)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，</a:t>
            </a:r>
            <a:r>
              <a:rPr lang="en-US" altLang="zh-CN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max(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鸡舍温度</a:t>
            </a:r>
            <a:r>
              <a:rPr lang="en-US" altLang="zh-CN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-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最高</a:t>
            </a:r>
            <a:r>
              <a:rPr lang="en-US" altLang="zh-CN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)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 作为该日龄的最低温度，平均温度，最高温度，得到</a:t>
            </a:r>
            <a:r>
              <a:rPr lang="zh-CN" altLang="en-US" sz="1600" dirty="0">
                <a:latin typeface="等线" panose="02010600030101010101" pitchFamily="2" charset="-122"/>
                <a:ea typeface="等线" panose="02010600030101010101" pitchFamily="2" charset="-122"/>
              </a:rPr>
              <a:t>左边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图像。取五个探头每个日龄的平均温度作为</a:t>
            </a:r>
            <a:r>
              <a:rPr lang="zh-CN" altLang="en-US" sz="1600" dirty="0">
                <a:latin typeface="等线" panose="02010600030101010101" pitchFamily="2" charset="-122"/>
                <a:ea typeface="等线" panose="02010600030101010101" pitchFamily="2" charset="-122"/>
              </a:rPr>
              <a:t>右图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的温度分布</a:t>
            </a:r>
            <a:endParaRPr lang="en-US" altLang="zh-CN" sz="1600" b="0" dirty="0">
              <a:solidFill>
                <a:srgbClr val="000000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123737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0D3F58-FBA0-5890-E017-0F64302C6A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箭头: 五边形 7">
            <a:extLst>
              <a:ext uri="{FF2B5EF4-FFF2-40B4-BE49-F238E27FC236}">
                <a16:creationId xmlns:a16="http://schemas.microsoft.com/office/drawing/2014/main" id="{241ECC46-522F-F7FD-BAC3-0D9D652D5EB7}"/>
              </a:ext>
            </a:extLst>
          </p:cNvPr>
          <p:cNvSpPr/>
          <p:nvPr/>
        </p:nvSpPr>
        <p:spPr>
          <a:xfrm>
            <a:off x="0" y="864476"/>
            <a:ext cx="7592037" cy="576475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4" name="标题 1">
            <a:extLst>
              <a:ext uri="{FF2B5EF4-FFF2-40B4-BE49-F238E27FC236}">
                <a16:creationId xmlns:a16="http://schemas.microsoft.com/office/drawing/2014/main" id="{5853EC75-9F03-0F26-BE76-066836FDB224}"/>
              </a:ext>
            </a:extLst>
          </p:cNvPr>
          <p:cNvSpPr txBox="1"/>
          <p:nvPr/>
        </p:nvSpPr>
        <p:spPr>
          <a:xfrm>
            <a:off x="313885" y="216182"/>
            <a:ext cx="11239200" cy="640800"/>
          </a:xfrm>
          <a:prstGeom prst="rect">
            <a:avLst/>
          </a:prstGeom>
        </p:spPr>
        <p:txBody>
          <a:bodyPr vert="horz" wrap="square" lIns="121920" tIns="60960" rIns="121920" bIns="60960" rtlCol="0" anchor="ctr" anchorCtr="0">
            <a:noAutofit/>
          </a:bodyPr>
          <a:lstStyle>
            <a:lvl1pPr algn="ctr" defTabSz="182880" rtl="0" eaLnBrk="1" latinLnBrk="0" hangingPunct="1">
              <a:spcBef>
                <a:spcPct val="0"/>
              </a:spcBef>
              <a:buNone/>
              <a:defRPr lang="en-US" sz="1500" b="1" kern="1200" cap="none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18288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D6514734-1069-88B2-2F78-BCB1D5306C5C}"/>
              </a:ext>
            </a:extLst>
          </p:cNvPr>
          <p:cNvSpPr txBox="1"/>
          <p:nvPr/>
        </p:nvSpPr>
        <p:spPr>
          <a:xfrm>
            <a:off x="551901" y="832313"/>
            <a:ext cx="6528407" cy="640800"/>
          </a:xfrm>
          <a:prstGeom prst="rect">
            <a:avLst/>
          </a:prstGeom>
        </p:spPr>
        <p:txBody>
          <a:bodyPr vert="horz" wrap="square" lIns="121920" tIns="60960" rIns="121920" bIns="60960" rtlCol="0" anchor="ctr" anchorCtr="0">
            <a:noAutofit/>
          </a:bodyPr>
          <a:lstStyle>
            <a:lvl1pPr algn="ctr" defTabSz="182880" rtl="0" eaLnBrk="1" latinLnBrk="0" hangingPunct="1">
              <a:spcBef>
                <a:spcPct val="0"/>
              </a:spcBef>
              <a:buNone/>
              <a:defRPr lang="en-US" sz="1500" b="1" kern="1200" cap="none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18288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EEF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前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20%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的温度曲线</a:t>
            </a: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545CDCD8-EA6E-F0F4-45DF-34DD3ACC17D4}"/>
              </a:ext>
            </a:extLst>
          </p:cNvPr>
          <p:cNvSpPr txBox="1"/>
          <p:nvPr/>
        </p:nvSpPr>
        <p:spPr>
          <a:xfrm>
            <a:off x="339052" y="121526"/>
            <a:ext cx="11239200" cy="640800"/>
          </a:xfrm>
          <a:prstGeom prst="rect">
            <a:avLst/>
          </a:prstGeom>
        </p:spPr>
        <p:txBody>
          <a:bodyPr vert="horz" wrap="square" lIns="121920" tIns="60960" rIns="121920" bIns="60960" rtlCol="0" anchor="ctr" anchorCtr="0">
            <a:noAutofit/>
          </a:bodyPr>
          <a:lstStyle>
            <a:lvl1pPr algn="ctr" defTabSz="182880" rtl="0" eaLnBrk="1" latinLnBrk="0" hangingPunct="1">
              <a:spcBef>
                <a:spcPct val="0"/>
              </a:spcBef>
              <a:buNone/>
              <a:defRPr lang="en-US" sz="1500" b="1" kern="1200" cap="none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18288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800" dirty="0">
                <a:solidFill>
                  <a:schemeClr val="accent5">
                    <a:lumMod val="75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EEF</a:t>
            </a:r>
            <a:r>
              <a:rPr lang="zh-CN" altLang="en-US" sz="2800" dirty="0">
                <a:solidFill>
                  <a:schemeClr val="accent5">
                    <a:lumMod val="75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分析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chemeClr val="accent5">
                  <a:lumMod val="75000"/>
                </a:schemeClr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F3A1AA45-A00E-CFD4-9F95-C8996EC931AE}"/>
              </a:ext>
            </a:extLst>
          </p:cNvPr>
          <p:cNvSpPr/>
          <p:nvPr/>
        </p:nvSpPr>
        <p:spPr>
          <a:xfrm>
            <a:off x="492981" y="1606656"/>
            <a:ext cx="387864" cy="1464628"/>
          </a:xfrm>
          <a:prstGeom prst="rect">
            <a:avLst/>
          </a:prstGeom>
          <a:pattFill prst="ltDnDiag">
            <a:fgClr>
              <a:schemeClr val="accent1">
                <a:lumMod val="20000"/>
                <a:lumOff val="80000"/>
              </a:schemeClr>
            </a:fgClr>
            <a:bgClr>
              <a:schemeClr val="bg1"/>
            </a:bgClr>
          </a:pattFill>
          <a:ln w="1905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600" b="1" dirty="0">
                <a:solidFill>
                  <a:srgbClr val="33A3FF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探查方法</a:t>
            </a: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srgbClr val="33A3FF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FC9904C1-9323-10EC-3DF3-15D8847329D5}"/>
              </a:ext>
            </a:extLst>
          </p:cNvPr>
          <p:cNvSpPr/>
          <p:nvPr/>
        </p:nvSpPr>
        <p:spPr>
          <a:xfrm>
            <a:off x="492981" y="1606658"/>
            <a:ext cx="11060104" cy="1464626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95BF5985-B13C-4617-C1F6-0B38904BC6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8411" y="3259716"/>
            <a:ext cx="5384963" cy="3079536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49AE443E-C185-AF42-5FE5-2C28C0B82B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480" y="3348004"/>
            <a:ext cx="5808987" cy="2902959"/>
          </a:xfrm>
          <a:prstGeom prst="rect">
            <a:avLst/>
          </a:prstGeom>
        </p:spPr>
      </p:pic>
      <p:sp>
        <p:nvSpPr>
          <p:cNvPr id="9" name="标题 1">
            <a:extLst>
              <a:ext uri="{FF2B5EF4-FFF2-40B4-BE49-F238E27FC236}">
                <a16:creationId xmlns:a16="http://schemas.microsoft.com/office/drawing/2014/main" id="{696A7F48-77FF-57BE-8327-5A4B1BD7252C}"/>
              </a:ext>
            </a:extLst>
          </p:cNvPr>
          <p:cNvSpPr txBox="1"/>
          <p:nvPr/>
        </p:nvSpPr>
        <p:spPr>
          <a:xfrm>
            <a:off x="971850" y="1660386"/>
            <a:ext cx="10581235" cy="1211410"/>
          </a:xfrm>
          <a:prstGeom prst="rect">
            <a:avLst/>
          </a:prstGeom>
        </p:spPr>
        <p:txBody>
          <a:bodyPr vert="horz" wrap="square" lIns="121920" tIns="60960" rIns="121920" bIns="60960" rtlCol="0" anchor="ctr" anchorCtr="0">
            <a:noAutofit/>
          </a:bodyPr>
          <a:lstStyle>
            <a:lvl1pPr algn="ctr" defTabSz="182880" rtl="0" eaLnBrk="1" latinLnBrk="0" hangingPunct="1">
              <a:spcBef>
                <a:spcPct val="0"/>
              </a:spcBef>
              <a:buNone/>
              <a:defRPr lang="en-US" sz="1500" b="1" kern="1200" cap="none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18288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数据处理：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取每月</a:t>
            </a:r>
            <a:r>
              <a:rPr lang="en-US" altLang="zh-CN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EEF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排名前</a:t>
            </a:r>
            <a:r>
              <a:rPr lang="en-US" altLang="zh-CN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20%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的栋舍记为高效群，后</a:t>
            </a:r>
            <a:r>
              <a:rPr lang="en-US" altLang="zh-CN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20%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为低效群。高效群平均</a:t>
            </a:r>
            <a:r>
              <a:rPr lang="en-US" altLang="zh-CN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EEF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为</a:t>
            </a:r>
            <a:r>
              <a:rPr lang="en-US" altLang="zh-CN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418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，低效群平均</a:t>
            </a:r>
            <a:r>
              <a:rPr lang="en-US" altLang="zh-CN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EEF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为</a:t>
            </a:r>
            <a:r>
              <a:rPr lang="en-US" altLang="zh-CN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302</a:t>
            </a:r>
          </a:p>
          <a:p>
            <a:pPr marL="0" marR="0" lvl="0" indent="0" algn="l" defTabSz="18288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字段含义：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分别取字段</a:t>
            </a:r>
            <a:r>
              <a:rPr lang="en-US" altLang="zh-CN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min(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鸡舍温度</a:t>
            </a:r>
            <a:r>
              <a:rPr lang="en-US" altLang="zh-CN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-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最低</a:t>
            </a:r>
            <a:r>
              <a:rPr lang="en-US" altLang="zh-CN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)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，</a:t>
            </a:r>
            <a:r>
              <a:rPr lang="en-US" altLang="zh-CN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mean(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鸡舍温度</a:t>
            </a:r>
            <a:r>
              <a:rPr lang="en-US" altLang="zh-CN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-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平均</a:t>
            </a:r>
            <a:r>
              <a:rPr lang="en-US" altLang="zh-CN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)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，</a:t>
            </a:r>
            <a:r>
              <a:rPr lang="en-US" altLang="zh-CN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max(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鸡舍温度</a:t>
            </a:r>
            <a:r>
              <a:rPr lang="en-US" altLang="zh-CN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-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最高</a:t>
            </a:r>
            <a:r>
              <a:rPr lang="en-US" altLang="zh-CN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)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 作为该日龄的最低温度，平均温度，最高温度，得到</a:t>
            </a:r>
            <a:r>
              <a:rPr lang="zh-CN" altLang="en-US" sz="1600" dirty="0">
                <a:latin typeface="等线" panose="02010600030101010101" pitchFamily="2" charset="-122"/>
                <a:ea typeface="等线" panose="02010600030101010101" pitchFamily="2" charset="-122"/>
              </a:rPr>
              <a:t>左边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图像。取五个探头每个日龄的平均温度作为</a:t>
            </a:r>
            <a:r>
              <a:rPr lang="zh-CN" altLang="en-US" sz="1600" dirty="0">
                <a:latin typeface="等线" panose="02010600030101010101" pitchFamily="2" charset="-122"/>
                <a:ea typeface="等线" panose="02010600030101010101" pitchFamily="2" charset="-122"/>
              </a:rPr>
              <a:t>右图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的温度分布</a:t>
            </a:r>
            <a:endParaRPr lang="en-US" altLang="zh-CN" sz="1600" b="0" dirty="0">
              <a:solidFill>
                <a:srgbClr val="000000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3455084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CB8CBE-0CF3-D692-0C65-31C16B4DE7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箭头: 五边形 7">
            <a:extLst>
              <a:ext uri="{FF2B5EF4-FFF2-40B4-BE49-F238E27FC236}">
                <a16:creationId xmlns:a16="http://schemas.microsoft.com/office/drawing/2014/main" id="{3FB370D2-14C2-6B5A-685F-303272F44DF2}"/>
              </a:ext>
            </a:extLst>
          </p:cNvPr>
          <p:cNvSpPr/>
          <p:nvPr/>
        </p:nvSpPr>
        <p:spPr>
          <a:xfrm>
            <a:off x="0" y="864476"/>
            <a:ext cx="7592037" cy="576475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4" name="标题 1">
            <a:extLst>
              <a:ext uri="{FF2B5EF4-FFF2-40B4-BE49-F238E27FC236}">
                <a16:creationId xmlns:a16="http://schemas.microsoft.com/office/drawing/2014/main" id="{2450C629-97D7-7125-0984-92106B0B7087}"/>
              </a:ext>
            </a:extLst>
          </p:cNvPr>
          <p:cNvSpPr txBox="1"/>
          <p:nvPr/>
        </p:nvSpPr>
        <p:spPr>
          <a:xfrm>
            <a:off x="313885" y="216182"/>
            <a:ext cx="11239200" cy="640800"/>
          </a:xfrm>
          <a:prstGeom prst="rect">
            <a:avLst/>
          </a:prstGeom>
        </p:spPr>
        <p:txBody>
          <a:bodyPr vert="horz" wrap="square" lIns="121920" tIns="60960" rIns="121920" bIns="60960" rtlCol="0" anchor="ctr" anchorCtr="0">
            <a:noAutofit/>
          </a:bodyPr>
          <a:lstStyle>
            <a:lvl1pPr algn="ctr" defTabSz="182880" rtl="0" eaLnBrk="1" latinLnBrk="0" hangingPunct="1">
              <a:spcBef>
                <a:spcPct val="0"/>
              </a:spcBef>
              <a:buNone/>
              <a:defRPr lang="en-US" sz="1500" b="1" kern="1200" cap="none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18288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B877E6FF-EFE0-E155-E59E-C74EAC8F7352}"/>
              </a:ext>
            </a:extLst>
          </p:cNvPr>
          <p:cNvSpPr txBox="1"/>
          <p:nvPr/>
        </p:nvSpPr>
        <p:spPr>
          <a:xfrm>
            <a:off x="551901" y="832313"/>
            <a:ext cx="6528407" cy="640800"/>
          </a:xfrm>
          <a:prstGeom prst="rect">
            <a:avLst/>
          </a:prstGeom>
        </p:spPr>
        <p:txBody>
          <a:bodyPr vert="horz" wrap="square" lIns="121920" tIns="60960" rIns="121920" bIns="60960" rtlCol="0" anchor="ctr" anchorCtr="0">
            <a:noAutofit/>
          </a:bodyPr>
          <a:lstStyle>
            <a:lvl1pPr algn="ctr" defTabSz="182880" rtl="0" eaLnBrk="1" latinLnBrk="0" hangingPunct="1">
              <a:spcBef>
                <a:spcPct val="0"/>
              </a:spcBef>
              <a:buNone/>
              <a:defRPr lang="en-US" sz="1500" b="1" kern="1200" cap="none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18288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EEF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前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20%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的温度曲线</a:t>
            </a: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5900873E-72B7-A8BC-D17F-52EF09411E78}"/>
              </a:ext>
            </a:extLst>
          </p:cNvPr>
          <p:cNvSpPr txBox="1"/>
          <p:nvPr/>
        </p:nvSpPr>
        <p:spPr>
          <a:xfrm>
            <a:off x="339052" y="121526"/>
            <a:ext cx="11239200" cy="640800"/>
          </a:xfrm>
          <a:prstGeom prst="rect">
            <a:avLst/>
          </a:prstGeom>
        </p:spPr>
        <p:txBody>
          <a:bodyPr vert="horz" wrap="square" lIns="121920" tIns="60960" rIns="121920" bIns="60960" rtlCol="0" anchor="ctr" anchorCtr="0">
            <a:noAutofit/>
          </a:bodyPr>
          <a:lstStyle>
            <a:lvl1pPr algn="ctr" defTabSz="182880" rtl="0" eaLnBrk="1" latinLnBrk="0" hangingPunct="1">
              <a:spcBef>
                <a:spcPct val="0"/>
              </a:spcBef>
              <a:buNone/>
              <a:defRPr lang="en-US" sz="1500" b="1" kern="1200" cap="none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18288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800" dirty="0">
                <a:solidFill>
                  <a:schemeClr val="accent5">
                    <a:lumMod val="75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EEF</a:t>
            </a:r>
            <a:r>
              <a:rPr lang="zh-CN" altLang="en-US" sz="2800" dirty="0">
                <a:solidFill>
                  <a:schemeClr val="accent5">
                    <a:lumMod val="75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分析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chemeClr val="accent5">
                  <a:lumMod val="75000"/>
                </a:schemeClr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DC5C474B-719D-640A-6226-5C3E08FB14AF}"/>
              </a:ext>
            </a:extLst>
          </p:cNvPr>
          <p:cNvSpPr/>
          <p:nvPr/>
        </p:nvSpPr>
        <p:spPr>
          <a:xfrm>
            <a:off x="492981" y="1606656"/>
            <a:ext cx="387864" cy="1464628"/>
          </a:xfrm>
          <a:prstGeom prst="rect">
            <a:avLst/>
          </a:prstGeom>
          <a:pattFill prst="ltDnDiag">
            <a:fgClr>
              <a:schemeClr val="accent1">
                <a:lumMod val="20000"/>
                <a:lumOff val="80000"/>
              </a:schemeClr>
            </a:fgClr>
            <a:bgClr>
              <a:schemeClr val="bg1"/>
            </a:bgClr>
          </a:pattFill>
          <a:ln w="1905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600" b="1" dirty="0">
                <a:solidFill>
                  <a:srgbClr val="33A3FF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探查方法</a:t>
            </a: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srgbClr val="33A3FF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4FACBC7A-B75E-4EA2-84AA-D3355CEC8D59}"/>
              </a:ext>
            </a:extLst>
          </p:cNvPr>
          <p:cNvSpPr/>
          <p:nvPr/>
        </p:nvSpPr>
        <p:spPr>
          <a:xfrm>
            <a:off x="492981" y="1606658"/>
            <a:ext cx="11060104" cy="1464626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936FCF19-A3EC-F7ED-649B-E592D40FC3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4777" y="3402042"/>
            <a:ext cx="5468171" cy="3130942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0CB0988B-F4C4-EB97-09C5-35288DF76F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4867" y="3531834"/>
            <a:ext cx="5371133" cy="2678466"/>
          </a:xfrm>
          <a:prstGeom prst="rect">
            <a:avLst/>
          </a:prstGeom>
        </p:spPr>
      </p:pic>
      <p:sp>
        <p:nvSpPr>
          <p:cNvPr id="9" name="标题 1">
            <a:extLst>
              <a:ext uri="{FF2B5EF4-FFF2-40B4-BE49-F238E27FC236}">
                <a16:creationId xmlns:a16="http://schemas.microsoft.com/office/drawing/2014/main" id="{A40436A4-C123-E685-3A1F-856006608600}"/>
              </a:ext>
            </a:extLst>
          </p:cNvPr>
          <p:cNvSpPr txBox="1"/>
          <p:nvPr/>
        </p:nvSpPr>
        <p:spPr>
          <a:xfrm>
            <a:off x="971850" y="1660386"/>
            <a:ext cx="10581235" cy="1211410"/>
          </a:xfrm>
          <a:prstGeom prst="rect">
            <a:avLst/>
          </a:prstGeom>
        </p:spPr>
        <p:txBody>
          <a:bodyPr vert="horz" wrap="square" lIns="121920" tIns="60960" rIns="121920" bIns="60960" rtlCol="0" anchor="ctr" anchorCtr="0">
            <a:noAutofit/>
          </a:bodyPr>
          <a:lstStyle>
            <a:lvl1pPr algn="ctr" defTabSz="182880" rtl="0" eaLnBrk="1" latinLnBrk="0" hangingPunct="1">
              <a:spcBef>
                <a:spcPct val="0"/>
              </a:spcBef>
              <a:buNone/>
              <a:defRPr lang="en-US" sz="1500" b="1" kern="1200" cap="none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18288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数据处理：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取每月</a:t>
            </a:r>
            <a:r>
              <a:rPr lang="en-US" altLang="zh-CN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EEF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排名前</a:t>
            </a:r>
            <a:r>
              <a:rPr lang="en-US" altLang="zh-CN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20%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的栋舍记为高效群，后</a:t>
            </a:r>
            <a:r>
              <a:rPr lang="en-US" altLang="zh-CN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20%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为低效群。高效群平均</a:t>
            </a:r>
            <a:r>
              <a:rPr lang="en-US" altLang="zh-CN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EEF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为</a:t>
            </a:r>
            <a:r>
              <a:rPr lang="en-US" altLang="zh-CN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418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，低效群平均</a:t>
            </a:r>
            <a:r>
              <a:rPr lang="en-US" altLang="zh-CN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EEF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为</a:t>
            </a:r>
            <a:r>
              <a:rPr lang="en-US" altLang="zh-CN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302</a:t>
            </a:r>
          </a:p>
          <a:p>
            <a:pPr marL="0" marR="0" lvl="0" indent="0" algn="l" defTabSz="18288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字段含义：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分别取字段</a:t>
            </a:r>
            <a:r>
              <a:rPr lang="en-US" altLang="zh-CN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min(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鸡舍温度</a:t>
            </a:r>
            <a:r>
              <a:rPr lang="en-US" altLang="zh-CN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-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最低</a:t>
            </a:r>
            <a:r>
              <a:rPr lang="en-US" altLang="zh-CN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)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，</a:t>
            </a:r>
            <a:r>
              <a:rPr lang="en-US" altLang="zh-CN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mean(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鸡舍温度</a:t>
            </a:r>
            <a:r>
              <a:rPr lang="en-US" altLang="zh-CN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-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平均</a:t>
            </a:r>
            <a:r>
              <a:rPr lang="en-US" altLang="zh-CN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)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，</a:t>
            </a:r>
            <a:r>
              <a:rPr lang="en-US" altLang="zh-CN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max(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鸡舍温度</a:t>
            </a:r>
            <a:r>
              <a:rPr lang="en-US" altLang="zh-CN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-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最高</a:t>
            </a:r>
            <a:r>
              <a:rPr lang="en-US" altLang="zh-CN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)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 作为该日龄的最低温度，平均温度，最高温度，得到</a:t>
            </a:r>
            <a:r>
              <a:rPr lang="zh-CN" altLang="en-US" sz="1600" dirty="0">
                <a:latin typeface="等线" panose="02010600030101010101" pitchFamily="2" charset="-122"/>
                <a:ea typeface="等线" panose="02010600030101010101" pitchFamily="2" charset="-122"/>
              </a:rPr>
              <a:t>左边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图像。取五个探头每个日龄的平均温度作为</a:t>
            </a:r>
            <a:r>
              <a:rPr lang="zh-CN" altLang="en-US" sz="1600" dirty="0">
                <a:latin typeface="等线" panose="02010600030101010101" pitchFamily="2" charset="-122"/>
                <a:ea typeface="等线" panose="02010600030101010101" pitchFamily="2" charset="-122"/>
              </a:rPr>
              <a:t>右图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的温度分布</a:t>
            </a:r>
            <a:endParaRPr lang="en-US" altLang="zh-CN" sz="1600" b="0" dirty="0">
              <a:solidFill>
                <a:srgbClr val="000000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6242271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DESIGN_ID_1_2020-TEMPLATE-EXTERNAL" val="pdtUH84H"/>
  <p:tag name="ARTICULATE_DESIGN_ID_SAS-EXTERNAL-16X9-2023" val="CJxW6PTk"/>
  <p:tag name="ARTICULATE_DESIGN_ID_1_NDA" val="5KPCLKMf"/>
  <p:tag name="ARTICULATE_DESIGN_ID_1_SAS-EXTERNAL-16X9-2023" val="OvZPFYIY"/>
  <p:tag name="ARTICULATE_DESIGN_ID_SAS - EXTERNAL - 16X9 - 2023" val="iju6vBOG"/>
  <p:tag name="ARTICULATE_DESIGN_ID_SAS - EXTERNAL" val="IZ9bNYet"/>
  <p:tag name="ARTICULATE_DESIGN_ID_SAS - EXTERNAL - NDA" val="RR4fBfJW"/>
  <p:tag name="ARTICULATE_SLIDE_THUMBNAIL_REFRESH" val="1"/>
  <p:tag name="ARTICULATE_DESIGN_ID_CUSTOM DESIGN" val="WASRYxhz"/>
  <p:tag name="ARTICULATE_SLIDE_COUNT" val="11"/>
  <p:tag name="ARTICULATE_PROJECT_OPEN" val="0"/>
  <p:tag name="COMMONDATA" val="eyJoZGlkIjoiY2FmNGJlNDAzN2U1NmMyNzMzZTc0YjA1YWNhMzZlNTE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SAS - EXTERNAL">
  <a:themeElements>
    <a:clrScheme name="SAS-2023">
      <a:dk1>
        <a:srgbClr val="000000"/>
      </a:dk1>
      <a:lt1>
        <a:srgbClr val="FFFFFF"/>
      </a:lt1>
      <a:dk2>
        <a:srgbClr val="032954"/>
      </a:dk2>
      <a:lt2>
        <a:srgbClr val="0766D1"/>
      </a:lt2>
      <a:accent1>
        <a:srgbClr val="0766D1"/>
      </a:accent1>
      <a:accent2>
        <a:srgbClr val="4398F9"/>
      </a:accent2>
      <a:accent3>
        <a:srgbClr val="C4DEFD"/>
      </a:accent3>
      <a:accent4>
        <a:srgbClr val="032954"/>
      </a:accent4>
      <a:accent5>
        <a:srgbClr val="7E889A"/>
      </a:accent5>
      <a:accent6>
        <a:srgbClr val="BAC0C9"/>
      </a:accent6>
      <a:hlink>
        <a:srgbClr val="4398F9"/>
      </a:hlink>
      <a:folHlink>
        <a:srgbClr val="C4DEFD"/>
      </a:folHlink>
    </a:clrScheme>
    <a:fontScheme name="Anova">
      <a:majorFont>
        <a:latin typeface="Anova Bold"/>
        <a:ea typeface=""/>
        <a:cs typeface=""/>
      </a:majorFont>
      <a:minorFont>
        <a:latin typeface="Anova Ligh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5400"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dirty="0" smtClean="0">
            <a:solidFill>
              <a:schemeClr val="tx1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SAS - EXTERNAL - NDA">
  <a:themeElements>
    <a:clrScheme name="SAS-2023">
      <a:dk1>
        <a:srgbClr val="000000"/>
      </a:dk1>
      <a:lt1>
        <a:srgbClr val="FFFFFF"/>
      </a:lt1>
      <a:dk2>
        <a:srgbClr val="032954"/>
      </a:dk2>
      <a:lt2>
        <a:srgbClr val="0766D1"/>
      </a:lt2>
      <a:accent1>
        <a:srgbClr val="0766D1"/>
      </a:accent1>
      <a:accent2>
        <a:srgbClr val="4398F9"/>
      </a:accent2>
      <a:accent3>
        <a:srgbClr val="C4DEFD"/>
      </a:accent3>
      <a:accent4>
        <a:srgbClr val="032954"/>
      </a:accent4>
      <a:accent5>
        <a:srgbClr val="7E889A"/>
      </a:accent5>
      <a:accent6>
        <a:srgbClr val="BAC0C9"/>
      </a:accent6>
      <a:hlink>
        <a:srgbClr val="4398F9"/>
      </a:hlink>
      <a:folHlink>
        <a:srgbClr val="C4DEFD"/>
      </a:folHlink>
    </a:clrScheme>
    <a:fontScheme name="Anova">
      <a:majorFont>
        <a:latin typeface="Anova Bold"/>
        <a:ea typeface=""/>
        <a:cs typeface=""/>
      </a:majorFont>
      <a:minorFont>
        <a:latin typeface="Anova Ligh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5400"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dirty="0" smtClean="0">
            <a:solidFill>
              <a:schemeClr val="tx1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SAS-2023">
      <a:dk1>
        <a:srgbClr val="000000"/>
      </a:dk1>
      <a:lt1>
        <a:srgbClr val="FFFFFF"/>
      </a:lt1>
      <a:dk2>
        <a:srgbClr val="032954"/>
      </a:dk2>
      <a:lt2>
        <a:srgbClr val="0766D1"/>
      </a:lt2>
      <a:accent1>
        <a:srgbClr val="0766D1"/>
      </a:accent1>
      <a:accent2>
        <a:srgbClr val="4398F9"/>
      </a:accent2>
      <a:accent3>
        <a:srgbClr val="C4DEFD"/>
      </a:accent3>
      <a:accent4>
        <a:srgbClr val="032954"/>
      </a:accent4>
      <a:accent5>
        <a:srgbClr val="7E889A"/>
      </a:accent5>
      <a:accent6>
        <a:srgbClr val="BAC0C9"/>
      </a:accent6>
      <a:hlink>
        <a:srgbClr val="4398F9"/>
      </a:hlink>
      <a:folHlink>
        <a:srgbClr val="C4DEFD"/>
      </a:folHlink>
    </a:clrScheme>
    <a:fontScheme name="Anova">
      <a:majorFont>
        <a:latin typeface="Anova Bold"/>
        <a:ea typeface=""/>
        <a:cs typeface=""/>
      </a:majorFont>
      <a:minorFont>
        <a:latin typeface="Anova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SAS-2023">
      <a:dk1>
        <a:srgbClr val="000000"/>
      </a:dk1>
      <a:lt1>
        <a:srgbClr val="FFFFFF"/>
      </a:lt1>
      <a:dk2>
        <a:srgbClr val="032954"/>
      </a:dk2>
      <a:lt2>
        <a:srgbClr val="0766D1"/>
      </a:lt2>
      <a:accent1>
        <a:srgbClr val="0766D1"/>
      </a:accent1>
      <a:accent2>
        <a:srgbClr val="4398F9"/>
      </a:accent2>
      <a:accent3>
        <a:srgbClr val="C4DEFD"/>
      </a:accent3>
      <a:accent4>
        <a:srgbClr val="032954"/>
      </a:accent4>
      <a:accent5>
        <a:srgbClr val="7E889A"/>
      </a:accent5>
      <a:accent6>
        <a:srgbClr val="BAC0C9"/>
      </a:accent6>
      <a:hlink>
        <a:srgbClr val="4398F9"/>
      </a:hlink>
      <a:folHlink>
        <a:srgbClr val="C4DEFD"/>
      </a:folHlink>
    </a:clrScheme>
    <a:fontScheme name="Anova">
      <a:majorFont>
        <a:latin typeface="Anova Bold"/>
        <a:ea typeface=""/>
        <a:cs typeface=""/>
      </a:majorFont>
      <a:minorFont>
        <a:latin typeface="Anova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252B48C136D414EB12EC6609A2B4A69" ma:contentTypeVersion="5" ma:contentTypeDescription="Create a new document." ma:contentTypeScope="" ma:versionID="c506d0840867f1adddbc926f9a8dfc6f">
  <xsd:schema xmlns:xsd="http://www.w3.org/2001/XMLSchema" xmlns:xs="http://www.w3.org/2001/XMLSchema" xmlns:p="http://schemas.microsoft.com/office/2006/metadata/properties" xmlns:ns2="d21cdafc-5a3a-425e-9674-4fb06b514c0e" xmlns:ns3="6e647c50-2143-4825-9865-d236e7692e65" targetNamespace="http://schemas.microsoft.com/office/2006/metadata/properties" ma:root="true" ma:fieldsID="0df08590ed69fcf4c72a3fc3581b1869" ns2:_="" ns3:_="">
    <xsd:import namespace="d21cdafc-5a3a-425e-9674-4fb06b514c0e"/>
    <xsd:import namespace="6e647c50-2143-4825-9865-d236e7692e6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21cdafc-5a3a-425e-9674-4fb06b514c0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e647c50-2143-4825-9865-d236e7692e65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51779852-367B-483D-8C46-CF2C7DC5D261}">
  <ds:schemaRefs/>
</ds:datastoreItem>
</file>

<file path=customXml/itemProps2.xml><?xml version="1.0" encoding="utf-8"?>
<ds:datastoreItem xmlns:ds="http://schemas.openxmlformats.org/officeDocument/2006/customXml" ds:itemID="{E3E925E4-5239-4639-A029-07B3CFD6A3F1}">
  <ds:schemaRefs/>
</ds:datastoreItem>
</file>

<file path=customXml/itemProps3.xml><?xml version="1.0" encoding="utf-8"?>
<ds:datastoreItem xmlns:ds="http://schemas.openxmlformats.org/officeDocument/2006/customXml" ds:itemID="{E2663518-7548-4643-8219-608BFF0DFA0C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EXTERNAL_Template_2023</Template>
  <TotalTime>4112</TotalTime>
  <Words>1119</Words>
  <Application>Microsoft Office PowerPoint</Application>
  <PresentationFormat>宽屏</PresentationFormat>
  <Paragraphs>141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10</vt:i4>
      </vt:variant>
    </vt:vector>
  </HeadingPairs>
  <TitlesOfParts>
    <vt:vector size="16" baseType="lpstr">
      <vt:lpstr>Anova Bold</vt:lpstr>
      <vt:lpstr>Anova Light</vt:lpstr>
      <vt:lpstr>等线</vt:lpstr>
      <vt:lpstr>Arial</vt:lpstr>
      <vt:lpstr>SAS - EXTERNAL</vt:lpstr>
      <vt:lpstr>SAS - EXTERNAL - NDA</vt:lpstr>
      <vt:lpstr>数智驱动的肉鸡养殖根因分析实施方案  第二周成果汇报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Plus Solution assist Value</dc:title>
  <dc:creator>Alex Zhang</dc:creator>
  <cp:lastModifiedBy>渊琰 肖</cp:lastModifiedBy>
  <cp:revision>184</cp:revision>
  <dcterms:created xsi:type="dcterms:W3CDTF">2023-10-08T03:09:00Z</dcterms:created>
  <dcterms:modified xsi:type="dcterms:W3CDTF">2025-05-13T08:50:25Z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rticulateGUID">
    <vt:lpwstr>451006F2-8E20-4D4E-B05C-4B5D02827FD6</vt:lpwstr>
  </property>
  <property fmtid="{D5CDD505-2E9C-101B-9397-08002B2CF9AE}" pid="3" name="ArticulatePath">
    <vt:lpwstr>2020-Template-External</vt:lpwstr>
  </property>
  <property fmtid="{D5CDD505-2E9C-101B-9397-08002B2CF9AE}" pid="4" name="ContentTypeId">
    <vt:lpwstr>0x0101008252B48C136D414EB12EC6609A2B4A69</vt:lpwstr>
  </property>
  <property fmtid="{D5CDD505-2E9C-101B-9397-08002B2CF9AE}" pid="5" name="ICV">
    <vt:lpwstr>5DA87FED2261458DA9A831FC15E03DC4_13</vt:lpwstr>
  </property>
  <property fmtid="{D5CDD505-2E9C-101B-9397-08002B2CF9AE}" pid="6" name="KSOProductBuildVer">
    <vt:lpwstr>2052-12.1.0.20784</vt:lpwstr>
  </property>
</Properties>
</file>