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ags/tag3.xml" ContentType="application/vnd.openxmlformats-officedocument.presentationml.tags+xml"/>
  <Override PartName="/ppt/theme/theme3.xml" ContentType="application/vnd.openxmlformats-officedocument.theme+xml"/>
  <Override PartName="/ppt/theme/theme4.xml" ContentType="application/vnd.openxmlformats-officedocument.theme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  <p:sldMasterId id="2147483660" r:id="rId5"/>
  </p:sldMasterIdLst>
  <p:notesMasterIdLst>
    <p:notesMasterId r:id="rId21"/>
  </p:notesMasterIdLst>
  <p:handoutMasterIdLst>
    <p:handoutMasterId r:id="rId22"/>
  </p:handoutMasterIdLst>
  <p:sldIdLst>
    <p:sldId id="16771194" r:id="rId6"/>
    <p:sldId id="16771204" r:id="rId7"/>
    <p:sldId id="2147477425" r:id="rId8"/>
    <p:sldId id="2147477458" r:id="rId9"/>
    <p:sldId id="2147477478" r:id="rId10"/>
    <p:sldId id="2147477480" r:id="rId11"/>
    <p:sldId id="2147477479" r:id="rId12"/>
    <p:sldId id="2147477468" r:id="rId13"/>
    <p:sldId id="2147477481" r:id="rId14"/>
    <p:sldId id="2147477482" r:id="rId15"/>
    <p:sldId id="2147477483" r:id="rId16"/>
    <p:sldId id="2147477485" r:id="rId17"/>
    <p:sldId id="2147477484" r:id="rId18"/>
    <p:sldId id="2147477486" r:id="rId19"/>
    <p:sldId id="2147477430" r:id="rId20"/>
  </p:sldIdLst>
  <p:sldSz cx="12192000" cy="6858000"/>
  <p:notesSz cx="6858000" cy="9144000"/>
  <p:custDataLst>
    <p:tags r:id="rId23"/>
  </p:custDataLst>
  <p:defaultTextStyle>
    <a:defPPr>
      <a:defRPr lang="en-US"/>
    </a:defPPr>
    <a:lvl1pPr marL="0" algn="l" defTabSz="6096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600" algn="l" defTabSz="6096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9200" algn="l" defTabSz="6096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800" algn="l" defTabSz="6096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8400" algn="l" defTabSz="6096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8000" algn="l" defTabSz="6096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5" algn="l" defTabSz="6096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565" algn="l" defTabSz="6096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6165" algn="l" defTabSz="6096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9C3829F-2C56-4915-AA34-5F93EE359221}">
          <p14:sldIdLst>
            <p14:sldId id="16771194"/>
            <p14:sldId id="16771204"/>
            <p14:sldId id="2147477425"/>
          </p14:sldIdLst>
        </p14:section>
        <p14:section name="数据" id="{2FECDC8B-DE91-4323-AA2B-D801C56C963D}">
          <p14:sldIdLst>
            <p14:sldId id="2147477458"/>
            <p14:sldId id="2147477478"/>
            <p14:sldId id="2147477480"/>
            <p14:sldId id="2147477479"/>
          </p14:sldIdLst>
        </p14:section>
        <p14:section name="死淘" id="{132B593A-E1D9-4DD8-8D75-8389B5773F71}">
          <p14:sldIdLst>
            <p14:sldId id="2147477468"/>
            <p14:sldId id="2147477481"/>
            <p14:sldId id="2147477482"/>
            <p14:sldId id="2147477483"/>
            <p14:sldId id="2147477485"/>
            <p14:sldId id="2147477484"/>
            <p14:sldId id="2147477486"/>
          </p14:sldIdLst>
        </p14:section>
        <p14:section name="eef" id="{0CBA3FCE-B567-4F49-936C-7A69C0064915}">
          <p14:sldIdLst/>
        </p14:section>
        <p14:section name="下周计划" id="{AAB4484A-A58E-4FF9-9CE2-A3928016DD34}">
          <p14:sldIdLst>
            <p14:sldId id="214747743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03" userDrawn="1">
          <p15:clr>
            <a:srgbClr val="A4A3A4"/>
          </p15:clr>
        </p15:guide>
        <p15:guide id="2" pos="254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FFFFFF"/>
    <a:srgbClr val="F1F2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092" autoAdjust="0"/>
    <p:restoredTop sz="93438" autoAdjust="0"/>
  </p:normalViewPr>
  <p:slideViewPr>
    <p:cSldViewPr snapToGrid="0" showGuides="1">
      <p:cViewPr varScale="1">
        <p:scale>
          <a:sx n="77" d="100"/>
          <a:sy n="77" d="100"/>
        </p:scale>
        <p:origin x="968" y="68"/>
      </p:cViewPr>
      <p:guideLst>
        <p:guide orient="horz" pos="2103"/>
        <p:guide pos="2545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notesViewPr>
    <p:cSldViewPr snapToGrid="0">
      <p:cViewPr varScale="1">
        <p:scale>
          <a:sx n="63" d="100"/>
          <a:sy n="63" d="100"/>
        </p:scale>
        <p:origin x="3134" y="8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tags" Target="tags/tag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handoutMaster" Target="handoutMasters/handout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CE34E3-7E5C-436A-9E6D-2FFC8FFCFCBF}" type="datetimeFigureOut">
              <a:rPr lang="en-US" smtClean="0">
                <a:latin typeface="Anova Light" panose="020B0403020203020204" pitchFamily="34" charset="0"/>
              </a:rPr>
              <a:t>5/15/2025</a:t>
            </a:fld>
            <a:endParaRPr lang="en-US" dirty="0">
              <a:latin typeface="Anova Light" panose="020B0403020203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0" y="0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l"/>
            <a:fld id="{C4EF46A2-9381-4C51-8277-3C7F2938E9F9}" type="slidenum">
              <a:rPr lang="en-US" smtClean="0">
                <a:latin typeface="Anova Light" panose="020B0403020203020204" pitchFamily="34" charset="0"/>
              </a:rPr>
              <a:t>‹#›</a:t>
            </a:fld>
            <a:endParaRPr lang="en-US" dirty="0">
              <a:latin typeface="Anova Light" panose="020B04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solidFill>
                  <a:schemeClr val="tx1"/>
                </a:solidFill>
                <a:latin typeface="Anova Light" panose="020B0403020203020204" pitchFamily="34" charset="0"/>
              </a:defRPr>
            </a:lvl1pPr>
          </a:lstStyle>
          <a:p>
            <a:fld id="{D46682E9-A1D3-F04F-A14F-ABAA4D2618F2}" type="datetimeFigureOut">
              <a:rPr lang="en-US" smtClean="0"/>
              <a:t>5/15/2025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685800" y="8879554"/>
            <a:ext cx="2514600" cy="169277"/>
          </a:xfrm>
          <a:prstGeom prst="rect">
            <a:avLst/>
          </a:prstGeom>
          <a:noFill/>
        </p:spPr>
        <p:txBody>
          <a:bodyPr wrap="square" lIns="0" anchor="b" anchorCtr="0">
            <a:spAutoFit/>
          </a:bodyPr>
          <a:lstStyle/>
          <a:p>
            <a:pPr marL="0" marR="0" lvl="0" indent="0" algn="l" defTabSz="27432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500" b="0" i="0" u="none" strike="noStrike" kern="300" cap="none" spc="50" normalizeH="0" baseline="0" noProof="0" dirty="0">
                <a:ln>
                  <a:noFill/>
                </a:ln>
                <a:solidFill>
                  <a:schemeClr val="accent5">
                    <a:lumMod val="60000"/>
                    <a:lumOff val="40000"/>
                  </a:schemeClr>
                </a:solidFill>
                <a:effectLst/>
                <a:uLnTx/>
                <a:uFillTx/>
                <a:latin typeface="Anova Light" panose="020B0403020203020204" pitchFamily="34" charset="0"/>
                <a:ea typeface="Anova Bold" panose="020B0703020203020204" pitchFamily="34" charset="0"/>
                <a:cs typeface="Anova Light" panose="020B0403020203020204" pitchFamily="34" charset="0"/>
              </a:rPr>
              <a:t>Copyright © SAS Institute Inc. All rights reserved.</a:t>
            </a:r>
          </a:p>
        </p:txBody>
      </p:sp>
      <p:sp>
        <p:nvSpPr>
          <p:cNvPr id="10" name="Slide Number Placeholder 4"/>
          <p:cNvSpPr>
            <a:spLocks noGrp="1"/>
          </p:cNvSpPr>
          <p:nvPr>
            <p:ph type="sldNum" sz="quarter" idx="5"/>
          </p:nvPr>
        </p:nvSpPr>
        <p:spPr>
          <a:xfrm>
            <a:off x="0" y="0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solidFill>
                  <a:schemeClr val="tx1"/>
                </a:solidFill>
                <a:latin typeface="Anova Light" panose="020B0403020203020204" pitchFamily="34" charset="0"/>
              </a:defRPr>
            </a:lvl1pPr>
          </a:lstStyle>
          <a:p>
            <a:pPr algn="l"/>
            <a:fld id="{C4EF46A2-9381-4C51-8277-3C7F2938E9F9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2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5992336" y="8788172"/>
            <a:ext cx="627951" cy="260659"/>
          </a:xfrm>
          <a:prstGeom prst="rect">
            <a:avLst/>
          </a:prstGeom>
        </p:spPr>
      </p:pic>
      <p:sp>
        <p:nvSpPr>
          <p:cNvPr id="6" name="TextBox 2"/>
          <p:cNvSpPr txBox="1"/>
          <p:nvPr/>
        </p:nvSpPr>
        <p:spPr>
          <a:xfrm>
            <a:off x="2493335" y="8732520"/>
            <a:ext cx="1871330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 defTabSz="182880"/>
            <a:r>
              <a:rPr lang="en-US" sz="800" dirty="0">
                <a:solidFill>
                  <a:schemeClr val="tx1"/>
                </a:solidFill>
                <a:latin typeface="Anova Light" panose="020B0403020203020204" pitchFamily="34" charset="0"/>
              </a:rPr>
              <a:t>sas.com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228600" indent="-228600" algn="l" defTabSz="1219200" rtl="0" eaLnBrk="1" latinLnBrk="0" hangingPunct="1">
      <a:buClr>
        <a:schemeClr val="accent5"/>
      </a:buClr>
      <a:buFont typeface="Anova Light" panose="020B0403020203020204" pitchFamily="34" charset="0"/>
      <a:buChar char="•"/>
      <a:defRPr sz="1600" b="0" i="0" kern="1200">
        <a:solidFill>
          <a:schemeClr val="tx1"/>
        </a:solidFill>
        <a:latin typeface="+mn-lt"/>
        <a:ea typeface="+mn-ea"/>
        <a:cs typeface="+mn-cs"/>
      </a:defRPr>
    </a:lvl1pPr>
    <a:lvl2pPr marL="838200" indent="-228600" algn="l" defTabSz="1219200" rtl="0" eaLnBrk="1" latinLnBrk="0" hangingPunct="1">
      <a:buClr>
        <a:schemeClr val="accent5"/>
      </a:buClr>
      <a:buFont typeface="Anova Light" panose="020B0403020203020204" pitchFamily="34" charset="0"/>
      <a:buChar char="–"/>
      <a:defRPr sz="1335" b="0" i="0" kern="1200">
        <a:solidFill>
          <a:schemeClr val="tx1"/>
        </a:solidFill>
        <a:latin typeface="+mn-lt"/>
        <a:ea typeface="+mn-ea"/>
        <a:cs typeface="+mn-cs"/>
      </a:defRPr>
    </a:lvl2pPr>
    <a:lvl3pPr marL="1447800" indent="-228600" algn="l" defTabSz="1219200" rtl="0" eaLnBrk="1" latinLnBrk="0" hangingPunct="1">
      <a:buClr>
        <a:schemeClr val="accent5"/>
      </a:buClr>
      <a:buFont typeface="Anova Light" panose="020B0403020203020204" pitchFamily="34" charset="0"/>
      <a:buChar char="•"/>
      <a:defRPr sz="1200" b="0" i="0" kern="1200">
        <a:solidFill>
          <a:schemeClr val="tx1"/>
        </a:solidFill>
        <a:latin typeface="+mn-lt"/>
        <a:ea typeface="+mn-ea"/>
        <a:cs typeface="+mn-cs"/>
      </a:defRPr>
    </a:lvl3pPr>
    <a:lvl4pPr marL="2057400" indent="-228600" algn="l" defTabSz="1219200" rtl="0" eaLnBrk="1" latinLnBrk="0" hangingPunct="1">
      <a:buClr>
        <a:schemeClr val="accent5"/>
      </a:buClr>
      <a:buFont typeface="Anova Light" panose="020B0403020203020204" pitchFamily="34" charset="0"/>
      <a:buChar char="–"/>
      <a:defRPr sz="1065" b="0" i="0" kern="1200">
        <a:solidFill>
          <a:schemeClr val="tx1"/>
        </a:solidFill>
        <a:latin typeface="+mn-lt"/>
        <a:ea typeface="+mn-ea"/>
        <a:cs typeface="+mn-cs"/>
      </a:defRPr>
    </a:lvl4pPr>
    <a:lvl5pPr marL="2667000" indent="-228600" algn="l" defTabSz="1219200" rtl="0" eaLnBrk="1" latinLnBrk="0" hangingPunct="1">
      <a:buClr>
        <a:schemeClr val="accent5"/>
      </a:buClr>
      <a:buFont typeface="Anova Light" panose="020B0403020203020204" pitchFamily="34" charset="0"/>
      <a:buChar char="•"/>
      <a:defRPr sz="935" b="0" i="0" kern="1200">
        <a:solidFill>
          <a:schemeClr val="tx1"/>
        </a:solidFill>
        <a:latin typeface="+mn-lt"/>
        <a:ea typeface="+mn-ea"/>
        <a:cs typeface="+mn-cs"/>
      </a:defRPr>
    </a:lvl5pPr>
    <a:lvl6pPr marL="30480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5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565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165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S - Titl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834954" y="1890117"/>
            <a:ext cx="10518846" cy="923330"/>
          </a:xfrm>
          <a:prstGeom prst="rect">
            <a:avLst/>
          </a:prstGeom>
        </p:spPr>
        <p:txBody>
          <a:bodyPr vert="horz" wrap="square" lIns="0" tIns="0" rIns="0" bIns="182880" rtlCol="0" anchor="b" anchorCtr="0">
            <a:spAutoFit/>
          </a:bodyPr>
          <a:lstStyle>
            <a:lvl1pPr>
              <a:lnSpc>
                <a:spcPct val="100000"/>
              </a:lnSpc>
              <a:spcBef>
                <a:spcPts val="400"/>
              </a:spcBef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Slideshow Title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834954" y="2813447"/>
            <a:ext cx="10518846" cy="615553"/>
          </a:xfrm>
        </p:spPr>
        <p:txBody>
          <a:bodyPr wrap="square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3200">
                <a:solidFill>
                  <a:schemeClr val="accent3"/>
                </a:solidFill>
              </a:defRPr>
            </a:lvl1pPr>
            <a:lvl2pPr marL="243840" indent="0">
              <a:buNone/>
              <a:defRPr>
                <a:solidFill>
                  <a:schemeClr val="accent3"/>
                </a:solidFill>
              </a:defRPr>
            </a:lvl2pPr>
            <a:lvl3pPr marL="487680" indent="0">
              <a:buNone/>
              <a:defRPr>
                <a:solidFill>
                  <a:schemeClr val="accent3"/>
                </a:solidFill>
              </a:defRPr>
            </a:lvl3pPr>
            <a:lvl4pPr marL="1371600" indent="0">
              <a:buNone/>
              <a:defRPr>
                <a:solidFill>
                  <a:schemeClr val="accent3"/>
                </a:solidFill>
              </a:defRPr>
            </a:lvl4pPr>
            <a:lvl5pPr marL="1828800" indent="0">
              <a:buNone/>
              <a:defRPr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Slideshow Subtitle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1" hasCustomPrompt="1"/>
          </p:nvPr>
        </p:nvSpPr>
        <p:spPr>
          <a:xfrm>
            <a:off x="834955" y="5517985"/>
            <a:ext cx="8082481" cy="705015"/>
          </a:xfrm>
        </p:spPr>
        <p:txBody>
          <a:bodyPr wrap="square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65">
                <a:solidFill>
                  <a:schemeClr val="accent3"/>
                </a:solidFill>
              </a:defRPr>
            </a:lvl1pPr>
            <a:lvl2pPr marL="243840" indent="0">
              <a:buNone/>
              <a:defRPr sz="1465">
                <a:solidFill>
                  <a:schemeClr val="accent3"/>
                </a:solidFill>
              </a:defRPr>
            </a:lvl2pPr>
            <a:lvl3pPr marL="487680" indent="0">
              <a:buNone/>
              <a:defRPr sz="1400">
                <a:solidFill>
                  <a:schemeClr val="accent3"/>
                </a:solidFill>
              </a:defRPr>
            </a:lvl3pPr>
            <a:lvl4pPr marL="1371600" indent="0">
              <a:buNone/>
              <a:defRPr sz="1335">
                <a:solidFill>
                  <a:schemeClr val="accent3"/>
                </a:solidFill>
              </a:defRPr>
            </a:lvl4pPr>
            <a:lvl5pPr marL="1828800" indent="0">
              <a:buNone/>
              <a:defRPr sz="1335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Presenter Info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S - Section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834955" y="2505670"/>
            <a:ext cx="8082481" cy="923330"/>
          </a:xfrm>
          <a:prstGeom prst="rect">
            <a:avLst/>
          </a:prstGeom>
        </p:spPr>
        <p:txBody>
          <a:bodyPr vert="horz" wrap="square" lIns="0" tIns="0" rIns="0" bIns="182880" rtlCol="0" anchor="b" anchorCtr="0">
            <a:spAutoFit/>
          </a:bodyPr>
          <a:lstStyle>
            <a:lvl1pPr>
              <a:lnSpc>
                <a:spcPct val="100000"/>
              </a:lnSpc>
              <a:spcBef>
                <a:spcPts val="400"/>
              </a:spcBef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Section Title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834955" y="3561836"/>
            <a:ext cx="8082481" cy="615553"/>
          </a:xfrm>
        </p:spPr>
        <p:txBody>
          <a:bodyPr wrap="square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3200">
                <a:solidFill>
                  <a:schemeClr val="bg1"/>
                </a:solidFill>
              </a:defRPr>
            </a:lvl1pPr>
            <a:lvl2pPr marL="243840" indent="0">
              <a:buNone/>
              <a:defRPr>
                <a:solidFill>
                  <a:schemeClr val="accent3"/>
                </a:solidFill>
              </a:defRPr>
            </a:lvl2pPr>
            <a:lvl3pPr marL="487680" indent="0">
              <a:buNone/>
              <a:defRPr>
                <a:solidFill>
                  <a:schemeClr val="accent3"/>
                </a:solidFill>
              </a:defRPr>
            </a:lvl3pPr>
            <a:lvl4pPr marL="1371600" indent="0">
              <a:buNone/>
              <a:defRPr>
                <a:solidFill>
                  <a:schemeClr val="accent3"/>
                </a:solidFill>
              </a:defRPr>
            </a:lvl4pPr>
            <a:lvl5pPr marL="1828800" indent="0">
              <a:buNone/>
              <a:defRPr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Section Subtitle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S - 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838200" y="473536"/>
            <a:ext cx="10515600" cy="517064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/>
          <a:p>
            <a:r>
              <a:rPr lang="en-US" dirty="0"/>
              <a:t>Click to Add Slide 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AS - Title &amp; Sub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Add Slide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041400"/>
            <a:ext cx="10515600" cy="366255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>
                <a:solidFill>
                  <a:schemeClr val="bg2"/>
                </a:solidFill>
              </a:defRPr>
            </a:lvl1pPr>
            <a:lvl2pPr marL="243840" indent="0">
              <a:buNone/>
              <a:defRPr/>
            </a:lvl2pPr>
            <a:lvl3pPr marL="48768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S -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Add Slide Title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idx="1"/>
          </p:nvPr>
        </p:nvSpPr>
        <p:spPr>
          <a:xfrm>
            <a:off x="838200" y="1600200"/>
            <a:ext cx="10515600" cy="457676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>
              <a:defRPr sz="2400"/>
            </a:lvl1pPr>
            <a:lvl2pPr>
              <a:defRPr sz="1865"/>
            </a:lvl2pPr>
            <a:lvl3pPr>
              <a:defRPr sz="1600">
                <a:latin typeface="+mn-lt"/>
              </a:defRPr>
            </a:lvl3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</p:txBody>
      </p:sp>
      <p:sp>
        <p:nvSpPr>
          <p:cNvPr id="8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041400"/>
            <a:ext cx="10515600" cy="366255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>
                <a:solidFill>
                  <a:schemeClr val="bg2"/>
                </a:solidFill>
              </a:defRPr>
            </a:lvl1pPr>
            <a:lvl2pPr marL="243840" indent="0">
              <a:buNone/>
              <a:defRPr/>
            </a:lvl2pPr>
            <a:lvl3pPr marL="48768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S -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Add Slide Title</a:t>
            </a:r>
          </a:p>
        </p:txBody>
      </p:sp>
      <p:sp>
        <p:nvSpPr>
          <p:cNvPr id="5" name="Text Placeholder 2"/>
          <p:cNvSpPr>
            <a:spLocks noGrp="1"/>
          </p:cNvSpPr>
          <p:nvPr>
            <p:ph idx="1"/>
          </p:nvPr>
        </p:nvSpPr>
        <p:spPr>
          <a:xfrm>
            <a:off x="838199" y="1600201"/>
            <a:ext cx="5161231" cy="457676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>
              <a:defRPr sz="2400"/>
            </a:lvl1pPr>
            <a:lvl2pPr>
              <a:defRPr sz="1865">
                <a:latin typeface="+mn-lt"/>
              </a:defRPr>
            </a:lvl2pPr>
            <a:lvl3pPr>
              <a:defRPr sz="1600">
                <a:latin typeface="+mn-lt"/>
              </a:defRPr>
            </a:lvl3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idx="11"/>
          </p:nvPr>
        </p:nvSpPr>
        <p:spPr>
          <a:xfrm>
            <a:off x="6192571" y="1600201"/>
            <a:ext cx="5161232" cy="457676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>
              <a:defRPr sz="2400"/>
            </a:lvl1pPr>
            <a:lvl2pPr>
              <a:defRPr sz="1865">
                <a:latin typeface="+mn-lt"/>
              </a:defRPr>
            </a:lvl2pPr>
            <a:lvl3pPr>
              <a:defRPr sz="1600">
                <a:latin typeface="+mn-lt"/>
              </a:defRPr>
            </a:lvl3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041400"/>
            <a:ext cx="10515600" cy="366255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>
                <a:solidFill>
                  <a:schemeClr val="bg2"/>
                </a:solidFill>
              </a:defRPr>
            </a:lvl1pPr>
            <a:lvl2pPr marL="243840" indent="0">
              <a:buNone/>
              <a:defRPr/>
            </a:lvl2pPr>
            <a:lvl3pPr marL="48768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S - Title Only R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838200" y="2911937"/>
            <a:ext cx="2952184" cy="103412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dirty="0"/>
              <a:t>Click to Add Slide 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S - Title &amp; Subtitle R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3947330"/>
            <a:ext cx="3336233" cy="3662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 algn="l">
              <a:buNone/>
              <a:defRPr>
                <a:solidFill>
                  <a:schemeClr val="bg2"/>
                </a:solidFill>
              </a:defRPr>
            </a:lvl1pPr>
            <a:lvl2pPr marL="243840" indent="0">
              <a:buNone/>
              <a:defRPr/>
            </a:lvl2pPr>
            <a:lvl3pPr marL="48768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834955" y="2768821"/>
            <a:ext cx="3334512" cy="1034386"/>
          </a:xfrm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/>
            </a:lvl1pPr>
          </a:lstStyle>
          <a:p>
            <a:pPr marL="0" lvl="0">
              <a:lnSpc>
                <a:spcPct val="90000"/>
              </a:lnSpc>
              <a:spcBef>
                <a:spcPct val="0"/>
              </a:spcBef>
              <a:buNone/>
            </a:pPr>
            <a:r>
              <a:rPr lang="en-US" dirty="0"/>
              <a:t>Click to Add Slide 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S - Closin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834955" y="2967336"/>
            <a:ext cx="8708755" cy="923330"/>
          </a:xfrm>
          <a:prstGeom prst="rect">
            <a:avLst/>
          </a:prstGeom>
        </p:spPr>
        <p:txBody>
          <a:bodyPr vert="horz" wrap="square" lIns="0" tIns="0" rIns="0" bIns="182880" rtlCol="0" anchor="ctr" anchorCtr="0">
            <a:spAutoFit/>
          </a:bodyPr>
          <a:lstStyle>
            <a:lvl1pPr>
              <a:lnSpc>
                <a:spcPct val="100000"/>
              </a:lnSpc>
              <a:spcBef>
                <a:spcPts val="400"/>
              </a:spcBef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Slideshow Closing</a:t>
            </a:r>
          </a:p>
        </p:txBody>
      </p:sp>
      <p:sp>
        <p:nvSpPr>
          <p:cNvPr id="2" name="Text Placeholder 15"/>
          <p:cNvSpPr>
            <a:spLocks noGrp="1"/>
          </p:cNvSpPr>
          <p:nvPr>
            <p:ph type="body" sz="quarter" idx="11" hasCustomPrompt="1"/>
          </p:nvPr>
        </p:nvSpPr>
        <p:spPr>
          <a:xfrm>
            <a:off x="834955" y="5517985"/>
            <a:ext cx="8082481" cy="705015"/>
          </a:xfrm>
        </p:spPr>
        <p:txBody>
          <a:bodyPr wrap="square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65">
                <a:solidFill>
                  <a:schemeClr val="accent3"/>
                </a:solidFill>
              </a:defRPr>
            </a:lvl1pPr>
            <a:lvl2pPr marL="243840" indent="0">
              <a:buNone/>
              <a:defRPr sz="1465">
                <a:solidFill>
                  <a:schemeClr val="accent3"/>
                </a:solidFill>
              </a:defRPr>
            </a:lvl2pPr>
            <a:lvl3pPr marL="487680" indent="0">
              <a:buNone/>
              <a:defRPr sz="1400">
                <a:solidFill>
                  <a:schemeClr val="accent3"/>
                </a:solidFill>
              </a:defRPr>
            </a:lvl3pPr>
            <a:lvl4pPr marL="1371600" indent="0">
              <a:buNone/>
              <a:defRPr sz="1335">
                <a:solidFill>
                  <a:schemeClr val="accent3"/>
                </a:solidFill>
              </a:defRPr>
            </a:lvl4pPr>
            <a:lvl5pPr marL="1828800" indent="0">
              <a:buNone/>
              <a:defRPr sz="1335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a website or email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SAS - Blank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AS - Video Only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4"/>
          <p:cNvSpPr txBox="1"/>
          <p:nvPr userDrawn="1"/>
        </p:nvSpPr>
        <p:spPr>
          <a:xfrm>
            <a:off x="834955" y="6539393"/>
            <a:ext cx="3352800" cy="194990"/>
          </a:xfrm>
          <a:prstGeom prst="rect">
            <a:avLst/>
          </a:prstGeom>
          <a:noFill/>
        </p:spPr>
        <p:txBody>
          <a:bodyPr wrap="square" lIns="0" anchor="b" anchorCtr="0">
            <a:spAutoFit/>
          </a:bodyPr>
          <a:lstStyle/>
          <a:p>
            <a:pPr marL="0" marR="0" lvl="0" indent="0" algn="l" defTabSz="36576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5" b="0" i="0" u="none" strike="noStrike" kern="300" cap="none" spc="67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Anova Light" panose="020B0403020203020204" pitchFamily="34" charset="0"/>
                <a:ea typeface="Anova Bold" panose="020B0703020203020204" pitchFamily="34" charset="0"/>
                <a:cs typeface="Anova Light" panose="020B0403020203020204" pitchFamily="34" charset="0"/>
              </a:rPr>
              <a:t>Copyright © SAS Institute Inc. All rights reserved.</a:t>
            </a:r>
          </a:p>
        </p:txBody>
      </p:sp>
      <p:pic>
        <p:nvPicPr>
          <p:cNvPr id="2" name="Pictur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11217439" y="6344362"/>
            <a:ext cx="741875" cy="3079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S - Titl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642533" y="5517984"/>
            <a:ext cx="1711268" cy="705016"/>
          </a:xfrm>
          <a:prstGeom prst="rect">
            <a:avLst/>
          </a:prstGeom>
        </p:spPr>
      </p:pic>
      <p:sp>
        <p:nvSpPr>
          <p:cNvPr id="7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834955" y="1890117"/>
            <a:ext cx="10521696" cy="923330"/>
          </a:xfrm>
          <a:prstGeom prst="rect">
            <a:avLst/>
          </a:prstGeom>
        </p:spPr>
        <p:txBody>
          <a:bodyPr vert="horz" wrap="square" lIns="0" tIns="0" rIns="0" bIns="182880" rtlCol="0" anchor="b" anchorCtr="0">
            <a:spAutoFit/>
          </a:bodyPr>
          <a:lstStyle>
            <a:lvl1pPr>
              <a:lnSpc>
                <a:spcPct val="100000"/>
              </a:lnSpc>
              <a:spcBef>
                <a:spcPts val="400"/>
              </a:spcBef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Slideshow Title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834955" y="2813447"/>
            <a:ext cx="10521696" cy="615553"/>
          </a:xfrm>
        </p:spPr>
        <p:txBody>
          <a:bodyPr wrap="square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3200">
                <a:solidFill>
                  <a:schemeClr val="accent3"/>
                </a:solidFill>
              </a:defRPr>
            </a:lvl1pPr>
            <a:lvl2pPr marL="243840" indent="0">
              <a:buNone/>
              <a:defRPr>
                <a:solidFill>
                  <a:schemeClr val="accent3"/>
                </a:solidFill>
              </a:defRPr>
            </a:lvl2pPr>
            <a:lvl3pPr marL="487680" indent="0">
              <a:buNone/>
              <a:defRPr>
                <a:solidFill>
                  <a:schemeClr val="accent3"/>
                </a:solidFill>
              </a:defRPr>
            </a:lvl3pPr>
            <a:lvl4pPr marL="1371600" indent="0">
              <a:buNone/>
              <a:defRPr>
                <a:solidFill>
                  <a:schemeClr val="accent3"/>
                </a:solidFill>
              </a:defRPr>
            </a:lvl4pPr>
            <a:lvl5pPr marL="1828800" indent="0">
              <a:buNone/>
              <a:defRPr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Slideshow Subtitle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1" hasCustomPrompt="1"/>
          </p:nvPr>
        </p:nvSpPr>
        <p:spPr>
          <a:xfrm>
            <a:off x="834955" y="5517985"/>
            <a:ext cx="8082481" cy="705015"/>
          </a:xfrm>
        </p:spPr>
        <p:txBody>
          <a:bodyPr wrap="square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65">
                <a:solidFill>
                  <a:schemeClr val="accent3"/>
                </a:solidFill>
              </a:defRPr>
            </a:lvl1pPr>
            <a:lvl2pPr marL="243840" indent="0">
              <a:buNone/>
              <a:defRPr sz="1465">
                <a:solidFill>
                  <a:schemeClr val="accent3"/>
                </a:solidFill>
              </a:defRPr>
            </a:lvl2pPr>
            <a:lvl3pPr marL="487680" indent="0">
              <a:buNone/>
              <a:defRPr sz="1400">
                <a:solidFill>
                  <a:schemeClr val="accent3"/>
                </a:solidFill>
              </a:defRPr>
            </a:lvl3pPr>
            <a:lvl4pPr marL="1371600" indent="0">
              <a:buNone/>
              <a:defRPr sz="1335">
                <a:solidFill>
                  <a:schemeClr val="accent3"/>
                </a:solidFill>
              </a:defRPr>
            </a:lvl4pPr>
            <a:lvl5pPr marL="1828800" indent="0">
              <a:buNone/>
              <a:defRPr sz="1335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Presenter Info</a:t>
            </a:r>
          </a:p>
        </p:txBody>
      </p:sp>
      <p:sp>
        <p:nvSpPr>
          <p:cNvPr id="2" name="TextBox 4"/>
          <p:cNvSpPr txBox="1"/>
          <p:nvPr userDrawn="1"/>
        </p:nvSpPr>
        <p:spPr>
          <a:xfrm>
            <a:off x="834955" y="6539393"/>
            <a:ext cx="3352800" cy="194990"/>
          </a:xfrm>
          <a:prstGeom prst="rect">
            <a:avLst/>
          </a:prstGeom>
          <a:noFill/>
        </p:spPr>
        <p:txBody>
          <a:bodyPr wrap="square" lIns="0" anchor="b" anchorCtr="0">
            <a:spAutoFit/>
          </a:bodyPr>
          <a:lstStyle/>
          <a:p>
            <a:pPr marL="0" marR="0" lvl="0" indent="0" algn="l" defTabSz="36576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5" b="0" i="0" u="none" strike="noStrike" kern="300" cap="none" spc="67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nova Light" panose="020B0403020203020204" pitchFamily="34" charset="0"/>
                <a:ea typeface="Anova Bold" panose="020B0703020203020204" pitchFamily="34" charset="0"/>
                <a:cs typeface="Anova Light" panose="020B0403020203020204" pitchFamily="34" charset="0"/>
              </a:rPr>
              <a:t>Copyright © SAS Institute Inc. All rights reserved.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S - Section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834955" y="2505670"/>
            <a:ext cx="8082481" cy="923330"/>
          </a:xfrm>
          <a:prstGeom prst="rect">
            <a:avLst/>
          </a:prstGeom>
        </p:spPr>
        <p:txBody>
          <a:bodyPr vert="horz" wrap="square" lIns="0" tIns="0" rIns="0" bIns="182880" rtlCol="0" anchor="b" anchorCtr="0">
            <a:spAutoFit/>
          </a:bodyPr>
          <a:lstStyle>
            <a:lvl1pPr>
              <a:lnSpc>
                <a:spcPct val="100000"/>
              </a:lnSpc>
              <a:spcBef>
                <a:spcPts val="400"/>
              </a:spcBef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Section Title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834955" y="3561836"/>
            <a:ext cx="8082481" cy="615553"/>
          </a:xfrm>
        </p:spPr>
        <p:txBody>
          <a:bodyPr wrap="square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3200">
                <a:solidFill>
                  <a:schemeClr val="bg1"/>
                </a:solidFill>
              </a:defRPr>
            </a:lvl1pPr>
            <a:lvl2pPr marL="243840" indent="0">
              <a:buNone/>
              <a:defRPr>
                <a:solidFill>
                  <a:schemeClr val="accent3"/>
                </a:solidFill>
              </a:defRPr>
            </a:lvl2pPr>
            <a:lvl3pPr marL="487680" indent="0">
              <a:buNone/>
              <a:defRPr>
                <a:solidFill>
                  <a:schemeClr val="accent3"/>
                </a:solidFill>
              </a:defRPr>
            </a:lvl3pPr>
            <a:lvl4pPr marL="1371600" indent="0">
              <a:buNone/>
              <a:defRPr>
                <a:solidFill>
                  <a:schemeClr val="accent3"/>
                </a:solidFill>
              </a:defRPr>
            </a:lvl4pPr>
            <a:lvl5pPr marL="1828800" indent="0">
              <a:buNone/>
              <a:defRPr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Section Subtitle</a:t>
            </a:r>
          </a:p>
        </p:txBody>
      </p:sp>
      <p:sp>
        <p:nvSpPr>
          <p:cNvPr id="2" name="TextBox 4"/>
          <p:cNvSpPr txBox="1"/>
          <p:nvPr userDrawn="1"/>
        </p:nvSpPr>
        <p:spPr>
          <a:xfrm>
            <a:off x="834955" y="6539393"/>
            <a:ext cx="3352800" cy="194990"/>
          </a:xfrm>
          <a:prstGeom prst="rect">
            <a:avLst/>
          </a:prstGeom>
          <a:noFill/>
        </p:spPr>
        <p:txBody>
          <a:bodyPr wrap="square" lIns="0" anchor="b" anchorCtr="0">
            <a:spAutoFit/>
          </a:bodyPr>
          <a:lstStyle/>
          <a:p>
            <a:pPr marL="0" marR="0" lvl="0" indent="0" algn="l" defTabSz="36576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5" b="0" i="0" u="none" strike="noStrike" kern="300" cap="none" spc="67" normalizeH="0" baseline="0" noProof="0" dirty="0">
                <a:ln>
                  <a:noFill/>
                </a:ln>
                <a:solidFill>
                  <a:schemeClr val="accent5">
                    <a:lumMod val="20000"/>
                    <a:lumOff val="80000"/>
                  </a:schemeClr>
                </a:solidFill>
                <a:effectLst/>
                <a:uLnTx/>
                <a:uFillTx/>
                <a:latin typeface="Anova Light" panose="020B0403020203020204" pitchFamily="34" charset="0"/>
                <a:ea typeface="Anova Bold" panose="020B0703020203020204" pitchFamily="34" charset="0"/>
                <a:cs typeface="Anova Light" panose="020B0403020203020204" pitchFamily="34" charset="0"/>
              </a:rPr>
              <a:t>Copyright © SAS Institute Inc. All rights reserved.</a:t>
            </a:r>
          </a:p>
        </p:txBody>
      </p:sp>
      <p:pic>
        <p:nvPicPr>
          <p:cNvPr id="3" name="Pictur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11217439" y="6344362"/>
            <a:ext cx="741875" cy="3079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S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838200" y="473536"/>
            <a:ext cx="10515600" cy="517064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/>
          <a:p>
            <a:r>
              <a:rPr lang="en-US" dirty="0"/>
              <a:t>Click to Add Slide 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S - 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Add Slide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041400"/>
            <a:ext cx="10515600" cy="366255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>
                <a:solidFill>
                  <a:schemeClr val="bg2"/>
                </a:solidFill>
              </a:defRPr>
            </a:lvl1pPr>
            <a:lvl2pPr marL="243840" indent="0">
              <a:buNone/>
              <a:defRPr/>
            </a:lvl2pPr>
            <a:lvl3pPr marL="48768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S -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Add Slide Title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idx="1"/>
          </p:nvPr>
        </p:nvSpPr>
        <p:spPr>
          <a:xfrm>
            <a:off x="838200" y="1600200"/>
            <a:ext cx="10515600" cy="429618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>
              <a:defRPr sz="2400"/>
            </a:lvl1pPr>
            <a:lvl2pPr>
              <a:defRPr sz="1865"/>
            </a:lvl2pPr>
            <a:lvl3pPr>
              <a:defRPr sz="1600">
                <a:latin typeface="+mn-l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041400"/>
            <a:ext cx="10515600" cy="366255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>
                <a:solidFill>
                  <a:schemeClr val="accent1"/>
                </a:solidFill>
              </a:defRPr>
            </a:lvl1pPr>
            <a:lvl2pPr marL="243840" indent="0">
              <a:buNone/>
              <a:defRPr/>
            </a:lvl2pPr>
            <a:lvl3pPr marL="48768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S -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Add Slide Title</a:t>
            </a:r>
          </a:p>
        </p:txBody>
      </p:sp>
      <p:sp>
        <p:nvSpPr>
          <p:cNvPr id="5" name="Text Placeholder 2"/>
          <p:cNvSpPr>
            <a:spLocks noGrp="1"/>
          </p:cNvSpPr>
          <p:nvPr>
            <p:ph idx="1"/>
          </p:nvPr>
        </p:nvSpPr>
        <p:spPr>
          <a:xfrm>
            <a:off x="838199" y="1600200"/>
            <a:ext cx="5161231" cy="429618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>
              <a:defRPr sz="2400"/>
            </a:lvl1pPr>
            <a:lvl2pPr>
              <a:defRPr sz="1865">
                <a:latin typeface="+mn-lt"/>
              </a:defRPr>
            </a:lvl2pPr>
            <a:lvl3pPr>
              <a:defRPr sz="1600">
                <a:latin typeface="+mn-l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idx="11"/>
          </p:nvPr>
        </p:nvSpPr>
        <p:spPr>
          <a:xfrm>
            <a:off x="6192571" y="1600200"/>
            <a:ext cx="5161232" cy="429618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>
              <a:defRPr sz="2400"/>
            </a:lvl1pPr>
            <a:lvl2pPr>
              <a:defRPr sz="1865">
                <a:latin typeface="+mn-lt"/>
              </a:defRPr>
            </a:lvl2pPr>
            <a:lvl3pPr>
              <a:defRPr sz="1600">
                <a:latin typeface="+mn-l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041400"/>
            <a:ext cx="10515600" cy="366255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>
                <a:solidFill>
                  <a:schemeClr val="bg2"/>
                </a:solidFill>
              </a:defRPr>
            </a:lvl1pPr>
            <a:lvl2pPr marL="243840" indent="0">
              <a:buNone/>
              <a:defRPr/>
            </a:lvl2pPr>
            <a:lvl3pPr marL="48768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S - Title Only R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838200" y="2911937"/>
            <a:ext cx="2952184" cy="103412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dirty="0"/>
              <a:t>Click to Add Slide 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S - Title &amp; Subtitle R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3947330"/>
            <a:ext cx="3336233" cy="3662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 algn="l">
              <a:buNone/>
              <a:defRPr>
                <a:solidFill>
                  <a:schemeClr val="bg2"/>
                </a:solidFill>
              </a:defRPr>
            </a:lvl1pPr>
            <a:lvl2pPr marL="243840" indent="0">
              <a:buNone/>
              <a:defRPr/>
            </a:lvl2pPr>
            <a:lvl3pPr marL="48768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834955" y="2768821"/>
            <a:ext cx="3334512" cy="1034386"/>
          </a:xfrm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/>
            </a:lvl1pPr>
          </a:lstStyle>
          <a:p>
            <a:pPr marL="0" lvl="0">
              <a:lnSpc>
                <a:spcPct val="90000"/>
              </a:lnSpc>
              <a:spcBef>
                <a:spcPct val="0"/>
              </a:spcBef>
              <a:buNone/>
            </a:pPr>
            <a:r>
              <a:rPr lang="en-US" dirty="0"/>
              <a:t>Click to Add Slide 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S - Closin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834955" y="2967336"/>
            <a:ext cx="8708755" cy="923330"/>
          </a:xfrm>
          <a:prstGeom prst="rect">
            <a:avLst/>
          </a:prstGeom>
        </p:spPr>
        <p:txBody>
          <a:bodyPr vert="horz" wrap="square" lIns="0" tIns="0" rIns="0" bIns="182880" rtlCol="0" anchor="ctr" anchorCtr="0">
            <a:spAutoFit/>
          </a:bodyPr>
          <a:lstStyle>
            <a:lvl1pPr>
              <a:lnSpc>
                <a:spcPct val="100000"/>
              </a:lnSpc>
              <a:spcBef>
                <a:spcPts val="400"/>
              </a:spcBef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Slideshow Closing</a:t>
            </a: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642533" y="5517984"/>
            <a:ext cx="1711268" cy="705016"/>
          </a:xfrm>
          <a:prstGeom prst="rect">
            <a:avLst/>
          </a:prstGeom>
        </p:spPr>
      </p:pic>
      <p:sp>
        <p:nvSpPr>
          <p:cNvPr id="2" name="Text Placeholder 15"/>
          <p:cNvSpPr>
            <a:spLocks noGrp="1"/>
          </p:cNvSpPr>
          <p:nvPr>
            <p:ph type="body" sz="quarter" idx="11" hasCustomPrompt="1"/>
          </p:nvPr>
        </p:nvSpPr>
        <p:spPr>
          <a:xfrm>
            <a:off x="834955" y="5517985"/>
            <a:ext cx="8082481" cy="705015"/>
          </a:xfrm>
        </p:spPr>
        <p:txBody>
          <a:bodyPr wrap="square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65">
                <a:solidFill>
                  <a:schemeClr val="accent3"/>
                </a:solidFill>
              </a:defRPr>
            </a:lvl1pPr>
            <a:lvl2pPr marL="243840" indent="0">
              <a:buNone/>
              <a:defRPr sz="1465">
                <a:solidFill>
                  <a:schemeClr val="accent3"/>
                </a:solidFill>
              </a:defRPr>
            </a:lvl2pPr>
            <a:lvl3pPr marL="487680" indent="0">
              <a:buNone/>
              <a:defRPr sz="1400">
                <a:solidFill>
                  <a:schemeClr val="accent3"/>
                </a:solidFill>
              </a:defRPr>
            </a:lvl3pPr>
            <a:lvl4pPr marL="1371600" indent="0">
              <a:buNone/>
              <a:defRPr sz="1335">
                <a:solidFill>
                  <a:schemeClr val="accent3"/>
                </a:solidFill>
              </a:defRPr>
            </a:lvl4pPr>
            <a:lvl5pPr marL="1828800" indent="0">
              <a:buNone/>
              <a:defRPr sz="1335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a website or email</a:t>
            </a:r>
          </a:p>
        </p:txBody>
      </p:sp>
      <p:sp>
        <p:nvSpPr>
          <p:cNvPr id="3" name="TextBox 4"/>
          <p:cNvSpPr txBox="1"/>
          <p:nvPr userDrawn="1"/>
        </p:nvSpPr>
        <p:spPr>
          <a:xfrm>
            <a:off x="834955" y="6539393"/>
            <a:ext cx="3352800" cy="194990"/>
          </a:xfrm>
          <a:prstGeom prst="rect">
            <a:avLst/>
          </a:prstGeom>
          <a:noFill/>
        </p:spPr>
        <p:txBody>
          <a:bodyPr wrap="square" lIns="0" anchor="b" anchorCtr="0">
            <a:spAutoFit/>
          </a:bodyPr>
          <a:lstStyle/>
          <a:p>
            <a:pPr marL="0" marR="0" lvl="0" indent="0" algn="l" defTabSz="36576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5" b="0" i="0" u="none" strike="noStrike" kern="300" cap="none" spc="67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nova Light" panose="020B0403020203020204" pitchFamily="34" charset="0"/>
                <a:ea typeface="Anova Bold" panose="020B0703020203020204" pitchFamily="34" charset="0"/>
                <a:cs typeface="Anova Light" panose="020B0403020203020204" pitchFamily="34" charset="0"/>
              </a:rPr>
              <a:t>Copyright © SAS Institute Inc. All rights reserved.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AS - Blank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S - Video Only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sv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ags" Target="../tags/tag3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6" Type="http://schemas.openxmlformats.org/officeDocument/2006/relationships/image" Target="../media/image4.svg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image" Target="../media/image5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4"/>
          <p:cNvSpPr txBox="1"/>
          <p:nvPr userDrawn="1"/>
        </p:nvSpPr>
        <p:spPr>
          <a:xfrm>
            <a:off x="834955" y="6539393"/>
            <a:ext cx="3352800" cy="194990"/>
          </a:xfrm>
          <a:prstGeom prst="rect">
            <a:avLst/>
          </a:prstGeom>
          <a:noFill/>
        </p:spPr>
        <p:txBody>
          <a:bodyPr wrap="square" lIns="0" anchor="b" anchorCtr="0">
            <a:spAutoFit/>
          </a:bodyPr>
          <a:lstStyle/>
          <a:p>
            <a:pPr marL="0" marR="0" lvl="0" indent="0" algn="l" defTabSz="36576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5" b="0" i="0" u="none" strike="noStrike" kern="300" cap="none" spc="67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Anova Light" panose="020B0403020203020204" pitchFamily="34" charset="0"/>
                <a:ea typeface="Anova Bold" panose="020B0703020203020204" pitchFamily="34" charset="0"/>
                <a:cs typeface="Anova Light" panose="020B0403020203020204" pitchFamily="34" charset="0"/>
              </a:rPr>
              <a:t>Copyright © SAS Institute Inc. All rights reserved.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4955" y="1600200"/>
            <a:ext cx="10515600" cy="457676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4955" y="473536"/>
            <a:ext cx="10515600" cy="517064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US" dirty="0"/>
              <a:t>Click to Add Slide Title</a:t>
            </a:r>
          </a:p>
        </p:txBody>
      </p:sp>
      <p:pic>
        <p:nvPicPr>
          <p:cNvPr id="5" name="Picture 6"/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rcRect/>
          <a:stretch>
            <a:fillRect/>
          </a:stretch>
        </p:blipFill>
        <p:spPr>
          <a:xfrm>
            <a:off x="11217439" y="6344362"/>
            <a:ext cx="741875" cy="307948"/>
          </a:xfrm>
          <a:prstGeom prst="rect">
            <a:avLst/>
          </a:prstGeom>
        </p:spPr>
      </p:pic>
      <p:sp>
        <p:nvSpPr>
          <p:cNvPr id="4" name="文本框 3"/>
          <p:cNvSpPr txBox="1"/>
          <p:nvPr userDrawn="1"/>
        </p:nvSpPr>
        <p:spPr>
          <a:xfrm>
            <a:off x="242570" y="4400550"/>
            <a:ext cx="4064000" cy="36893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endParaRPr lang="zh-CN" altLang="en-US" dirty="0">
              <a:solidFill>
                <a:schemeClr val="tx1"/>
              </a:solidFill>
            </a:endParaRPr>
          </a:p>
        </p:txBody>
      </p:sp>
    </p:spTree>
    <p:custDataLst>
      <p:tags r:id="rId13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735" b="1" i="0" kern="1200">
          <a:solidFill>
            <a:schemeClr val="accent5"/>
          </a:solidFill>
          <a:latin typeface="Anova Bold" panose="020B0703020203020204" pitchFamily="34" charset="0"/>
          <a:ea typeface="+mj-ea"/>
          <a:cs typeface="+mj-cs"/>
        </a:defRPr>
      </a:lvl1pPr>
    </p:titleStyle>
    <p:bodyStyle>
      <a:lvl1pPr marL="243840" indent="-243840" algn="l" defTabSz="914400" rtl="0" eaLnBrk="1" latinLnBrk="0" hangingPunct="1">
        <a:lnSpc>
          <a:spcPct val="85000"/>
        </a:lnSpc>
        <a:spcBef>
          <a:spcPts val="1065"/>
        </a:spcBef>
        <a:buClr>
          <a:schemeClr val="accent5"/>
        </a:buClr>
        <a:buFont typeface="Anova Light" panose="020B0403020203020204" pitchFamily="34" charset="0"/>
        <a:buChar char="•"/>
        <a:defRPr sz="2400" b="0" i="0" kern="1200">
          <a:solidFill>
            <a:schemeClr val="tx1"/>
          </a:solidFill>
          <a:latin typeface="+mn-lt"/>
          <a:ea typeface="+mn-ea"/>
          <a:cs typeface="+mn-cs"/>
        </a:defRPr>
      </a:lvl1pPr>
      <a:lvl2pPr marL="487680" indent="-243840" algn="l" defTabSz="914400" rtl="0" eaLnBrk="1" latinLnBrk="0" hangingPunct="1">
        <a:lnSpc>
          <a:spcPct val="85000"/>
        </a:lnSpc>
        <a:spcBef>
          <a:spcPts val="1065"/>
        </a:spcBef>
        <a:buClr>
          <a:schemeClr val="accent5"/>
        </a:buClr>
        <a:buFont typeface="Anova Light" panose="020B0403020203020204" pitchFamily="34" charset="0"/>
        <a:buChar char="–"/>
        <a:defRPr sz="1865" b="0" i="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43840" algn="l" defTabSz="914400" rtl="0" eaLnBrk="1" latinLnBrk="0" hangingPunct="1">
        <a:lnSpc>
          <a:spcPct val="85000"/>
        </a:lnSpc>
        <a:spcBef>
          <a:spcPts val="1065"/>
        </a:spcBef>
        <a:buClr>
          <a:schemeClr val="accent5"/>
        </a:buClr>
        <a:buFont typeface="Anova Light" panose="020B0403020203020204" pitchFamily="34" charset="0"/>
        <a:buChar char="•"/>
        <a:defRPr sz="1600" b="0" i="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nova Light" panose="020B0403020203020204" pitchFamily="34" charset="0"/>
        <a:buChar char="•"/>
        <a:defRPr sz="1800" kern="1200">
          <a:solidFill>
            <a:schemeClr val="bg2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nova Light" panose="020B0403020203020204" pitchFamily="34" charset="0"/>
        <a:buChar char="•"/>
        <a:defRPr sz="1800" kern="1200">
          <a:solidFill>
            <a:schemeClr val="bg2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nova Light" panose="020B0403020203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nova Light" panose="020B0403020203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nova Light" panose="020B0403020203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nova Light" panose="020B0403020203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10984752" y="6096000"/>
            <a:ext cx="1207248" cy="76200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0" y="6096000"/>
            <a:ext cx="10984752" cy="762001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4955" y="1600200"/>
            <a:ext cx="10515600" cy="429618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4955" y="473536"/>
            <a:ext cx="10515600" cy="517064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US" dirty="0"/>
              <a:t>Click to Add Slide Title</a:t>
            </a:r>
          </a:p>
        </p:txBody>
      </p:sp>
      <p:sp>
        <p:nvSpPr>
          <p:cNvPr id="8" name="TextBox 4"/>
          <p:cNvSpPr txBox="1"/>
          <p:nvPr userDrawn="1"/>
        </p:nvSpPr>
        <p:spPr>
          <a:xfrm>
            <a:off x="834955" y="6180007"/>
            <a:ext cx="5725995" cy="420564"/>
          </a:xfrm>
          <a:prstGeom prst="rect">
            <a:avLst/>
          </a:prstGeom>
          <a:noFill/>
        </p:spPr>
        <p:txBody>
          <a:bodyPr wrap="square" lIns="0" anchor="b" anchorCtr="0">
            <a:spAutoFit/>
          </a:bodyPr>
          <a:lstStyle/>
          <a:p>
            <a:pPr marL="0" marR="0" lvl="0" indent="0" algn="l" defTabSz="36576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2135" b="1" i="0" u="none" strike="noStrike" kern="300" cap="none" spc="67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nova Bold" panose="020B0703020203020204" pitchFamily="34" charset="0"/>
                <a:ea typeface="Anova Bold" panose="020B0703020203020204" pitchFamily="34" charset="0"/>
                <a:cs typeface="Anova Light" panose="020B0403020203020204" pitchFamily="34" charset="0"/>
              </a:rPr>
              <a:t>CONFIDENTIAL — DO NOT DISCLOSE</a:t>
            </a:r>
          </a:p>
        </p:txBody>
      </p:sp>
      <p:sp>
        <p:nvSpPr>
          <p:cNvPr id="10" name="TextBox 4"/>
          <p:cNvSpPr txBox="1"/>
          <p:nvPr userDrawn="1"/>
        </p:nvSpPr>
        <p:spPr>
          <a:xfrm>
            <a:off x="834955" y="6539393"/>
            <a:ext cx="3352800" cy="194990"/>
          </a:xfrm>
          <a:prstGeom prst="rect">
            <a:avLst/>
          </a:prstGeom>
          <a:noFill/>
        </p:spPr>
        <p:txBody>
          <a:bodyPr wrap="square" lIns="0" anchor="b" anchorCtr="0">
            <a:spAutoFit/>
          </a:bodyPr>
          <a:lstStyle/>
          <a:p>
            <a:pPr marL="0" marR="0" lvl="0" indent="0" algn="l" defTabSz="36576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5" b="0" i="0" u="none" strike="noStrike" kern="300" cap="none" spc="67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nova Light" panose="020B0403020203020204" pitchFamily="34" charset="0"/>
                <a:ea typeface="Anova Bold" panose="020B0703020203020204" pitchFamily="34" charset="0"/>
                <a:cs typeface="Anova Light" panose="020B0403020203020204" pitchFamily="34" charset="0"/>
              </a:rPr>
              <a:t>Copyright © SAS Institute Inc. All rights reserved.</a:t>
            </a:r>
          </a:p>
        </p:txBody>
      </p:sp>
      <p:pic>
        <p:nvPicPr>
          <p:cNvPr id="4" name="Picture 6"/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>
            <a:fillRect/>
          </a:stretch>
        </p:blipFill>
        <p:spPr>
          <a:xfrm>
            <a:off x="11217439" y="6344362"/>
            <a:ext cx="741875" cy="307948"/>
          </a:xfrm>
          <a:prstGeom prst="rect">
            <a:avLst/>
          </a:prstGeom>
        </p:spPr>
      </p:pic>
    </p:spTree>
    <p:custDataLst>
      <p:tags r:id="rId13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735" b="1" i="0" kern="1200">
          <a:solidFill>
            <a:schemeClr val="accent5"/>
          </a:solidFill>
          <a:latin typeface="Anova Bold" panose="020B0703020203020204" pitchFamily="34" charset="0"/>
          <a:ea typeface="+mj-ea"/>
          <a:cs typeface="+mj-cs"/>
        </a:defRPr>
      </a:lvl1pPr>
    </p:titleStyle>
    <p:bodyStyle>
      <a:lvl1pPr marL="243840" indent="-243840" algn="l" defTabSz="914400" rtl="0" eaLnBrk="1" latinLnBrk="0" hangingPunct="1">
        <a:lnSpc>
          <a:spcPct val="85000"/>
        </a:lnSpc>
        <a:spcBef>
          <a:spcPts val="1065"/>
        </a:spcBef>
        <a:buClr>
          <a:schemeClr val="accent5"/>
        </a:buClr>
        <a:buFont typeface="Anova Light" panose="020B0403020203020204" pitchFamily="34" charset="0"/>
        <a:buChar char="•"/>
        <a:defRPr sz="2400" b="0" i="0" kern="1200">
          <a:solidFill>
            <a:schemeClr val="tx1"/>
          </a:solidFill>
          <a:latin typeface="+mn-lt"/>
          <a:ea typeface="+mn-ea"/>
          <a:cs typeface="+mn-cs"/>
        </a:defRPr>
      </a:lvl1pPr>
      <a:lvl2pPr marL="487680" indent="-243840" algn="l" defTabSz="914400" rtl="0" eaLnBrk="1" latinLnBrk="0" hangingPunct="1">
        <a:lnSpc>
          <a:spcPct val="85000"/>
        </a:lnSpc>
        <a:spcBef>
          <a:spcPts val="1065"/>
        </a:spcBef>
        <a:buClr>
          <a:schemeClr val="accent5"/>
        </a:buClr>
        <a:buFont typeface="Anova Light" panose="020B0403020203020204" pitchFamily="34" charset="0"/>
        <a:buChar char="–"/>
        <a:defRPr sz="1865" b="0" i="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43840" algn="l" defTabSz="914400" rtl="0" eaLnBrk="1" latinLnBrk="0" hangingPunct="1">
        <a:lnSpc>
          <a:spcPct val="85000"/>
        </a:lnSpc>
        <a:spcBef>
          <a:spcPts val="1065"/>
        </a:spcBef>
        <a:buClr>
          <a:schemeClr val="accent5"/>
        </a:buClr>
        <a:buFont typeface="Anova Light" panose="020B0403020203020204" pitchFamily="34" charset="0"/>
        <a:buChar char="•"/>
        <a:defRPr sz="1600" b="0" i="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nova Light" panose="020B0403020203020204" pitchFamily="34" charset="0"/>
        <a:buChar char="•"/>
        <a:defRPr sz="1800" kern="1200">
          <a:solidFill>
            <a:schemeClr val="bg2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nova Light" panose="020B0403020203020204" pitchFamily="34" charset="0"/>
        <a:buChar char="•"/>
        <a:defRPr sz="1800" kern="1200">
          <a:solidFill>
            <a:schemeClr val="bg2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nova Light" panose="020B0403020203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nova Light" panose="020B0403020203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nova Light" panose="020B0403020203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nova Light" panose="020B0403020203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745419" y="1213071"/>
            <a:ext cx="10518846" cy="2400657"/>
          </a:xfrm>
        </p:spPr>
        <p:txBody>
          <a:bodyPr/>
          <a:lstStyle/>
          <a:p>
            <a:r>
              <a:rPr lang="zh-CN" altLang="en-US" dirty="0">
                <a:latin typeface="等线" panose="02010600030101010101" pitchFamily="2" charset="-122"/>
                <a:ea typeface="等线" panose="02010600030101010101" pitchFamily="2" charset="-122"/>
              </a:rPr>
              <a:t>数智驱动的肉鸡养殖根因分析实施方案</a:t>
            </a:r>
            <a:br>
              <a:rPr lang="en-US" altLang="zh-CN" dirty="0">
                <a:latin typeface="等线" panose="02010600030101010101" pitchFamily="2" charset="-122"/>
                <a:ea typeface="等线" panose="02010600030101010101" pitchFamily="2" charset="-122"/>
              </a:rPr>
            </a:br>
            <a:br>
              <a:rPr lang="en-US" altLang="zh-CN" dirty="0">
                <a:latin typeface="等线" panose="02010600030101010101" pitchFamily="2" charset="-122"/>
                <a:ea typeface="等线" panose="02010600030101010101" pitchFamily="2" charset="-122"/>
              </a:rPr>
            </a:br>
            <a:r>
              <a:rPr lang="zh-CN" altLang="en-US" dirty="0">
                <a:latin typeface="等线" panose="02010600030101010101" pitchFamily="2" charset="-122"/>
                <a:ea typeface="等线" panose="02010600030101010101" pitchFamily="2" charset="-122"/>
              </a:rPr>
              <a:t>第二周成果汇报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>
          <a:xfrm>
            <a:off x="834955" y="4308945"/>
            <a:ext cx="8082481" cy="705015"/>
          </a:xfrm>
        </p:spPr>
        <p:txBody>
          <a:bodyPr/>
          <a:lstStyle/>
          <a:p>
            <a:r>
              <a:rPr lang="en-US" altLang="zh-CN" dirty="0"/>
              <a:t>2025.05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组合 87"/>
          <p:cNvGrpSpPr/>
          <p:nvPr/>
        </p:nvGrpSpPr>
        <p:grpSpPr>
          <a:xfrm>
            <a:off x="2689795" y="1304579"/>
            <a:ext cx="9182857" cy="5080787"/>
            <a:chOff x="2689795" y="1304579"/>
            <a:chExt cx="9182857" cy="5080787"/>
          </a:xfrm>
        </p:grpSpPr>
        <p:cxnSp>
          <p:nvCxnSpPr>
            <p:cNvPr id="50" name="直接连接符 49"/>
            <p:cNvCxnSpPr/>
            <p:nvPr/>
          </p:nvCxnSpPr>
          <p:spPr>
            <a:xfrm>
              <a:off x="2689795" y="1453366"/>
              <a:ext cx="0" cy="4932000"/>
            </a:xfrm>
            <a:prstGeom prst="line">
              <a:avLst/>
            </a:prstGeom>
            <a:noFill/>
            <a:ln w="6350" cap="flat" cmpd="sng" algn="ctr">
              <a:solidFill>
                <a:srgbClr val="FFFFFF">
                  <a:lumMod val="65000"/>
                </a:srgbClr>
              </a:solidFill>
              <a:prstDash val="lgDash"/>
              <a:miter lim="800000"/>
            </a:ln>
            <a:effectLst/>
          </p:spPr>
        </p:cxnSp>
        <p:cxnSp>
          <p:nvCxnSpPr>
            <p:cNvPr id="58" name="直接连接符 57"/>
            <p:cNvCxnSpPr/>
            <p:nvPr/>
          </p:nvCxnSpPr>
          <p:spPr>
            <a:xfrm>
              <a:off x="5215019" y="1453366"/>
              <a:ext cx="0" cy="4932000"/>
            </a:xfrm>
            <a:prstGeom prst="line">
              <a:avLst/>
            </a:prstGeom>
            <a:noFill/>
            <a:ln w="6350" cap="flat" cmpd="sng" algn="ctr">
              <a:solidFill>
                <a:srgbClr val="FFFFFF">
                  <a:lumMod val="65000"/>
                </a:srgbClr>
              </a:solidFill>
              <a:prstDash val="lgDash"/>
              <a:miter lim="800000"/>
            </a:ln>
            <a:effectLst/>
          </p:spPr>
        </p:cxnSp>
        <p:cxnSp>
          <p:nvCxnSpPr>
            <p:cNvPr id="59" name="直接连接符 58"/>
            <p:cNvCxnSpPr/>
            <p:nvPr/>
          </p:nvCxnSpPr>
          <p:spPr>
            <a:xfrm>
              <a:off x="6477631" y="1453366"/>
              <a:ext cx="0" cy="4932000"/>
            </a:xfrm>
            <a:prstGeom prst="line">
              <a:avLst/>
            </a:prstGeom>
            <a:noFill/>
            <a:ln w="6350" cap="flat" cmpd="sng" algn="ctr">
              <a:solidFill>
                <a:srgbClr val="FFFFFF">
                  <a:lumMod val="65000"/>
                </a:srgbClr>
              </a:solidFill>
              <a:prstDash val="lgDash"/>
              <a:miter lim="800000"/>
            </a:ln>
            <a:effectLst/>
          </p:spPr>
        </p:cxnSp>
        <p:cxnSp>
          <p:nvCxnSpPr>
            <p:cNvPr id="60" name="直接连接符 59"/>
            <p:cNvCxnSpPr/>
            <p:nvPr/>
          </p:nvCxnSpPr>
          <p:spPr>
            <a:xfrm>
              <a:off x="10265467" y="1453366"/>
              <a:ext cx="0" cy="4932000"/>
            </a:xfrm>
            <a:prstGeom prst="line">
              <a:avLst/>
            </a:prstGeom>
            <a:noFill/>
            <a:ln w="6350" cap="flat" cmpd="sng" algn="ctr">
              <a:solidFill>
                <a:srgbClr val="FFFFFF">
                  <a:lumMod val="65000"/>
                </a:srgbClr>
              </a:solidFill>
              <a:prstDash val="lgDash"/>
              <a:miter lim="800000"/>
            </a:ln>
            <a:effectLst/>
          </p:spPr>
        </p:cxnSp>
        <p:cxnSp>
          <p:nvCxnSpPr>
            <p:cNvPr id="68" name="直接连接符 67"/>
            <p:cNvCxnSpPr/>
            <p:nvPr/>
          </p:nvCxnSpPr>
          <p:spPr>
            <a:xfrm>
              <a:off x="9002855" y="1442480"/>
              <a:ext cx="0" cy="4932000"/>
            </a:xfrm>
            <a:prstGeom prst="line">
              <a:avLst/>
            </a:prstGeom>
            <a:noFill/>
            <a:ln w="6350" cap="flat" cmpd="sng" algn="ctr">
              <a:solidFill>
                <a:srgbClr val="FFFFFF">
                  <a:lumMod val="65000"/>
                </a:srgbClr>
              </a:solidFill>
              <a:prstDash val="lgDash"/>
              <a:miter lim="800000"/>
            </a:ln>
            <a:effectLst/>
          </p:spPr>
        </p:cxnSp>
        <p:cxnSp>
          <p:nvCxnSpPr>
            <p:cNvPr id="77" name="直接连接符 76"/>
            <p:cNvCxnSpPr/>
            <p:nvPr/>
          </p:nvCxnSpPr>
          <p:spPr>
            <a:xfrm>
              <a:off x="3952407" y="1453366"/>
              <a:ext cx="0" cy="4932000"/>
            </a:xfrm>
            <a:prstGeom prst="line">
              <a:avLst/>
            </a:prstGeom>
            <a:noFill/>
            <a:ln w="6350" cap="flat" cmpd="sng" algn="ctr">
              <a:solidFill>
                <a:srgbClr val="FFFFFF">
                  <a:lumMod val="65000"/>
                </a:srgbClr>
              </a:solidFill>
              <a:prstDash val="lgDash"/>
              <a:miter lim="800000"/>
            </a:ln>
            <a:effectLst/>
          </p:spPr>
        </p:cxnSp>
        <p:cxnSp>
          <p:nvCxnSpPr>
            <p:cNvPr id="83" name="直接连接符 82"/>
            <p:cNvCxnSpPr/>
            <p:nvPr/>
          </p:nvCxnSpPr>
          <p:spPr>
            <a:xfrm>
              <a:off x="11528078" y="1304579"/>
              <a:ext cx="0" cy="4932000"/>
            </a:xfrm>
            <a:prstGeom prst="line">
              <a:avLst/>
            </a:prstGeom>
            <a:noFill/>
            <a:ln w="6350" cap="flat" cmpd="sng" algn="ctr">
              <a:solidFill>
                <a:srgbClr val="FFFFFF">
                  <a:lumMod val="65000"/>
                </a:srgbClr>
              </a:solidFill>
              <a:prstDash val="lgDash"/>
              <a:miter lim="800000"/>
            </a:ln>
            <a:effectLst/>
          </p:spPr>
        </p:cxnSp>
        <p:pic>
          <p:nvPicPr>
            <p:cNvPr id="84" name="图形 83" descr="鲤鱼旗 纯色填充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497028" y="1404375"/>
              <a:ext cx="375624" cy="360000"/>
            </a:xfrm>
            <a:prstGeom prst="rect">
              <a:avLst/>
            </a:prstGeom>
          </p:spPr>
        </p:pic>
        <p:cxnSp>
          <p:nvCxnSpPr>
            <p:cNvPr id="87" name="直接连接符 86"/>
            <p:cNvCxnSpPr/>
            <p:nvPr/>
          </p:nvCxnSpPr>
          <p:spPr>
            <a:xfrm>
              <a:off x="7740243" y="1453366"/>
              <a:ext cx="0" cy="4932000"/>
            </a:xfrm>
            <a:prstGeom prst="line">
              <a:avLst/>
            </a:prstGeom>
            <a:noFill/>
            <a:ln w="6350" cap="flat" cmpd="sng" algn="ctr">
              <a:solidFill>
                <a:srgbClr val="FFFFFF">
                  <a:lumMod val="65000"/>
                </a:srgbClr>
              </a:solidFill>
              <a:prstDash val="lgDash"/>
              <a:miter lim="800000"/>
            </a:ln>
            <a:effectLst/>
          </p:spPr>
        </p:cxnSp>
      </p:grpSp>
      <p:cxnSp>
        <p:nvCxnSpPr>
          <p:cNvPr id="49" name="直接连接符 48"/>
          <p:cNvCxnSpPr/>
          <p:nvPr/>
        </p:nvCxnSpPr>
        <p:spPr>
          <a:xfrm>
            <a:off x="11526134" y="1453366"/>
            <a:ext cx="0" cy="4932000"/>
          </a:xfrm>
          <a:prstGeom prst="line">
            <a:avLst/>
          </a:prstGeom>
          <a:noFill/>
          <a:ln w="6350" cap="flat" cmpd="sng" algn="ctr">
            <a:solidFill>
              <a:srgbClr val="FFFFFF">
                <a:lumMod val="65000"/>
              </a:srgbClr>
            </a:solidFill>
            <a:prstDash val="lgDash"/>
            <a:miter lim="800000"/>
          </a:ln>
          <a:effectLst/>
        </p:spPr>
      </p:cxnSp>
      <p:sp>
        <p:nvSpPr>
          <p:cNvPr id="2" name="标题 1"/>
          <p:cNvSpPr txBox="1"/>
          <p:nvPr/>
        </p:nvSpPr>
        <p:spPr>
          <a:xfrm>
            <a:off x="552010" y="273332"/>
            <a:ext cx="11239200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等线 Light" panose="02010600030101010101" pitchFamily="2" charset="-122"/>
                <a:ea typeface="等线 Light" panose="02010600030101010101" pitchFamily="2" charset="-122"/>
                <a:cs typeface="+mj-cs"/>
              </a:rPr>
              <a:t>基于前期沟通，制定了详细合理的工作实施计划，</a:t>
            </a: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等线 Light" panose="02010600030101010101" pitchFamily="2" charset="-122"/>
                <a:ea typeface="等线 Light" panose="02010600030101010101" pitchFamily="2" charset="-122"/>
                <a:cs typeface="+mj-cs"/>
              </a:rPr>
              <a:t>PoC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等线 Light" panose="02010600030101010101" pitchFamily="2" charset="-122"/>
                <a:ea typeface="等线 Light" panose="02010600030101010101" pitchFamily="2" charset="-122"/>
                <a:cs typeface="+mj-cs"/>
              </a:rPr>
              <a:t>预计整体周期为</a:t>
            </a: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等线 Light" panose="02010600030101010101" pitchFamily="2" charset="-122"/>
                <a:ea typeface="等线 Light" panose="02010600030101010101" pitchFamily="2" charset="-122"/>
                <a:cs typeface="+mj-cs"/>
              </a:rPr>
              <a:t>7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等线 Light" panose="02010600030101010101" pitchFamily="2" charset="-122"/>
                <a:ea typeface="等线 Light" panose="02010600030101010101" pitchFamily="2" charset="-122"/>
                <a:cs typeface="+mj-cs"/>
              </a:rPr>
              <a:t>周，具体实施过程中采用多任务同步推进，串行和并行相结合的方式进行，有效推进项目快速落地</a:t>
            </a:r>
          </a:p>
        </p:txBody>
      </p:sp>
      <p:sp>
        <p:nvSpPr>
          <p:cNvPr id="6" name="Freeform 60"/>
          <p:cNvSpPr/>
          <p:nvPr/>
        </p:nvSpPr>
        <p:spPr bwMode="auto">
          <a:xfrm>
            <a:off x="1358471" y="1349215"/>
            <a:ext cx="10363180" cy="73919"/>
          </a:xfrm>
          <a:custGeom>
            <a:avLst/>
            <a:gdLst>
              <a:gd name="T0" fmla="*/ 0 w 4490"/>
              <a:gd name="T1" fmla="*/ 2147483647 h 91"/>
              <a:gd name="T2" fmla="*/ 0 w 4490"/>
              <a:gd name="T3" fmla="*/ 0 h 91"/>
              <a:gd name="T4" fmla="*/ 2147483647 w 4490"/>
              <a:gd name="T5" fmla="*/ 0 h 91"/>
              <a:gd name="T6" fmla="*/ 2147483647 w 4490"/>
              <a:gd name="T7" fmla="*/ 2147483647 h 91"/>
              <a:gd name="T8" fmla="*/ 0 60000 65536"/>
              <a:gd name="T9" fmla="*/ 0 60000 65536"/>
              <a:gd name="T10" fmla="*/ 0 60000 65536"/>
              <a:gd name="T11" fmla="*/ 0 60000 65536"/>
              <a:gd name="T12" fmla="*/ 0 w 4490"/>
              <a:gd name="T13" fmla="*/ 0 h 91"/>
              <a:gd name="T14" fmla="*/ 4490 w 4490"/>
              <a:gd name="T15" fmla="*/ 91 h 9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4490" h="91">
                <a:moveTo>
                  <a:pt x="0" y="91"/>
                </a:moveTo>
                <a:lnTo>
                  <a:pt x="0" y="0"/>
                </a:lnTo>
                <a:lnTo>
                  <a:pt x="4490" y="0"/>
                </a:lnTo>
                <a:lnTo>
                  <a:pt x="4490" y="91"/>
                </a:lnTo>
              </a:path>
            </a:pathLst>
          </a:custGeom>
          <a:noFill/>
          <a:ln w="6350">
            <a:solidFill>
              <a:srgbClr val="BBBCBC"/>
            </a:solidFill>
            <a:round/>
          </a:ln>
        </p:spPr>
        <p:txBody>
          <a:bodyPr wrap="none" lIns="0" tIns="0" rIns="0" bIns="0" anchor="ctr"/>
          <a:lstStyle/>
          <a:p>
            <a:pPr marL="0" marR="0" lvl="0" indent="0" algn="l" defTabSz="609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465" b="0" i="0" u="none" strike="noStrike" kern="1200" cap="none" spc="0" normalizeH="0" baseline="0" noProof="0" dirty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1" name="组合 30"/>
          <p:cNvGrpSpPr/>
          <p:nvPr/>
        </p:nvGrpSpPr>
        <p:grpSpPr>
          <a:xfrm>
            <a:off x="685505" y="1442480"/>
            <a:ext cx="619678" cy="749660"/>
            <a:chOff x="427051" y="1660594"/>
            <a:chExt cx="593903" cy="749660"/>
          </a:xfrm>
        </p:grpSpPr>
        <p:sp>
          <p:nvSpPr>
            <p:cNvPr id="32" name="矩形 31"/>
            <p:cNvSpPr/>
            <p:nvPr/>
          </p:nvSpPr>
          <p:spPr>
            <a:xfrm>
              <a:off x="520023" y="1660594"/>
              <a:ext cx="500931" cy="74966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 algn="ctr">
              <a:noFill/>
              <a:miter lim="800000"/>
            </a:ln>
          </p:spPr>
          <p:txBody>
            <a:bodyPr wrap="square" lIns="88900" tIns="88900" rIns="88900" bIns="8890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6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 2" panose="05020102010507070707" pitchFamily="18" charset="2"/>
                <a:buNone/>
                <a:defRPr/>
              </a:pPr>
              <a:r>
                <a:rPr kumimoji="0" lang="zh-CN" altLang="en-US" sz="11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等线" panose="02010600030101010101" pitchFamily="2" charset="-122"/>
                  <a:ea typeface="等线" panose="02010600030101010101" pitchFamily="2" charset="-122"/>
                  <a:cs typeface="+mn-cs"/>
                </a:rPr>
                <a:t>前期准备</a:t>
              </a:r>
            </a:p>
          </p:txBody>
        </p:sp>
        <p:sp>
          <p:nvSpPr>
            <p:cNvPr id="33" name="Oval 20"/>
            <p:cNvSpPr/>
            <p:nvPr/>
          </p:nvSpPr>
          <p:spPr bwMode="gray">
            <a:xfrm>
              <a:off x="427051" y="1943984"/>
              <a:ext cx="182880" cy="182880"/>
            </a:xfrm>
            <a:prstGeom prst="ellipse">
              <a:avLst/>
            </a:prstGeom>
            <a:solidFill>
              <a:schemeClr val="tx1"/>
            </a:solidFill>
            <a:ln w="19050" algn="ctr">
              <a:noFill/>
              <a:miter lim="800000"/>
            </a:ln>
          </p:spPr>
          <p:txBody>
            <a:bodyPr wrap="square" lIns="88900" tIns="88900" rIns="88900" bIns="889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6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 2" panose="05020102010507070707" pitchFamily="18" charset="2"/>
                <a:buNone/>
                <a:defRPr/>
              </a:pP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34" name="组合 33"/>
          <p:cNvGrpSpPr/>
          <p:nvPr/>
        </p:nvGrpSpPr>
        <p:grpSpPr>
          <a:xfrm>
            <a:off x="680726" y="2284224"/>
            <a:ext cx="616963" cy="3575538"/>
            <a:chOff x="446496" y="2370258"/>
            <a:chExt cx="591301" cy="3575538"/>
          </a:xfrm>
        </p:grpSpPr>
        <p:sp>
          <p:nvSpPr>
            <p:cNvPr id="35" name="矩形 34"/>
            <p:cNvSpPr/>
            <p:nvPr/>
          </p:nvSpPr>
          <p:spPr>
            <a:xfrm>
              <a:off x="528856" y="2370258"/>
              <a:ext cx="508941" cy="35755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 algn="ctr">
              <a:noFill/>
              <a:miter lim="800000"/>
            </a:ln>
          </p:spPr>
          <p:txBody>
            <a:bodyPr wrap="square" lIns="88900" tIns="88900" rIns="88900" bIns="8890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6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 2" panose="05020102010507070707" pitchFamily="18" charset="2"/>
                <a:buNone/>
                <a:defRPr/>
              </a:pPr>
              <a:r>
                <a:rPr lang="zh-CN" altLang="en-US" sz="1100" b="1" dirty="0">
                  <a:solidFill>
                    <a:prstClr val="black"/>
                  </a:solidFill>
                  <a:latin typeface="等线" panose="02010600030101010101" pitchFamily="2" charset="-122"/>
                  <a:ea typeface="等线" panose="02010600030101010101" pitchFamily="2" charset="-122"/>
                </a:rPr>
                <a:t>主体实施</a:t>
              </a:r>
              <a:endParaRPr kumimoji="0" lang="zh-CN" alt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36" name="Oval 20"/>
            <p:cNvSpPr/>
            <p:nvPr/>
          </p:nvSpPr>
          <p:spPr bwMode="gray">
            <a:xfrm>
              <a:off x="446496" y="3822520"/>
              <a:ext cx="182880" cy="182880"/>
            </a:xfrm>
            <a:prstGeom prst="ellipse">
              <a:avLst/>
            </a:prstGeom>
            <a:solidFill>
              <a:schemeClr val="tx1"/>
            </a:solidFill>
            <a:ln w="19050" algn="ctr">
              <a:noFill/>
              <a:miter lim="800000"/>
            </a:ln>
          </p:spPr>
          <p:txBody>
            <a:bodyPr wrap="square" lIns="88900" tIns="88900" rIns="88900" bIns="889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6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 2" panose="05020102010507070707" pitchFamily="18" charset="2"/>
                <a:buNone/>
                <a:defRPr/>
              </a:pPr>
              <a:r>
                <a:rPr kumimoji="0" lang="en-US" altLang="zh-CN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等线" panose="02010600030101010101" pitchFamily="2" charset="-122"/>
                  <a:ea typeface="等线" panose="02010600030101010101" pitchFamily="2" charset="-122"/>
                  <a:cs typeface="+mn-cs"/>
                </a:rPr>
                <a:t>2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7" name="组合 36"/>
          <p:cNvGrpSpPr/>
          <p:nvPr/>
        </p:nvGrpSpPr>
        <p:grpSpPr>
          <a:xfrm>
            <a:off x="687104" y="5910770"/>
            <a:ext cx="618080" cy="453681"/>
            <a:chOff x="406210" y="5558612"/>
            <a:chExt cx="592371" cy="453681"/>
          </a:xfrm>
        </p:grpSpPr>
        <p:sp>
          <p:nvSpPr>
            <p:cNvPr id="38" name="矩形 37"/>
            <p:cNvSpPr/>
            <p:nvPr/>
          </p:nvSpPr>
          <p:spPr>
            <a:xfrm>
              <a:off x="485637" y="5558612"/>
              <a:ext cx="512944" cy="4536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 algn="ctr">
              <a:noFill/>
              <a:miter lim="800000"/>
            </a:ln>
          </p:spPr>
          <p:txBody>
            <a:bodyPr wrap="square" lIns="88900" tIns="88900" rIns="88900" bIns="8890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6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 2" panose="05020102010507070707" pitchFamily="18" charset="2"/>
                <a:buNone/>
                <a:defRPr/>
              </a:pPr>
              <a:r>
                <a:rPr lang="zh-CN" altLang="en-US" sz="1100" b="1" dirty="0">
                  <a:solidFill>
                    <a:prstClr val="black"/>
                  </a:solidFill>
                  <a:latin typeface="等线" panose="02010600030101010101" pitchFamily="2" charset="-122"/>
                  <a:ea typeface="等线" panose="02010600030101010101" pitchFamily="2" charset="-122"/>
                </a:rPr>
                <a:t>分析交付</a:t>
              </a:r>
              <a:endParaRPr kumimoji="0" lang="zh-CN" alt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39" name="Oval 20"/>
            <p:cNvSpPr/>
            <p:nvPr/>
          </p:nvSpPr>
          <p:spPr bwMode="gray">
            <a:xfrm>
              <a:off x="406210" y="5710478"/>
              <a:ext cx="182880" cy="182880"/>
            </a:xfrm>
            <a:prstGeom prst="ellipse">
              <a:avLst/>
            </a:prstGeom>
            <a:solidFill>
              <a:schemeClr val="tx1"/>
            </a:solidFill>
            <a:ln w="19050" algn="ctr">
              <a:noFill/>
              <a:miter lim="800000"/>
            </a:ln>
          </p:spPr>
          <p:txBody>
            <a:bodyPr wrap="square" lIns="88900" tIns="88900" rIns="88900" bIns="889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6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 2" panose="05020102010507070707" pitchFamily="18" charset="2"/>
                <a:buNone/>
                <a:defRPr/>
              </a:pPr>
              <a:r>
                <a:rPr kumimoji="0" lang="en-US" altLang="zh-CN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等线" panose="02010600030101010101" pitchFamily="2" charset="-122"/>
                  <a:ea typeface="等线" panose="02010600030101010101" pitchFamily="2" charset="-122"/>
                  <a:cs typeface="+mn-cs"/>
                </a:rPr>
                <a:t>3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40" name="矩形 39"/>
          <p:cNvSpPr/>
          <p:nvPr/>
        </p:nvSpPr>
        <p:spPr bwMode="gray">
          <a:xfrm>
            <a:off x="1358471" y="1442481"/>
            <a:ext cx="10363182" cy="750507"/>
          </a:xfrm>
          <a:prstGeom prst="rect">
            <a:avLst/>
          </a:prstGeom>
          <a:noFill/>
          <a:ln w="3175" algn="ctr">
            <a:solidFill>
              <a:schemeClr val="tx2"/>
            </a:solidFill>
            <a:prstDash val="dash"/>
            <a:miter lim="800000"/>
          </a:ln>
        </p:spPr>
        <p:txBody>
          <a:bodyPr vert="horz" wrap="square" lIns="88900" tIns="45720" rIns="88900" bIns="8890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 2" panose="05020102010507070707" pitchFamily="18" charset="2"/>
              <a:buNone/>
              <a:defRPr/>
            </a:pPr>
            <a:r>
              <a:rPr kumimoji="0" lang="zh-CN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12036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  <a:cs typeface="+mn-cs"/>
              </a:rPr>
              <a:t>环境和数据准备</a:t>
            </a:r>
            <a:endParaRPr kumimoji="0" lang="zh-CN" altLang="en-US" sz="1200" b="1" i="0" u="none" strike="noStrike" kern="1200" cap="none" spc="0" normalizeH="0" baseline="0" noProof="0" dirty="0">
              <a:ln>
                <a:noFill/>
              </a:ln>
              <a:solidFill>
                <a:srgbClr val="012036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1" name="AutoShape 95"/>
          <p:cNvSpPr>
            <a:spLocks noChangeArrowheads="1"/>
          </p:cNvSpPr>
          <p:nvPr/>
        </p:nvSpPr>
        <p:spPr bwMode="auto">
          <a:xfrm>
            <a:off x="343949" y="1442480"/>
            <a:ext cx="264859" cy="4921972"/>
          </a:xfrm>
          <a:prstGeom prst="rect">
            <a:avLst/>
          </a:prstGeom>
          <a:pattFill prst="dkDnDiag">
            <a:fgClr>
              <a:schemeClr val="tx2">
                <a:lumMod val="10000"/>
                <a:lumOff val="90000"/>
              </a:schemeClr>
            </a:fgClr>
            <a:bgClr>
              <a:schemeClr val="bg1"/>
            </a:bgClr>
          </a:pattFill>
          <a:ln>
            <a:noFill/>
          </a:ln>
        </p:spPr>
        <p:txBody>
          <a:bodyPr lIns="0" tIns="88900" rIns="0" bIns="88900" anchor="ctr"/>
          <a:lstStyle>
            <a:lvl1pPr defTabSz="60833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defTabSz="60833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defTabSz="60833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defTabSz="60833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defTabSz="60833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defTabSz="60833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defTabSz="60833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defTabSz="60833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defTabSz="60833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60833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1100" b="1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时间计划安排</a:t>
            </a:r>
            <a:endParaRPr kumimoji="0" lang="zh-CN" altLang="en-US" sz="11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4" name="矩形 43"/>
          <p:cNvSpPr/>
          <p:nvPr/>
        </p:nvSpPr>
        <p:spPr bwMode="gray">
          <a:xfrm>
            <a:off x="1358469" y="2284223"/>
            <a:ext cx="10363182" cy="1512401"/>
          </a:xfrm>
          <a:prstGeom prst="rect">
            <a:avLst/>
          </a:prstGeom>
          <a:noFill/>
          <a:ln w="3175" algn="ctr">
            <a:solidFill>
              <a:schemeClr val="tx2"/>
            </a:solidFill>
            <a:prstDash val="dash"/>
            <a:miter lim="800000"/>
          </a:ln>
        </p:spPr>
        <p:txBody>
          <a:bodyPr vert="horz" wrap="square" lIns="88900" tIns="45720" rIns="88900" bIns="8890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 2" panose="05020102010507070707" pitchFamily="18" charset="2"/>
              <a:buNone/>
              <a:defRPr/>
            </a:pPr>
            <a:r>
              <a:rPr lang="zh-CN" altLang="en-US" sz="1000" b="1" dirty="0">
                <a:solidFill>
                  <a:srgbClr val="012036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数据质量检查</a:t>
            </a:r>
          </a:p>
        </p:txBody>
      </p:sp>
      <p:sp>
        <p:nvSpPr>
          <p:cNvPr id="45" name="矩形 44"/>
          <p:cNvSpPr/>
          <p:nvPr/>
        </p:nvSpPr>
        <p:spPr bwMode="gray">
          <a:xfrm>
            <a:off x="1358469" y="5912872"/>
            <a:ext cx="10363182" cy="453681"/>
          </a:xfrm>
          <a:prstGeom prst="rect">
            <a:avLst/>
          </a:prstGeom>
          <a:noFill/>
          <a:ln w="3175" algn="ctr">
            <a:solidFill>
              <a:schemeClr val="tx2"/>
            </a:solidFill>
            <a:prstDash val="dash"/>
            <a:miter lim="800000"/>
          </a:ln>
        </p:spPr>
        <p:txBody>
          <a:bodyPr vert="horz" wrap="square" lIns="88900" tIns="45720" rIns="88900" bIns="88900" rtlCol="0" anchor="ctr" anchorCtr="0"/>
          <a:lstStyle/>
          <a:p>
            <a:pPr defTabSz="914400">
              <a:defRPr/>
            </a:pPr>
            <a:r>
              <a:rPr lang="zh-CN" altLang="en-US" sz="1000" b="1" dirty="0">
                <a:solidFill>
                  <a:srgbClr val="012036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成果分析和报表交付</a:t>
            </a:r>
            <a:endParaRPr lang="en-US" altLang="zh-CN" sz="1000" b="1" dirty="0">
              <a:solidFill>
                <a:srgbClr val="012036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grpSp>
        <p:nvGrpSpPr>
          <p:cNvPr id="61" name="组合 60"/>
          <p:cNvGrpSpPr/>
          <p:nvPr/>
        </p:nvGrpSpPr>
        <p:grpSpPr>
          <a:xfrm>
            <a:off x="4774317" y="980093"/>
            <a:ext cx="848804" cy="442535"/>
            <a:chOff x="3224585" y="980599"/>
            <a:chExt cx="848804" cy="442535"/>
          </a:xfrm>
        </p:grpSpPr>
        <p:sp>
          <p:nvSpPr>
            <p:cNvPr id="5" name="Text Box 49"/>
            <p:cNvSpPr txBox="1">
              <a:spLocks noChangeArrowheads="1"/>
            </p:cNvSpPr>
            <p:nvPr/>
          </p:nvSpPr>
          <p:spPr bwMode="auto">
            <a:xfrm>
              <a:off x="3224585" y="980599"/>
              <a:ext cx="848804" cy="204671"/>
            </a:xfrm>
            <a:prstGeom prst="rect">
              <a:avLst/>
            </a:prstGeom>
            <a:noFill/>
            <a:ln w="12700" algn="ctr">
              <a:noFill/>
              <a:miter lim="800000"/>
            </a:ln>
          </p:spPr>
          <p:txBody>
            <a:bodyPr lIns="0" tIns="0" rIns="0" bIns="0" anchor="b" anchorCtr="0">
              <a:spAutoFit/>
            </a:bodyPr>
            <a:lstStyle/>
            <a:p>
              <a:pPr marL="0" marR="0" lvl="0" indent="0" algn="ctr" defTabSz="609600" rtl="0" eaLnBrk="1" fontAlgn="auto" latinLnBrk="0" hangingPunct="1">
                <a:lnSpc>
                  <a:spcPct val="9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en-US" sz="1400" b="1" dirty="0">
                  <a:solidFill>
                    <a:srgbClr val="53565A"/>
                  </a:solidFill>
                  <a:latin typeface="Calibri" panose="020F0502020204030204"/>
                  <a:ea typeface="MS PGothic" panose="020B0600070205080204" charset="-128"/>
                </a:rPr>
                <a:t>W2</a:t>
              </a:r>
              <a:endPara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Calibri" panose="020F0502020204030204"/>
                <a:ea typeface="MS PGothic" panose="020B0600070205080204" charset="-128"/>
                <a:cs typeface="+mn-cs"/>
              </a:endParaRPr>
            </a:p>
          </p:txBody>
        </p:sp>
        <p:sp>
          <p:nvSpPr>
            <p:cNvPr id="7" name="Oval 61"/>
            <p:cNvSpPr>
              <a:spLocks noChangeArrowheads="1"/>
            </p:cNvSpPr>
            <p:nvPr/>
          </p:nvSpPr>
          <p:spPr bwMode="auto">
            <a:xfrm>
              <a:off x="3567418" y="1274544"/>
              <a:ext cx="163142" cy="148590"/>
            </a:xfrm>
            <a:prstGeom prst="ellipse">
              <a:avLst/>
            </a:prstGeom>
            <a:solidFill>
              <a:schemeClr val="accent1"/>
            </a:solidFill>
            <a:ln w="6350" algn="ctr">
              <a:solidFill>
                <a:schemeClr val="bg1"/>
              </a:solidFill>
              <a:round/>
            </a:ln>
          </p:spPr>
          <p:txBody>
            <a:bodyPr wrap="none" lIns="0" tIns="0" rIns="0" bIns="0" anchor="ctr"/>
            <a:lstStyle/>
            <a:p>
              <a:pPr marL="0" marR="0" lvl="0" indent="0" algn="ctr" defTabSz="6096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815" b="0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8" name="组合 7"/>
          <p:cNvGrpSpPr/>
          <p:nvPr/>
        </p:nvGrpSpPr>
        <p:grpSpPr>
          <a:xfrm>
            <a:off x="6036054" y="980093"/>
            <a:ext cx="848804" cy="442535"/>
            <a:chOff x="2362212" y="980599"/>
            <a:chExt cx="773093" cy="442535"/>
          </a:xfrm>
        </p:grpSpPr>
        <p:sp>
          <p:nvSpPr>
            <p:cNvPr id="9" name="Oval 62"/>
            <p:cNvSpPr>
              <a:spLocks noChangeArrowheads="1"/>
            </p:cNvSpPr>
            <p:nvPr/>
          </p:nvSpPr>
          <p:spPr bwMode="auto">
            <a:xfrm>
              <a:off x="2674464" y="1274544"/>
              <a:ext cx="148590" cy="148590"/>
            </a:xfrm>
            <a:prstGeom prst="ellipse">
              <a:avLst/>
            </a:prstGeom>
            <a:solidFill>
              <a:schemeClr val="accent1"/>
            </a:solidFill>
            <a:ln w="6350" algn="ctr">
              <a:solidFill>
                <a:schemeClr val="bg1"/>
              </a:solidFill>
              <a:round/>
            </a:ln>
          </p:spPr>
          <p:txBody>
            <a:bodyPr wrap="none" lIns="0" tIns="0" rIns="0" bIns="0" anchor="ctr"/>
            <a:lstStyle/>
            <a:p>
              <a:pPr marL="0" marR="0" lvl="0" indent="0" algn="ctr" defTabSz="6096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815" b="0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Text Box 49"/>
            <p:cNvSpPr txBox="1">
              <a:spLocks noChangeArrowheads="1"/>
            </p:cNvSpPr>
            <p:nvPr/>
          </p:nvSpPr>
          <p:spPr bwMode="auto">
            <a:xfrm>
              <a:off x="2362212" y="980599"/>
              <a:ext cx="773093" cy="204671"/>
            </a:xfrm>
            <a:prstGeom prst="rect">
              <a:avLst/>
            </a:prstGeom>
            <a:noFill/>
            <a:ln w="12700" algn="ctr">
              <a:noFill/>
              <a:miter lim="800000"/>
            </a:ln>
          </p:spPr>
          <p:txBody>
            <a:bodyPr lIns="0" tIns="0" rIns="0" bIns="0" anchor="b" anchorCtr="0">
              <a:spAutoFit/>
            </a:bodyPr>
            <a:lstStyle/>
            <a:p>
              <a:pPr marL="0" marR="0" lvl="0" indent="0" algn="ctr" defTabSz="609600" rtl="0" eaLnBrk="1" fontAlgn="auto" latinLnBrk="0" hangingPunct="1">
                <a:lnSpc>
                  <a:spcPct val="9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53565A"/>
                  </a:solidFill>
                  <a:effectLst/>
                  <a:uLnTx/>
                  <a:uFillTx/>
                  <a:latin typeface="Calibri" panose="020F0502020204030204"/>
                  <a:ea typeface="MS PGothic" panose="020B0600070205080204" charset="-128"/>
                  <a:cs typeface="+mn-cs"/>
                </a:rPr>
                <a:t>W3</a:t>
              </a:r>
              <a:endPara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Calibri" panose="020F0502020204030204"/>
                <a:ea typeface="MS PGothic" panose="020B0600070205080204" charset="-128"/>
                <a:cs typeface="+mn-cs"/>
              </a:endParaRPr>
            </a:p>
          </p:txBody>
        </p:sp>
      </p:grpSp>
      <p:grpSp>
        <p:nvGrpSpPr>
          <p:cNvPr id="11" name="组合 10"/>
          <p:cNvGrpSpPr/>
          <p:nvPr/>
        </p:nvGrpSpPr>
        <p:grpSpPr>
          <a:xfrm>
            <a:off x="7297791" y="980093"/>
            <a:ext cx="848804" cy="442535"/>
            <a:chOff x="2362212" y="980599"/>
            <a:chExt cx="773093" cy="442535"/>
          </a:xfrm>
        </p:grpSpPr>
        <p:sp>
          <p:nvSpPr>
            <p:cNvPr id="12" name="Oval 62"/>
            <p:cNvSpPr>
              <a:spLocks noChangeArrowheads="1"/>
            </p:cNvSpPr>
            <p:nvPr/>
          </p:nvSpPr>
          <p:spPr bwMode="auto">
            <a:xfrm>
              <a:off x="2674464" y="1274544"/>
              <a:ext cx="148590" cy="148590"/>
            </a:xfrm>
            <a:prstGeom prst="ellipse">
              <a:avLst/>
            </a:prstGeom>
            <a:solidFill>
              <a:schemeClr val="accent1"/>
            </a:solidFill>
            <a:ln w="6350" algn="ctr">
              <a:solidFill>
                <a:schemeClr val="bg1"/>
              </a:solidFill>
              <a:round/>
            </a:ln>
          </p:spPr>
          <p:txBody>
            <a:bodyPr wrap="none" lIns="0" tIns="0" rIns="0" bIns="0" anchor="ctr"/>
            <a:lstStyle/>
            <a:p>
              <a:pPr marL="0" marR="0" lvl="0" indent="0" algn="ctr" defTabSz="6096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815" b="0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Text Box 49"/>
            <p:cNvSpPr txBox="1">
              <a:spLocks noChangeArrowheads="1"/>
            </p:cNvSpPr>
            <p:nvPr/>
          </p:nvSpPr>
          <p:spPr bwMode="auto">
            <a:xfrm>
              <a:off x="2362212" y="980599"/>
              <a:ext cx="773093" cy="204671"/>
            </a:xfrm>
            <a:prstGeom prst="rect">
              <a:avLst/>
            </a:prstGeom>
            <a:noFill/>
            <a:ln w="12700" algn="ctr">
              <a:noFill/>
              <a:miter lim="800000"/>
            </a:ln>
          </p:spPr>
          <p:txBody>
            <a:bodyPr lIns="0" tIns="0" rIns="0" bIns="0" anchor="b" anchorCtr="0">
              <a:spAutoFit/>
            </a:bodyPr>
            <a:lstStyle/>
            <a:p>
              <a:pPr marL="0" marR="0" lvl="0" indent="0" algn="ctr" defTabSz="609600" rtl="0" eaLnBrk="1" fontAlgn="auto" latinLnBrk="0" hangingPunct="1">
                <a:lnSpc>
                  <a:spcPct val="9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53565A"/>
                  </a:solidFill>
                  <a:effectLst/>
                  <a:uLnTx/>
                  <a:uFillTx/>
                  <a:latin typeface="Calibri" panose="020F0502020204030204"/>
                  <a:ea typeface="MS PGothic" panose="020B0600070205080204" charset="-128"/>
                  <a:cs typeface="+mn-cs"/>
                </a:rPr>
                <a:t>W4</a:t>
              </a:r>
              <a:endPara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Calibri" panose="020F0502020204030204"/>
                <a:ea typeface="MS PGothic" panose="020B0600070205080204" charset="-128"/>
                <a:cs typeface="+mn-cs"/>
              </a:endParaRPr>
            </a:p>
          </p:txBody>
        </p:sp>
      </p:grpSp>
      <p:grpSp>
        <p:nvGrpSpPr>
          <p:cNvPr id="14" name="组合 13"/>
          <p:cNvGrpSpPr/>
          <p:nvPr/>
        </p:nvGrpSpPr>
        <p:grpSpPr>
          <a:xfrm>
            <a:off x="8559528" y="980093"/>
            <a:ext cx="848804" cy="442535"/>
            <a:chOff x="2362212" y="980599"/>
            <a:chExt cx="773093" cy="442535"/>
          </a:xfrm>
        </p:grpSpPr>
        <p:sp>
          <p:nvSpPr>
            <p:cNvPr id="15" name="Oval 62"/>
            <p:cNvSpPr>
              <a:spLocks noChangeArrowheads="1"/>
            </p:cNvSpPr>
            <p:nvPr/>
          </p:nvSpPr>
          <p:spPr bwMode="auto">
            <a:xfrm>
              <a:off x="2674464" y="1274544"/>
              <a:ext cx="148590" cy="148590"/>
            </a:xfrm>
            <a:prstGeom prst="ellipse">
              <a:avLst/>
            </a:prstGeom>
            <a:solidFill>
              <a:schemeClr val="accent1"/>
            </a:solidFill>
            <a:ln w="6350" algn="ctr">
              <a:solidFill>
                <a:schemeClr val="bg1"/>
              </a:solidFill>
              <a:round/>
            </a:ln>
          </p:spPr>
          <p:txBody>
            <a:bodyPr wrap="none" lIns="0" tIns="0" rIns="0" bIns="0" anchor="ctr"/>
            <a:lstStyle/>
            <a:p>
              <a:pPr marL="0" marR="0" lvl="0" indent="0" algn="ctr" defTabSz="6096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815" b="0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Text Box 49"/>
            <p:cNvSpPr txBox="1">
              <a:spLocks noChangeArrowheads="1"/>
            </p:cNvSpPr>
            <p:nvPr/>
          </p:nvSpPr>
          <p:spPr bwMode="auto">
            <a:xfrm>
              <a:off x="2362212" y="980599"/>
              <a:ext cx="773093" cy="204671"/>
            </a:xfrm>
            <a:prstGeom prst="rect">
              <a:avLst/>
            </a:prstGeom>
            <a:noFill/>
            <a:ln w="12700" algn="ctr">
              <a:noFill/>
              <a:miter lim="800000"/>
            </a:ln>
          </p:spPr>
          <p:txBody>
            <a:bodyPr lIns="0" tIns="0" rIns="0" bIns="0" anchor="b" anchorCtr="0">
              <a:spAutoFit/>
            </a:bodyPr>
            <a:lstStyle/>
            <a:p>
              <a:pPr marL="0" marR="0" lvl="0" indent="0" algn="ctr" defTabSz="609600" rtl="0" eaLnBrk="1" fontAlgn="auto" latinLnBrk="0" hangingPunct="1">
                <a:lnSpc>
                  <a:spcPct val="9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53565A"/>
                  </a:solidFill>
                  <a:effectLst/>
                  <a:uLnTx/>
                  <a:uFillTx/>
                  <a:latin typeface="Calibri" panose="020F0502020204030204"/>
                  <a:ea typeface="MS PGothic" panose="020B0600070205080204" charset="-128"/>
                  <a:cs typeface="+mn-cs"/>
                </a:rPr>
                <a:t>W5</a:t>
              </a:r>
              <a:endPara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Calibri" panose="020F0502020204030204"/>
                <a:ea typeface="MS PGothic" panose="020B0600070205080204" charset="-128"/>
                <a:cs typeface="+mn-cs"/>
              </a:endParaRPr>
            </a:p>
          </p:txBody>
        </p:sp>
      </p:grpSp>
      <p:grpSp>
        <p:nvGrpSpPr>
          <p:cNvPr id="17" name="组合 16"/>
          <p:cNvGrpSpPr/>
          <p:nvPr/>
        </p:nvGrpSpPr>
        <p:grpSpPr>
          <a:xfrm>
            <a:off x="11083005" y="980093"/>
            <a:ext cx="848804" cy="442535"/>
            <a:chOff x="2362212" y="980599"/>
            <a:chExt cx="773093" cy="442535"/>
          </a:xfrm>
        </p:grpSpPr>
        <p:sp>
          <p:nvSpPr>
            <p:cNvPr id="18" name="Oval 62"/>
            <p:cNvSpPr>
              <a:spLocks noChangeArrowheads="1"/>
            </p:cNvSpPr>
            <p:nvPr/>
          </p:nvSpPr>
          <p:spPr bwMode="auto">
            <a:xfrm>
              <a:off x="2674464" y="1274544"/>
              <a:ext cx="148590" cy="148590"/>
            </a:xfrm>
            <a:prstGeom prst="ellipse">
              <a:avLst/>
            </a:prstGeom>
            <a:solidFill>
              <a:schemeClr val="accent1"/>
            </a:solidFill>
            <a:ln w="6350" algn="ctr">
              <a:solidFill>
                <a:schemeClr val="bg1"/>
              </a:solidFill>
              <a:round/>
            </a:ln>
          </p:spPr>
          <p:txBody>
            <a:bodyPr wrap="none" lIns="0" tIns="0" rIns="0" bIns="0" anchor="ctr"/>
            <a:lstStyle/>
            <a:p>
              <a:pPr marL="0" marR="0" lvl="0" indent="0" algn="ctr" defTabSz="6096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815" b="0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" name="Text Box 49"/>
            <p:cNvSpPr txBox="1">
              <a:spLocks noChangeArrowheads="1"/>
            </p:cNvSpPr>
            <p:nvPr/>
          </p:nvSpPr>
          <p:spPr bwMode="auto">
            <a:xfrm>
              <a:off x="2362212" y="980599"/>
              <a:ext cx="773093" cy="204671"/>
            </a:xfrm>
            <a:prstGeom prst="rect">
              <a:avLst/>
            </a:prstGeom>
            <a:noFill/>
            <a:ln w="12700" algn="ctr">
              <a:noFill/>
              <a:miter lim="800000"/>
            </a:ln>
          </p:spPr>
          <p:txBody>
            <a:bodyPr lIns="0" tIns="0" rIns="0" bIns="0" anchor="b" anchorCtr="0">
              <a:spAutoFit/>
            </a:bodyPr>
            <a:lstStyle/>
            <a:p>
              <a:pPr marL="0" marR="0" lvl="0" indent="0" algn="ctr" defTabSz="609600" rtl="0" eaLnBrk="1" fontAlgn="auto" latinLnBrk="0" hangingPunct="1">
                <a:lnSpc>
                  <a:spcPct val="9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53565A"/>
                  </a:solidFill>
                  <a:effectLst/>
                  <a:uLnTx/>
                  <a:uFillTx/>
                  <a:latin typeface="Calibri" panose="020F0502020204030204"/>
                  <a:ea typeface="MS PGothic" panose="020B0600070205080204" charset="-128"/>
                  <a:cs typeface="+mn-cs"/>
                </a:rPr>
                <a:t>W7</a:t>
              </a:r>
              <a:endPara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Calibri" panose="020F0502020204030204"/>
                <a:ea typeface="MS PGothic" panose="020B0600070205080204" charset="-128"/>
                <a:cs typeface="+mn-cs"/>
              </a:endParaRPr>
            </a:p>
          </p:txBody>
        </p:sp>
      </p:grpSp>
      <p:grpSp>
        <p:nvGrpSpPr>
          <p:cNvPr id="62" name="组合 61"/>
          <p:cNvGrpSpPr/>
          <p:nvPr/>
        </p:nvGrpSpPr>
        <p:grpSpPr>
          <a:xfrm>
            <a:off x="2293002" y="981073"/>
            <a:ext cx="806645" cy="440575"/>
            <a:chOff x="1890330" y="982705"/>
            <a:chExt cx="806645" cy="440575"/>
          </a:xfrm>
        </p:grpSpPr>
        <p:sp>
          <p:nvSpPr>
            <p:cNvPr id="46" name="Text Box 49"/>
            <p:cNvSpPr txBox="1">
              <a:spLocks noChangeArrowheads="1"/>
            </p:cNvSpPr>
            <p:nvPr/>
          </p:nvSpPr>
          <p:spPr bwMode="auto">
            <a:xfrm>
              <a:off x="1890330" y="982705"/>
              <a:ext cx="806645" cy="204671"/>
            </a:xfrm>
            <a:prstGeom prst="rect">
              <a:avLst/>
            </a:prstGeom>
            <a:noFill/>
            <a:ln w="12700" algn="ctr">
              <a:noFill/>
              <a:miter lim="800000"/>
            </a:ln>
          </p:spPr>
          <p:txBody>
            <a:bodyPr lIns="0" tIns="0" rIns="0" bIns="0" anchor="b" anchorCtr="0">
              <a:spAutoFit/>
            </a:bodyPr>
            <a:lstStyle/>
            <a:p>
              <a:pPr marL="0" marR="0" lvl="0" indent="0" algn="ctr" defTabSz="609600" rtl="0" eaLnBrk="1" fontAlgn="auto" latinLnBrk="0" hangingPunct="1">
                <a:lnSpc>
                  <a:spcPct val="9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en-US" sz="1400" b="1" dirty="0">
                  <a:solidFill>
                    <a:srgbClr val="53565A"/>
                  </a:solidFill>
                  <a:latin typeface="Calibri" panose="020F0502020204030204"/>
                  <a:ea typeface="MS PGothic" panose="020B0600070205080204" charset="-128"/>
                </a:rPr>
                <a:t>W0</a:t>
              </a:r>
              <a:endPara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Calibri" panose="020F0502020204030204"/>
                <a:ea typeface="MS PGothic" panose="020B0600070205080204" charset="-128"/>
                <a:cs typeface="+mn-cs"/>
              </a:endParaRPr>
            </a:p>
          </p:txBody>
        </p:sp>
        <p:sp>
          <p:nvSpPr>
            <p:cNvPr id="43" name="Oval 61"/>
            <p:cNvSpPr>
              <a:spLocks noChangeArrowheads="1"/>
            </p:cNvSpPr>
            <p:nvPr/>
          </p:nvSpPr>
          <p:spPr bwMode="auto">
            <a:xfrm>
              <a:off x="2216133" y="1274690"/>
              <a:ext cx="163142" cy="148590"/>
            </a:xfrm>
            <a:prstGeom prst="ellipse">
              <a:avLst/>
            </a:prstGeom>
            <a:solidFill>
              <a:schemeClr val="accent1"/>
            </a:solidFill>
            <a:ln w="6350" algn="ctr">
              <a:solidFill>
                <a:schemeClr val="bg1"/>
              </a:solidFill>
              <a:round/>
            </a:ln>
          </p:spPr>
          <p:txBody>
            <a:bodyPr wrap="none" lIns="0" tIns="0" rIns="0" bIns="0" anchor="ctr"/>
            <a:lstStyle/>
            <a:p>
              <a:pPr marL="0" marR="0" lvl="0" indent="0" algn="ctr" defTabSz="6096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815" b="0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51" name="矩形 50"/>
          <p:cNvSpPr/>
          <p:nvPr/>
        </p:nvSpPr>
        <p:spPr>
          <a:xfrm>
            <a:off x="2708293" y="2353974"/>
            <a:ext cx="1226315" cy="25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050" b="1" i="1" u="sng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1</a:t>
            </a:r>
            <a:r>
              <a:rPr lang="zh-CN" altLang="en-US" sz="1050" b="1" i="1" u="sng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周</a:t>
            </a:r>
          </a:p>
        </p:txBody>
      </p:sp>
      <p:sp>
        <p:nvSpPr>
          <p:cNvPr id="23" name="矩形 22"/>
          <p:cNvSpPr/>
          <p:nvPr/>
        </p:nvSpPr>
        <p:spPr>
          <a:xfrm>
            <a:off x="2695012" y="1577056"/>
            <a:ext cx="1255450" cy="1644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050" b="1" i="1" u="sng" dirty="0">
                <a:latin typeface="等线" panose="02010600030101010101" pitchFamily="2" charset="-122"/>
                <a:ea typeface="等线" panose="02010600030101010101" pitchFamily="2" charset="-122"/>
              </a:rPr>
              <a:t>1</a:t>
            </a:r>
            <a:r>
              <a:rPr lang="zh-CN" altLang="en-US" sz="1050" b="1" i="1" u="sng" dirty="0">
                <a:latin typeface="等线" panose="02010600030101010101" pitchFamily="2" charset="-122"/>
                <a:ea typeface="等线" panose="02010600030101010101" pitchFamily="2" charset="-122"/>
              </a:rPr>
              <a:t>周</a:t>
            </a:r>
          </a:p>
        </p:txBody>
      </p:sp>
      <p:sp>
        <p:nvSpPr>
          <p:cNvPr id="26" name="矩形 25"/>
          <p:cNvSpPr/>
          <p:nvPr/>
        </p:nvSpPr>
        <p:spPr>
          <a:xfrm>
            <a:off x="3985506" y="2565788"/>
            <a:ext cx="1226316" cy="25391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050" b="1" i="1" u="sng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1</a:t>
            </a:r>
            <a:r>
              <a:rPr lang="zh-CN" altLang="en-US" sz="1050" b="1" i="1" u="sng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周</a:t>
            </a:r>
          </a:p>
        </p:txBody>
      </p:sp>
      <p:sp>
        <p:nvSpPr>
          <p:cNvPr id="27" name="矩形 26"/>
          <p:cNvSpPr/>
          <p:nvPr/>
        </p:nvSpPr>
        <p:spPr>
          <a:xfrm>
            <a:off x="3990303" y="3224220"/>
            <a:ext cx="1216722" cy="25391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050" b="1" i="1" u="sng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1</a:t>
            </a:r>
            <a:r>
              <a:rPr lang="zh-CN" altLang="en-US" sz="1050" b="1" i="1" u="sng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周</a:t>
            </a:r>
          </a:p>
        </p:txBody>
      </p:sp>
      <p:sp>
        <p:nvSpPr>
          <p:cNvPr id="28" name="矩形 27"/>
          <p:cNvSpPr/>
          <p:nvPr/>
        </p:nvSpPr>
        <p:spPr>
          <a:xfrm>
            <a:off x="5243656" y="3919366"/>
            <a:ext cx="1216800" cy="2539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050" b="1" i="1" u="sng" dirty="0">
                <a:latin typeface="等线" panose="02010600030101010101" pitchFamily="2" charset="-122"/>
                <a:ea typeface="等线" panose="02010600030101010101" pitchFamily="2" charset="-122"/>
              </a:rPr>
              <a:t>1</a:t>
            </a:r>
            <a:r>
              <a:rPr lang="zh-CN" altLang="en-US" sz="1050" b="1" i="1" u="sng" dirty="0">
                <a:latin typeface="等线" panose="02010600030101010101" pitchFamily="2" charset="-122"/>
                <a:ea typeface="等线" panose="02010600030101010101" pitchFamily="2" charset="-122"/>
              </a:rPr>
              <a:t>周</a:t>
            </a:r>
          </a:p>
        </p:txBody>
      </p:sp>
      <p:sp>
        <p:nvSpPr>
          <p:cNvPr id="29" name="矩形 28"/>
          <p:cNvSpPr/>
          <p:nvPr/>
        </p:nvSpPr>
        <p:spPr>
          <a:xfrm>
            <a:off x="5243656" y="4378978"/>
            <a:ext cx="1216800" cy="2539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050" b="1" i="1" u="sng" dirty="0">
                <a:latin typeface="等线" panose="02010600030101010101" pitchFamily="2" charset="-122"/>
                <a:ea typeface="等线" panose="02010600030101010101" pitchFamily="2" charset="-122"/>
              </a:rPr>
              <a:t>1</a:t>
            </a:r>
            <a:r>
              <a:rPr lang="zh-CN" altLang="en-US" sz="1050" b="1" i="1" u="sng" dirty="0">
                <a:latin typeface="等线" panose="02010600030101010101" pitchFamily="2" charset="-122"/>
                <a:ea typeface="等线" panose="02010600030101010101" pitchFamily="2" charset="-122"/>
              </a:rPr>
              <a:t>周</a:t>
            </a:r>
          </a:p>
        </p:txBody>
      </p:sp>
      <p:sp>
        <p:nvSpPr>
          <p:cNvPr id="30" name="矩形 29"/>
          <p:cNvSpPr/>
          <p:nvPr/>
        </p:nvSpPr>
        <p:spPr>
          <a:xfrm>
            <a:off x="6506738" y="4912799"/>
            <a:ext cx="1216800" cy="2539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050" b="1" i="1" u="sng" dirty="0">
                <a:latin typeface="等线" panose="02010600030101010101" pitchFamily="2" charset="-122"/>
                <a:ea typeface="等线" panose="02010600030101010101" pitchFamily="2" charset="-122"/>
              </a:rPr>
              <a:t>1</a:t>
            </a:r>
            <a:r>
              <a:rPr lang="zh-CN" altLang="en-US" sz="1050" b="1" i="1" u="sng" dirty="0">
                <a:latin typeface="等线" panose="02010600030101010101" pitchFamily="2" charset="-122"/>
                <a:ea typeface="等线" panose="02010600030101010101" pitchFamily="2" charset="-122"/>
              </a:rPr>
              <a:t>周</a:t>
            </a:r>
          </a:p>
        </p:txBody>
      </p:sp>
      <p:sp>
        <p:nvSpPr>
          <p:cNvPr id="52" name="文本框 51"/>
          <p:cNvSpPr txBox="1"/>
          <p:nvPr/>
        </p:nvSpPr>
        <p:spPr>
          <a:xfrm>
            <a:off x="2638643" y="2597966"/>
            <a:ext cx="1475436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050" b="1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1pPr>
          </a:lstStyle>
          <a:p>
            <a:r>
              <a:rPr lang="en-US" altLang="zh-CN" dirty="0">
                <a:solidFill>
                  <a:schemeClr val="tx1"/>
                </a:solidFill>
                <a:highlight>
                  <a:srgbClr val="F1F2F4"/>
                </a:highlight>
              </a:rPr>
              <a:t>2.1</a:t>
            </a:r>
            <a:r>
              <a:rPr lang="zh-CN" altLang="en-US" dirty="0">
                <a:solidFill>
                  <a:schemeClr val="tx1"/>
                </a:solidFill>
                <a:highlight>
                  <a:srgbClr val="F1F2F4"/>
                </a:highlight>
              </a:rPr>
              <a:t>环控数据和生产数据盘点</a:t>
            </a:r>
          </a:p>
        </p:txBody>
      </p:sp>
      <p:sp>
        <p:nvSpPr>
          <p:cNvPr id="53" name="矩形 52"/>
          <p:cNvSpPr/>
          <p:nvPr/>
        </p:nvSpPr>
        <p:spPr>
          <a:xfrm>
            <a:off x="10297042" y="5927268"/>
            <a:ext cx="1349027" cy="25391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050" b="1" i="1" dirty="0">
                <a:latin typeface="等线" panose="02010600030101010101" pitchFamily="2" charset="-122"/>
                <a:ea typeface="等线" panose="02010600030101010101" pitchFamily="2" charset="-122"/>
              </a:rPr>
              <a:t>1</a:t>
            </a:r>
            <a:r>
              <a:rPr lang="zh-CN" altLang="en-US" sz="1050" b="1" i="1" dirty="0">
                <a:latin typeface="等线" panose="02010600030101010101" pitchFamily="2" charset="-122"/>
                <a:ea typeface="等线" panose="02010600030101010101" pitchFamily="2" charset="-122"/>
              </a:rPr>
              <a:t>周</a:t>
            </a:r>
          </a:p>
        </p:txBody>
      </p:sp>
      <p:sp>
        <p:nvSpPr>
          <p:cNvPr id="54" name="文本框 53"/>
          <p:cNvSpPr txBox="1"/>
          <p:nvPr/>
        </p:nvSpPr>
        <p:spPr>
          <a:xfrm>
            <a:off x="10095058" y="6152892"/>
            <a:ext cx="175299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050" b="1" dirty="0">
                <a:highlight>
                  <a:srgbClr val="F1F2F4"/>
                </a:highlight>
                <a:latin typeface="等线" panose="02010600030101010101" pitchFamily="2" charset="-122"/>
                <a:ea typeface="等线" panose="02010600030101010101" pitchFamily="2" charset="-122"/>
              </a:rPr>
              <a:t>5.1</a:t>
            </a:r>
            <a:r>
              <a:rPr lang="zh-CN" altLang="en-US" sz="1050" b="1" dirty="0">
                <a:highlight>
                  <a:srgbClr val="F1F2F4"/>
                </a:highlight>
                <a:latin typeface="等线" panose="02010600030101010101" pitchFamily="2" charset="-122"/>
                <a:ea typeface="等线" panose="02010600030101010101" pitchFamily="2" charset="-122"/>
              </a:rPr>
              <a:t>报告交付和现场汇报</a:t>
            </a:r>
          </a:p>
        </p:txBody>
      </p:sp>
      <p:sp>
        <p:nvSpPr>
          <p:cNvPr id="56" name="文本框 55"/>
          <p:cNvSpPr txBox="1"/>
          <p:nvPr/>
        </p:nvSpPr>
        <p:spPr>
          <a:xfrm>
            <a:off x="3968224" y="2832674"/>
            <a:ext cx="2275096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050" b="1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1pPr>
          </a:lstStyle>
          <a:p>
            <a:r>
              <a:rPr lang="en-US" altLang="zh-CN" dirty="0">
                <a:solidFill>
                  <a:schemeClr val="tx1"/>
                </a:solidFill>
                <a:highlight>
                  <a:srgbClr val="F1F2F4"/>
                </a:highlight>
              </a:rPr>
              <a:t>2.2</a:t>
            </a:r>
            <a:r>
              <a:rPr lang="zh-CN" altLang="en-US" dirty="0">
                <a:solidFill>
                  <a:schemeClr val="tx1"/>
                </a:solidFill>
                <a:highlight>
                  <a:srgbClr val="F1F2F4"/>
                </a:highlight>
              </a:rPr>
              <a:t>数据完整性、准确性、有效性、一致性、时效性检验</a:t>
            </a:r>
          </a:p>
        </p:txBody>
      </p:sp>
      <p:sp>
        <p:nvSpPr>
          <p:cNvPr id="63" name="文本框 62"/>
          <p:cNvSpPr txBox="1"/>
          <p:nvPr/>
        </p:nvSpPr>
        <p:spPr>
          <a:xfrm>
            <a:off x="3968224" y="3420745"/>
            <a:ext cx="127552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050" b="1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1pPr>
          </a:lstStyle>
          <a:p>
            <a:r>
              <a:rPr lang="en-US" altLang="zh-CN" dirty="0">
                <a:solidFill>
                  <a:schemeClr val="tx1"/>
                </a:solidFill>
                <a:highlight>
                  <a:srgbClr val="F1F2F4"/>
                </a:highlight>
              </a:rPr>
              <a:t>2.3</a:t>
            </a:r>
            <a:r>
              <a:rPr lang="zh-CN" altLang="en-US" dirty="0">
                <a:solidFill>
                  <a:schemeClr val="tx1"/>
                </a:solidFill>
                <a:highlight>
                  <a:srgbClr val="F1F2F4"/>
                </a:highlight>
              </a:rPr>
              <a:t>数据缺失率、极值、异常值检查</a:t>
            </a:r>
          </a:p>
        </p:txBody>
      </p:sp>
      <p:sp>
        <p:nvSpPr>
          <p:cNvPr id="64" name="文本框 63"/>
          <p:cNvSpPr txBox="1"/>
          <p:nvPr/>
        </p:nvSpPr>
        <p:spPr>
          <a:xfrm>
            <a:off x="5243656" y="4154744"/>
            <a:ext cx="1216799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050" b="1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1pPr>
          </a:lstStyle>
          <a:p>
            <a:r>
              <a:rPr lang="en-US" altLang="zh-CN" dirty="0">
                <a:solidFill>
                  <a:schemeClr val="tx1"/>
                </a:solidFill>
                <a:highlight>
                  <a:srgbClr val="F1F2F4"/>
                </a:highlight>
              </a:rPr>
              <a:t>3.1</a:t>
            </a:r>
            <a:r>
              <a:rPr lang="zh-CN" altLang="en-US" dirty="0">
                <a:solidFill>
                  <a:schemeClr val="tx1"/>
                </a:solidFill>
                <a:highlight>
                  <a:srgbClr val="F1F2F4"/>
                </a:highlight>
              </a:rPr>
              <a:t>变量分布分析</a:t>
            </a:r>
          </a:p>
        </p:txBody>
      </p:sp>
      <p:sp>
        <p:nvSpPr>
          <p:cNvPr id="65" name="文本框 64"/>
          <p:cNvSpPr txBox="1"/>
          <p:nvPr/>
        </p:nvSpPr>
        <p:spPr>
          <a:xfrm>
            <a:off x="5171820" y="4603222"/>
            <a:ext cx="250752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050" b="1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1pPr>
          </a:lstStyle>
          <a:p>
            <a:r>
              <a:rPr lang="en-US" altLang="zh-CN" dirty="0">
                <a:solidFill>
                  <a:schemeClr val="tx1"/>
                </a:solidFill>
                <a:highlight>
                  <a:srgbClr val="F1F2F4"/>
                </a:highlight>
              </a:rPr>
              <a:t>3.2</a:t>
            </a:r>
            <a:r>
              <a:rPr lang="zh-CN" altLang="en-US" dirty="0">
                <a:solidFill>
                  <a:schemeClr val="tx1"/>
                </a:solidFill>
                <a:highlight>
                  <a:srgbClr val="F1F2F4"/>
                </a:highlight>
              </a:rPr>
              <a:t>变量趋势分析及异常模式探查</a:t>
            </a:r>
          </a:p>
        </p:txBody>
      </p:sp>
      <p:sp>
        <p:nvSpPr>
          <p:cNvPr id="66" name="文本框 65"/>
          <p:cNvSpPr txBox="1"/>
          <p:nvPr/>
        </p:nvSpPr>
        <p:spPr>
          <a:xfrm>
            <a:off x="6425581" y="5130637"/>
            <a:ext cx="177769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50" b="1" dirty="0">
                <a:highlight>
                  <a:srgbClr val="F1F2F4"/>
                </a:highlight>
                <a:latin typeface="等线" panose="02010600030101010101" pitchFamily="2" charset="-122"/>
                <a:ea typeface="等线" panose="02010600030101010101" pitchFamily="2" charset="-122"/>
              </a:rPr>
              <a:t>4.1</a:t>
            </a:r>
            <a:r>
              <a:rPr lang="zh-CN" altLang="en-US" sz="1050" b="1" dirty="0">
                <a:highlight>
                  <a:srgbClr val="F1F2F4"/>
                </a:highlight>
                <a:latin typeface="等线" panose="02010600030101010101" pitchFamily="2" charset="-122"/>
                <a:ea typeface="等线" panose="02010600030101010101" pitchFamily="2" charset="-122"/>
              </a:rPr>
              <a:t>自变量间相关性探查</a:t>
            </a:r>
          </a:p>
        </p:txBody>
      </p:sp>
      <p:sp>
        <p:nvSpPr>
          <p:cNvPr id="48" name="文本框 47"/>
          <p:cNvSpPr txBox="1"/>
          <p:nvPr/>
        </p:nvSpPr>
        <p:spPr>
          <a:xfrm>
            <a:off x="2636350" y="1938224"/>
            <a:ext cx="177372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50" b="1" dirty="0">
                <a:highlight>
                  <a:srgbClr val="F1F2F4"/>
                </a:highlight>
                <a:latin typeface="等线" panose="02010600030101010101" pitchFamily="2" charset="-122"/>
                <a:ea typeface="等线" panose="02010600030101010101" pitchFamily="2" charset="-122"/>
              </a:rPr>
              <a:t>1.2 </a:t>
            </a:r>
            <a:r>
              <a:rPr lang="zh-CN" altLang="en-US" sz="1050" b="1" dirty="0">
                <a:highlight>
                  <a:srgbClr val="F1F2F4"/>
                </a:highlight>
                <a:latin typeface="等线" panose="02010600030101010101" pitchFamily="2" charset="-122"/>
                <a:ea typeface="等线" panose="02010600030101010101" pitchFamily="2" charset="-122"/>
              </a:rPr>
              <a:t>分析环境搭建</a:t>
            </a:r>
          </a:p>
        </p:txBody>
      </p:sp>
      <p:sp>
        <p:nvSpPr>
          <p:cNvPr id="22" name="矩形 21"/>
          <p:cNvSpPr/>
          <p:nvPr/>
        </p:nvSpPr>
        <p:spPr bwMode="gray">
          <a:xfrm>
            <a:off x="1358469" y="3840667"/>
            <a:ext cx="10363182" cy="969279"/>
          </a:xfrm>
          <a:prstGeom prst="rect">
            <a:avLst/>
          </a:prstGeom>
          <a:noFill/>
          <a:ln w="3175" algn="ctr">
            <a:solidFill>
              <a:schemeClr val="tx2"/>
            </a:solidFill>
            <a:prstDash val="dash"/>
            <a:miter lim="800000"/>
          </a:ln>
        </p:spPr>
        <p:txBody>
          <a:bodyPr vert="horz" wrap="square" lIns="88900" tIns="45720" rIns="88900" bIns="8890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 2" panose="05020102010507070707" pitchFamily="18" charset="2"/>
              <a:buNone/>
              <a:defRPr/>
            </a:pPr>
            <a:r>
              <a:rPr lang="zh-CN" altLang="en-US" sz="1000" b="1" dirty="0">
                <a:solidFill>
                  <a:srgbClr val="012036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现状分析</a:t>
            </a:r>
          </a:p>
        </p:txBody>
      </p:sp>
      <p:grpSp>
        <p:nvGrpSpPr>
          <p:cNvPr id="25" name="组合 24"/>
          <p:cNvGrpSpPr/>
          <p:nvPr/>
        </p:nvGrpSpPr>
        <p:grpSpPr>
          <a:xfrm>
            <a:off x="3512580" y="980093"/>
            <a:ext cx="848804" cy="442535"/>
            <a:chOff x="3224585" y="980599"/>
            <a:chExt cx="848804" cy="442535"/>
          </a:xfrm>
        </p:grpSpPr>
        <p:sp>
          <p:nvSpPr>
            <p:cNvPr id="42" name="Text Box 49"/>
            <p:cNvSpPr txBox="1">
              <a:spLocks noChangeArrowheads="1"/>
            </p:cNvSpPr>
            <p:nvPr/>
          </p:nvSpPr>
          <p:spPr bwMode="auto">
            <a:xfrm>
              <a:off x="3224585" y="980599"/>
              <a:ext cx="848804" cy="204671"/>
            </a:xfrm>
            <a:prstGeom prst="rect">
              <a:avLst/>
            </a:prstGeom>
            <a:noFill/>
            <a:ln w="12700" algn="ctr">
              <a:noFill/>
              <a:miter lim="800000"/>
            </a:ln>
          </p:spPr>
          <p:txBody>
            <a:bodyPr lIns="0" tIns="0" rIns="0" bIns="0" anchor="b" anchorCtr="0">
              <a:spAutoFit/>
            </a:bodyPr>
            <a:lstStyle/>
            <a:p>
              <a:pPr marL="0" marR="0" lvl="0" indent="0" algn="ctr" defTabSz="609600" rtl="0" eaLnBrk="1" fontAlgn="auto" latinLnBrk="0" hangingPunct="1">
                <a:lnSpc>
                  <a:spcPct val="9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en-US" sz="1400" b="1" dirty="0">
                  <a:solidFill>
                    <a:srgbClr val="53565A"/>
                  </a:solidFill>
                  <a:latin typeface="Calibri" panose="020F0502020204030204"/>
                  <a:ea typeface="MS PGothic" panose="020B0600070205080204" charset="-128"/>
                </a:rPr>
                <a:t>W1</a:t>
              </a:r>
              <a:endPara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Calibri" panose="020F0502020204030204"/>
                <a:ea typeface="MS PGothic" panose="020B0600070205080204" charset="-128"/>
                <a:cs typeface="+mn-cs"/>
              </a:endParaRPr>
            </a:p>
          </p:txBody>
        </p:sp>
        <p:sp>
          <p:nvSpPr>
            <p:cNvPr id="47" name="Oval 61"/>
            <p:cNvSpPr>
              <a:spLocks noChangeArrowheads="1"/>
            </p:cNvSpPr>
            <p:nvPr/>
          </p:nvSpPr>
          <p:spPr bwMode="auto">
            <a:xfrm>
              <a:off x="3567418" y="1274544"/>
              <a:ext cx="163142" cy="148590"/>
            </a:xfrm>
            <a:prstGeom prst="ellipse">
              <a:avLst/>
            </a:prstGeom>
            <a:solidFill>
              <a:schemeClr val="accent1"/>
            </a:solidFill>
            <a:ln w="6350" algn="ctr">
              <a:solidFill>
                <a:schemeClr val="bg1"/>
              </a:solidFill>
              <a:round/>
            </a:ln>
          </p:spPr>
          <p:txBody>
            <a:bodyPr wrap="none" lIns="0" tIns="0" rIns="0" bIns="0" anchor="ctr"/>
            <a:lstStyle/>
            <a:p>
              <a:pPr marL="0" marR="0" lvl="0" indent="0" algn="ctr" defTabSz="6096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815" b="0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55" name="组合 54"/>
          <p:cNvGrpSpPr/>
          <p:nvPr/>
        </p:nvGrpSpPr>
        <p:grpSpPr>
          <a:xfrm>
            <a:off x="9821265" y="980093"/>
            <a:ext cx="848804" cy="442535"/>
            <a:chOff x="2362212" y="980599"/>
            <a:chExt cx="773093" cy="442535"/>
          </a:xfrm>
        </p:grpSpPr>
        <p:sp>
          <p:nvSpPr>
            <p:cNvPr id="85" name="Oval 62"/>
            <p:cNvSpPr>
              <a:spLocks noChangeArrowheads="1"/>
            </p:cNvSpPr>
            <p:nvPr/>
          </p:nvSpPr>
          <p:spPr bwMode="auto">
            <a:xfrm>
              <a:off x="2674464" y="1274544"/>
              <a:ext cx="148590" cy="148590"/>
            </a:xfrm>
            <a:prstGeom prst="ellipse">
              <a:avLst/>
            </a:prstGeom>
            <a:solidFill>
              <a:schemeClr val="accent1"/>
            </a:solidFill>
            <a:ln w="6350" algn="ctr">
              <a:solidFill>
                <a:schemeClr val="bg1"/>
              </a:solidFill>
              <a:round/>
            </a:ln>
          </p:spPr>
          <p:txBody>
            <a:bodyPr wrap="none" lIns="0" tIns="0" rIns="0" bIns="0" anchor="ctr"/>
            <a:lstStyle/>
            <a:p>
              <a:pPr marL="0" marR="0" lvl="0" indent="0" algn="ctr" defTabSz="6096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815" b="0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6" name="Text Box 49"/>
            <p:cNvSpPr txBox="1">
              <a:spLocks noChangeArrowheads="1"/>
            </p:cNvSpPr>
            <p:nvPr/>
          </p:nvSpPr>
          <p:spPr bwMode="auto">
            <a:xfrm>
              <a:off x="2362212" y="980599"/>
              <a:ext cx="773093" cy="204671"/>
            </a:xfrm>
            <a:prstGeom prst="rect">
              <a:avLst/>
            </a:prstGeom>
            <a:noFill/>
            <a:ln w="12700" algn="ctr">
              <a:noFill/>
              <a:miter lim="800000"/>
            </a:ln>
          </p:spPr>
          <p:txBody>
            <a:bodyPr lIns="0" tIns="0" rIns="0" bIns="0" anchor="b" anchorCtr="0">
              <a:spAutoFit/>
            </a:bodyPr>
            <a:lstStyle/>
            <a:p>
              <a:pPr marL="0" marR="0" lvl="0" indent="0" algn="ctr" defTabSz="609600" rtl="0" eaLnBrk="1" fontAlgn="auto" latinLnBrk="0" hangingPunct="1">
                <a:lnSpc>
                  <a:spcPct val="9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53565A"/>
                  </a:solidFill>
                  <a:effectLst/>
                  <a:uLnTx/>
                  <a:uFillTx/>
                  <a:latin typeface="Calibri" panose="020F0502020204030204"/>
                  <a:ea typeface="MS PGothic" panose="020B0600070205080204" charset="-128"/>
                  <a:cs typeface="+mn-cs"/>
                </a:rPr>
                <a:t>W6</a:t>
              </a:r>
              <a:endPara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Calibri" panose="020F0502020204030204"/>
                <a:ea typeface="MS PGothic" panose="020B0600070205080204" charset="-128"/>
                <a:cs typeface="+mn-cs"/>
              </a:endParaRPr>
            </a:p>
          </p:txBody>
        </p:sp>
      </p:grpSp>
      <p:sp>
        <p:nvSpPr>
          <p:cNvPr id="89" name="文本框 88"/>
          <p:cNvSpPr txBox="1"/>
          <p:nvPr/>
        </p:nvSpPr>
        <p:spPr>
          <a:xfrm>
            <a:off x="2636350" y="1735802"/>
            <a:ext cx="157103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50" b="1" dirty="0">
                <a:highlight>
                  <a:srgbClr val="F1F2F4"/>
                </a:highlight>
                <a:latin typeface="等线" panose="02010600030101010101" pitchFamily="2" charset="-122"/>
                <a:ea typeface="等线" panose="02010600030101010101" pitchFamily="2" charset="-122"/>
              </a:rPr>
              <a:t>1.1</a:t>
            </a:r>
            <a:r>
              <a:rPr lang="zh-CN" altLang="en-US" sz="1050" b="1" dirty="0">
                <a:highlight>
                  <a:srgbClr val="F1F2F4"/>
                </a:highlight>
                <a:latin typeface="等线" panose="02010600030101010101" pitchFamily="2" charset="-122"/>
                <a:ea typeface="等线" panose="02010600030101010101" pitchFamily="2" charset="-122"/>
              </a:rPr>
              <a:t>需求确认及数据准备</a:t>
            </a:r>
          </a:p>
        </p:txBody>
      </p:sp>
      <p:sp>
        <p:nvSpPr>
          <p:cNvPr id="90" name="矩形 89"/>
          <p:cNvSpPr/>
          <p:nvPr/>
        </p:nvSpPr>
        <p:spPr>
          <a:xfrm>
            <a:off x="5243734" y="3293787"/>
            <a:ext cx="1216722" cy="25391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050" b="1" i="1" u="sng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1</a:t>
            </a:r>
            <a:r>
              <a:rPr lang="zh-CN" altLang="en-US" sz="1050" b="1" i="1" u="sng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周</a:t>
            </a:r>
          </a:p>
        </p:txBody>
      </p:sp>
      <p:sp>
        <p:nvSpPr>
          <p:cNvPr id="91" name="文本框 90"/>
          <p:cNvSpPr txBox="1"/>
          <p:nvPr/>
        </p:nvSpPr>
        <p:spPr>
          <a:xfrm>
            <a:off x="5202998" y="3549910"/>
            <a:ext cx="146401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050" b="1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1pPr>
          </a:lstStyle>
          <a:p>
            <a:r>
              <a:rPr lang="en-US" altLang="zh-CN" dirty="0">
                <a:solidFill>
                  <a:schemeClr val="tx1"/>
                </a:solidFill>
                <a:highlight>
                  <a:srgbClr val="F1F2F4"/>
                </a:highlight>
              </a:rPr>
              <a:t>2.4</a:t>
            </a:r>
            <a:r>
              <a:rPr lang="zh-CN" altLang="en-US" dirty="0">
                <a:solidFill>
                  <a:schemeClr val="tx1"/>
                </a:solidFill>
                <a:highlight>
                  <a:srgbClr val="F1F2F4"/>
                </a:highlight>
              </a:rPr>
              <a:t>数据质量检查报告</a:t>
            </a:r>
          </a:p>
        </p:txBody>
      </p:sp>
      <p:sp>
        <p:nvSpPr>
          <p:cNvPr id="92" name="矩形 91"/>
          <p:cNvSpPr/>
          <p:nvPr/>
        </p:nvSpPr>
        <p:spPr bwMode="gray">
          <a:xfrm>
            <a:off x="1358469" y="4890483"/>
            <a:ext cx="10363182" cy="969279"/>
          </a:xfrm>
          <a:prstGeom prst="rect">
            <a:avLst/>
          </a:prstGeom>
          <a:noFill/>
          <a:ln w="3175" algn="ctr">
            <a:solidFill>
              <a:schemeClr val="tx2"/>
            </a:solidFill>
            <a:prstDash val="dash"/>
            <a:miter lim="800000"/>
          </a:ln>
        </p:spPr>
        <p:txBody>
          <a:bodyPr vert="horz" wrap="square" lIns="88900" tIns="45720" rIns="88900" bIns="8890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 2" panose="05020102010507070707" pitchFamily="18" charset="2"/>
              <a:buNone/>
              <a:defRPr/>
            </a:pPr>
            <a:r>
              <a:rPr lang="zh-CN" altLang="en-US" sz="1000" b="1" dirty="0">
                <a:solidFill>
                  <a:srgbClr val="012036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效应分析</a:t>
            </a:r>
          </a:p>
        </p:txBody>
      </p:sp>
      <p:sp>
        <p:nvSpPr>
          <p:cNvPr id="93" name="矩形 92"/>
          <p:cNvSpPr/>
          <p:nvPr/>
        </p:nvSpPr>
        <p:spPr>
          <a:xfrm>
            <a:off x="6508510" y="5365777"/>
            <a:ext cx="2447835" cy="2539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050" b="1" i="1" u="sng" dirty="0">
                <a:latin typeface="等线" panose="02010600030101010101" pitchFamily="2" charset="-122"/>
                <a:ea typeface="等线" panose="02010600030101010101" pitchFamily="2" charset="-122"/>
              </a:rPr>
              <a:t>2</a:t>
            </a:r>
            <a:r>
              <a:rPr lang="zh-CN" altLang="en-US" sz="1050" b="1" i="1" u="sng" dirty="0">
                <a:latin typeface="等线" panose="02010600030101010101" pitchFamily="2" charset="-122"/>
                <a:ea typeface="等线" panose="02010600030101010101" pitchFamily="2" charset="-122"/>
              </a:rPr>
              <a:t>周</a:t>
            </a:r>
          </a:p>
        </p:txBody>
      </p:sp>
      <p:sp>
        <p:nvSpPr>
          <p:cNvPr id="94" name="文本框 93"/>
          <p:cNvSpPr txBox="1"/>
          <p:nvPr/>
        </p:nvSpPr>
        <p:spPr>
          <a:xfrm>
            <a:off x="6425581" y="5583615"/>
            <a:ext cx="2718419" cy="252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50" b="1" dirty="0">
                <a:highlight>
                  <a:srgbClr val="F1F2F4"/>
                </a:highlight>
                <a:latin typeface="等线" panose="02010600030101010101" pitchFamily="2" charset="-122"/>
                <a:ea typeface="等线" panose="02010600030101010101" pitchFamily="2" charset="-122"/>
              </a:rPr>
              <a:t>4.2</a:t>
            </a:r>
            <a:r>
              <a:rPr lang="zh-CN" altLang="en-US" sz="1050" b="1" dirty="0">
                <a:highlight>
                  <a:srgbClr val="F1F2F4"/>
                </a:highlight>
                <a:latin typeface="等线" panose="02010600030101010101" pitchFamily="2" charset="-122"/>
                <a:ea typeface="等线" panose="02010600030101010101" pitchFamily="2" charset="-122"/>
              </a:rPr>
              <a:t>自变量与目标变量之间影响效应分析</a:t>
            </a:r>
            <a:endParaRPr lang="zh-CN" altLang="en-US" sz="1050" i="1" dirty="0">
              <a:highlight>
                <a:srgbClr val="F1F2F4"/>
              </a:highlight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95" name="矩形 94"/>
          <p:cNvSpPr/>
          <p:nvPr/>
        </p:nvSpPr>
        <p:spPr>
          <a:xfrm>
            <a:off x="9036391" y="5367174"/>
            <a:ext cx="1216800" cy="2539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050" b="1" i="1" u="sng" dirty="0">
                <a:latin typeface="等线" panose="02010600030101010101" pitchFamily="2" charset="-122"/>
                <a:ea typeface="等线" panose="02010600030101010101" pitchFamily="2" charset="-122"/>
              </a:rPr>
              <a:t>1</a:t>
            </a:r>
            <a:r>
              <a:rPr lang="zh-CN" altLang="en-US" sz="1050" b="1" i="1" u="sng" dirty="0">
                <a:latin typeface="等线" panose="02010600030101010101" pitchFamily="2" charset="-122"/>
                <a:ea typeface="等线" panose="02010600030101010101" pitchFamily="2" charset="-122"/>
              </a:rPr>
              <a:t>周</a:t>
            </a:r>
          </a:p>
        </p:txBody>
      </p:sp>
      <p:sp>
        <p:nvSpPr>
          <p:cNvPr id="96" name="文本框 95"/>
          <p:cNvSpPr txBox="1"/>
          <p:nvPr/>
        </p:nvSpPr>
        <p:spPr>
          <a:xfrm>
            <a:off x="8955234" y="5585012"/>
            <a:ext cx="177769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50" b="1" dirty="0">
                <a:highlight>
                  <a:srgbClr val="F1F2F4"/>
                </a:highlight>
                <a:latin typeface="等线" panose="02010600030101010101" pitchFamily="2" charset="-122"/>
                <a:ea typeface="等线" panose="02010600030101010101" pitchFamily="2" charset="-122"/>
              </a:rPr>
              <a:t>4.3</a:t>
            </a:r>
            <a:r>
              <a:rPr lang="zh-CN" altLang="en-US" sz="1050" b="1" dirty="0">
                <a:highlight>
                  <a:srgbClr val="F1F2F4"/>
                </a:highlight>
                <a:latin typeface="等线" panose="02010600030101010101" pitchFamily="2" charset="-122"/>
                <a:ea typeface="等线" panose="02010600030101010101" pitchFamily="2" charset="-122"/>
              </a:rPr>
              <a:t>影响效应分析结果解读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23CEBF6-F5D3-BC53-F5FD-4A16ECA9AC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226" y="957768"/>
            <a:ext cx="8082481" cy="861774"/>
          </a:xfrm>
        </p:spPr>
        <p:txBody>
          <a:bodyPr/>
          <a:lstStyle/>
          <a:p>
            <a:r>
              <a:rPr lang="zh-CN" altLang="en-US" sz="4400" dirty="0">
                <a:latin typeface="等线" panose="02010600030101010101" pitchFamily="2" charset="-122"/>
                <a:ea typeface="等线" panose="02010600030101010101" pitchFamily="2" charset="-122"/>
              </a:rPr>
              <a:t>目录</a:t>
            </a:r>
            <a:endParaRPr lang="en-US" sz="4400" dirty="0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4D02FC-AB0A-E09A-CFCB-79E270DFCF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92226" y="2105025"/>
            <a:ext cx="10628249" cy="3638550"/>
          </a:xfrm>
        </p:spPr>
        <p:txBody>
          <a:bodyPr/>
          <a:lstStyle/>
          <a:p>
            <a:pPr marL="514350" indent="-514350">
              <a:buClr>
                <a:schemeClr val="bg1"/>
              </a:buClr>
              <a:buFont typeface="+mj-lt"/>
              <a:buAutoNum type="arabicPeriod"/>
            </a:pPr>
            <a:r>
              <a:rPr lang="zh-CN" altLang="en-US" dirty="0">
                <a:latin typeface="等线" panose="02010600030101010101" pitchFamily="2" charset="-122"/>
                <a:ea typeface="等线" panose="02010600030101010101" pitchFamily="2" charset="-122"/>
              </a:rPr>
              <a:t>数据清洗与整合</a:t>
            </a:r>
            <a:endParaRPr lang="en-US" altLang="zh-CN" dirty="0">
              <a:latin typeface="等线" panose="02010600030101010101" pitchFamily="2" charset="-122"/>
              <a:ea typeface="等线" panose="02010600030101010101" pitchFamily="2" charset="-122"/>
            </a:endParaRPr>
          </a:p>
          <a:p>
            <a:pPr marL="514350" indent="-514350">
              <a:buClr>
                <a:schemeClr val="bg1"/>
              </a:buClr>
              <a:buFont typeface="+mj-lt"/>
              <a:buAutoNum type="arabicPeriod"/>
            </a:pPr>
            <a:r>
              <a:rPr lang="zh-CN" altLang="en-US" dirty="0">
                <a:latin typeface="等线" panose="02010600030101010101" pitchFamily="2" charset="-122"/>
                <a:ea typeface="等线" panose="02010600030101010101" pitchFamily="2" charset="-122"/>
              </a:rPr>
              <a:t>死淘相关分析</a:t>
            </a:r>
            <a:endParaRPr lang="en-US" altLang="zh-CN" dirty="0">
              <a:latin typeface="等线" panose="02010600030101010101" pitchFamily="2" charset="-122"/>
              <a:ea typeface="等线" panose="02010600030101010101" pitchFamily="2" charset="-122"/>
            </a:endParaRPr>
          </a:p>
          <a:p>
            <a:pPr marL="514350" indent="-514350">
              <a:buClr>
                <a:schemeClr val="bg1"/>
              </a:buClr>
              <a:buFont typeface="+mj-lt"/>
              <a:buAutoNum type="arabicPeriod"/>
            </a:pPr>
            <a:r>
              <a:rPr lang="en-US" altLang="zh-CN" dirty="0"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lang="zh-CN" altLang="en-US" dirty="0">
                <a:latin typeface="等线" panose="02010600030101010101" pitchFamily="2" charset="-122"/>
                <a:ea typeface="等线" panose="02010600030101010101" pitchFamily="2" charset="-122"/>
              </a:rPr>
              <a:t>相关分析</a:t>
            </a:r>
            <a:endParaRPr lang="en-US" altLang="zh-CN" dirty="0">
              <a:latin typeface="等线" panose="02010600030101010101" pitchFamily="2" charset="-122"/>
              <a:ea typeface="等线" panose="02010600030101010101" pitchFamily="2" charset="-122"/>
            </a:endParaRPr>
          </a:p>
          <a:p>
            <a:pPr marL="514350" indent="-514350">
              <a:buClr>
                <a:schemeClr val="bg1"/>
              </a:buClr>
              <a:buFont typeface="+mj-lt"/>
              <a:buAutoNum type="arabicPeriod"/>
            </a:pPr>
            <a:r>
              <a:rPr lang="zh-CN" altLang="en-US" dirty="0">
                <a:latin typeface="等线" panose="02010600030101010101" pitchFamily="2" charset="-122"/>
                <a:ea typeface="等线" panose="02010600030101010101" pitchFamily="2" charset="-122"/>
              </a:rPr>
              <a:t>下周计划</a:t>
            </a:r>
            <a:endParaRPr lang="en-US" altLang="zh-CN" dirty="0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10086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a16="http://schemas.microsoft.com/office/drawing/2014/main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4BEA8-C0F7-9E9C-952C-C282FB797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>
            <a:extLst>
              <a:ext uri="{FF2B5EF4-FFF2-40B4-BE49-F238E27FC236}">
                <a16:creationId xmlns:a16="http://schemas.microsoft.com/office/drawing/2014/main" id="{ED749DB9-B7AF-D595-8D22-56A20501B2F7}"/>
              </a:ext>
            </a:extLst>
          </p:cNvPr>
          <p:cNvSpPr txBox="1"/>
          <p:nvPr/>
        </p:nvSpPr>
        <p:spPr>
          <a:xfrm>
            <a:off x="339052" y="280917"/>
            <a:ext cx="11239200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800" dirty="0">
                <a:solidFill>
                  <a:schemeClr val="accent5">
                    <a:lumMod val="75000"/>
                  </a:schemeClr>
                </a:solidFill>
                <a:latin typeface="等线 Light" panose="02010600030101010101" pitchFamily="2" charset="-122"/>
                <a:ea typeface="等线 Light" panose="02010600030101010101" pitchFamily="2" charset="-122"/>
              </a:rPr>
              <a:t>环控数据清洗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75000"/>
                </a:schemeClr>
              </a:solidFill>
              <a:effectLst/>
              <a:uLnTx/>
              <a:uFillTx/>
              <a:latin typeface="等线 Light" panose="02010600030101010101" pitchFamily="2" charset="-122"/>
              <a:ea typeface="等线 Light" panose="02010600030101010101" pitchFamily="2" charset="-122"/>
              <a:cs typeface="+mj-cs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3844885-A977-DB55-FA7C-B417FAA9CA23}"/>
              </a:ext>
            </a:extLst>
          </p:cNvPr>
          <p:cNvSpPr txBox="1"/>
          <p:nvPr/>
        </p:nvSpPr>
        <p:spPr>
          <a:xfrm>
            <a:off x="796332" y="1745906"/>
            <a:ext cx="491113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zh-CN" altLang="zh-CN" sz="18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目标温度分布</a:t>
            </a:r>
          </a:p>
          <a:p>
            <a:pPr algn="just">
              <a:buNone/>
            </a:pPr>
            <a:r>
              <a:rPr lang="en-US" altLang="zh-CN" sz="18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 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8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mean          25.15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8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std            4.51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8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min            0.00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8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25%           22.00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8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50%           24.80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8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75%           28.20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8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max           51.20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8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 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/>
            <a:r>
              <a:rPr lang="zh-CN" altLang="zh-CN" sz="18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对目标变量进行上限</a:t>
            </a:r>
            <a:r>
              <a:rPr lang="en-US" altLang="zh-CN" sz="18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37</a:t>
            </a:r>
            <a:r>
              <a:rPr lang="zh-CN" altLang="zh-CN" sz="18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度，下限</a:t>
            </a:r>
            <a:r>
              <a:rPr lang="en-US" altLang="zh-CN" sz="18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zh-CN" sz="18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度的盖帽。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D9093C3-B9DD-BC36-B81F-D5067BF53EAC}"/>
              </a:ext>
            </a:extLst>
          </p:cNvPr>
          <p:cNvSpPr/>
          <p:nvPr/>
        </p:nvSpPr>
        <p:spPr>
          <a:xfrm>
            <a:off x="2151604" y="2090057"/>
            <a:ext cx="1484644" cy="347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表格</a:t>
            </a:r>
          </a:p>
        </p:txBody>
      </p:sp>
    </p:spTree>
    <p:extLst>
      <p:ext uri="{BB962C8B-B14F-4D97-AF65-F5344CB8AC3E}">
        <p14:creationId xmlns:p14="http://schemas.microsoft.com/office/powerpoint/2010/main" val="11248582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E2D66-D219-F89D-93AB-448418ABA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>
            <a:extLst>
              <a:ext uri="{FF2B5EF4-FFF2-40B4-BE49-F238E27FC236}">
                <a16:creationId xmlns:a16="http://schemas.microsoft.com/office/drawing/2014/main" id="{0BAADFC0-5B04-3454-5F31-C62AD23C5C34}"/>
              </a:ext>
            </a:extLst>
          </p:cNvPr>
          <p:cNvSpPr txBox="1"/>
          <p:nvPr/>
        </p:nvSpPr>
        <p:spPr>
          <a:xfrm>
            <a:off x="339052" y="280917"/>
            <a:ext cx="11239200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800" dirty="0">
                <a:solidFill>
                  <a:schemeClr val="accent5">
                    <a:lumMod val="75000"/>
                  </a:schemeClr>
                </a:solidFill>
                <a:latin typeface="等线 Light" panose="02010600030101010101" pitchFamily="2" charset="-122"/>
                <a:ea typeface="等线 Light" panose="02010600030101010101" pitchFamily="2" charset="-122"/>
              </a:rPr>
              <a:t>环控数据清洗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75000"/>
                </a:schemeClr>
              </a:solidFill>
              <a:effectLst/>
              <a:uLnTx/>
              <a:uFillTx/>
              <a:latin typeface="等线 Light" panose="02010600030101010101" pitchFamily="2" charset="-122"/>
              <a:ea typeface="等线 Light" panose="02010600030101010101" pitchFamily="2" charset="-122"/>
              <a:cs typeface="+mj-cs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3C342BB0-3295-6AA9-F48B-46B2864D27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1915246"/>
              </p:ext>
            </p:extLst>
          </p:nvPr>
        </p:nvGraphicFramePr>
        <p:xfrm>
          <a:off x="892175" y="2094672"/>
          <a:ext cx="4486278" cy="3197448"/>
        </p:xfrm>
        <a:graphic>
          <a:graphicData uri="http://schemas.openxmlformats.org/drawingml/2006/table">
            <a:tbl>
              <a:tblPr/>
              <a:tblGrid>
                <a:gridCol w="747713">
                  <a:extLst>
                    <a:ext uri="{9D8B030D-6E8A-4147-A177-3AD203B41FA5}">
                      <a16:colId xmlns:a16="http://schemas.microsoft.com/office/drawing/2014/main" val="3996273480"/>
                    </a:ext>
                  </a:extLst>
                </a:gridCol>
                <a:gridCol w="747713">
                  <a:extLst>
                    <a:ext uri="{9D8B030D-6E8A-4147-A177-3AD203B41FA5}">
                      <a16:colId xmlns:a16="http://schemas.microsoft.com/office/drawing/2014/main" val="664346447"/>
                    </a:ext>
                  </a:extLst>
                </a:gridCol>
                <a:gridCol w="747713">
                  <a:extLst>
                    <a:ext uri="{9D8B030D-6E8A-4147-A177-3AD203B41FA5}">
                      <a16:colId xmlns:a16="http://schemas.microsoft.com/office/drawing/2014/main" val="170777999"/>
                    </a:ext>
                  </a:extLst>
                </a:gridCol>
                <a:gridCol w="747713">
                  <a:extLst>
                    <a:ext uri="{9D8B030D-6E8A-4147-A177-3AD203B41FA5}">
                      <a16:colId xmlns:a16="http://schemas.microsoft.com/office/drawing/2014/main" val="1177513116"/>
                    </a:ext>
                  </a:extLst>
                </a:gridCol>
                <a:gridCol w="747713">
                  <a:extLst>
                    <a:ext uri="{9D8B030D-6E8A-4147-A177-3AD203B41FA5}">
                      <a16:colId xmlns:a16="http://schemas.microsoft.com/office/drawing/2014/main" val="3730236407"/>
                    </a:ext>
                  </a:extLst>
                </a:gridCol>
                <a:gridCol w="747713">
                  <a:extLst>
                    <a:ext uri="{9D8B030D-6E8A-4147-A177-3AD203B41FA5}">
                      <a16:colId xmlns:a16="http://schemas.microsoft.com/office/drawing/2014/main" val="2660415651"/>
                    </a:ext>
                  </a:extLst>
                </a:gridCol>
              </a:tblGrid>
              <a:tr h="495846">
                <a:tc>
                  <a:txBody>
                    <a:bodyPr/>
                    <a:lstStyle/>
                    <a:p>
                      <a:pPr>
                        <a:lnSpc>
                          <a:spcPts val="2100"/>
                        </a:lnSpc>
                      </a:pPr>
                      <a:endParaRPr lang="zh-CN" altLang="en-US" b="1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altLang="en-US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温度 </a:t>
                      </a:r>
                      <a:r>
                        <a:rPr lang="en-US" altLang="zh-CN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1 </a:t>
                      </a:r>
                      <a:r>
                        <a:rPr lang="zh-CN" altLang="en-US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与目标差异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altLang="en-US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温度 </a:t>
                      </a:r>
                      <a:r>
                        <a:rPr lang="en-US" altLang="zh-CN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2 </a:t>
                      </a:r>
                      <a:r>
                        <a:rPr lang="zh-CN" altLang="en-US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与目标差异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altLang="en-US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温度 </a:t>
                      </a:r>
                      <a:r>
                        <a:rPr lang="en-US" altLang="zh-CN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3 </a:t>
                      </a:r>
                      <a:r>
                        <a:rPr lang="zh-CN" altLang="en-US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与目标差异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altLang="en-US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温度 </a:t>
                      </a:r>
                      <a:r>
                        <a:rPr lang="en-US" altLang="zh-CN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4 </a:t>
                      </a:r>
                      <a:r>
                        <a:rPr lang="zh-CN" altLang="en-US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与目标差异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altLang="en-US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温度 </a:t>
                      </a:r>
                      <a:r>
                        <a:rPr lang="en-US" altLang="zh-CN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5 </a:t>
                      </a:r>
                      <a:r>
                        <a:rPr lang="zh-CN" altLang="en-US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与目标差异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9683767"/>
                  </a:ext>
                </a:extLst>
              </a:tr>
              <a:tr h="3172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mean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1.09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1.45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1.65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1.73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1.77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5530979"/>
                  </a:ext>
                </a:extLst>
              </a:tr>
              <a:tr h="3172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std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3.47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3.39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3.41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3.51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3.69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51920"/>
                  </a:ext>
                </a:extLst>
              </a:tr>
              <a:tr h="3172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min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-51.00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-327.70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-59.60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-30.40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-30.00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1174422"/>
                  </a:ext>
                </a:extLst>
              </a:tr>
              <a:tr h="3172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1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25%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-0.60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-0.30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-0.20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-0.20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-0.30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869404"/>
                  </a:ext>
                </a:extLst>
              </a:tr>
              <a:tr h="3172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1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50%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0.20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8912641"/>
                  </a:ext>
                </a:extLst>
              </a:tr>
              <a:tr h="3172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1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75%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2.40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2.70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3.00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3.20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3.40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908194"/>
                  </a:ext>
                </a:extLst>
              </a:tr>
              <a:tr h="3172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max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32.40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303.50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72.80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41.80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55.8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130912"/>
                  </a:ext>
                </a:extLst>
              </a:tr>
            </a:tbl>
          </a:graphicData>
        </a:graphic>
      </p:graphicFrame>
      <p:sp>
        <p:nvSpPr>
          <p:cNvPr id="3" name="文本框 2">
            <a:extLst>
              <a:ext uri="{FF2B5EF4-FFF2-40B4-BE49-F238E27FC236}">
                <a16:creationId xmlns:a16="http://schemas.microsoft.com/office/drawing/2014/main" id="{59EBBC26-CD8F-050D-E04B-5D320EEFF419}"/>
              </a:ext>
            </a:extLst>
          </p:cNvPr>
          <p:cNvSpPr txBox="1"/>
          <p:nvPr/>
        </p:nvSpPr>
        <p:spPr>
          <a:xfrm>
            <a:off x="679450" y="5573122"/>
            <a:ext cx="1081405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zh-CN" sz="16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 </a:t>
            </a:r>
            <a:r>
              <a:rPr lang="zh-CN" altLang="zh-CN" sz="16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因为</a:t>
            </a:r>
            <a:r>
              <a:rPr lang="zh-CN" altLang="en-US" sz="16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探头</a:t>
            </a:r>
            <a:r>
              <a:rPr lang="zh-CN" altLang="zh-CN" sz="16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温度和目标差异高于</a:t>
            </a:r>
            <a:r>
              <a:rPr lang="en-US" altLang="zh-CN" sz="16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3</a:t>
            </a:r>
            <a:r>
              <a:rPr lang="zh-CN" altLang="zh-CN" sz="16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度的占比较高（接近</a:t>
            </a:r>
            <a:r>
              <a:rPr lang="en-US" altLang="zh-CN" sz="16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25%</a:t>
            </a:r>
            <a:r>
              <a:rPr lang="zh-CN" altLang="zh-CN" sz="16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16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zh-CN" altLang="zh-CN" sz="16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故温度差异上限以</a:t>
            </a:r>
            <a:r>
              <a:rPr lang="en-US" altLang="zh-CN" sz="16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95%</a:t>
            </a:r>
            <a:r>
              <a:rPr lang="zh-CN" altLang="zh-CN" sz="16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分位数盖帽处理，下限以</a:t>
            </a:r>
            <a:r>
              <a:rPr lang="en-US" altLang="zh-CN" sz="16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-3</a:t>
            </a:r>
            <a:r>
              <a:rPr lang="zh-CN" altLang="zh-CN" sz="16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盖帽处理</a:t>
            </a:r>
            <a:r>
              <a:rPr lang="zh-CN" altLang="en-US" sz="16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，再以盖帽后的温度差异修正温度</a:t>
            </a:r>
            <a:r>
              <a:rPr lang="en-US" altLang="zh-CN" sz="16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1-</a:t>
            </a:r>
            <a:r>
              <a:rPr lang="zh-CN" altLang="en-US" sz="1600" kern="100" dirty="0"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温度</a:t>
            </a:r>
            <a:r>
              <a:rPr lang="en-US" altLang="zh-CN" sz="1600" kern="100" dirty="0"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5</a:t>
            </a:r>
            <a:r>
              <a:rPr lang="zh-CN" altLang="en-US" sz="1600" kern="100" dirty="0"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的值（即探头</a:t>
            </a:r>
            <a:r>
              <a:rPr lang="en-US" altLang="zh-CN" sz="1600" kern="100" dirty="0"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1-</a:t>
            </a:r>
            <a:r>
              <a:rPr lang="zh-CN" altLang="en-US" sz="1600" kern="100" dirty="0"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探头</a:t>
            </a:r>
            <a:r>
              <a:rPr lang="en-US" altLang="zh-CN" sz="1600" kern="100" dirty="0"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5</a:t>
            </a:r>
            <a:r>
              <a:rPr lang="zh-CN" altLang="en-US" sz="1600" kern="100" dirty="0"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CN" altLang="zh-CN" sz="16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6A3D9041-F294-663E-B87E-7CD6E4F5A0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1717714"/>
              </p:ext>
            </p:extLst>
          </p:nvPr>
        </p:nvGraphicFramePr>
        <p:xfrm>
          <a:off x="6772275" y="2094672"/>
          <a:ext cx="4486278" cy="3197448"/>
        </p:xfrm>
        <a:graphic>
          <a:graphicData uri="http://schemas.openxmlformats.org/drawingml/2006/table">
            <a:tbl>
              <a:tblPr/>
              <a:tblGrid>
                <a:gridCol w="747713">
                  <a:extLst>
                    <a:ext uri="{9D8B030D-6E8A-4147-A177-3AD203B41FA5}">
                      <a16:colId xmlns:a16="http://schemas.microsoft.com/office/drawing/2014/main" val="268490361"/>
                    </a:ext>
                  </a:extLst>
                </a:gridCol>
                <a:gridCol w="747713">
                  <a:extLst>
                    <a:ext uri="{9D8B030D-6E8A-4147-A177-3AD203B41FA5}">
                      <a16:colId xmlns:a16="http://schemas.microsoft.com/office/drawing/2014/main" val="2314696005"/>
                    </a:ext>
                  </a:extLst>
                </a:gridCol>
                <a:gridCol w="747713">
                  <a:extLst>
                    <a:ext uri="{9D8B030D-6E8A-4147-A177-3AD203B41FA5}">
                      <a16:colId xmlns:a16="http://schemas.microsoft.com/office/drawing/2014/main" val="1887016926"/>
                    </a:ext>
                  </a:extLst>
                </a:gridCol>
                <a:gridCol w="747713">
                  <a:extLst>
                    <a:ext uri="{9D8B030D-6E8A-4147-A177-3AD203B41FA5}">
                      <a16:colId xmlns:a16="http://schemas.microsoft.com/office/drawing/2014/main" val="759769463"/>
                    </a:ext>
                  </a:extLst>
                </a:gridCol>
                <a:gridCol w="747713">
                  <a:extLst>
                    <a:ext uri="{9D8B030D-6E8A-4147-A177-3AD203B41FA5}">
                      <a16:colId xmlns:a16="http://schemas.microsoft.com/office/drawing/2014/main" val="187340800"/>
                    </a:ext>
                  </a:extLst>
                </a:gridCol>
                <a:gridCol w="747713">
                  <a:extLst>
                    <a:ext uri="{9D8B030D-6E8A-4147-A177-3AD203B41FA5}">
                      <a16:colId xmlns:a16="http://schemas.microsoft.com/office/drawing/2014/main" val="3707292979"/>
                    </a:ext>
                  </a:extLst>
                </a:gridCol>
              </a:tblGrid>
              <a:tr h="60199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zh-CN" altLang="en-US" b="1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altLang="en-US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温度 </a:t>
                      </a:r>
                      <a:r>
                        <a:rPr lang="en-US" altLang="zh-CN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1 </a:t>
                      </a:r>
                      <a:r>
                        <a:rPr lang="zh-CN" altLang="en-US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与目标差异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altLang="en-US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温度 </a:t>
                      </a:r>
                      <a:r>
                        <a:rPr lang="en-US" altLang="zh-CN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2 </a:t>
                      </a:r>
                      <a:r>
                        <a:rPr lang="zh-CN" altLang="en-US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与目标差异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altLang="en-US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温度 </a:t>
                      </a:r>
                      <a:r>
                        <a:rPr lang="en-US" altLang="zh-CN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3 </a:t>
                      </a:r>
                      <a:r>
                        <a:rPr lang="zh-CN" altLang="en-US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与目标差异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altLang="en-US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温度 </a:t>
                      </a:r>
                      <a:r>
                        <a:rPr lang="en-US" altLang="zh-CN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4 </a:t>
                      </a:r>
                      <a:r>
                        <a:rPr lang="zh-CN" altLang="en-US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与目标差异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altLang="en-US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温度 </a:t>
                      </a:r>
                      <a:r>
                        <a:rPr lang="en-US" altLang="zh-CN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5 </a:t>
                      </a:r>
                      <a:r>
                        <a:rPr lang="zh-CN" altLang="en-US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与目标差异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1241312"/>
                  </a:ext>
                </a:extLst>
              </a:tr>
              <a:tr h="28911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mean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1.17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1.49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1.67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1.75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1.81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0132859"/>
                  </a:ext>
                </a:extLst>
              </a:tr>
              <a:tr h="28911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std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2.68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2.58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2.73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2.88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3.07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0305022"/>
                  </a:ext>
                </a:extLst>
              </a:tr>
              <a:tr h="28911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min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-3.00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-3.00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-3.00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-3.00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-3.00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2078581"/>
                  </a:ext>
                </a:extLst>
              </a:tr>
              <a:tr h="28911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1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25%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-0.60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-0.30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-0.20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-0.20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-0.30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0530873"/>
                  </a:ext>
                </a:extLst>
              </a:tr>
              <a:tr h="28911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1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50%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0.20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1124743"/>
                  </a:ext>
                </a:extLst>
              </a:tr>
              <a:tr h="28911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1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75%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2.40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2.70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3.00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3.20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3.40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827534"/>
                  </a:ext>
                </a:extLst>
              </a:tr>
              <a:tr h="28911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max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7.50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7.60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8.10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8.50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8.90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5873631"/>
                  </a:ext>
                </a:extLst>
              </a:tr>
            </a:tbl>
          </a:graphicData>
        </a:graphic>
      </p:graphicFrame>
      <p:sp>
        <p:nvSpPr>
          <p:cNvPr id="7" name="箭头: 右 6">
            <a:extLst>
              <a:ext uri="{FF2B5EF4-FFF2-40B4-BE49-F238E27FC236}">
                <a16:creationId xmlns:a16="http://schemas.microsoft.com/office/drawing/2014/main" id="{765218C5-4B7A-A997-6A22-C9A0AF09B62E}"/>
              </a:ext>
            </a:extLst>
          </p:cNvPr>
          <p:cNvSpPr/>
          <p:nvPr/>
        </p:nvSpPr>
        <p:spPr>
          <a:xfrm>
            <a:off x="5800725" y="3390900"/>
            <a:ext cx="571500" cy="438150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080AA3C-6C45-44B8-C652-01F557609989}"/>
              </a:ext>
            </a:extLst>
          </p:cNvPr>
          <p:cNvSpPr/>
          <p:nvPr/>
        </p:nvSpPr>
        <p:spPr>
          <a:xfrm>
            <a:off x="492981" y="1606658"/>
            <a:ext cx="11239200" cy="4832242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38E1A85-6E33-BBF5-4483-2C47DEE0F253}"/>
              </a:ext>
            </a:extLst>
          </p:cNvPr>
          <p:cNvSpPr txBox="1"/>
          <p:nvPr/>
        </p:nvSpPr>
        <p:spPr>
          <a:xfrm>
            <a:off x="5719762" y="3117471"/>
            <a:ext cx="733426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zh-CN" altLang="en-US" sz="1400" dirty="0">
                <a:solidFill>
                  <a:schemeClr val="tx1"/>
                </a:solidFill>
              </a:rPr>
              <a:t>盖帽处理</a:t>
            </a:r>
          </a:p>
        </p:txBody>
      </p:sp>
    </p:spTree>
    <p:extLst>
      <p:ext uri="{BB962C8B-B14F-4D97-AF65-F5344CB8AC3E}">
        <p14:creationId xmlns:p14="http://schemas.microsoft.com/office/powerpoint/2010/main" val="4362162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6F964-969D-D710-A6AE-504D31799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>
            <a:extLst>
              <a:ext uri="{FF2B5EF4-FFF2-40B4-BE49-F238E27FC236}">
                <a16:creationId xmlns:a16="http://schemas.microsoft.com/office/drawing/2014/main" id="{C7F379C3-C6DE-DE90-05D1-0B355F88942D}"/>
              </a:ext>
            </a:extLst>
          </p:cNvPr>
          <p:cNvSpPr txBox="1"/>
          <p:nvPr/>
        </p:nvSpPr>
        <p:spPr>
          <a:xfrm>
            <a:off x="339052" y="280917"/>
            <a:ext cx="11239200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800" dirty="0">
                <a:solidFill>
                  <a:schemeClr val="accent5">
                    <a:lumMod val="75000"/>
                  </a:schemeClr>
                </a:solidFill>
                <a:latin typeface="等线 Light" panose="02010600030101010101" pitchFamily="2" charset="-122"/>
                <a:ea typeface="等线 Light" panose="02010600030101010101" pitchFamily="2" charset="-122"/>
              </a:rPr>
              <a:t>环控数据清洗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75000"/>
                </a:schemeClr>
              </a:solidFill>
              <a:effectLst/>
              <a:uLnTx/>
              <a:uFillTx/>
              <a:latin typeface="等线 Light" panose="02010600030101010101" pitchFamily="2" charset="-122"/>
              <a:ea typeface="等线 Light" panose="02010600030101010101" pitchFamily="2" charset="-122"/>
              <a:cs typeface="+mj-cs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004B4B1-4336-7079-4454-13CFC9C55553}"/>
              </a:ext>
            </a:extLst>
          </p:cNvPr>
          <p:cNvSpPr/>
          <p:nvPr/>
        </p:nvSpPr>
        <p:spPr>
          <a:xfrm>
            <a:off x="492981" y="1606658"/>
            <a:ext cx="11239200" cy="4832242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4E399FC1-D89D-847F-5341-538D4B4AC930}"/>
              </a:ext>
            </a:extLst>
          </p:cNvPr>
          <p:cNvSpPr txBox="1"/>
          <p:nvPr/>
        </p:nvSpPr>
        <p:spPr>
          <a:xfrm>
            <a:off x="1543657" y="5684673"/>
            <a:ext cx="882998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285750" indent="-285750" algn="just">
              <a:buFont typeface="Arial" panose="020B0604020202020204" pitchFamily="34" charset="0"/>
              <a:buChar char="•"/>
              <a:defRPr sz="1600" kern="10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defRPr>
            </a:lvl1pPr>
          </a:lstStyle>
          <a:p>
            <a:r>
              <a:rPr lang="zh-CN" altLang="en-US" dirty="0"/>
              <a:t>按</a:t>
            </a:r>
            <a:r>
              <a:rPr lang="en-US" altLang="zh-CN" dirty="0"/>
              <a:t>1%</a:t>
            </a:r>
            <a:r>
              <a:rPr lang="zh-CN" altLang="en-US" dirty="0"/>
              <a:t>百分位数作为下限和</a:t>
            </a:r>
            <a:r>
              <a:rPr lang="en-US" altLang="zh-CN" dirty="0"/>
              <a:t>99%</a:t>
            </a:r>
            <a:r>
              <a:rPr lang="zh-CN" altLang="en-US" dirty="0"/>
              <a:t>百分位数作为上限修正环控数据中的</a:t>
            </a:r>
            <a:r>
              <a:rPr lang="en-US" altLang="zh-CN" dirty="0"/>
              <a:t>'</a:t>
            </a:r>
            <a:r>
              <a:rPr lang="zh-CN" altLang="en-US" dirty="0"/>
              <a:t>外部</a:t>
            </a:r>
            <a:r>
              <a:rPr lang="en-US" altLang="zh-CN" dirty="0"/>
              <a:t>-</a:t>
            </a:r>
            <a:r>
              <a:rPr lang="zh-CN" altLang="en-US" dirty="0"/>
              <a:t>平均</a:t>
            </a:r>
            <a:r>
              <a:rPr lang="en-US" altLang="zh-CN" dirty="0"/>
              <a:t>', '</a:t>
            </a:r>
            <a:r>
              <a:rPr lang="zh-CN" altLang="en-US" dirty="0"/>
              <a:t>湿度内部平均</a:t>
            </a:r>
            <a:r>
              <a:rPr lang="en-US" altLang="zh-CN" dirty="0"/>
              <a:t>', '</a:t>
            </a:r>
            <a:r>
              <a:rPr lang="zh-CN" altLang="en-US" dirty="0"/>
              <a:t>湿度外部平均</a:t>
            </a:r>
            <a:r>
              <a:rPr lang="en-US" altLang="zh-CN" dirty="0"/>
              <a:t>','</a:t>
            </a:r>
            <a:r>
              <a:rPr lang="zh-CN" altLang="en-US" dirty="0"/>
              <a:t>鸡舍温度</a:t>
            </a:r>
            <a:r>
              <a:rPr lang="en-US" altLang="zh-CN" dirty="0"/>
              <a:t>-</a:t>
            </a:r>
            <a:r>
              <a:rPr lang="zh-CN" altLang="en-US" dirty="0"/>
              <a:t>最低</a:t>
            </a:r>
            <a:r>
              <a:rPr lang="en-US" altLang="zh-CN" dirty="0"/>
              <a:t>', '</a:t>
            </a:r>
            <a:r>
              <a:rPr lang="zh-CN" altLang="en-US" dirty="0"/>
              <a:t>鸡舍温度</a:t>
            </a:r>
            <a:r>
              <a:rPr lang="en-US" altLang="zh-CN" dirty="0"/>
              <a:t>-</a:t>
            </a:r>
            <a:r>
              <a:rPr lang="zh-CN" altLang="en-US" dirty="0"/>
              <a:t>平均</a:t>
            </a:r>
            <a:r>
              <a:rPr lang="en-US" altLang="zh-CN" dirty="0"/>
              <a:t>', '</a:t>
            </a:r>
            <a:r>
              <a:rPr lang="zh-CN" altLang="en-US" dirty="0"/>
              <a:t>鸡舍温度</a:t>
            </a:r>
            <a:r>
              <a:rPr lang="en-US" altLang="zh-CN" dirty="0"/>
              <a:t>-</a:t>
            </a:r>
            <a:r>
              <a:rPr lang="zh-CN" altLang="en-US" dirty="0"/>
              <a:t>最高</a:t>
            </a:r>
            <a:r>
              <a:rPr lang="en-US" altLang="zh-CN" dirty="0"/>
              <a:t>', '</a:t>
            </a:r>
            <a:r>
              <a:rPr lang="zh-CN" altLang="en-US" dirty="0"/>
              <a:t>水</a:t>
            </a:r>
            <a:r>
              <a:rPr lang="en-US" altLang="zh-CN" dirty="0"/>
              <a:t>', '</a:t>
            </a:r>
            <a:r>
              <a:rPr lang="zh-CN" altLang="en-US" dirty="0"/>
              <a:t>饲料</a:t>
            </a:r>
            <a:r>
              <a:rPr lang="en-US" altLang="zh-CN" dirty="0"/>
              <a:t>', '</a:t>
            </a:r>
            <a:r>
              <a:rPr lang="zh-CN" altLang="en-US" dirty="0"/>
              <a:t>水平</a:t>
            </a:r>
            <a:r>
              <a:rPr lang="en-US" altLang="zh-CN" dirty="0"/>
              <a:t>'</a:t>
            </a:r>
            <a:r>
              <a:rPr lang="zh-CN" altLang="en-US" dirty="0"/>
              <a:t>字段 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B40C433-A2B0-49A5-3171-985EF5595D59}"/>
              </a:ext>
            </a:extLst>
          </p:cNvPr>
          <p:cNvSpPr txBox="1"/>
          <p:nvPr/>
        </p:nvSpPr>
        <p:spPr>
          <a:xfrm>
            <a:off x="2038978" y="1752840"/>
            <a:ext cx="73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zh-CN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外部</a:t>
            </a: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zh-CN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平均</a:t>
            </a: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  </a:t>
            </a:r>
            <a:r>
              <a:rPr lang="zh-CN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湿度内部平均</a:t>
            </a: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</a:t>
            </a:r>
            <a:r>
              <a:rPr lang="zh-CN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湿度外部平均</a:t>
            </a: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鸡舍温度</a:t>
            </a: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zh-CN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最低</a:t>
            </a: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鸡舍温度</a:t>
            </a: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zh-CN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平均</a:t>
            </a: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鸡舍温度</a:t>
            </a: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zh-CN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最高</a:t>
            </a: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</a:t>
            </a:r>
            <a:endParaRPr lang="zh-CN" altLang="zh-CN" sz="1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   </a:t>
            </a:r>
            <a:r>
              <a:rPr lang="zh-CN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水</a:t>
            </a: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      </a:t>
            </a:r>
            <a:r>
              <a:rPr lang="zh-CN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饲料</a:t>
            </a: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      </a:t>
            </a:r>
            <a:r>
              <a:rPr lang="zh-CN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水平</a:t>
            </a:r>
          </a:p>
          <a:p>
            <a:pPr algn="just">
              <a:buNone/>
            </a:pP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count  1312970.00  1381045.00  75931.00  1406959.00  1439302.00  1405735.00  1436297.00  1440224.00  1440218.00  </a:t>
            </a:r>
            <a:endParaRPr lang="zh-CN" altLang="zh-CN" sz="1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mean        14.28       72.84     71.57       26.22       26.75       27.12      161.54       78.02       14.69  </a:t>
            </a:r>
            <a:endParaRPr lang="zh-CN" altLang="zh-CN" sz="1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std         10.94       19.40     24.67        4.57        4.54        4.48      181.26      261.21       31.11  </a:t>
            </a:r>
            <a:endParaRPr lang="zh-CN" altLang="zh-CN" sz="1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min         -5.30        1.00     11.00       10.50       11.10       11.60    -1964.00    -2778.00        0.00  </a:t>
            </a:r>
            <a:endParaRPr lang="zh-CN" altLang="zh-CN" sz="1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25%          5.40       67.00     56.90       23.40       24.00       24.40       20.00        0.00        8.00  </a:t>
            </a:r>
            <a:endParaRPr lang="zh-CN" altLang="zh-CN" sz="1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50%         12.60       76.10     76.00       26.50       27.10       27.40       88.00        0.00       15.00  </a:t>
            </a:r>
            <a:endParaRPr lang="zh-CN" altLang="zh-CN" sz="1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75%         24.40       84.80     92.30       29.40       29.80       30.10      270.00        0.00       21.00  </a:t>
            </a:r>
            <a:endParaRPr lang="zh-CN" altLang="zh-CN" sz="1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max         37.70      100.00    100.00       34.60       35.20       35.50     2950.00     3271.00    10000.0</a:t>
            </a:r>
            <a:endParaRPr lang="zh-CN" altLang="zh-CN" sz="1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 </a:t>
            </a:r>
            <a:endParaRPr lang="zh-CN" altLang="zh-CN" sz="1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zh-CN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按下限</a:t>
            </a: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1%</a:t>
            </a:r>
            <a:r>
              <a:rPr lang="zh-CN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上限</a:t>
            </a: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99%</a:t>
            </a:r>
            <a:r>
              <a:rPr lang="zh-CN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分位数盖帽，盖帽之后的分布如下：</a:t>
            </a:r>
          </a:p>
          <a:p>
            <a:pPr algn="just">
              <a:buNone/>
            </a:pP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 </a:t>
            </a:r>
            <a:endParaRPr lang="zh-CN" altLang="zh-CN" sz="1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        </a:t>
            </a:r>
            <a:r>
              <a:rPr lang="zh-CN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外部</a:t>
            </a: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zh-CN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平均</a:t>
            </a: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  </a:t>
            </a:r>
            <a:r>
              <a:rPr lang="zh-CN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湿度内部平均</a:t>
            </a: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</a:t>
            </a:r>
            <a:r>
              <a:rPr lang="zh-CN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湿度外部平均</a:t>
            </a: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鸡舍温度</a:t>
            </a: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zh-CN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最低</a:t>
            </a: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鸡舍温度</a:t>
            </a: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zh-CN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平均</a:t>
            </a: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鸡舍温度</a:t>
            </a: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zh-CN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最高</a:t>
            </a: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</a:t>
            </a:r>
            <a:endParaRPr lang="zh-CN" altLang="zh-CN" sz="1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   </a:t>
            </a:r>
            <a:r>
              <a:rPr lang="zh-CN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水</a:t>
            </a: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      </a:t>
            </a:r>
            <a:r>
              <a:rPr lang="zh-CN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饲料</a:t>
            </a: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      </a:t>
            </a:r>
            <a:r>
              <a:rPr lang="zh-CN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水平</a:t>
            </a:r>
          </a:p>
          <a:p>
            <a:pPr algn="just">
              <a:buNone/>
            </a:pP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count  1312970.00  1381045.00  75931.00  1406959.00  1439302.00  1405735.00  1436297.00  1440224.00  1440218.00  </a:t>
            </a:r>
            <a:endParaRPr lang="zh-CN" altLang="zh-CN" sz="1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mean        14.28       72.84     71.57       26.22       26.75       27.12      160.36       75.22       14.50  </a:t>
            </a:r>
            <a:endParaRPr lang="zh-CN" altLang="zh-CN" sz="1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std         10.94       19.40     24.67        4.57        4.54        4.48      176.74      244.87        7.93  </a:t>
            </a:r>
            <a:endParaRPr lang="zh-CN" altLang="zh-CN" sz="1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min         -5.30        1.00     11.00       10.50       11.10       11.60        0.00        0.00        1.00  </a:t>
            </a:r>
            <a:endParaRPr lang="zh-CN" altLang="zh-CN" sz="1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25%          5.40       67.00     56.90       23.40       24.00       24.40       20.00        0.00        8.00  </a:t>
            </a:r>
            <a:endParaRPr lang="zh-CN" altLang="zh-CN" sz="1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50%         12.60       76.10     76.00       26.50       27.10       27.40       88.00        0.00       15.00  </a:t>
            </a:r>
            <a:endParaRPr lang="zh-CN" altLang="zh-CN" sz="1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75%         24.40       84.80     92.30       29.40       29.80       30.10      270.00        0.00       21.00  </a:t>
            </a:r>
            <a:endParaRPr lang="zh-CN" altLang="zh-CN" sz="1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max         37.70      100.00    100.00       34.60       35.20       35.50      720.00     1286.00       30.00</a:t>
            </a:r>
            <a:endParaRPr lang="zh-CN" altLang="zh-CN" sz="1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/>
            <a:r>
              <a:rPr lang="en-US" altLang="zh-CN" sz="1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 </a:t>
            </a:r>
            <a:endParaRPr lang="zh-CN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50130727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5118A0A1-4A1A-BA5E-D529-E7337C296B29}"/>
              </a:ext>
            </a:extLst>
          </p:cNvPr>
          <p:cNvSpPr txBox="1"/>
          <p:nvPr/>
        </p:nvSpPr>
        <p:spPr>
          <a:xfrm>
            <a:off x="1458686" y="1126945"/>
            <a:ext cx="9274628" cy="50013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grouped = </a:t>
            </a:r>
            <a:r>
              <a:rPr lang="en-US" altLang="zh-CN" sz="1100" b="1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data.groupby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(['ID_NUM', '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日龄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'])</a:t>
            </a:r>
            <a:endParaRPr lang="zh-CN" altLang="zh-CN" sz="11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 </a:t>
            </a:r>
            <a:endParaRPr lang="zh-CN" altLang="zh-CN" sz="11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# 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统计每个分组内的最高温度、最低温度、平均温度等的最值或均值</a:t>
            </a:r>
            <a:endParaRPr lang="zh-CN" altLang="zh-CN" sz="11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100" b="1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agg_result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= </a:t>
            </a:r>
            <a:r>
              <a:rPr lang="en-US" altLang="zh-CN" sz="1100" b="1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grouped.agg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({</a:t>
            </a:r>
            <a:endParaRPr lang="zh-CN" altLang="zh-CN" sz="11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    **{col: ['max', 'min', 'mean'] for col in </a:t>
            </a:r>
            <a:r>
              <a:rPr lang="en-US" altLang="zh-CN" sz="1100" b="1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temp_cols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},</a:t>
            </a:r>
            <a:endParaRPr lang="zh-CN" altLang="zh-CN" sz="11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    '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湿度内部平均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': ['max', 'min', 'mean'],</a:t>
            </a:r>
            <a:endParaRPr lang="zh-CN" altLang="zh-CN" sz="11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    '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内外温差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': ['max', 'min', 'mean'],</a:t>
            </a:r>
            <a:endParaRPr lang="zh-CN" altLang="zh-CN" sz="11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    '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内外湿差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': ['max', 'min', 'mean'],</a:t>
            </a:r>
            <a:endParaRPr lang="zh-CN" altLang="zh-CN" sz="11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    '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外部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平均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': ['max', 'min', 'mean'],  </a:t>
            </a:r>
            <a:endParaRPr lang="zh-CN" altLang="zh-CN" sz="11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    '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鸡舍温度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最低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':['min'] ,</a:t>
            </a:r>
            <a:endParaRPr lang="zh-CN" altLang="zh-CN" sz="11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    '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鸡舍温度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平均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':['mean'] ,</a:t>
            </a:r>
            <a:endParaRPr lang="zh-CN" altLang="zh-CN" sz="11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    '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鸡舍温度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最高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':['max'] ,</a:t>
            </a:r>
            <a:endParaRPr lang="zh-CN" altLang="zh-CN" sz="11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 </a:t>
            </a:r>
            <a:endParaRPr lang="zh-CN" altLang="zh-CN" sz="11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})</a:t>
            </a:r>
            <a:endParaRPr lang="zh-CN" altLang="zh-CN" sz="11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 </a:t>
            </a:r>
            <a:endParaRPr lang="zh-CN" altLang="zh-CN" sz="11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 </a:t>
            </a:r>
            <a:endParaRPr lang="zh-CN" altLang="zh-CN" sz="11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特征衍生</a:t>
            </a:r>
            <a:endParaRPr lang="zh-CN" altLang="zh-CN" sz="11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 </a:t>
            </a:r>
            <a:endParaRPr lang="zh-CN" altLang="zh-CN" sz="11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data['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内外温差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']=data['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鸡舍温度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平均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'].</a:t>
            </a:r>
            <a:r>
              <a:rPr lang="en-US" altLang="zh-CN" sz="1100" b="1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astype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(float)-data['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外部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平均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'].</a:t>
            </a:r>
            <a:r>
              <a:rPr lang="en-US" altLang="zh-CN" sz="1100" b="1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astype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(float)</a:t>
            </a:r>
            <a:endParaRPr lang="zh-CN" altLang="zh-CN" sz="11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data['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内外湿差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']=data['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湿度内部平均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'].</a:t>
            </a:r>
            <a:r>
              <a:rPr lang="en-US" altLang="zh-CN" sz="1100" b="1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astype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(float)-data['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湿度外部平均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'].</a:t>
            </a:r>
            <a:r>
              <a:rPr lang="en-US" altLang="zh-CN" sz="1100" b="1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astype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(float)</a:t>
            </a:r>
            <a:endParaRPr lang="zh-CN" altLang="zh-CN" sz="11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 </a:t>
            </a:r>
            <a:endParaRPr lang="zh-CN" altLang="zh-CN" sz="11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 </a:t>
            </a:r>
            <a:endParaRPr lang="zh-CN" altLang="zh-CN" sz="11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grouped2['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平均温度变化率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'] = grouped2.groupby(['ID_NUM', '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日龄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'])['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鸡舍温度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平均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'].transform(</a:t>
            </a:r>
            <a:r>
              <a:rPr lang="en-US" altLang="zh-CN" sz="1100" b="1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calculate_change_rate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)</a:t>
            </a:r>
            <a:endParaRPr lang="zh-CN" altLang="zh-CN" sz="11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grouped2['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最高温度变化率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'] = grouped2.groupby(['ID_NUM', '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日龄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'])['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鸡舍温度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最高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'].transform(</a:t>
            </a:r>
            <a:r>
              <a:rPr lang="en-US" altLang="zh-CN" sz="1100" b="1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calculate_change_rate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)</a:t>
            </a:r>
            <a:endParaRPr lang="zh-CN" altLang="zh-CN" sz="11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grouped2['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最低温度变化率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'] = grouped2.groupby(['ID_NUM', '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日龄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'])['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鸡舍温度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最低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'].transform(</a:t>
            </a:r>
            <a:r>
              <a:rPr lang="en-US" altLang="zh-CN" sz="1100" b="1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calculate_change_rate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)</a:t>
            </a:r>
            <a:endParaRPr lang="zh-CN" altLang="zh-CN" sz="11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 </a:t>
            </a:r>
            <a:endParaRPr lang="zh-CN" altLang="zh-CN" sz="11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 </a:t>
            </a:r>
            <a:endParaRPr lang="zh-CN" altLang="zh-CN" sz="11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1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agg_result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[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‘每日温差’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] = </a:t>
            </a:r>
            <a:r>
              <a:rPr lang="en-US" altLang="zh-CN" sz="11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agg_result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[('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鸡舍温度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最高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', 'max')] - </a:t>
            </a:r>
            <a:r>
              <a:rPr lang="en-US" altLang="zh-CN" sz="11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agg_result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[('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鸡舍温度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最低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', 'min')]</a:t>
            </a:r>
            <a:endParaRPr lang="zh-CN" altLang="zh-CN" sz="11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/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 </a:t>
            </a:r>
            <a:endParaRPr lang="zh-CN" altLang="zh-CN" sz="11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448D78A6-949C-994E-3BC3-EB2A30DFF9D6}"/>
              </a:ext>
            </a:extLst>
          </p:cNvPr>
          <p:cNvSpPr txBox="1"/>
          <p:nvPr/>
        </p:nvSpPr>
        <p:spPr>
          <a:xfrm>
            <a:off x="339052" y="280917"/>
            <a:ext cx="11239200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800" dirty="0">
                <a:solidFill>
                  <a:schemeClr val="accent5">
                    <a:lumMod val="75000"/>
                  </a:schemeClr>
                </a:solidFill>
                <a:latin typeface="等线 Light" panose="02010600030101010101" pitchFamily="2" charset="-122"/>
                <a:ea typeface="等线 Light" panose="02010600030101010101" pitchFamily="2" charset="-122"/>
              </a:rPr>
              <a:t>环控数据聚合衍生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75000"/>
                </a:schemeClr>
              </a:solidFill>
              <a:effectLst/>
              <a:uLnTx/>
              <a:uFillTx/>
              <a:latin typeface="等线 Light" panose="02010600030101010101" pitchFamily="2" charset="-122"/>
              <a:ea typeface="等线 Light" panose="02010600030101010101" pitchFamily="2" charset="-122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3358170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70202-4BF3-2015-5A6F-CAB28DC72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箭头: 五边形 7">
            <a:extLst>
              <a:ext uri="{FF2B5EF4-FFF2-40B4-BE49-F238E27FC236}">
                <a16:creationId xmlns:a16="http://schemas.microsoft.com/office/drawing/2014/main" id="{53B57754-EB67-1543-424E-A82158D49A87}"/>
              </a:ext>
            </a:extLst>
          </p:cNvPr>
          <p:cNvSpPr/>
          <p:nvPr/>
        </p:nvSpPr>
        <p:spPr>
          <a:xfrm>
            <a:off x="0" y="591378"/>
            <a:ext cx="8067675" cy="576475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56B1447B-612E-1B24-99A2-C7B20808815B}"/>
              </a:ext>
            </a:extLst>
          </p:cNvPr>
          <p:cNvSpPr txBox="1"/>
          <p:nvPr/>
        </p:nvSpPr>
        <p:spPr>
          <a:xfrm>
            <a:off x="313885" y="31758"/>
            <a:ext cx="3277040" cy="62811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D8661442-02AE-9CD8-3722-18762DD36811}"/>
              </a:ext>
            </a:extLst>
          </p:cNvPr>
          <p:cNvSpPr txBox="1"/>
          <p:nvPr/>
        </p:nvSpPr>
        <p:spPr>
          <a:xfrm>
            <a:off x="551901" y="559215"/>
            <a:ext cx="7249074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固定变量和温度数据对死淘率是否存在影响？</a:t>
            </a:r>
          </a:p>
        </p:txBody>
      </p:sp>
      <p:sp>
        <p:nvSpPr>
          <p:cNvPr id="14" name="标题 1">
            <a:extLst>
              <a:ext uri="{FF2B5EF4-FFF2-40B4-BE49-F238E27FC236}">
                <a16:creationId xmlns:a16="http://schemas.microsoft.com/office/drawing/2014/main" id="{2E6EC96E-8BE8-D526-EB03-70D090CEB0EF}"/>
              </a:ext>
            </a:extLst>
          </p:cNvPr>
          <p:cNvSpPr txBox="1"/>
          <p:nvPr/>
        </p:nvSpPr>
        <p:spPr>
          <a:xfrm>
            <a:off x="906288" y="1821519"/>
            <a:ext cx="4640402" cy="146706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数据处理：</a:t>
            </a:r>
            <a:r>
              <a:rPr lang="zh-CN" altLang="en-US" sz="14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全量样本按月份划分季节，样本分布如下：</a:t>
            </a:r>
            <a:endParaRPr lang="en-US" altLang="zh-CN" sz="1400" b="0" dirty="0">
              <a:solidFill>
                <a:srgbClr val="000000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Winter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12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）数据量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: 531, </a:t>
            </a:r>
            <a:endParaRPr lang="zh-CN" altLang="zh-CN" sz="12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Spring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3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4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）数据量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: 175, </a:t>
            </a:r>
            <a:endParaRPr lang="zh-CN" altLang="zh-CN" sz="12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Summer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5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6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7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8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9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）数据量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: 212, </a:t>
            </a:r>
            <a:endParaRPr lang="zh-CN" altLang="zh-CN" sz="12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/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Autumn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10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11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）数据量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: 339, </a:t>
            </a:r>
            <a:endParaRPr lang="zh-CN" altLang="zh-CN" sz="12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l"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21" name="标题 1">
            <a:extLst>
              <a:ext uri="{FF2B5EF4-FFF2-40B4-BE49-F238E27FC236}">
                <a16:creationId xmlns:a16="http://schemas.microsoft.com/office/drawing/2014/main" id="{06F084B5-E5D8-7921-5966-51D0BD86121D}"/>
              </a:ext>
            </a:extLst>
          </p:cNvPr>
          <p:cNvSpPr txBox="1"/>
          <p:nvPr/>
        </p:nvSpPr>
        <p:spPr>
          <a:xfrm>
            <a:off x="98783" y="-30126"/>
            <a:ext cx="11239200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accent5">
                    <a:lumMod val="75000"/>
                  </a:schemeClr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死淘分析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F266E95-884B-0351-026B-0F15343356A5}"/>
              </a:ext>
            </a:extLst>
          </p:cNvPr>
          <p:cNvSpPr txBox="1"/>
          <p:nvPr/>
        </p:nvSpPr>
        <p:spPr>
          <a:xfrm>
            <a:off x="7114232" y="2555049"/>
            <a:ext cx="232870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zh-CN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各个月份</a:t>
            </a:r>
          </a:p>
          <a:p>
            <a:pPr algn="just">
              <a:buNone/>
            </a:pP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1     64</a:t>
            </a:r>
            <a:endParaRPr lang="zh-CN" altLang="zh-CN" sz="14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12     8</a:t>
            </a:r>
            <a:endParaRPr lang="zh-CN" altLang="zh-CN" sz="14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2     35</a:t>
            </a:r>
            <a:endParaRPr lang="zh-CN" altLang="zh-CN" sz="14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10    12</a:t>
            </a:r>
            <a:endParaRPr lang="zh-CN" altLang="zh-CN" sz="14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11    57</a:t>
            </a:r>
            <a:endParaRPr lang="zh-CN" altLang="zh-CN" sz="14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8     0</a:t>
            </a:r>
            <a:endParaRPr lang="zh-CN" altLang="zh-CN" sz="14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9    43</a:t>
            </a:r>
            <a:endParaRPr lang="zh-CN" altLang="zh-CN" sz="14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/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3    35</a:t>
            </a:r>
            <a:endParaRPr lang="zh-CN" altLang="zh-CN" sz="14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标题 1">
            <a:extLst>
              <a:ext uri="{FF2B5EF4-FFF2-40B4-BE49-F238E27FC236}">
                <a16:creationId xmlns:a16="http://schemas.microsoft.com/office/drawing/2014/main" id="{35B1093A-4B0C-3EF1-2CE7-6319C110FBB3}"/>
              </a:ext>
            </a:extLst>
          </p:cNvPr>
          <p:cNvSpPr txBox="1"/>
          <p:nvPr/>
        </p:nvSpPr>
        <p:spPr>
          <a:xfrm>
            <a:off x="6333269" y="1249285"/>
            <a:ext cx="4640402" cy="146706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目标变量划分：按各个季节的样本的前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20%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划分高死淘和低死淘，各个月份的高死淘样本数如下：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1B64FBA-2931-DA4D-72FF-EF39C48699C0}"/>
              </a:ext>
            </a:extLst>
          </p:cNvPr>
          <p:cNvSpPr txBox="1"/>
          <p:nvPr/>
        </p:nvSpPr>
        <p:spPr>
          <a:xfrm>
            <a:off x="906288" y="4179305"/>
            <a:ext cx="4917516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zh-CN" altLang="en-US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用分层抽样的方式划分验证集，使得模型的正负样本平均地分布在训练集，测试集和验证集中。</a:t>
            </a:r>
            <a:endParaRPr lang="en-US" altLang="zh-CN" sz="14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lvl="1" algn="just"/>
            <a:r>
              <a:rPr lang="zh-CN" altLang="en-US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如</a:t>
            </a:r>
            <a:r>
              <a:rPr lang="zh-CN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正样本比例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:</a:t>
            </a:r>
            <a:endParaRPr lang="zh-CN" altLang="zh-CN" sz="14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lvl="1" algn="just"/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- </a:t>
            </a:r>
            <a:r>
              <a:rPr lang="zh-CN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训练集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: 19.93%</a:t>
            </a:r>
            <a:endParaRPr lang="zh-CN" altLang="zh-CN" sz="14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lvl="1" algn="just"/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- </a:t>
            </a:r>
            <a:r>
              <a:rPr lang="zh-CN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测试集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: 20.31%</a:t>
            </a:r>
            <a:endParaRPr lang="zh-CN" altLang="zh-CN" sz="14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lvl="1" algn="just"/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- </a:t>
            </a:r>
            <a:r>
              <a:rPr lang="zh-CN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验证集</a:t>
            </a:r>
            <a:r>
              <a:rPr lang="en-US" altLang="zh-CN" sz="1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: 20.56%</a:t>
            </a:r>
            <a:endParaRPr lang="zh-CN" altLang="zh-CN" sz="14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algn="just">
              <a:buNone/>
            </a:pPr>
            <a:endParaRPr lang="zh-CN" altLang="zh-CN" sz="14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878E523-B61A-B387-134D-2F282D6BD682}"/>
              </a:ext>
            </a:extLst>
          </p:cNvPr>
          <p:cNvSpPr/>
          <p:nvPr/>
        </p:nvSpPr>
        <p:spPr>
          <a:xfrm>
            <a:off x="551901" y="1422434"/>
            <a:ext cx="1295626" cy="451923"/>
          </a:xfrm>
          <a:prstGeom prst="rect">
            <a:avLst/>
          </a:prstGeom>
          <a:pattFill prst="ltDnDiag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600" b="1" dirty="0">
                <a:solidFill>
                  <a:srgbClr val="33A3FF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建模准备</a:t>
            </a:r>
            <a:endParaRPr kumimoji="0" lang="zh-CN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33A3FF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071603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DC3238-E331-4497-471D-CBDAEB59E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箭头: 五边形 7">
            <a:extLst>
              <a:ext uri="{FF2B5EF4-FFF2-40B4-BE49-F238E27FC236}">
                <a16:creationId xmlns:a16="http://schemas.microsoft.com/office/drawing/2014/main" id="{6D8188DC-2C99-AC40-F981-6A198C0AE224}"/>
              </a:ext>
            </a:extLst>
          </p:cNvPr>
          <p:cNvSpPr/>
          <p:nvPr/>
        </p:nvSpPr>
        <p:spPr>
          <a:xfrm>
            <a:off x="0" y="591378"/>
            <a:ext cx="8067675" cy="576475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29338C8A-4901-5722-E9DC-B2BD77208105}"/>
              </a:ext>
            </a:extLst>
          </p:cNvPr>
          <p:cNvSpPr txBox="1"/>
          <p:nvPr/>
        </p:nvSpPr>
        <p:spPr>
          <a:xfrm>
            <a:off x="313885" y="31758"/>
            <a:ext cx="3277040" cy="62811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768C00F5-BD69-BE04-4C98-44F297EEB263}"/>
              </a:ext>
            </a:extLst>
          </p:cNvPr>
          <p:cNvSpPr txBox="1"/>
          <p:nvPr/>
        </p:nvSpPr>
        <p:spPr>
          <a:xfrm>
            <a:off x="551901" y="559215"/>
            <a:ext cx="7249074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固定变量和温度数据对死淘率是否存在影响？</a:t>
            </a:r>
          </a:p>
        </p:txBody>
      </p:sp>
      <p:sp>
        <p:nvSpPr>
          <p:cNvPr id="21" name="标题 1">
            <a:extLst>
              <a:ext uri="{FF2B5EF4-FFF2-40B4-BE49-F238E27FC236}">
                <a16:creationId xmlns:a16="http://schemas.microsoft.com/office/drawing/2014/main" id="{A657E662-9FEE-D4AA-0DC0-076A3B3D5367}"/>
              </a:ext>
            </a:extLst>
          </p:cNvPr>
          <p:cNvSpPr txBox="1"/>
          <p:nvPr/>
        </p:nvSpPr>
        <p:spPr>
          <a:xfrm>
            <a:off x="98783" y="-30126"/>
            <a:ext cx="11239200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accent5">
                    <a:lumMod val="75000"/>
                  </a:schemeClr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死淘分析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316A0B49-47CF-1AEB-EC14-3A596A30AD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2537245"/>
              </p:ext>
            </p:extLst>
          </p:nvPr>
        </p:nvGraphicFramePr>
        <p:xfrm>
          <a:off x="750707" y="3331530"/>
          <a:ext cx="6973624" cy="640080"/>
        </p:xfrm>
        <a:graphic>
          <a:graphicData uri="http://schemas.openxmlformats.org/drawingml/2006/table">
            <a:tbl>
              <a:tblPr firstRow="1" firstCol="1" bandRow="1"/>
              <a:tblGrid>
                <a:gridCol w="996232">
                  <a:extLst>
                    <a:ext uri="{9D8B030D-6E8A-4147-A177-3AD203B41FA5}">
                      <a16:colId xmlns:a16="http://schemas.microsoft.com/office/drawing/2014/main" val="3801373755"/>
                    </a:ext>
                  </a:extLst>
                </a:gridCol>
                <a:gridCol w="675505">
                  <a:extLst>
                    <a:ext uri="{9D8B030D-6E8A-4147-A177-3AD203B41FA5}">
                      <a16:colId xmlns:a16="http://schemas.microsoft.com/office/drawing/2014/main" val="811401970"/>
                    </a:ext>
                  </a:extLst>
                </a:gridCol>
                <a:gridCol w="894303">
                  <a:extLst>
                    <a:ext uri="{9D8B030D-6E8A-4147-A177-3AD203B41FA5}">
                      <a16:colId xmlns:a16="http://schemas.microsoft.com/office/drawing/2014/main" val="1679194711"/>
                    </a:ext>
                  </a:extLst>
                </a:gridCol>
                <a:gridCol w="1004835">
                  <a:extLst>
                    <a:ext uri="{9D8B030D-6E8A-4147-A177-3AD203B41FA5}">
                      <a16:colId xmlns:a16="http://schemas.microsoft.com/office/drawing/2014/main" val="3461694118"/>
                    </a:ext>
                  </a:extLst>
                </a:gridCol>
                <a:gridCol w="874207">
                  <a:extLst>
                    <a:ext uri="{9D8B030D-6E8A-4147-A177-3AD203B41FA5}">
                      <a16:colId xmlns:a16="http://schemas.microsoft.com/office/drawing/2014/main" val="2447547013"/>
                    </a:ext>
                  </a:extLst>
                </a:gridCol>
                <a:gridCol w="1225899">
                  <a:extLst>
                    <a:ext uri="{9D8B030D-6E8A-4147-A177-3AD203B41FA5}">
                      <a16:colId xmlns:a16="http://schemas.microsoft.com/office/drawing/2014/main" val="2128753147"/>
                    </a:ext>
                  </a:extLst>
                </a:gridCol>
                <a:gridCol w="1302643">
                  <a:extLst>
                    <a:ext uri="{9D8B030D-6E8A-4147-A177-3AD203B41FA5}">
                      <a16:colId xmlns:a16="http://schemas.microsoft.com/office/drawing/2014/main" val="99539387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050" kern="10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季节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1050" kern="10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AUC</a:t>
                      </a:r>
                      <a:endParaRPr lang="zh-CN" sz="105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050" kern="10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平衡准确率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1050" kern="10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F1-Score</a:t>
                      </a:r>
                      <a:endParaRPr lang="zh-CN" sz="105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验证集</a:t>
                      </a:r>
                      <a:r>
                        <a:rPr lang="en-US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AUC</a:t>
                      </a: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altLang="en-US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验证集平衡准确率</a:t>
                      </a: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altLang="en-US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验证集</a:t>
                      </a:r>
                      <a:r>
                        <a:rPr lang="en-US" altLang="zh-CN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F1-score</a:t>
                      </a: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78805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050" kern="10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冬季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1050" kern="10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0.777</a:t>
                      </a:r>
                      <a:endParaRPr lang="zh-CN" sz="105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1050" kern="10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0.710</a:t>
                      </a:r>
                      <a:endParaRPr lang="zh-CN" sz="105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1050" kern="10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0.538</a:t>
                      </a:r>
                      <a:endParaRPr lang="zh-CN" sz="105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0.727</a:t>
                      </a: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79025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050" kern="10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秋季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1050" kern="10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0.684</a:t>
                      </a:r>
                      <a:endParaRPr lang="zh-CN" sz="105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1050" kern="10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0.629</a:t>
                      </a:r>
                      <a:endParaRPr lang="zh-CN" sz="105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1050" kern="10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0.412</a:t>
                      </a:r>
                      <a:endParaRPr lang="zh-CN" sz="105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0.799</a:t>
                      </a: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17948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050" kern="10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夏季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1050" kern="10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0.756</a:t>
                      </a:r>
                      <a:endParaRPr lang="zh-CN" sz="105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1050" kern="10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0.615</a:t>
                      </a:r>
                      <a:endParaRPr lang="zh-CN" sz="105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1050" kern="10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0.381</a:t>
                      </a:r>
                      <a:endParaRPr lang="zh-CN" sz="105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0.696</a:t>
                      </a: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9347528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3B09B313-8B2D-68BA-27A9-F2E7589238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937411"/>
              </p:ext>
            </p:extLst>
          </p:nvPr>
        </p:nvGraphicFramePr>
        <p:xfrm>
          <a:off x="750707" y="5016750"/>
          <a:ext cx="6973624" cy="640080"/>
        </p:xfrm>
        <a:graphic>
          <a:graphicData uri="http://schemas.openxmlformats.org/drawingml/2006/table">
            <a:tbl>
              <a:tblPr firstRow="1" firstCol="1" bandRow="1"/>
              <a:tblGrid>
                <a:gridCol w="996232">
                  <a:extLst>
                    <a:ext uri="{9D8B030D-6E8A-4147-A177-3AD203B41FA5}">
                      <a16:colId xmlns:a16="http://schemas.microsoft.com/office/drawing/2014/main" val="3801373755"/>
                    </a:ext>
                  </a:extLst>
                </a:gridCol>
                <a:gridCol w="675505">
                  <a:extLst>
                    <a:ext uri="{9D8B030D-6E8A-4147-A177-3AD203B41FA5}">
                      <a16:colId xmlns:a16="http://schemas.microsoft.com/office/drawing/2014/main" val="811401970"/>
                    </a:ext>
                  </a:extLst>
                </a:gridCol>
                <a:gridCol w="894303">
                  <a:extLst>
                    <a:ext uri="{9D8B030D-6E8A-4147-A177-3AD203B41FA5}">
                      <a16:colId xmlns:a16="http://schemas.microsoft.com/office/drawing/2014/main" val="1679194711"/>
                    </a:ext>
                  </a:extLst>
                </a:gridCol>
                <a:gridCol w="1004835">
                  <a:extLst>
                    <a:ext uri="{9D8B030D-6E8A-4147-A177-3AD203B41FA5}">
                      <a16:colId xmlns:a16="http://schemas.microsoft.com/office/drawing/2014/main" val="3461694118"/>
                    </a:ext>
                  </a:extLst>
                </a:gridCol>
                <a:gridCol w="874207">
                  <a:extLst>
                    <a:ext uri="{9D8B030D-6E8A-4147-A177-3AD203B41FA5}">
                      <a16:colId xmlns:a16="http://schemas.microsoft.com/office/drawing/2014/main" val="2447547013"/>
                    </a:ext>
                  </a:extLst>
                </a:gridCol>
                <a:gridCol w="1225899">
                  <a:extLst>
                    <a:ext uri="{9D8B030D-6E8A-4147-A177-3AD203B41FA5}">
                      <a16:colId xmlns:a16="http://schemas.microsoft.com/office/drawing/2014/main" val="2128753147"/>
                    </a:ext>
                  </a:extLst>
                </a:gridCol>
                <a:gridCol w="1302643">
                  <a:extLst>
                    <a:ext uri="{9D8B030D-6E8A-4147-A177-3AD203B41FA5}">
                      <a16:colId xmlns:a16="http://schemas.microsoft.com/office/drawing/2014/main" val="99539387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季节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buNone/>
                      </a:pPr>
                      <a:r>
                        <a:rPr lang="en-US" altLang="zh-CN" sz="105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RMSE</a:t>
                      </a:r>
                      <a:endParaRPr lang="zh-CN" altLang="en-US" sz="105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zh-CN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MAE</a:t>
                      </a: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zh-CN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R</a:t>
                      </a:r>
                      <a:r>
                        <a:rPr lang="zh-CN" altLang="en-US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方</a:t>
                      </a: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buNone/>
                      </a:pPr>
                      <a:r>
                        <a:rPr lang="zh-CN" altLang="en-US" sz="105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验证集</a:t>
                      </a:r>
                      <a:r>
                        <a:rPr lang="en-US" altLang="zh-CN" sz="105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RMSE</a:t>
                      </a:r>
                      <a:endParaRPr lang="zh-CN" altLang="en-US" sz="105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altLang="en-US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验证集</a:t>
                      </a:r>
                      <a:r>
                        <a:rPr lang="en-US" altLang="zh-CN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MAE</a:t>
                      </a: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altLang="en-US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验证集</a:t>
                      </a:r>
                      <a:r>
                        <a:rPr lang="en-US" altLang="zh-CN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R</a:t>
                      </a:r>
                      <a:r>
                        <a:rPr lang="zh-CN" altLang="en-US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方</a:t>
                      </a: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78805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050" kern="10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冬季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79025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050" kern="10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秋季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17948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050" kern="10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夏季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9347528"/>
                  </a:ext>
                </a:extLst>
              </a:tr>
            </a:tbl>
          </a:graphicData>
        </a:graphic>
      </p:graphicFrame>
      <p:sp>
        <p:nvSpPr>
          <p:cNvPr id="7" name="矩形 6">
            <a:extLst>
              <a:ext uri="{FF2B5EF4-FFF2-40B4-BE49-F238E27FC236}">
                <a16:creationId xmlns:a16="http://schemas.microsoft.com/office/drawing/2014/main" id="{13C20EC5-6CCC-848E-5A69-56708BE80B77}"/>
              </a:ext>
            </a:extLst>
          </p:cNvPr>
          <p:cNvSpPr/>
          <p:nvPr/>
        </p:nvSpPr>
        <p:spPr>
          <a:xfrm>
            <a:off x="551901" y="1422434"/>
            <a:ext cx="1295626" cy="451923"/>
          </a:xfrm>
          <a:prstGeom prst="rect">
            <a:avLst/>
          </a:prstGeom>
          <a:pattFill prst="ltDnDiag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600" b="1" dirty="0">
                <a:solidFill>
                  <a:srgbClr val="33A3FF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模型结果</a:t>
            </a:r>
            <a:endParaRPr kumimoji="0" lang="zh-CN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33A3FF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18B48AB-0D6F-01C1-929F-0BECBBFD9D35}"/>
              </a:ext>
            </a:extLst>
          </p:cNvPr>
          <p:cNvSpPr/>
          <p:nvPr/>
        </p:nvSpPr>
        <p:spPr>
          <a:xfrm>
            <a:off x="750707" y="2853732"/>
            <a:ext cx="898014" cy="25120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/>
              <a:t>二分类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9949200-9EE9-4D2A-AAE5-C0F3FD077C65}"/>
              </a:ext>
            </a:extLst>
          </p:cNvPr>
          <p:cNvSpPr/>
          <p:nvPr/>
        </p:nvSpPr>
        <p:spPr>
          <a:xfrm>
            <a:off x="750707" y="4604818"/>
            <a:ext cx="898014" cy="25120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/>
              <a:t>回归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91DD70A-BC19-E12A-EEE6-239C87B4B91E}"/>
              </a:ext>
            </a:extLst>
          </p:cNvPr>
          <p:cNvSpPr txBox="1"/>
          <p:nvPr/>
        </p:nvSpPr>
        <p:spPr>
          <a:xfrm>
            <a:off x="479403" y="2106655"/>
            <a:ext cx="639367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zh-CN" altLang="en-US" sz="1800" dirty="0">
                <a:solidFill>
                  <a:schemeClr val="tx1"/>
                </a:solidFill>
              </a:rPr>
              <a:t>以</a:t>
            </a:r>
            <a:r>
              <a:rPr lang="en-US" altLang="zh-CN" sz="1800" dirty="0">
                <a:solidFill>
                  <a:schemeClr val="tx1"/>
                </a:solidFill>
              </a:rPr>
              <a:t>20%</a:t>
            </a:r>
            <a:r>
              <a:rPr lang="zh-CN" altLang="en-US" sz="1800" dirty="0">
                <a:solidFill>
                  <a:schemeClr val="tx1"/>
                </a:solidFill>
              </a:rPr>
              <a:t>的比例划分死淘率，以日龄维度的指标建模的模型结果</a:t>
            </a:r>
          </a:p>
        </p:txBody>
      </p:sp>
    </p:spTree>
    <p:extLst>
      <p:ext uri="{BB962C8B-B14F-4D97-AF65-F5344CB8AC3E}">
        <p14:creationId xmlns:p14="http://schemas.microsoft.com/office/powerpoint/2010/main" val="112578055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2A1A9C-5190-5B65-A2CB-E0FF2BA98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箭头: 五边形 7">
            <a:extLst>
              <a:ext uri="{FF2B5EF4-FFF2-40B4-BE49-F238E27FC236}">
                <a16:creationId xmlns:a16="http://schemas.microsoft.com/office/drawing/2014/main" id="{E803A026-01E2-6C93-776F-82F6FB0A68D3}"/>
              </a:ext>
            </a:extLst>
          </p:cNvPr>
          <p:cNvSpPr/>
          <p:nvPr/>
        </p:nvSpPr>
        <p:spPr>
          <a:xfrm>
            <a:off x="0" y="591378"/>
            <a:ext cx="8067675" cy="576475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91BA4BEE-989F-8891-2086-D1385DBE5570}"/>
              </a:ext>
            </a:extLst>
          </p:cNvPr>
          <p:cNvSpPr txBox="1"/>
          <p:nvPr/>
        </p:nvSpPr>
        <p:spPr>
          <a:xfrm>
            <a:off x="313885" y="31758"/>
            <a:ext cx="3277040" cy="62811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706B3BDE-6044-C186-8C1A-E1D5BDDAF721}"/>
              </a:ext>
            </a:extLst>
          </p:cNvPr>
          <p:cNvSpPr txBox="1"/>
          <p:nvPr/>
        </p:nvSpPr>
        <p:spPr>
          <a:xfrm>
            <a:off x="551901" y="559215"/>
            <a:ext cx="7249074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固定变量和温度数据对死淘率是否存在影响？</a:t>
            </a:r>
          </a:p>
        </p:txBody>
      </p:sp>
      <p:sp>
        <p:nvSpPr>
          <p:cNvPr id="21" name="标题 1">
            <a:extLst>
              <a:ext uri="{FF2B5EF4-FFF2-40B4-BE49-F238E27FC236}">
                <a16:creationId xmlns:a16="http://schemas.microsoft.com/office/drawing/2014/main" id="{44E9100A-92E7-2C75-CB82-1A232C36E45B}"/>
              </a:ext>
            </a:extLst>
          </p:cNvPr>
          <p:cNvSpPr txBox="1"/>
          <p:nvPr/>
        </p:nvSpPr>
        <p:spPr>
          <a:xfrm>
            <a:off x="98783" y="-30126"/>
            <a:ext cx="11239200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accent5">
                    <a:lumMod val="75000"/>
                  </a:schemeClr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死淘分析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DF8F3C6-46A1-8A54-1352-AD9B6F6C3FAA}"/>
              </a:ext>
            </a:extLst>
          </p:cNvPr>
          <p:cNvSpPr/>
          <p:nvPr/>
        </p:nvSpPr>
        <p:spPr>
          <a:xfrm>
            <a:off x="551901" y="1422434"/>
            <a:ext cx="1295626" cy="451923"/>
          </a:xfrm>
          <a:prstGeom prst="rect">
            <a:avLst/>
          </a:prstGeom>
          <a:pattFill prst="ltDnDiag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600" b="1" dirty="0">
                <a:solidFill>
                  <a:srgbClr val="33A3FF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模型结果</a:t>
            </a:r>
            <a:endParaRPr kumimoji="0" lang="zh-CN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33A3FF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DADC9B7-77E9-3AE8-07F2-42C32298AEC6}"/>
              </a:ext>
            </a:extLst>
          </p:cNvPr>
          <p:cNvSpPr txBox="1"/>
          <p:nvPr/>
        </p:nvSpPr>
        <p:spPr>
          <a:xfrm>
            <a:off x="479403" y="2106655"/>
            <a:ext cx="8723736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zh-CN" altLang="en-US" sz="1800" dirty="0">
                <a:solidFill>
                  <a:schemeClr val="tx1"/>
                </a:solidFill>
              </a:rPr>
              <a:t>以</a:t>
            </a:r>
            <a:r>
              <a:rPr lang="en-US" altLang="zh-CN" sz="1800" dirty="0">
                <a:solidFill>
                  <a:schemeClr val="tx1"/>
                </a:solidFill>
              </a:rPr>
              <a:t>20%</a:t>
            </a:r>
            <a:r>
              <a:rPr lang="zh-CN" altLang="en-US" sz="1800" dirty="0">
                <a:solidFill>
                  <a:schemeClr val="tx1"/>
                </a:solidFill>
              </a:rPr>
              <a:t>的比例划分死淘率，以日龄维度的指标建模的模型重要变量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CAA54F7-B4D3-9810-CF64-156660B2C953}"/>
              </a:ext>
            </a:extLst>
          </p:cNvPr>
          <p:cNvSpPr txBox="1"/>
          <p:nvPr/>
        </p:nvSpPr>
        <p:spPr>
          <a:xfrm>
            <a:off x="1492501" y="3265513"/>
            <a:ext cx="1013344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['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温度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1-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平均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_MEAN_34', '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最低温度变化率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_17', '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温度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5-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平均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_MEAN_16', 'DENSITY', '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内外温差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_MEAN_15', 'HOUSEAMOUNT', '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温度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5-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平</a:t>
            </a:r>
          </a:p>
          <a:p>
            <a:pPr algn="just">
              <a:buNone/>
            </a:pP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均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_MEAN_0', '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最低温度变化率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_13', '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最高温度变化率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_20', 'FARMSUPERVISOR', '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外部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平均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_MEAN_35', '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温度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3-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平均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_MEAN_3', '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最高温</a:t>
            </a:r>
          </a:p>
          <a:p>
            <a:pPr algn="just">
              <a:buNone/>
            </a:pP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度变化率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_24', '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每日温差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_33', '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温度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3-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平均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_MEAN_10', '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内外温差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_MEAN_1', '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平均温度变化率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_22', '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平均温度变化率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_21', '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最低温度</a:t>
            </a:r>
          </a:p>
          <a:p>
            <a:pPr algn="just">
              <a:buNone/>
            </a:pP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变化率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_35', '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平均温度变化率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_28']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5C7F0E5-4ADE-5C79-1DE0-EDC398363D9E}"/>
              </a:ext>
            </a:extLst>
          </p:cNvPr>
          <p:cNvSpPr txBox="1"/>
          <p:nvPr/>
        </p:nvSpPr>
        <p:spPr>
          <a:xfrm>
            <a:off x="788569" y="3429000"/>
            <a:ext cx="82229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冬季</a:t>
            </a:r>
            <a:endParaRPr lang="zh-CN" altLang="zh-CN" sz="12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ABC21C1-EB2E-43BC-19F2-71C3E11DF1FC}"/>
              </a:ext>
            </a:extLst>
          </p:cNvPr>
          <p:cNvSpPr txBox="1"/>
          <p:nvPr/>
        </p:nvSpPr>
        <p:spPr>
          <a:xfrm>
            <a:off x="788568" y="4256010"/>
            <a:ext cx="82229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zh-CN" altLang="en-US" sz="1200" kern="100" dirty="0"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夏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季</a:t>
            </a:r>
            <a:endParaRPr lang="zh-CN" altLang="zh-CN" sz="12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03DEF6B-F5BD-E3B8-2062-918AFB581085}"/>
              </a:ext>
            </a:extLst>
          </p:cNvPr>
          <p:cNvSpPr txBox="1"/>
          <p:nvPr/>
        </p:nvSpPr>
        <p:spPr>
          <a:xfrm>
            <a:off x="788568" y="5217229"/>
            <a:ext cx="82229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秋季</a:t>
            </a:r>
            <a:endParaRPr lang="zh-CN" altLang="zh-CN" sz="12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503352E-C8A3-B2DA-9B6E-C688046ABCC6}"/>
              </a:ext>
            </a:extLst>
          </p:cNvPr>
          <p:cNvSpPr/>
          <p:nvPr/>
        </p:nvSpPr>
        <p:spPr>
          <a:xfrm>
            <a:off x="1671516" y="2813161"/>
            <a:ext cx="888932" cy="27146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第一重要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7A93029-ACD9-0E40-ABFB-61D9EF1D9674}"/>
              </a:ext>
            </a:extLst>
          </p:cNvPr>
          <p:cNvSpPr/>
          <p:nvPr/>
        </p:nvSpPr>
        <p:spPr>
          <a:xfrm>
            <a:off x="1597576" y="2813161"/>
            <a:ext cx="888932" cy="27146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第一重要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1759A45-4790-BFD8-5A1D-9B59E256D8FD}"/>
              </a:ext>
            </a:extLst>
          </p:cNvPr>
          <p:cNvSpPr/>
          <p:nvPr/>
        </p:nvSpPr>
        <p:spPr>
          <a:xfrm>
            <a:off x="4814573" y="2813159"/>
            <a:ext cx="888932" cy="27146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第四重要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293B0585-26FE-2A02-328D-8280ACB5006B}"/>
              </a:ext>
            </a:extLst>
          </p:cNvPr>
          <p:cNvSpPr/>
          <p:nvPr/>
        </p:nvSpPr>
        <p:spPr>
          <a:xfrm>
            <a:off x="2723309" y="2818697"/>
            <a:ext cx="888932" cy="27146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第二重要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09C8408-9C2C-439A-09F7-CA9B9B441CD4}"/>
              </a:ext>
            </a:extLst>
          </p:cNvPr>
          <p:cNvSpPr/>
          <p:nvPr/>
        </p:nvSpPr>
        <p:spPr>
          <a:xfrm>
            <a:off x="3762780" y="2813160"/>
            <a:ext cx="888932" cy="27146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第三重要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512AD6F-0F69-6E01-A205-FCA7D2750622}"/>
              </a:ext>
            </a:extLst>
          </p:cNvPr>
          <p:cNvSpPr/>
          <p:nvPr/>
        </p:nvSpPr>
        <p:spPr>
          <a:xfrm>
            <a:off x="5866367" y="2813159"/>
            <a:ext cx="888932" cy="27146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第五重要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3D9438B-45FC-154E-2EC7-27CDD2DF22F8}"/>
              </a:ext>
            </a:extLst>
          </p:cNvPr>
          <p:cNvSpPr/>
          <p:nvPr/>
        </p:nvSpPr>
        <p:spPr>
          <a:xfrm>
            <a:off x="7972431" y="2808282"/>
            <a:ext cx="888932" cy="27146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第七重要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29983032-47B5-70FB-96E5-174ECEFA049F}"/>
              </a:ext>
            </a:extLst>
          </p:cNvPr>
          <p:cNvSpPr/>
          <p:nvPr/>
        </p:nvSpPr>
        <p:spPr>
          <a:xfrm>
            <a:off x="6920638" y="2808283"/>
            <a:ext cx="888932" cy="27146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第六重要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8E42AD4-CD09-9F24-77C3-E592694A136A}"/>
              </a:ext>
            </a:extLst>
          </p:cNvPr>
          <p:cNvSpPr/>
          <p:nvPr/>
        </p:nvSpPr>
        <p:spPr>
          <a:xfrm>
            <a:off x="9024225" y="2808282"/>
            <a:ext cx="888932" cy="27146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第八重要</a:t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47F0BAF8-CBDD-C559-008A-B5059094B841}"/>
              </a:ext>
            </a:extLst>
          </p:cNvPr>
          <p:cNvSpPr txBox="1"/>
          <p:nvPr/>
        </p:nvSpPr>
        <p:spPr>
          <a:xfrm>
            <a:off x="1597576" y="5435566"/>
            <a:ext cx="974040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just">
              <a:buNone/>
              <a:defRPr sz="1200" kern="10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defRPr>
            </a:lvl1pPr>
          </a:lstStyle>
          <a:p>
            <a:r>
              <a:rPr lang="en-US" altLang="zh-CN"/>
              <a:t>['</a:t>
            </a:r>
            <a:r>
              <a:rPr lang="zh-CN" altLang="en-US"/>
              <a:t>最高温度变化率</a:t>
            </a:r>
            <a:r>
              <a:rPr lang="en-US" altLang="zh-CN"/>
              <a:t>_27', '</a:t>
            </a:r>
            <a:r>
              <a:rPr lang="zh-CN" altLang="en-US"/>
              <a:t>内外温差</a:t>
            </a:r>
            <a:r>
              <a:rPr lang="en-US" altLang="zh-CN"/>
              <a:t>_MEAN_21', 'HARVESTSTATUS_month', '</a:t>
            </a:r>
            <a:r>
              <a:rPr lang="zh-CN" altLang="en-US"/>
              <a:t>平均温度变化率</a:t>
            </a:r>
            <a:r>
              <a:rPr lang="en-US" altLang="zh-CN"/>
              <a:t>_1', '</a:t>
            </a:r>
            <a:r>
              <a:rPr lang="zh-CN" altLang="en-US"/>
              <a:t>温度</a:t>
            </a:r>
            <a:r>
              <a:rPr lang="en-US" altLang="zh-CN"/>
              <a:t>1-</a:t>
            </a:r>
            <a:r>
              <a:rPr lang="zh-CN" altLang="en-US"/>
              <a:t>平均</a:t>
            </a:r>
            <a:r>
              <a:rPr lang="en-US" altLang="zh-CN"/>
              <a:t>_MEAN_-1', '</a:t>
            </a:r>
            <a:r>
              <a:rPr lang="zh-CN" altLang="en-US"/>
              <a:t>温度</a:t>
            </a:r>
            <a:r>
              <a:rPr lang="en-US" altLang="zh-CN"/>
              <a:t>4-</a:t>
            </a:r>
            <a:r>
              <a:rPr lang="zh-CN" altLang="en-US"/>
              <a:t>平均</a:t>
            </a:r>
            <a:r>
              <a:rPr lang="en-US" altLang="zh-CN"/>
              <a:t>_MEAN_29', '</a:t>
            </a:r>
            <a:r>
              <a:rPr lang="zh-CN" altLang="en-US"/>
              <a:t>平均温度变化率</a:t>
            </a:r>
            <a:r>
              <a:rPr lang="en-US" altLang="zh-CN"/>
              <a:t>_12', '</a:t>
            </a:r>
            <a:r>
              <a:rPr lang="zh-CN" altLang="en-US"/>
              <a:t>最高温度变化率</a:t>
            </a:r>
            <a:r>
              <a:rPr lang="en-US" altLang="zh-CN"/>
              <a:t>_20', '</a:t>
            </a:r>
            <a:r>
              <a:rPr lang="zh-CN" altLang="en-US"/>
              <a:t>平均温度变化率</a:t>
            </a:r>
            <a:r>
              <a:rPr lang="en-US" altLang="zh-CN"/>
              <a:t>_31', '</a:t>
            </a:r>
            <a:r>
              <a:rPr lang="zh-CN" altLang="en-US"/>
              <a:t>平均温度变化率</a:t>
            </a:r>
            <a:r>
              <a:rPr lang="en-US" altLang="zh-CN"/>
              <a:t>_3', '</a:t>
            </a:r>
            <a:r>
              <a:rPr lang="zh-CN" altLang="en-US"/>
              <a:t>每日温差</a:t>
            </a:r>
            <a:r>
              <a:rPr lang="en-US" altLang="zh-CN"/>
              <a:t>_35', '</a:t>
            </a:r>
            <a:r>
              <a:rPr lang="zh-CN" altLang="en-US"/>
              <a:t>每日温差</a:t>
            </a:r>
            <a:r>
              <a:rPr lang="en-US" altLang="zh-CN"/>
              <a:t>_31', ' </a:t>
            </a:r>
          </a:p>
          <a:p>
            <a:r>
              <a:rPr lang="zh-CN" altLang="en-US"/>
              <a:t>最高温度变化率</a:t>
            </a:r>
            <a:r>
              <a:rPr lang="en-US" altLang="zh-CN"/>
              <a:t>_35', '</a:t>
            </a:r>
            <a:r>
              <a:rPr lang="zh-CN" altLang="en-US"/>
              <a:t>温度</a:t>
            </a:r>
            <a:r>
              <a:rPr lang="en-US" altLang="zh-CN"/>
              <a:t>1-</a:t>
            </a:r>
            <a:r>
              <a:rPr lang="zh-CN" altLang="en-US"/>
              <a:t>平均</a:t>
            </a:r>
            <a:r>
              <a:rPr lang="en-US" altLang="zh-CN"/>
              <a:t>_MEAN_0', '</a:t>
            </a:r>
            <a:r>
              <a:rPr lang="zh-CN" altLang="en-US"/>
              <a:t>内外温差</a:t>
            </a:r>
            <a:r>
              <a:rPr lang="en-US" altLang="zh-CN"/>
              <a:t>_MEAN_33', 'ELECTRICITY_COST', '</a:t>
            </a:r>
            <a:r>
              <a:rPr lang="zh-CN" altLang="en-US"/>
              <a:t>每日温差</a:t>
            </a:r>
            <a:r>
              <a:rPr lang="en-US" altLang="zh-CN"/>
              <a:t>_22', '</a:t>
            </a:r>
            <a:r>
              <a:rPr lang="zh-CN" altLang="en-US"/>
              <a:t>最高温度变化率</a:t>
            </a:r>
            <a:r>
              <a:rPr lang="en-US" altLang="zh-CN"/>
              <a:t>_5', '</a:t>
            </a:r>
            <a:r>
              <a:rPr lang="zh-CN" altLang="en-US"/>
              <a:t>温度</a:t>
            </a:r>
            <a:r>
              <a:rPr lang="en-US" altLang="zh-CN"/>
              <a:t>1-</a:t>
            </a:r>
            <a:r>
              <a:rPr lang="zh-CN" altLang="en-US"/>
              <a:t>平均</a:t>
            </a:r>
            <a:r>
              <a:rPr lang="en-US" altLang="zh-CN"/>
              <a:t>_MEAN_5', '</a:t>
            </a:r>
            <a:r>
              <a:rPr lang="zh-CN" altLang="en-US"/>
              <a:t>最低温度变化率</a:t>
            </a:r>
            <a:r>
              <a:rPr lang="en-US" altLang="zh-CN"/>
              <a:t>_3']</a:t>
            </a:r>
            <a:endParaRPr lang="en-US" altLang="zh-CN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1EACB63F-0D12-85B4-79FC-9F3E4CC6DE46}"/>
              </a:ext>
            </a:extLst>
          </p:cNvPr>
          <p:cNvSpPr txBox="1"/>
          <p:nvPr/>
        </p:nvSpPr>
        <p:spPr>
          <a:xfrm>
            <a:off x="1492501" y="4314847"/>
            <a:ext cx="946554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just">
              <a:buNone/>
              <a:defRPr sz="1200" kern="10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defRPr>
            </a:lvl1pPr>
          </a:lstStyle>
          <a:p>
            <a:r>
              <a:rPr lang="en-US" altLang="zh-CN" dirty="0"/>
              <a:t>['</a:t>
            </a:r>
            <a:r>
              <a:rPr lang="zh-CN" altLang="zh-CN" dirty="0"/>
              <a:t>每日温差</a:t>
            </a:r>
            <a:r>
              <a:rPr lang="en-US" altLang="zh-CN" dirty="0"/>
              <a:t>_20', '</a:t>
            </a:r>
            <a:r>
              <a:rPr lang="zh-CN" altLang="zh-CN" dirty="0"/>
              <a:t>每日温差</a:t>
            </a:r>
            <a:r>
              <a:rPr lang="en-US" altLang="zh-CN" dirty="0"/>
              <a:t>_31', '</a:t>
            </a:r>
            <a:r>
              <a:rPr lang="zh-CN" altLang="zh-CN" dirty="0"/>
              <a:t>温度</a:t>
            </a:r>
            <a:r>
              <a:rPr lang="en-US" altLang="zh-CN" dirty="0"/>
              <a:t>1-</a:t>
            </a:r>
            <a:r>
              <a:rPr lang="zh-CN" altLang="zh-CN" dirty="0"/>
              <a:t>平均</a:t>
            </a:r>
            <a:r>
              <a:rPr lang="en-US" altLang="zh-CN" dirty="0"/>
              <a:t>_MEAN_16', '</a:t>
            </a:r>
            <a:r>
              <a:rPr lang="zh-CN" altLang="zh-CN" dirty="0"/>
              <a:t>温度</a:t>
            </a:r>
            <a:r>
              <a:rPr lang="en-US" altLang="zh-CN" dirty="0"/>
              <a:t>1-</a:t>
            </a:r>
            <a:r>
              <a:rPr lang="zh-CN" altLang="zh-CN" dirty="0"/>
              <a:t>平均</a:t>
            </a:r>
            <a:r>
              <a:rPr lang="en-US" altLang="zh-CN" dirty="0"/>
              <a:t>_MEAN_0', '</a:t>
            </a:r>
            <a:r>
              <a:rPr lang="zh-CN" altLang="zh-CN" dirty="0"/>
              <a:t>温度</a:t>
            </a:r>
            <a:r>
              <a:rPr lang="en-US" altLang="zh-CN" dirty="0"/>
              <a:t>5-</a:t>
            </a:r>
            <a:r>
              <a:rPr lang="zh-CN" altLang="zh-CN" dirty="0"/>
              <a:t>平均</a:t>
            </a:r>
            <a:r>
              <a:rPr lang="en-US" altLang="zh-CN" dirty="0"/>
              <a:t>_MEAN_0', '</a:t>
            </a:r>
            <a:r>
              <a:rPr lang="zh-CN" altLang="zh-CN" dirty="0"/>
              <a:t>鸡舍温度</a:t>
            </a:r>
            <a:r>
              <a:rPr lang="en-US" altLang="zh-CN" dirty="0"/>
              <a:t>-</a:t>
            </a:r>
            <a:r>
              <a:rPr lang="zh-CN" altLang="zh-CN" dirty="0"/>
              <a:t>最低</a:t>
            </a:r>
            <a:r>
              <a:rPr lang="en-US" altLang="zh-CN" dirty="0"/>
              <a:t>_MIN_10', '</a:t>
            </a:r>
            <a:r>
              <a:rPr lang="zh-CN" altLang="zh-CN" dirty="0"/>
              <a:t>最</a:t>
            </a:r>
          </a:p>
          <a:p>
            <a:r>
              <a:rPr lang="zh-CN" altLang="zh-CN" dirty="0"/>
              <a:t>高温度变化率</a:t>
            </a:r>
            <a:r>
              <a:rPr lang="en-US" altLang="zh-CN" dirty="0"/>
              <a:t>_34', 'DOCAMOUNT', '</a:t>
            </a:r>
            <a:r>
              <a:rPr lang="zh-CN" altLang="zh-CN" dirty="0"/>
              <a:t>温度</a:t>
            </a:r>
            <a:r>
              <a:rPr lang="en-US" altLang="zh-CN" dirty="0"/>
              <a:t>1-</a:t>
            </a:r>
            <a:r>
              <a:rPr lang="zh-CN" altLang="zh-CN" dirty="0"/>
              <a:t>平均</a:t>
            </a:r>
            <a:r>
              <a:rPr lang="en-US" altLang="zh-CN" dirty="0"/>
              <a:t>_MEAN_23', 'GAS_COST', '</a:t>
            </a:r>
            <a:r>
              <a:rPr lang="zh-CN" altLang="zh-CN" dirty="0"/>
              <a:t>温度</a:t>
            </a:r>
            <a:r>
              <a:rPr lang="en-US" altLang="zh-CN" dirty="0"/>
              <a:t>1-</a:t>
            </a:r>
            <a:r>
              <a:rPr lang="zh-CN" altLang="zh-CN" dirty="0"/>
              <a:t>平均</a:t>
            </a:r>
            <a:r>
              <a:rPr lang="en-US" altLang="zh-CN" dirty="0"/>
              <a:t>_MEAN_29', '</a:t>
            </a:r>
            <a:r>
              <a:rPr lang="zh-CN" altLang="zh-CN" dirty="0"/>
              <a:t>湿度内部平均</a:t>
            </a:r>
            <a:r>
              <a:rPr lang="en-US" altLang="zh-CN" dirty="0"/>
              <a:t>_MEAN_12', '</a:t>
            </a:r>
            <a:r>
              <a:rPr lang="zh-CN" altLang="zh-CN" dirty="0"/>
              <a:t>平均温度变</a:t>
            </a:r>
          </a:p>
          <a:p>
            <a:r>
              <a:rPr lang="zh-CN" altLang="zh-CN" dirty="0"/>
              <a:t>化率</a:t>
            </a:r>
            <a:r>
              <a:rPr lang="en-US" altLang="zh-CN" dirty="0"/>
              <a:t>_11', '</a:t>
            </a:r>
            <a:r>
              <a:rPr lang="zh-CN" altLang="zh-CN" dirty="0"/>
              <a:t>最低温度变化率</a:t>
            </a:r>
            <a:r>
              <a:rPr lang="en-US" altLang="zh-CN" dirty="0"/>
              <a:t>_16', '</a:t>
            </a:r>
            <a:r>
              <a:rPr lang="zh-CN" altLang="zh-CN" dirty="0"/>
              <a:t>湿度内部平均</a:t>
            </a:r>
            <a:r>
              <a:rPr lang="en-US" altLang="zh-CN" dirty="0"/>
              <a:t>_MEAN_35', '</a:t>
            </a:r>
            <a:r>
              <a:rPr lang="zh-CN" altLang="zh-CN" dirty="0"/>
              <a:t>内外温差</a:t>
            </a:r>
            <a:r>
              <a:rPr lang="en-US" altLang="zh-CN" dirty="0"/>
              <a:t>_MEAN_26', '</a:t>
            </a:r>
            <a:r>
              <a:rPr lang="zh-CN" altLang="zh-CN" dirty="0"/>
              <a:t>最高温度变化率</a:t>
            </a:r>
            <a:r>
              <a:rPr lang="en-US" altLang="zh-CN" dirty="0"/>
              <a:t>_14', '</a:t>
            </a:r>
            <a:r>
              <a:rPr lang="zh-CN" altLang="zh-CN" dirty="0"/>
              <a:t>鸡舍温度</a:t>
            </a:r>
            <a:r>
              <a:rPr lang="en-US" altLang="zh-CN" dirty="0"/>
              <a:t>-</a:t>
            </a:r>
            <a:r>
              <a:rPr lang="zh-CN" altLang="zh-CN" dirty="0"/>
              <a:t>最低</a:t>
            </a:r>
            <a:r>
              <a:rPr lang="en-US" altLang="zh-CN" dirty="0"/>
              <a:t>_MIN_22', ' </a:t>
            </a:r>
            <a:endParaRPr lang="zh-CN" altLang="zh-CN" dirty="0"/>
          </a:p>
          <a:p>
            <a:r>
              <a:rPr lang="zh-CN" altLang="zh-CN" dirty="0"/>
              <a:t>平均温度变化率</a:t>
            </a:r>
            <a:r>
              <a:rPr lang="en-US" altLang="zh-CN" dirty="0"/>
              <a:t>_24', '</a:t>
            </a:r>
            <a:r>
              <a:rPr lang="zh-CN" altLang="zh-CN" dirty="0"/>
              <a:t>每日温差</a:t>
            </a:r>
            <a:r>
              <a:rPr lang="en-US" altLang="zh-CN" dirty="0"/>
              <a:t>_29']</a:t>
            </a:r>
            <a:endParaRPr lang="zh-CN" altLang="zh-CN" dirty="0"/>
          </a:p>
        </p:txBody>
      </p:sp>
    </p:spTree>
    <p:extLst>
      <p:ext uri="{BB962C8B-B14F-4D97-AF65-F5344CB8AC3E}">
        <p14:creationId xmlns:p14="http://schemas.microsoft.com/office/powerpoint/2010/main" val="13044671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B75C0-B3CF-58AF-8D28-CFDC819CD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箭头: 五边形 7">
            <a:extLst>
              <a:ext uri="{FF2B5EF4-FFF2-40B4-BE49-F238E27FC236}">
                <a16:creationId xmlns:a16="http://schemas.microsoft.com/office/drawing/2014/main" id="{E7023EF2-A47C-F9B2-CC26-410B92AFBBAC}"/>
              </a:ext>
            </a:extLst>
          </p:cNvPr>
          <p:cNvSpPr/>
          <p:nvPr/>
        </p:nvSpPr>
        <p:spPr>
          <a:xfrm>
            <a:off x="0" y="591378"/>
            <a:ext cx="8067675" cy="576475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EAB09596-8505-E600-F21C-463B28299443}"/>
              </a:ext>
            </a:extLst>
          </p:cNvPr>
          <p:cNvSpPr txBox="1"/>
          <p:nvPr/>
        </p:nvSpPr>
        <p:spPr>
          <a:xfrm>
            <a:off x="313885" y="31758"/>
            <a:ext cx="3277040" cy="62811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E9F500EA-9C8F-ABCD-8791-ACFF18A990B6}"/>
              </a:ext>
            </a:extLst>
          </p:cNvPr>
          <p:cNvSpPr txBox="1"/>
          <p:nvPr/>
        </p:nvSpPr>
        <p:spPr>
          <a:xfrm>
            <a:off x="551901" y="559215"/>
            <a:ext cx="7249074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固定变量和温度数据对死淘率是否存在影响？</a:t>
            </a:r>
          </a:p>
        </p:txBody>
      </p:sp>
      <p:sp>
        <p:nvSpPr>
          <p:cNvPr id="21" name="标题 1">
            <a:extLst>
              <a:ext uri="{FF2B5EF4-FFF2-40B4-BE49-F238E27FC236}">
                <a16:creationId xmlns:a16="http://schemas.microsoft.com/office/drawing/2014/main" id="{00DAEB99-5427-D1BE-C3D0-E4B7F17B509C}"/>
              </a:ext>
            </a:extLst>
          </p:cNvPr>
          <p:cNvSpPr txBox="1"/>
          <p:nvPr/>
        </p:nvSpPr>
        <p:spPr>
          <a:xfrm>
            <a:off x="98783" y="-30126"/>
            <a:ext cx="11239200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accent5">
                    <a:lumMod val="75000"/>
                  </a:schemeClr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死淘分析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4977DEAA-007B-9716-29C7-A7CAFA9D6D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3731426"/>
              </p:ext>
            </p:extLst>
          </p:nvPr>
        </p:nvGraphicFramePr>
        <p:xfrm>
          <a:off x="750707" y="3331530"/>
          <a:ext cx="6973624" cy="640080"/>
        </p:xfrm>
        <a:graphic>
          <a:graphicData uri="http://schemas.openxmlformats.org/drawingml/2006/table">
            <a:tbl>
              <a:tblPr firstRow="1" firstCol="1" bandRow="1"/>
              <a:tblGrid>
                <a:gridCol w="996232">
                  <a:extLst>
                    <a:ext uri="{9D8B030D-6E8A-4147-A177-3AD203B41FA5}">
                      <a16:colId xmlns:a16="http://schemas.microsoft.com/office/drawing/2014/main" val="3801373755"/>
                    </a:ext>
                  </a:extLst>
                </a:gridCol>
                <a:gridCol w="675505">
                  <a:extLst>
                    <a:ext uri="{9D8B030D-6E8A-4147-A177-3AD203B41FA5}">
                      <a16:colId xmlns:a16="http://schemas.microsoft.com/office/drawing/2014/main" val="811401970"/>
                    </a:ext>
                  </a:extLst>
                </a:gridCol>
                <a:gridCol w="894303">
                  <a:extLst>
                    <a:ext uri="{9D8B030D-6E8A-4147-A177-3AD203B41FA5}">
                      <a16:colId xmlns:a16="http://schemas.microsoft.com/office/drawing/2014/main" val="1679194711"/>
                    </a:ext>
                  </a:extLst>
                </a:gridCol>
                <a:gridCol w="1004835">
                  <a:extLst>
                    <a:ext uri="{9D8B030D-6E8A-4147-A177-3AD203B41FA5}">
                      <a16:colId xmlns:a16="http://schemas.microsoft.com/office/drawing/2014/main" val="3461694118"/>
                    </a:ext>
                  </a:extLst>
                </a:gridCol>
                <a:gridCol w="874207">
                  <a:extLst>
                    <a:ext uri="{9D8B030D-6E8A-4147-A177-3AD203B41FA5}">
                      <a16:colId xmlns:a16="http://schemas.microsoft.com/office/drawing/2014/main" val="2447547013"/>
                    </a:ext>
                  </a:extLst>
                </a:gridCol>
                <a:gridCol w="1225899">
                  <a:extLst>
                    <a:ext uri="{9D8B030D-6E8A-4147-A177-3AD203B41FA5}">
                      <a16:colId xmlns:a16="http://schemas.microsoft.com/office/drawing/2014/main" val="2128753147"/>
                    </a:ext>
                  </a:extLst>
                </a:gridCol>
                <a:gridCol w="1302643">
                  <a:extLst>
                    <a:ext uri="{9D8B030D-6E8A-4147-A177-3AD203B41FA5}">
                      <a16:colId xmlns:a16="http://schemas.microsoft.com/office/drawing/2014/main" val="99539387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050" kern="10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季节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1050" kern="10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AUC</a:t>
                      </a:r>
                      <a:endParaRPr lang="zh-CN" sz="105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050" kern="10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平衡准确率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1050" kern="10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F1-Score</a:t>
                      </a:r>
                      <a:endParaRPr lang="zh-CN" sz="105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验证集</a:t>
                      </a:r>
                      <a:r>
                        <a:rPr lang="en-US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AUC</a:t>
                      </a: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altLang="en-US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验证集平衡准确率</a:t>
                      </a: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altLang="en-US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验证集</a:t>
                      </a:r>
                      <a:r>
                        <a:rPr lang="en-US" altLang="zh-CN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F1-score</a:t>
                      </a: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78805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050" kern="10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冬季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79025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050" kern="10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秋季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17948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050" kern="10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夏季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9347528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9B7E6C08-6895-9A9C-6C47-55B80041E100}"/>
              </a:ext>
            </a:extLst>
          </p:cNvPr>
          <p:cNvGraphicFramePr>
            <a:graphicFrameLocks noGrp="1"/>
          </p:cNvGraphicFramePr>
          <p:nvPr/>
        </p:nvGraphicFramePr>
        <p:xfrm>
          <a:off x="750707" y="5016750"/>
          <a:ext cx="6973624" cy="640080"/>
        </p:xfrm>
        <a:graphic>
          <a:graphicData uri="http://schemas.openxmlformats.org/drawingml/2006/table">
            <a:tbl>
              <a:tblPr firstRow="1" firstCol="1" bandRow="1"/>
              <a:tblGrid>
                <a:gridCol w="996232">
                  <a:extLst>
                    <a:ext uri="{9D8B030D-6E8A-4147-A177-3AD203B41FA5}">
                      <a16:colId xmlns:a16="http://schemas.microsoft.com/office/drawing/2014/main" val="3801373755"/>
                    </a:ext>
                  </a:extLst>
                </a:gridCol>
                <a:gridCol w="675505">
                  <a:extLst>
                    <a:ext uri="{9D8B030D-6E8A-4147-A177-3AD203B41FA5}">
                      <a16:colId xmlns:a16="http://schemas.microsoft.com/office/drawing/2014/main" val="811401970"/>
                    </a:ext>
                  </a:extLst>
                </a:gridCol>
                <a:gridCol w="894303">
                  <a:extLst>
                    <a:ext uri="{9D8B030D-6E8A-4147-A177-3AD203B41FA5}">
                      <a16:colId xmlns:a16="http://schemas.microsoft.com/office/drawing/2014/main" val="1679194711"/>
                    </a:ext>
                  </a:extLst>
                </a:gridCol>
                <a:gridCol w="1004835">
                  <a:extLst>
                    <a:ext uri="{9D8B030D-6E8A-4147-A177-3AD203B41FA5}">
                      <a16:colId xmlns:a16="http://schemas.microsoft.com/office/drawing/2014/main" val="3461694118"/>
                    </a:ext>
                  </a:extLst>
                </a:gridCol>
                <a:gridCol w="874207">
                  <a:extLst>
                    <a:ext uri="{9D8B030D-6E8A-4147-A177-3AD203B41FA5}">
                      <a16:colId xmlns:a16="http://schemas.microsoft.com/office/drawing/2014/main" val="2447547013"/>
                    </a:ext>
                  </a:extLst>
                </a:gridCol>
                <a:gridCol w="1225899">
                  <a:extLst>
                    <a:ext uri="{9D8B030D-6E8A-4147-A177-3AD203B41FA5}">
                      <a16:colId xmlns:a16="http://schemas.microsoft.com/office/drawing/2014/main" val="2128753147"/>
                    </a:ext>
                  </a:extLst>
                </a:gridCol>
                <a:gridCol w="1302643">
                  <a:extLst>
                    <a:ext uri="{9D8B030D-6E8A-4147-A177-3AD203B41FA5}">
                      <a16:colId xmlns:a16="http://schemas.microsoft.com/office/drawing/2014/main" val="99539387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季节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buNone/>
                      </a:pPr>
                      <a:r>
                        <a:rPr lang="en-US" altLang="zh-CN" sz="105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RMSE</a:t>
                      </a:r>
                      <a:endParaRPr lang="zh-CN" altLang="en-US" sz="105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zh-CN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MAE</a:t>
                      </a: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zh-CN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R</a:t>
                      </a:r>
                      <a:r>
                        <a:rPr lang="zh-CN" altLang="en-US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方</a:t>
                      </a: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buNone/>
                      </a:pPr>
                      <a:r>
                        <a:rPr lang="zh-CN" altLang="en-US" sz="105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验证集</a:t>
                      </a:r>
                      <a:r>
                        <a:rPr lang="en-US" altLang="zh-CN" sz="105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RMSE</a:t>
                      </a:r>
                      <a:endParaRPr lang="zh-CN" altLang="en-US" sz="105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altLang="en-US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验证集</a:t>
                      </a:r>
                      <a:r>
                        <a:rPr lang="en-US" altLang="zh-CN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MAE</a:t>
                      </a: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altLang="en-US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验证集</a:t>
                      </a:r>
                      <a:r>
                        <a:rPr lang="en-US" altLang="zh-CN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R</a:t>
                      </a:r>
                      <a:r>
                        <a:rPr lang="zh-CN" altLang="en-US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方</a:t>
                      </a: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78805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050" kern="10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冬季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79025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050" kern="10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秋季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17948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050" kern="10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夏季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9347528"/>
                  </a:ext>
                </a:extLst>
              </a:tr>
            </a:tbl>
          </a:graphicData>
        </a:graphic>
      </p:graphicFrame>
      <p:sp>
        <p:nvSpPr>
          <p:cNvPr id="7" name="矩形 6">
            <a:extLst>
              <a:ext uri="{FF2B5EF4-FFF2-40B4-BE49-F238E27FC236}">
                <a16:creationId xmlns:a16="http://schemas.microsoft.com/office/drawing/2014/main" id="{7E4F592D-1BB6-E090-36B9-3198315BAAA4}"/>
              </a:ext>
            </a:extLst>
          </p:cNvPr>
          <p:cNvSpPr/>
          <p:nvPr/>
        </p:nvSpPr>
        <p:spPr>
          <a:xfrm>
            <a:off x="551901" y="1422434"/>
            <a:ext cx="1295626" cy="451923"/>
          </a:xfrm>
          <a:prstGeom prst="rect">
            <a:avLst/>
          </a:prstGeom>
          <a:pattFill prst="ltDnDiag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600" b="1" dirty="0">
                <a:solidFill>
                  <a:srgbClr val="33A3FF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模型结果</a:t>
            </a:r>
            <a:endParaRPr kumimoji="0" lang="zh-CN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33A3FF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51A4214-CCBA-28E4-A774-D421C208761E}"/>
              </a:ext>
            </a:extLst>
          </p:cNvPr>
          <p:cNvSpPr/>
          <p:nvPr/>
        </p:nvSpPr>
        <p:spPr>
          <a:xfrm>
            <a:off x="750707" y="2853732"/>
            <a:ext cx="898014" cy="25120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/>
              <a:t>二分类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539AFC0-1EBF-98C3-57B2-AC32FB6543DD}"/>
              </a:ext>
            </a:extLst>
          </p:cNvPr>
          <p:cNvSpPr/>
          <p:nvPr/>
        </p:nvSpPr>
        <p:spPr>
          <a:xfrm>
            <a:off x="750707" y="4604818"/>
            <a:ext cx="898014" cy="25120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/>
              <a:t>回归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38F1DEA-98F5-C191-FD32-5CA53A38D789}"/>
              </a:ext>
            </a:extLst>
          </p:cNvPr>
          <p:cNvSpPr txBox="1"/>
          <p:nvPr/>
        </p:nvSpPr>
        <p:spPr>
          <a:xfrm>
            <a:off x="493338" y="2149747"/>
            <a:ext cx="73662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zh-CN" altLang="en-US" sz="1800" dirty="0">
                <a:solidFill>
                  <a:schemeClr val="tx1"/>
                </a:solidFill>
              </a:rPr>
              <a:t>以</a:t>
            </a:r>
            <a:r>
              <a:rPr lang="en-US" altLang="zh-CN" sz="1800" dirty="0">
                <a:solidFill>
                  <a:schemeClr val="tx1"/>
                </a:solidFill>
              </a:rPr>
              <a:t>20%</a:t>
            </a:r>
            <a:r>
              <a:rPr lang="zh-CN" altLang="en-US" sz="1800" dirty="0">
                <a:solidFill>
                  <a:schemeClr val="tx1"/>
                </a:solidFill>
              </a:rPr>
              <a:t>的比例划分死淘率，</a:t>
            </a:r>
            <a:r>
              <a:rPr lang="zh-CN" altLang="zh-CN" sz="18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按</a:t>
            </a:r>
            <a:r>
              <a:rPr lang="en-US" altLang="zh-CN" sz="18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7</a:t>
            </a:r>
            <a:r>
              <a:rPr lang="zh-CN" altLang="zh-CN" sz="18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天滑窗</a:t>
            </a:r>
            <a:r>
              <a:rPr lang="zh-CN" altLang="en-US" sz="18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加工</a:t>
            </a:r>
            <a:r>
              <a:rPr lang="zh-CN" altLang="en-US" sz="1800" dirty="0">
                <a:solidFill>
                  <a:schemeClr val="tx1"/>
                </a:solidFill>
              </a:rPr>
              <a:t>日龄阶段指标建模的模型结果</a:t>
            </a:r>
          </a:p>
        </p:txBody>
      </p:sp>
    </p:spTree>
    <p:extLst>
      <p:ext uri="{BB962C8B-B14F-4D97-AF65-F5344CB8AC3E}">
        <p14:creationId xmlns:p14="http://schemas.microsoft.com/office/powerpoint/2010/main" val="11523915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135CA9-18F1-6895-6DD2-D4113FB57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箭头: 五边形 7">
            <a:extLst>
              <a:ext uri="{FF2B5EF4-FFF2-40B4-BE49-F238E27FC236}">
                <a16:creationId xmlns:a16="http://schemas.microsoft.com/office/drawing/2014/main" id="{D49B3ECB-C455-74DF-5415-2A1E7DC66B53}"/>
              </a:ext>
            </a:extLst>
          </p:cNvPr>
          <p:cNvSpPr/>
          <p:nvPr/>
        </p:nvSpPr>
        <p:spPr>
          <a:xfrm>
            <a:off x="0" y="591378"/>
            <a:ext cx="8067675" cy="576475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F72699D7-4C73-EE47-FE32-346A9084EB2B}"/>
              </a:ext>
            </a:extLst>
          </p:cNvPr>
          <p:cNvSpPr txBox="1"/>
          <p:nvPr/>
        </p:nvSpPr>
        <p:spPr>
          <a:xfrm>
            <a:off x="313885" y="31758"/>
            <a:ext cx="3277040" cy="62811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C11AE08C-D146-DAC5-8717-EF5390483BCF}"/>
              </a:ext>
            </a:extLst>
          </p:cNvPr>
          <p:cNvSpPr txBox="1"/>
          <p:nvPr/>
        </p:nvSpPr>
        <p:spPr>
          <a:xfrm>
            <a:off x="551901" y="559215"/>
            <a:ext cx="7249074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固定变量和温度数据对死淘率是否存在影响？</a:t>
            </a:r>
          </a:p>
        </p:txBody>
      </p:sp>
      <p:sp>
        <p:nvSpPr>
          <p:cNvPr id="21" name="标题 1">
            <a:extLst>
              <a:ext uri="{FF2B5EF4-FFF2-40B4-BE49-F238E27FC236}">
                <a16:creationId xmlns:a16="http://schemas.microsoft.com/office/drawing/2014/main" id="{824EFB7C-F7FB-F27C-8502-032BADCEB3BA}"/>
              </a:ext>
            </a:extLst>
          </p:cNvPr>
          <p:cNvSpPr txBox="1"/>
          <p:nvPr/>
        </p:nvSpPr>
        <p:spPr>
          <a:xfrm>
            <a:off x="98783" y="-30126"/>
            <a:ext cx="11239200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accent5">
                    <a:lumMod val="75000"/>
                  </a:schemeClr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死淘分析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DF2FE82-C713-D5A6-2A05-663FB7C4C912}"/>
              </a:ext>
            </a:extLst>
          </p:cNvPr>
          <p:cNvSpPr/>
          <p:nvPr/>
        </p:nvSpPr>
        <p:spPr>
          <a:xfrm>
            <a:off x="551901" y="1422434"/>
            <a:ext cx="1295626" cy="451923"/>
          </a:xfrm>
          <a:prstGeom prst="rect">
            <a:avLst/>
          </a:prstGeom>
          <a:pattFill prst="ltDnDiag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600" b="1" dirty="0">
                <a:solidFill>
                  <a:srgbClr val="33A3FF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模型结果</a:t>
            </a:r>
            <a:endParaRPr kumimoji="0" lang="zh-CN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33A3FF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2800481-BBAE-E2DA-37CF-02575E953384}"/>
              </a:ext>
            </a:extLst>
          </p:cNvPr>
          <p:cNvSpPr txBox="1"/>
          <p:nvPr/>
        </p:nvSpPr>
        <p:spPr>
          <a:xfrm>
            <a:off x="788569" y="3429000"/>
            <a:ext cx="82229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冬季</a:t>
            </a:r>
            <a:endParaRPr lang="zh-CN" altLang="zh-CN" sz="12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E80144E-7388-6B56-8074-9EC528A08C43}"/>
              </a:ext>
            </a:extLst>
          </p:cNvPr>
          <p:cNvSpPr txBox="1"/>
          <p:nvPr/>
        </p:nvSpPr>
        <p:spPr>
          <a:xfrm>
            <a:off x="788568" y="4256010"/>
            <a:ext cx="82229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zh-CN" altLang="en-US" sz="1200" kern="100" dirty="0"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夏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季</a:t>
            </a:r>
            <a:endParaRPr lang="zh-CN" altLang="zh-CN" sz="12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BBA9AA8B-4C54-9CFC-C572-E497FAF2E786}"/>
              </a:ext>
            </a:extLst>
          </p:cNvPr>
          <p:cNvSpPr txBox="1"/>
          <p:nvPr/>
        </p:nvSpPr>
        <p:spPr>
          <a:xfrm>
            <a:off x="788568" y="5217229"/>
            <a:ext cx="82229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秋季</a:t>
            </a:r>
            <a:endParaRPr lang="zh-CN" altLang="zh-CN" sz="12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2BE145E-7F62-B59A-AA07-B3C3DCC404E8}"/>
              </a:ext>
            </a:extLst>
          </p:cNvPr>
          <p:cNvSpPr/>
          <p:nvPr/>
        </p:nvSpPr>
        <p:spPr>
          <a:xfrm>
            <a:off x="1671516" y="2813161"/>
            <a:ext cx="888932" cy="27146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第一重要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02F6DF6-CCF7-A667-C44C-C7A3EB11D879}"/>
              </a:ext>
            </a:extLst>
          </p:cNvPr>
          <p:cNvSpPr/>
          <p:nvPr/>
        </p:nvSpPr>
        <p:spPr>
          <a:xfrm>
            <a:off x="1597576" y="2813161"/>
            <a:ext cx="888932" cy="27146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第一重要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3314D46-328D-C1CB-74A7-426330D9F17B}"/>
              </a:ext>
            </a:extLst>
          </p:cNvPr>
          <p:cNvSpPr/>
          <p:nvPr/>
        </p:nvSpPr>
        <p:spPr>
          <a:xfrm>
            <a:off x="4814573" y="2813159"/>
            <a:ext cx="888932" cy="27146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第四重要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A28E5C4-7CDC-E099-8541-690F77368F13}"/>
              </a:ext>
            </a:extLst>
          </p:cNvPr>
          <p:cNvSpPr/>
          <p:nvPr/>
        </p:nvSpPr>
        <p:spPr>
          <a:xfrm>
            <a:off x="2723309" y="2818697"/>
            <a:ext cx="888932" cy="27146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第二重要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A92042D-8B98-CBB3-1210-46FAAD41B82A}"/>
              </a:ext>
            </a:extLst>
          </p:cNvPr>
          <p:cNvSpPr/>
          <p:nvPr/>
        </p:nvSpPr>
        <p:spPr>
          <a:xfrm>
            <a:off x="3762780" y="2813160"/>
            <a:ext cx="888932" cy="27146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第三重要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742FBEE-0031-DCBD-ECC0-7978B09C2D6E}"/>
              </a:ext>
            </a:extLst>
          </p:cNvPr>
          <p:cNvSpPr/>
          <p:nvPr/>
        </p:nvSpPr>
        <p:spPr>
          <a:xfrm>
            <a:off x="5866367" y="2813159"/>
            <a:ext cx="888932" cy="27146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第五重要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E8D1F34-57A8-3C96-0BE4-B95A2426AD24}"/>
              </a:ext>
            </a:extLst>
          </p:cNvPr>
          <p:cNvSpPr/>
          <p:nvPr/>
        </p:nvSpPr>
        <p:spPr>
          <a:xfrm>
            <a:off x="7972431" y="2808282"/>
            <a:ext cx="888932" cy="27146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第七重要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EDC0195-6BA0-D266-7F51-7EEDE9F70B94}"/>
              </a:ext>
            </a:extLst>
          </p:cNvPr>
          <p:cNvSpPr/>
          <p:nvPr/>
        </p:nvSpPr>
        <p:spPr>
          <a:xfrm>
            <a:off x="6920638" y="2808283"/>
            <a:ext cx="888932" cy="27146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第六重要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A43C443-A43C-EDEE-DD35-38CFD98A92E7}"/>
              </a:ext>
            </a:extLst>
          </p:cNvPr>
          <p:cNvSpPr/>
          <p:nvPr/>
        </p:nvSpPr>
        <p:spPr>
          <a:xfrm>
            <a:off x="9024225" y="2808282"/>
            <a:ext cx="888932" cy="27146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第八重要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DEA19C0-DCAC-7407-24B0-A88E52D56ABC}"/>
              </a:ext>
            </a:extLst>
          </p:cNvPr>
          <p:cNvSpPr txBox="1"/>
          <p:nvPr/>
        </p:nvSpPr>
        <p:spPr>
          <a:xfrm>
            <a:off x="493338" y="2149747"/>
            <a:ext cx="73662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zh-CN" altLang="en-US" sz="1800" dirty="0">
                <a:solidFill>
                  <a:schemeClr val="tx1"/>
                </a:solidFill>
              </a:rPr>
              <a:t>以</a:t>
            </a:r>
            <a:r>
              <a:rPr lang="en-US" altLang="zh-CN" sz="1800" dirty="0">
                <a:solidFill>
                  <a:schemeClr val="tx1"/>
                </a:solidFill>
              </a:rPr>
              <a:t>20%</a:t>
            </a:r>
            <a:r>
              <a:rPr lang="zh-CN" altLang="en-US" sz="1800" dirty="0">
                <a:solidFill>
                  <a:schemeClr val="tx1"/>
                </a:solidFill>
              </a:rPr>
              <a:t>的比例划分死淘率，</a:t>
            </a:r>
            <a:r>
              <a:rPr lang="zh-CN" altLang="zh-CN" sz="18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按</a:t>
            </a:r>
            <a:r>
              <a:rPr lang="en-US" altLang="zh-CN" sz="18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7</a:t>
            </a:r>
            <a:r>
              <a:rPr lang="zh-CN" altLang="zh-CN" sz="18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天滑窗</a:t>
            </a:r>
            <a:r>
              <a:rPr lang="zh-CN" altLang="en-US" sz="18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加工</a:t>
            </a:r>
            <a:r>
              <a:rPr lang="zh-CN" altLang="en-US" sz="1800" dirty="0">
                <a:solidFill>
                  <a:schemeClr val="tx1"/>
                </a:solidFill>
              </a:rPr>
              <a:t>日龄阶段指标建模的模型结果</a:t>
            </a:r>
          </a:p>
        </p:txBody>
      </p:sp>
    </p:spTree>
    <p:extLst>
      <p:ext uri="{BB962C8B-B14F-4D97-AF65-F5344CB8AC3E}">
        <p14:creationId xmlns:p14="http://schemas.microsoft.com/office/powerpoint/2010/main" val="389683157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80EC5-8067-BCDF-95DF-3733A97DB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箭头: 五边形 7">
            <a:extLst>
              <a:ext uri="{FF2B5EF4-FFF2-40B4-BE49-F238E27FC236}">
                <a16:creationId xmlns:a16="http://schemas.microsoft.com/office/drawing/2014/main" id="{6C6F0718-8FDD-C929-36E0-682268C8CDEB}"/>
              </a:ext>
            </a:extLst>
          </p:cNvPr>
          <p:cNvSpPr/>
          <p:nvPr/>
        </p:nvSpPr>
        <p:spPr>
          <a:xfrm>
            <a:off x="0" y="591378"/>
            <a:ext cx="8067675" cy="576475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F66F03DF-7403-2450-8FB8-C70C43321A36}"/>
              </a:ext>
            </a:extLst>
          </p:cNvPr>
          <p:cNvSpPr txBox="1"/>
          <p:nvPr/>
        </p:nvSpPr>
        <p:spPr>
          <a:xfrm>
            <a:off x="313885" y="31758"/>
            <a:ext cx="3277040" cy="62811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80303938-50E8-373F-F46C-377AF4C064A0}"/>
              </a:ext>
            </a:extLst>
          </p:cNvPr>
          <p:cNvSpPr txBox="1"/>
          <p:nvPr/>
        </p:nvSpPr>
        <p:spPr>
          <a:xfrm>
            <a:off x="551901" y="559215"/>
            <a:ext cx="7249074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固定变量和温度数据对死淘率是否存在影响？</a:t>
            </a:r>
          </a:p>
        </p:txBody>
      </p:sp>
      <p:sp>
        <p:nvSpPr>
          <p:cNvPr id="21" name="标题 1">
            <a:extLst>
              <a:ext uri="{FF2B5EF4-FFF2-40B4-BE49-F238E27FC236}">
                <a16:creationId xmlns:a16="http://schemas.microsoft.com/office/drawing/2014/main" id="{C3A575A2-5413-44F7-8968-7D4936206624}"/>
              </a:ext>
            </a:extLst>
          </p:cNvPr>
          <p:cNvSpPr txBox="1"/>
          <p:nvPr/>
        </p:nvSpPr>
        <p:spPr>
          <a:xfrm>
            <a:off x="98783" y="-30126"/>
            <a:ext cx="11239200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accent5">
                    <a:lumMod val="75000"/>
                  </a:schemeClr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死淘分析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DA544BFD-C011-F42E-E78E-3CFB2314A1DD}"/>
              </a:ext>
            </a:extLst>
          </p:cNvPr>
          <p:cNvGraphicFramePr>
            <a:graphicFrameLocks noGrp="1"/>
          </p:cNvGraphicFramePr>
          <p:nvPr/>
        </p:nvGraphicFramePr>
        <p:xfrm>
          <a:off x="750707" y="3331530"/>
          <a:ext cx="6973624" cy="640080"/>
        </p:xfrm>
        <a:graphic>
          <a:graphicData uri="http://schemas.openxmlformats.org/drawingml/2006/table">
            <a:tbl>
              <a:tblPr firstRow="1" firstCol="1" bandRow="1"/>
              <a:tblGrid>
                <a:gridCol w="996232">
                  <a:extLst>
                    <a:ext uri="{9D8B030D-6E8A-4147-A177-3AD203B41FA5}">
                      <a16:colId xmlns:a16="http://schemas.microsoft.com/office/drawing/2014/main" val="3801373755"/>
                    </a:ext>
                  </a:extLst>
                </a:gridCol>
                <a:gridCol w="675505">
                  <a:extLst>
                    <a:ext uri="{9D8B030D-6E8A-4147-A177-3AD203B41FA5}">
                      <a16:colId xmlns:a16="http://schemas.microsoft.com/office/drawing/2014/main" val="811401970"/>
                    </a:ext>
                  </a:extLst>
                </a:gridCol>
                <a:gridCol w="894303">
                  <a:extLst>
                    <a:ext uri="{9D8B030D-6E8A-4147-A177-3AD203B41FA5}">
                      <a16:colId xmlns:a16="http://schemas.microsoft.com/office/drawing/2014/main" val="1679194711"/>
                    </a:ext>
                  </a:extLst>
                </a:gridCol>
                <a:gridCol w="1004835">
                  <a:extLst>
                    <a:ext uri="{9D8B030D-6E8A-4147-A177-3AD203B41FA5}">
                      <a16:colId xmlns:a16="http://schemas.microsoft.com/office/drawing/2014/main" val="3461694118"/>
                    </a:ext>
                  </a:extLst>
                </a:gridCol>
                <a:gridCol w="874207">
                  <a:extLst>
                    <a:ext uri="{9D8B030D-6E8A-4147-A177-3AD203B41FA5}">
                      <a16:colId xmlns:a16="http://schemas.microsoft.com/office/drawing/2014/main" val="2447547013"/>
                    </a:ext>
                  </a:extLst>
                </a:gridCol>
                <a:gridCol w="1225899">
                  <a:extLst>
                    <a:ext uri="{9D8B030D-6E8A-4147-A177-3AD203B41FA5}">
                      <a16:colId xmlns:a16="http://schemas.microsoft.com/office/drawing/2014/main" val="2128753147"/>
                    </a:ext>
                  </a:extLst>
                </a:gridCol>
                <a:gridCol w="1302643">
                  <a:extLst>
                    <a:ext uri="{9D8B030D-6E8A-4147-A177-3AD203B41FA5}">
                      <a16:colId xmlns:a16="http://schemas.microsoft.com/office/drawing/2014/main" val="99539387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050" kern="10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季节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1050" kern="10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AUC</a:t>
                      </a:r>
                      <a:endParaRPr lang="zh-CN" sz="105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050" kern="10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平衡准确率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1050" kern="10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F1-Score</a:t>
                      </a:r>
                      <a:endParaRPr lang="zh-CN" sz="105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验证集</a:t>
                      </a:r>
                      <a:r>
                        <a:rPr lang="en-US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AUC</a:t>
                      </a: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altLang="en-US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验证集平衡准确率</a:t>
                      </a: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altLang="en-US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验证集</a:t>
                      </a:r>
                      <a:r>
                        <a:rPr lang="en-US" altLang="zh-CN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F1-score</a:t>
                      </a: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78805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050" kern="10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冬季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79025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050" kern="10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秋季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17948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050" kern="10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夏季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9347528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D4EC9F2C-8983-66C4-8DAF-20FC3A8E69F0}"/>
              </a:ext>
            </a:extLst>
          </p:cNvPr>
          <p:cNvGraphicFramePr>
            <a:graphicFrameLocks noGrp="1"/>
          </p:cNvGraphicFramePr>
          <p:nvPr/>
        </p:nvGraphicFramePr>
        <p:xfrm>
          <a:off x="750707" y="5016750"/>
          <a:ext cx="6973624" cy="640080"/>
        </p:xfrm>
        <a:graphic>
          <a:graphicData uri="http://schemas.openxmlformats.org/drawingml/2006/table">
            <a:tbl>
              <a:tblPr firstRow="1" firstCol="1" bandRow="1"/>
              <a:tblGrid>
                <a:gridCol w="996232">
                  <a:extLst>
                    <a:ext uri="{9D8B030D-6E8A-4147-A177-3AD203B41FA5}">
                      <a16:colId xmlns:a16="http://schemas.microsoft.com/office/drawing/2014/main" val="3801373755"/>
                    </a:ext>
                  </a:extLst>
                </a:gridCol>
                <a:gridCol w="675505">
                  <a:extLst>
                    <a:ext uri="{9D8B030D-6E8A-4147-A177-3AD203B41FA5}">
                      <a16:colId xmlns:a16="http://schemas.microsoft.com/office/drawing/2014/main" val="811401970"/>
                    </a:ext>
                  </a:extLst>
                </a:gridCol>
                <a:gridCol w="894303">
                  <a:extLst>
                    <a:ext uri="{9D8B030D-6E8A-4147-A177-3AD203B41FA5}">
                      <a16:colId xmlns:a16="http://schemas.microsoft.com/office/drawing/2014/main" val="1679194711"/>
                    </a:ext>
                  </a:extLst>
                </a:gridCol>
                <a:gridCol w="1004835">
                  <a:extLst>
                    <a:ext uri="{9D8B030D-6E8A-4147-A177-3AD203B41FA5}">
                      <a16:colId xmlns:a16="http://schemas.microsoft.com/office/drawing/2014/main" val="3461694118"/>
                    </a:ext>
                  </a:extLst>
                </a:gridCol>
                <a:gridCol w="874207">
                  <a:extLst>
                    <a:ext uri="{9D8B030D-6E8A-4147-A177-3AD203B41FA5}">
                      <a16:colId xmlns:a16="http://schemas.microsoft.com/office/drawing/2014/main" val="2447547013"/>
                    </a:ext>
                  </a:extLst>
                </a:gridCol>
                <a:gridCol w="1225899">
                  <a:extLst>
                    <a:ext uri="{9D8B030D-6E8A-4147-A177-3AD203B41FA5}">
                      <a16:colId xmlns:a16="http://schemas.microsoft.com/office/drawing/2014/main" val="2128753147"/>
                    </a:ext>
                  </a:extLst>
                </a:gridCol>
                <a:gridCol w="1302643">
                  <a:extLst>
                    <a:ext uri="{9D8B030D-6E8A-4147-A177-3AD203B41FA5}">
                      <a16:colId xmlns:a16="http://schemas.microsoft.com/office/drawing/2014/main" val="99539387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季节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buNone/>
                      </a:pPr>
                      <a:r>
                        <a:rPr lang="en-US" altLang="zh-CN" sz="105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RMSE</a:t>
                      </a:r>
                      <a:endParaRPr lang="zh-CN" altLang="en-US" sz="105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zh-CN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MAE</a:t>
                      </a: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zh-CN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R</a:t>
                      </a:r>
                      <a:r>
                        <a:rPr lang="zh-CN" altLang="en-US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方</a:t>
                      </a: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buNone/>
                      </a:pPr>
                      <a:r>
                        <a:rPr lang="zh-CN" altLang="en-US" sz="105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验证集</a:t>
                      </a:r>
                      <a:r>
                        <a:rPr lang="en-US" altLang="zh-CN" sz="1050" kern="100" dirty="0">
                          <a:solidFill>
                            <a:schemeClr val="tx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RMSE</a:t>
                      </a:r>
                      <a:endParaRPr lang="zh-CN" altLang="en-US" sz="1050" kern="100" dirty="0">
                        <a:solidFill>
                          <a:schemeClr val="tx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altLang="en-US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验证集</a:t>
                      </a:r>
                      <a:r>
                        <a:rPr lang="en-US" altLang="zh-CN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MAE</a:t>
                      </a: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altLang="en-US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验证集</a:t>
                      </a:r>
                      <a:r>
                        <a:rPr lang="en-US" altLang="zh-CN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R</a:t>
                      </a:r>
                      <a:r>
                        <a:rPr lang="zh-CN" altLang="en-US" sz="105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方</a:t>
                      </a: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78805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050" kern="10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冬季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79025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050" kern="10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秋季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17948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CN" sz="1050" kern="10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夏季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zh-CN" sz="105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9347528"/>
                  </a:ext>
                </a:extLst>
              </a:tr>
            </a:tbl>
          </a:graphicData>
        </a:graphic>
      </p:graphicFrame>
      <p:sp>
        <p:nvSpPr>
          <p:cNvPr id="7" name="矩形 6">
            <a:extLst>
              <a:ext uri="{FF2B5EF4-FFF2-40B4-BE49-F238E27FC236}">
                <a16:creationId xmlns:a16="http://schemas.microsoft.com/office/drawing/2014/main" id="{F7D63BDB-C34B-DB48-4FB8-C843763750C1}"/>
              </a:ext>
            </a:extLst>
          </p:cNvPr>
          <p:cNvSpPr/>
          <p:nvPr/>
        </p:nvSpPr>
        <p:spPr>
          <a:xfrm>
            <a:off x="551901" y="1422434"/>
            <a:ext cx="1295626" cy="451923"/>
          </a:xfrm>
          <a:prstGeom prst="rect">
            <a:avLst/>
          </a:prstGeom>
          <a:pattFill prst="ltDnDiag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600" b="1" dirty="0">
                <a:solidFill>
                  <a:srgbClr val="33A3FF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模型结果</a:t>
            </a:r>
            <a:endParaRPr kumimoji="0" lang="zh-CN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33A3FF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AAEC617-8DC1-E7B9-8916-261EF1FFEBA0}"/>
              </a:ext>
            </a:extLst>
          </p:cNvPr>
          <p:cNvSpPr/>
          <p:nvPr/>
        </p:nvSpPr>
        <p:spPr>
          <a:xfrm>
            <a:off x="750707" y="2853732"/>
            <a:ext cx="898014" cy="25120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/>
              <a:t>二分类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AF244F4-1BB5-7E81-5E29-726CAE572FD5}"/>
              </a:ext>
            </a:extLst>
          </p:cNvPr>
          <p:cNvSpPr/>
          <p:nvPr/>
        </p:nvSpPr>
        <p:spPr>
          <a:xfrm>
            <a:off x="750707" y="4604818"/>
            <a:ext cx="898014" cy="25120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/>
              <a:t>回归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79627D0-F127-832D-914F-C865A63078E1}"/>
              </a:ext>
            </a:extLst>
          </p:cNvPr>
          <p:cNvSpPr txBox="1"/>
          <p:nvPr/>
        </p:nvSpPr>
        <p:spPr>
          <a:xfrm>
            <a:off x="493338" y="2149747"/>
            <a:ext cx="73662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zh-CN" altLang="en-US" sz="1800" dirty="0">
                <a:solidFill>
                  <a:schemeClr val="tx1"/>
                </a:solidFill>
              </a:rPr>
              <a:t>以</a:t>
            </a:r>
            <a:r>
              <a:rPr lang="en-US" altLang="zh-CN" sz="1800" dirty="0">
                <a:solidFill>
                  <a:schemeClr val="tx1"/>
                </a:solidFill>
              </a:rPr>
              <a:t>20%</a:t>
            </a:r>
            <a:r>
              <a:rPr lang="zh-CN" altLang="en-US" sz="1800" dirty="0">
                <a:solidFill>
                  <a:schemeClr val="tx1"/>
                </a:solidFill>
              </a:rPr>
              <a:t>的比例划分死淘率，</a:t>
            </a:r>
            <a:r>
              <a:rPr lang="zh-CN" altLang="zh-CN" sz="18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按</a:t>
            </a:r>
            <a:r>
              <a:rPr lang="en-US" altLang="zh-CN" sz="1800" b="1" kern="100" dirty="0"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3</a:t>
            </a:r>
            <a:r>
              <a:rPr lang="zh-CN" altLang="zh-CN" sz="18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天滑窗</a:t>
            </a:r>
            <a:r>
              <a:rPr lang="zh-CN" altLang="en-US" sz="18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加工</a:t>
            </a:r>
            <a:r>
              <a:rPr lang="zh-CN" altLang="en-US" sz="1800" dirty="0">
                <a:solidFill>
                  <a:schemeClr val="tx1"/>
                </a:solidFill>
              </a:rPr>
              <a:t>日龄阶段指标建模的模型结果</a:t>
            </a:r>
          </a:p>
        </p:txBody>
      </p:sp>
    </p:spTree>
    <p:extLst>
      <p:ext uri="{BB962C8B-B14F-4D97-AF65-F5344CB8AC3E}">
        <p14:creationId xmlns:p14="http://schemas.microsoft.com/office/powerpoint/2010/main" val="169883036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35010-AD89-D1A4-5EA7-A553A8728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箭头: 五边形 7">
            <a:extLst>
              <a:ext uri="{FF2B5EF4-FFF2-40B4-BE49-F238E27FC236}">
                <a16:creationId xmlns:a16="http://schemas.microsoft.com/office/drawing/2014/main" id="{85ABA532-C4CE-BE80-100A-CFA1915CDC01}"/>
              </a:ext>
            </a:extLst>
          </p:cNvPr>
          <p:cNvSpPr/>
          <p:nvPr/>
        </p:nvSpPr>
        <p:spPr>
          <a:xfrm>
            <a:off x="0" y="591378"/>
            <a:ext cx="8067675" cy="576475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FB7923E3-57D8-E5EC-EB4A-FFB4162EE7F2}"/>
              </a:ext>
            </a:extLst>
          </p:cNvPr>
          <p:cNvSpPr txBox="1"/>
          <p:nvPr/>
        </p:nvSpPr>
        <p:spPr>
          <a:xfrm>
            <a:off x="313885" y="31758"/>
            <a:ext cx="3277040" cy="62811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5D7516D1-4534-7FA8-0C75-F4BB9465B4A3}"/>
              </a:ext>
            </a:extLst>
          </p:cNvPr>
          <p:cNvSpPr txBox="1"/>
          <p:nvPr/>
        </p:nvSpPr>
        <p:spPr>
          <a:xfrm>
            <a:off x="551901" y="559215"/>
            <a:ext cx="7249074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固定变量和温度数据对死淘率是否存在影响？</a:t>
            </a:r>
          </a:p>
        </p:txBody>
      </p:sp>
      <p:sp>
        <p:nvSpPr>
          <p:cNvPr id="21" name="标题 1">
            <a:extLst>
              <a:ext uri="{FF2B5EF4-FFF2-40B4-BE49-F238E27FC236}">
                <a16:creationId xmlns:a16="http://schemas.microsoft.com/office/drawing/2014/main" id="{B357C6C9-106E-2781-3B74-30746F272D7A}"/>
              </a:ext>
            </a:extLst>
          </p:cNvPr>
          <p:cNvSpPr txBox="1"/>
          <p:nvPr/>
        </p:nvSpPr>
        <p:spPr>
          <a:xfrm>
            <a:off x="98783" y="-30126"/>
            <a:ext cx="11239200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accent5">
                    <a:lumMod val="75000"/>
                  </a:schemeClr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死淘分析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0475FB9-0B38-A691-A8CB-1FC223FE4034}"/>
              </a:ext>
            </a:extLst>
          </p:cNvPr>
          <p:cNvSpPr/>
          <p:nvPr/>
        </p:nvSpPr>
        <p:spPr>
          <a:xfrm>
            <a:off x="551901" y="1422434"/>
            <a:ext cx="1295626" cy="451923"/>
          </a:xfrm>
          <a:prstGeom prst="rect">
            <a:avLst/>
          </a:prstGeom>
          <a:pattFill prst="ltDnDiag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600" b="1" dirty="0">
                <a:solidFill>
                  <a:srgbClr val="33A3FF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模型结果</a:t>
            </a:r>
            <a:endParaRPr kumimoji="0" lang="zh-CN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33A3FF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F61AC0D-F710-CEEC-8487-4ACEAF275199}"/>
              </a:ext>
            </a:extLst>
          </p:cNvPr>
          <p:cNvSpPr txBox="1"/>
          <p:nvPr/>
        </p:nvSpPr>
        <p:spPr>
          <a:xfrm>
            <a:off x="788569" y="3429000"/>
            <a:ext cx="82229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冬季</a:t>
            </a:r>
            <a:endParaRPr lang="zh-CN" altLang="zh-CN" sz="12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9A0598D-7204-17AA-699B-34C1B7C10A52}"/>
              </a:ext>
            </a:extLst>
          </p:cNvPr>
          <p:cNvSpPr txBox="1"/>
          <p:nvPr/>
        </p:nvSpPr>
        <p:spPr>
          <a:xfrm>
            <a:off x="788568" y="4256010"/>
            <a:ext cx="82229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zh-CN" altLang="en-US" sz="1200" kern="100" dirty="0"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夏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季</a:t>
            </a:r>
            <a:endParaRPr lang="zh-CN" altLang="zh-CN" sz="12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CCB80D19-59B9-F36E-0957-D9DE757E8F71}"/>
              </a:ext>
            </a:extLst>
          </p:cNvPr>
          <p:cNvSpPr txBox="1"/>
          <p:nvPr/>
        </p:nvSpPr>
        <p:spPr>
          <a:xfrm>
            <a:off x="788568" y="5217229"/>
            <a:ext cx="82229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秋季</a:t>
            </a:r>
            <a:endParaRPr lang="zh-CN" altLang="zh-CN" sz="12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5B1FBB8-8166-D079-F87B-286D3A59A93D}"/>
              </a:ext>
            </a:extLst>
          </p:cNvPr>
          <p:cNvSpPr/>
          <p:nvPr/>
        </p:nvSpPr>
        <p:spPr>
          <a:xfrm>
            <a:off x="1671516" y="2813161"/>
            <a:ext cx="888932" cy="27146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第一重要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34EC96CD-EC1F-7480-7774-D6269A34587B}"/>
              </a:ext>
            </a:extLst>
          </p:cNvPr>
          <p:cNvSpPr/>
          <p:nvPr/>
        </p:nvSpPr>
        <p:spPr>
          <a:xfrm>
            <a:off x="1597576" y="2813161"/>
            <a:ext cx="888932" cy="27146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第一重要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DF15E6D-57A9-4859-2449-4655CA9F070C}"/>
              </a:ext>
            </a:extLst>
          </p:cNvPr>
          <p:cNvSpPr/>
          <p:nvPr/>
        </p:nvSpPr>
        <p:spPr>
          <a:xfrm>
            <a:off x="4814573" y="2813159"/>
            <a:ext cx="888932" cy="27146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第四重要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D736EFB-2BB9-F750-3EAF-9E836482714F}"/>
              </a:ext>
            </a:extLst>
          </p:cNvPr>
          <p:cNvSpPr/>
          <p:nvPr/>
        </p:nvSpPr>
        <p:spPr>
          <a:xfrm>
            <a:off x="2723309" y="2818697"/>
            <a:ext cx="888932" cy="27146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第二重要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F1B56F4-2318-6D76-3486-3C1C51C4EF1D}"/>
              </a:ext>
            </a:extLst>
          </p:cNvPr>
          <p:cNvSpPr/>
          <p:nvPr/>
        </p:nvSpPr>
        <p:spPr>
          <a:xfrm>
            <a:off x="3762780" y="2813160"/>
            <a:ext cx="888932" cy="27146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第三重要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039E7262-78FF-FA66-D09F-A92210AB22A2}"/>
              </a:ext>
            </a:extLst>
          </p:cNvPr>
          <p:cNvSpPr/>
          <p:nvPr/>
        </p:nvSpPr>
        <p:spPr>
          <a:xfrm>
            <a:off x="5866367" y="2813159"/>
            <a:ext cx="888932" cy="27146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第五重要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4ED5517-5A9C-5E99-67EF-36420F2F3355}"/>
              </a:ext>
            </a:extLst>
          </p:cNvPr>
          <p:cNvSpPr/>
          <p:nvPr/>
        </p:nvSpPr>
        <p:spPr>
          <a:xfrm>
            <a:off x="7972431" y="2808282"/>
            <a:ext cx="888932" cy="27146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第七重要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7F5F2A3-79D4-68D0-F742-86987466D3BC}"/>
              </a:ext>
            </a:extLst>
          </p:cNvPr>
          <p:cNvSpPr/>
          <p:nvPr/>
        </p:nvSpPr>
        <p:spPr>
          <a:xfrm>
            <a:off x="6920638" y="2808283"/>
            <a:ext cx="888932" cy="27146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第六重要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7E02DD6-EC70-9021-BB86-3ECAA0949F3E}"/>
              </a:ext>
            </a:extLst>
          </p:cNvPr>
          <p:cNvSpPr/>
          <p:nvPr/>
        </p:nvSpPr>
        <p:spPr>
          <a:xfrm>
            <a:off x="9024225" y="2808282"/>
            <a:ext cx="888932" cy="27146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第八重要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8D481C24-F225-2663-78AE-463C8BE477D8}"/>
              </a:ext>
            </a:extLst>
          </p:cNvPr>
          <p:cNvSpPr txBox="1"/>
          <p:nvPr/>
        </p:nvSpPr>
        <p:spPr>
          <a:xfrm>
            <a:off x="493338" y="2149747"/>
            <a:ext cx="73662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zh-CN" altLang="en-US" sz="1800" dirty="0">
                <a:solidFill>
                  <a:schemeClr val="tx1"/>
                </a:solidFill>
              </a:rPr>
              <a:t>以</a:t>
            </a:r>
            <a:r>
              <a:rPr lang="en-US" altLang="zh-CN" sz="1800" dirty="0">
                <a:solidFill>
                  <a:schemeClr val="tx1"/>
                </a:solidFill>
              </a:rPr>
              <a:t>20%</a:t>
            </a:r>
            <a:r>
              <a:rPr lang="zh-CN" altLang="en-US" sz="1800" dirty="0">
                <a:solidFill>
                  <a:schemeClr val="tx1"/>
                </a:solidFill>
              </a:rPr>
              <a:t>的比例划分死淘率，</a:t>
            </a:r>
            <a:r>
              <a:rPr lang="zh-CN" altLang="zh-CN" sz="18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按</a:t>
            </a:r>
            <a:r>
              <a:rPr lang="en-US" altLang="zh-CN" sz="18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3</a:t>
            </a:r>
            <a:r>
              <a:rPr lang="zh-CN" altLang="zh-CN" sz="18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天滑窗</a:t>
            </a:r>
            <a:r>
              <a:rPr lang="zh-CN" altLang="en-US" sz="18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加工</a:t>
            </a:r>
            <a:r>
              <a:rPr lang="zh-CN" altLang="en-US" sz="1800" dirty="0">
                <a:solidFill>
                  <a:schemeClr val="tx1"/>
                </a:solidFill>
              </a:rPr>
              <a:t>日龄阶段指标建模的模型结果</a:t>
            </a:r>
          </a:p>
        </p:txBody>
      </p:sp>
    </p:spTree>
    <p:extLst>
      <p:ext uri="{BB962C8B-B14F-4D97-AF65-F5344CB8AC3E}">
        <p14:creationId xmlns:p14="http://schemas.microsoft.com/office/powerpoint/2010/main" val="22094708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E1759-B493-67DE-1F9E-D3F539CEB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47F18B6-B26F-09DF-E000-A7BF0AD0D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226" y="957768"/>
            <a:ext cx="8082481" cy="861774"/>
          </a:xfrm>
        </p:spPr>
        <p:txBody>
          <a:bodyPr/>
          <a:lstStyle/>
          <a:p>
            <a:r>
              <a:rPr lang="zh-CN" altLang="en-US" sz="4400" dirty="0">
                <a:latin typeface="等线" panose="02010600030101010101" pitchFamily="2" charset="-122"/>
                <a:ea typeface="等线" panose="02010600030101010101" pitchFamily="2" charset="-122"/>
              </a:rPr>
              <a:t>下周计划</a:t>
            </a:r>
            <a:endParaRPr lang="en-US" sz="4400" dirty="0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2344FB5-5D1A-25EB-41D1-35CC3CFE31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zh-CN" alt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01994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DESIGN_ID_1_2020-TEMPLATE-EXTERNAL" val="pdtUH84H"/>
  <p:tag name="ARTICULATE_DESIGN_ID_SAS-EXTERNAL-16X9-2023" val="CJxW6PTk"/>
  <p:tag name="ARTICULATE_DESIGN_ID_1_NDA" val="5KPCLKMf"/>
  <p:tag name="ARTICULATE_DESIGN_ID_1_SAS-EXTERNAL-16X9-2023" val="OvZPFYIY"/>
  <p:tag name="ARTICULATE_DESIGN_ID_SAS - EXTERNAL - 16X9 - 2023" val="iju6vBOG"/>
  <p:tag name="ARTICULATE_DESIGN_ID_SAS - EXTERNAL" val="IZ9bNYet"/>
  <p:tag name="ARTICULATE_DESIGN_ID_SAS - EXTERNAL - NDA" val="RR4fBfJW"/>
  <p:tag name="ARTICULATE_SLIDE_THUMBNAIL_REFRESH" val="1"/>
  <p:tag name="ARTICULATE_DESIGN_ID_CUSTOM DESIGN" val="WASRYxhz"/>
  <p:tag name="ARTICULATE_SLIDE_COUNT" val="11"/>
  <p:tag name="ARTICULATE_PROJECT_OPEN" val="0"/>
  <p:tag name="COMMONDATA" val="eyJoZGlkIjoiY2FmNGJlNDAzN2U1NmMyNzMzZTc0YjA1YWNhMzZlNTE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SAS - EXTERNAL">
  <a:themeElements>
    <a:clrScheme name="SAS-2023">
      <a:dk1>
        <a:srgbClr val="000000"/>
      </a:dk1>
      <a:lt1>
        <a:srgbClr val="FFFFFF"/>
      </a:lt1>
      <a:dk2>
        <a:srgbClr val="032954"/>
      </a:dk2>
      <a:lt2>
        <a:srgbClr val="0766D1"/>
      </a:lt2>
      <a:accent1>
        <a:srgbClr val="0766D1"/>
      </a:accent1>
      <a:accent2>
        <a:srgbClr val="4398F9"/>
      </a:accent2>
      <a:accent3>
        <a:srgbClr val="C4DEFD"/>
      </a:accent3>
      <a:accent4>
        <a:srgbClr val="032954"/>
      </a:accent4>
      <a:accent5>
        <a:srgbClr val="7E889A"/>
      </a:accent5>
      <a:accent6>
        <a:srgbClr val="BAC0C9"/>
      </a:accent6>
      <a:hlink>
        <a:srgbClr val="4398F9"/>
      </a:hlink>
      <a:folHlink>
        <a:srgbClr val="C4DEFD"/>
      </a:folHlink>
    </a:clrScheme>
    <a:fontScheme name="Anova">
      <a:majorFont>
        <a:latin typeface="Anova Bold"/>
        <a:ea typeface=""/>
        <a:cs typeface=""/>
      </a:majorFont>
      <a:minorFont>
        <a:latin typeface="Anova Ligh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5400"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dirty="0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SAS - EXTERNAL - NDA">
  <a:themeElements>
    <a:clrScheme name="SAS-2023">
      <a:dk1>
        <a:srgbClr val="000000"/>
      </a:dk1>
      <a:lt1>
        <a:srgbClr val="FFFFFF"/>
      </a:lt1>
      <a:dk2>
        <a:srgbClr val="032954"/>
      </a:dk2>
      <a:lt2>
        <a:srgbClr val="0766D1"/>
      </a:lt2>
      <a:accent1>
        <a:srgbClr val="0766D1"/>
      </a:accent1>
      <a:accent2>
        <a:srgbClr val="4398F9"/>
      </a:accent2>
      <a:accent3>
        <a:srgbClr val="C4DEFD"/>
      </a:accent3>
      <a:accent4>
        <a:srgbClr val="032954"/>
      </a:accent4>
      <a:accent5>
        <a:srgbClr val="7E889A"/>
      </a:accent5>
      <a:accent6>
        <a:srgbClr val="BAC0C9"/>
      </a:accent6>
      <a:hlink>
        <a:srgbClr val="4398F9"/>
      </a:hlink>
      <a:folHlink>
        <a:srgbClr val="C4DEFD"/>
      </a:folHlink>
    </a:clrScheme>
    <a:fontScheme name="Anova">
      <a:majorFont>
        <a:latin typeface="Anova Bold"/>
        <a:ea typeface=""/>
        <a:cs typeface=""/>
      </a:majorFont>
      <a:minorFont>
        <a:latin typeface="Anova Ligh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54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dirty="0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SAS-2023">
      <a:dk1>
        <a:srgbClr val="000000"/>
      </a:dk1>
      <a:lt1>
        <a:srgbClr val="FFFFFF"/>
      </a:lt1>
      <a:dk2>
        <a:srgbClr val="032954"/>
      </a:dk2>
      <a:lt2>
        <a:srgbClr val="0766D1"/>
      </a:lt2>
      <a:accent1>
        <a:srgbClr val="0766D1"/>
      </a:accent1>
      <a:accent2>
        <a:srgbClr val="4398F9"/>
      </a:accent2>
      <a:accent3>
        <a:srgbClr val="C4DEFD"/>
      </a:accent3>
      <a:accent4>
        <a:srgbClr val="032954"/>
      </a:accent4>
      <a:accent5>
        <a:srgbClr val="7E889A"/>
      </a:accent5>
      <a:accent6>
        <a:srgbClr val="BAC0C9"/>
      </a:accent6>
      <a:hlink>
        <a:srgbClr val="4398F9"/>
      </a:hlink>
      <a:folHlink>
        <a:srgbClr val="C4DEFD"/>
      </a:folHlink>
    </a:clrScheme>
    <a:fontScheme name="Anova">
      <a:majorFont>
        <a:latin typeface="Anova Bold"/>
        <a:ea typeface=""/>
        <a:cs typeface=""/>
      </a:majorFont>
      <a:minorFont>
        <a:latin typeface="Anova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SAS-2023">
      <a:dk1>
        <a:srgbClr val="000000"/>
      </a:dk1>
      <a:lt1>
        <a:srgbClr val="FFFFFF"/>
      </a:lt1>
      <a:dk2>
        <a:srgbClr val="032954"/>
      </a:dk2>
      <a:lt2>
        <a:srgbClr val="0766D1"/>
      </a:lt2>
      <a:accent1>
        <a:srgbClr val="0766D1"/>
      </a:accent1>
      <a:accent2>
        <a:srgbClr val="4398F9"/>
      </a:accent2>
      <a:accent3>
        <a:srgbClr val="C4DEFD"/>
      </a:accent3>
      <a:accent4>
        <a:srgbClr val="032954"/>
      </a:accent4>
      <a:accent5>
        <a:srgbClr val="7E889A"/>
      </a:accent5>
      <a:accent6>
        <a:srgbClr val="BAC0C9"/>
      </a:accent6>
      <a:hlink>
        <a:srgbClr val="4398F9"/>
      </a:hlink>
      <a:folHlink>
        <a:srgbClr val="C4DEFD"/>
      </a:folHlink>
    </a:clrScheme>
    <a:fontScheme name="Anova">
      <a:majorFont>
        <a:latin typeface="Anova Bold"/>
        <a:ea typeface=""/>
        <a:cs typeface=""/>
      </a:majorFont>
      <a:minorFont>
        <a:latin typeface="Anova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252B48C136D414EB12EC6609A2B4A69" ma:contentTypeVersion="5" ma:contentTypeDescription="Create a new document." ma:contentTypeScope="" ma:versionID="c506d0840867f1adddbc926f9a8dfc6f">
  <xsd:schema xmlns:xsd="http://www.w3.org/2001/XMLSchema" xmlns:xs="http://www.w3.org/2001/XMLSchema" xmlns:p="http://schemas.microsoft.com/office/2006/metadata/properties" xmlns:ns2="d21cdafc-5a3a-425e-9674-4fb06b514c0e" xmlns:ns3="6e647c50-2143-4825-9865-d236e7692e65" targetNamespace="http://schemas.microsoft.com/office/2006/metadata/properties" ma:root="true" ma:fieldsID="0df08590ed69fcf4c72a3fc3581b1869" ns2:_="" ns3:_="">
    <xsd:import namespace="d21cdafc-5a3a-425e-9674-4fb06b514c0e"/>
    <xsd:import namespace="6e647c50-2143-4825-9865-d236e7692e6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21cdafc-5a3a-425e-9674-4fb06b514c0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e647c50-2143-4825-9865-d236e7692e65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E3E925E4-5239-4639-A029-07B3CFD6A3F1}">
  <ds:schemaRefs/>
</ds:datastoreItem>
</file>

<file path=customXml/itemProps2.xml><?xml version="1.0" encoding="utf-8"?>
<ds:datastoreItem xmlns:ds="http://schemas.openxmlformats.org/officeDocument/2006/customXml" ds:itemID="{51779852-367B-483D-8C46-CF2C7DC5D261}">
  <ds:schemaRefs/>
</ds:datastoreItem>
</file>

<file path=customXml/itemProps3.xml><?xml version="1.0" encoding="utf-8"?>
<ds:datastoreItem xmlns:ds="http://schemas.openxmlformats.org/officeDocument/2006/customXml" ds:itemID="{E2663518-7548-4643-8219-608BFF0DFA0C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EXTERNAL_Template_2023</Template>
  <TotalTime>2727</TotalTime>
  <Words>2191</Words>
  <Application>Microsoft Office PowerPoint</Application>
  <PresentationFormat>宽屏</PresentationFormat>
  <Paragraphs>389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15</vt:i4>
      </vt:variant>
    </vt:vector>
  </HeadingPairs>
  <TitlesOfParts>
    <vt:vector size="24" baseType="lpstr">
      <vt:lpstr>Anova Bold</vt:lpstr>
      <vt:lpstr>Anova Light</vt:lpstr>
      <vt:lpstr>等线</vt:lpstr>
      <vt:lpstr>等线 Light</vt:lpstr>
      <vt:lpstr>Arial</vt:lpstr>
      <vt:lpstr>Calibri</vt:lpstr>
      <vt:lpstr>Wingdings 2</vt:lpstr>
      <vt:lpstr>SAS - EXTERNAL</vt:lpstr>
      <vt:lpstr>SAS - EXTERNAL - NDA</vt:lpstr>
      <vt:lpstr>数智驱动的肉鸡养殖根因分析实施方案  第二周成果汇报</vt:lpstr>
      <vt:lpstr>PowerPoint 演示文稿</vt:lpstr>
      <vt:lpstr>目录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下周计划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Plus Solution assist Value</dc:title>
  <dc:creator>Alex Zhang</dc:creator>
  <cp:lastModifiedBy>渊琰 肖</cp:lastModifiedBy>
  <cp:revision>178</cp:revision>
  <dcterms:created xsi:type="dcterms:W3CDTF">2023-10-08T03:09:00Z</dcterms:created>
  <dcterms:modified xsi:type="dcterms:W3CDTF">2025-05-15T02:05:48Z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451006F2-8E20-4D4E-B05C-4B5D02827FD6</vt:lpwstr>
  </property>
  <property fmtid="{D5CDD505-2E9C-101B-9397-08002B2CF9AE}" pid="3" name="ArticulatePath">
    <vt:lpwstr>2020-Template-External</vt:lpwstr>
  </property>
  <property fmtid="{D5CDD505-2E9C-101B-9397-08002B2CF9AE}" pid="4" name="ContentTypeId">
    <vt:lpwstr>0x0101008252B48C136D414EB12EC6609A2B4A69</vt:lpwstr>
  </property>
  <property fmtid="{D5CDD505-2E9C-101B-9397-08002B2CF9AE}" pid="5" name="ICV">
    <vt:lpwstr>5DA87FED2261458DA9A831FC15E03DC4_13</vt:lpwstr>
  </property>
  <property fmtid="{D5CDD505-2E9C-101B-9397-08002B2CF9AE}" pid="6" name="KSOProductBuildVer">
    <vt:lpwstr>2052-12.1.0.20784</vt:lpwstr>
  </property>
</Properties>
</file>