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0" r:id="rId5"/>
  </p:sldMasterIdLst>
  <p:notesMasterIdLst>
    <p:notesMasterId r:id="rId31"/>
  </p:notesMasterIdLst>
  <p:handoutMasterIdLst>
    <p:handoutMasterId r:id="rId32"/>
  </p:handoutMasterIdLst>
  <p:sldIdLst>
    <p:sldId id="16771194" r:id="rId6"/>
    <p:sldId id="16771204" r:id="rId7"/>
    <p:sldId id="2147477425" r:id="rId8"/>
    <p:sldId id="2147477458" r:id="rId9"/>
    <p:sldId id="2147477478" r:id="rId10"/>
    <p:sldId id="2147477480" r:id="rId11"/>
    <p:sldId id="2147477479" r:id="rId12"/>
    <p:sldId id="2147477468" r:id="rId13"/>
    <p:sldId id="2147477481" r:id="rId14"/>
    <p:sldId id="2147477482" r:id="rId15"/>
    <p:sldId id="2147477483" r:id="rId16"/>
    <p:sldId id="2147477485" r:id="rId17"/>
    <p:sldId id="2147477484" r:id="rId18"/>
    <p:sldId id="2147477486" r:id="rId19"/>
    <p:sldId id="2147477488" r:id="rId20"/>
    <p:sldId id="2147477489" r:id="rId21"/>
    <p:sldId id="2147477476" r:id="rId22"/>
    <p:sldId id="2147477477" r:id="rId23"/>
    <p:sldId id="2147477471" r:id="rId24"/>
    <p:sldId id="2147477472" r:id="rId25"/>
    <p:sldId id="2147477473" r:id="rId26"/>
    <p:sldId id="2147477445" r:id="rId27"/>
    <p:sldId id="2147477474" r:id="rId28"/>
    <p:sldId id="2147477487" r:id="rId29"/>
    <p:sldId id="2147477430" r:id="rId30"/>
  </p:sldIdLst>
  <p:sldSz cx="12192000" cy="6858000"/>
  <p:notesSz cx="6858000" cy="9144000"/>
  <p:custDataLst>
    <p:tags r:id="rId33"/>
  </p:custDataLst>
  <p:defaultTextStyle>
    <a:defPPr>
      <a:defRPr lang="en-US"/>
    </a:defPPr>
    <a:lvl1pPr marL="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9C3829F-2C56-4915-AA34-5F93EE359221}">
          <p14:sldIdLst>
            <p14:sldId id="16771194"/>
            <p14:sldId id="16771204"/>
            <p14:sldId id="2147477425"/>
          </p14:sldIdLst>
        </p14:section>
        <p14:section name="数据" id="{2FECDC8B-DE91-4323-AA2B-D801C56C963D}">
          <p14:sldIdLst>
            <p14:sldId id="2147477458"/>
            <p14:sldId id="2147477478"/>
            <p14:sldId id="2147477480"/>
            <p14:sldId id="2147477479"/>
          </p14:sldIdLst>
        </p14:section>
        <p14:section name="死淘" id="{132B593A-E1D9-4DD8-8D75-8389B5773F71}">
          <p14:sldIdLst>
            <p14:sldId id="2147477468"/>
            <p14:sldId id="2147477481"/>
            <p14:sldId id="2147477482"/>
            <p14:sldId id="2147477483"/>
            <p14:sldId id="2147477485"/>
            <p14:sldId id="2147477484"/>
            <p14:sldId id="2147477486"/>
            <p14:sldId id="2147477488"/>
            <p14:sldId id="2147477489"/>
          </p14:sldIdLst>
        </p14:section>
        <p14:section name="eef" id="{0CBA3FCE-B567-4F49-936C-7A69C0064915}">
          <p14:sldIdLst>
            <p14:sldId id="2147477476"/>
            <p14:sldId id="2147477477"/>
            <p14:sldId id="2147477471"/>
            <p14:sldId id="2147477472"/>
            <p14:sldId id="2147477473"/>
            <p14:sldId id="2147477445"/>
            <p14:sldId id="2147477474"/>
            <p14:sldId id="2147477487"/>
          </p14:sldIdLst>
        </p14:section>
        <p14:section name="下周计划" id="{AAB4484A-A58E-4FF9-9CE2-A3928016DD34}">
          <p14:sldIdLst>
            <p14:sldId id="214747743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03" userDrawn="1">
          <p15:clr>
            <a:srgbClr val="A4A3A4"/>
          </p15:clr>
        </p15:guide>
        <p15:guide id="2" pos="254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FFFFF"/>
    <a:srgbClr val="F1F2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92" autoAdjust="0"/>
    <p:restoredTop sz="93438" autoAdjust="0"/>
  </p:normalViewPr>
  <p:slideViewPr>
    <p:cSldViewPr snapToGrid="0" showGuides="1">
      <p:cViewPr varScale="1">
        <p:scale>
          <a:sx n="81" d="100"/>
          <a:sy n="81" d="100"/>
        </p:scale>
        <p:origin x="803" y="68"/>
      </p:cViewPr>
      <p:guideLst>
        <p:guide orient="horz" pos="2103"/>
        <p:guide pos="254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3134" y="8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CE34E3-7E5C-436A-9E6D-2FFC8FFCFCBF}" type="datetimeFigureOut">
              <a:rPr lang="en-US" smtClean="0">
                <a:latin typeface="Anova Light" panose="020B0403020203020204" pitchFamily="34" charset="0"/>
              </a:rPr>
              <a:t>5/16/2025</a:t>
            </a:fld>
            <a:endParaRPr lang="en-US" dirty="0">
              <a:latin typeface="Anova Light" panose="020B0403020203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0" y="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l"/>
            <a:fld id="{C4EF46A2-9381-4C51-8277-3C7F2938E9F9}" type="slidenum">
              <a:rPr lang="en-US" smtClean="0">
                <a:latin typeface="Anova Light" panose="020B0403020203020204" pitchFamily="34" charset="0"/>
              </a:rPr>
              <a:t>‹#›</a:t>
            </a:fld>
            <a:endParaRPr lang="en-US" dirty="0">
              <a:latin typeface="Anova Light" panose="020B04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solidFill>
                  <a:schemeClr val="tx1"/>
                </a:solidFill>
                <a:latin typeface="Anova Light" panose="020B0403020203020204" pitchFamily="34" charset="0"/>
              </a:defRPr>
            </a:lvl1pPr>
          </a:lstStyle>
          <a:p>
            <a:fld id="{D46682E9-A1D3-F04F-A14F-ABAA4D2618F2}" type="datetimeFigureOut">
              <a:rPr lang="en-US" smtClean="0"/>
              <a:t>5/16/2025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Box 4"/>
          <p:cNvSpPr txBox="1"/>
          <p:nvPr/>
        </p:nvSpPr>
        <p:spPr>
          <a:xfrm>
            <a:off x="685800" y="8879554"/>
            <a:ext cx="2514600" cy="169277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27432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00" b="0" i="0" u="none" strike="noStrike" kern="300" cap="none" spc="5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solidFill>
                  <a:schemeClr val="tx1"/>
                </a:solidFill>
                <a:latin typeface="Anova Light" panose="020B0403020203020204" pitchFamily="34" charset="0"/>
              </a:defRPr>
            </a:lvl1pPr>
          </a:lstStyle>
          <a:p>
            <a:pPr algn="l"/>
            <a:fld id="{C4EF46A2-9381-4C51-8277-3C7F2938E9F9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5992336" y="8788172"/>
            <a:ext cx="627951" cy="260659"/>
          </a:xfrm>
          <a:prstGeom prst="rect">
            <a:avLst/>
          </a:prstGeom>
        </p:spPr>
      </p:pic>
      <p:sp>
        <p:nvSpPr>
          <p:cNvPr id="6" name="TextBox 2"/>
          <p:cNvSpPr txBox="1"/>
          <p:nvPr/>
        </p:nvSpPr>
        <p:spPr>
          <a:xfrm>
            <a:off x="2493335" y="8732520"/>
            <a:ext cx="1871330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182880"/>
            <a:r>
              <a:rPr lang="en-US" sz="800" dirty="0">
                <a:solidFill>
                  <a:schemeClr val="tx1"/>
                </a:solidFill>
                <a:latin typeface="Anova Light" panose="020B0403020203020204" pitchFamily="34" charset="0"/>
              </a:rPr>
              <a:t>sas.com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2286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1600" b="0" i="0" kern="1200">
        <a:solidFill>
          <a:schemeClr val="tx1"/>
        </a:solidFill>
        <a:latin typeface="+mn-lt"/>
        <a:ea typeface="+mn-ea"/>
        <a:cs typeface="+mn-cs"/>
      </a:defRPr>
    </a:lvl1pPr>
    <a:lvl2pPr marL="8382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–"/>
      <a:defRPr sz="1335" b="0" i="0" kern="1200">
        <a:solidFill>
          <a:schemeClr val="tx1"/>
        </a:solidFill>
        <a:latin typeface="+mn-lt"/>
        <a:ea typeface="+mn-ea"/>
        <a:cs typeface="+mn-cs"/>
      </a:defRPr>
    </a:lvl2pPr>
    <a:lvl3pPr marL="14478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20574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–"/>
      <a:defRPr sz="1065" b="0" i="0" kern="1200">
        <a:solidFill>
          <a:schemeClr val="tx1"/>
        </a:solidFill>
        <a:latin typeface="+mn-lt"/>
        <a:ea typeface="+mn-ea"/>
        <a:cs typeface="+mn-cs"/>
      </a:defRPr>
    </a:lvl4pPr>
    <a:lvl5pPr marL="26670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935" b="0" i="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4" y="1890117"/>
            <a:ext cx="10518846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4" y="2813447"/>
            <a:ext cx="10518846" cy="615553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accent3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Slideshow Subtitle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Presenter Info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Secti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505670"/>
            <a:ext cx="8082481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3561836"/>
            <a:ext cx="8082481" cy="615553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bg1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Section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S - Title &amp;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767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/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838199" y="1600201"/>
            <a:ext cx="5161231" cy="457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1"/>
          </p:nvPr>
        </p:nvSpPr>
        <p:spPr>
          <a:xfrm>
            <a:off x="6192571" y="1600201"/>
            <a:ext cx="5161232" cy="457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 Only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2911937"/>
            <a:ext cx="2952184" cy="103412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&amp; Subtit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947330"/>
            <a:ext cx="3336233" cy="36625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834955" y="2768821"/>
            <a:ext cx="3334512" cy="103438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marL="0"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967336"/>
            <a:ext cx="8708755" cy="923330"/>
          </a:xfrm>
          <a:prstGeom prst="rect">
            <a:avLst/>
          </a:prstGeom>
        </p:spPr>
        <p:txBody>
          <a:bodyPr vert="horz" wrap="square" lIns="0" tIns="0" rIns="0" bIns="182880" rtlCol="0" anchor="ctr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Closing</a:t>
            </a:r>
          </a:p>
        </p:txBody>
      </p:sp>
      <p:sp>
        <p:nvSpPr>
          <p:cNvPr id="2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a website or email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SAS - 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S - Vide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2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42533" y="5517984"/>
            <a:ext cx="1711268" cy="705016"/>
          </a:xfrm>
          <a:prstGeom prst="rect">
            <a:avLst/>
          </a:prstGeom>
        </p:spPr>
      </p:pic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1890117"/>
            <a:ext cx="10521696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2813447"/>
            <a:ext cx="10521696" cy="615553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accent3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Slideshow Subtitle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Presenter Info</a:t>
            </a:r>
          </a:p>
        </p:txBody>
      </p:sp>
      <p:sp>
        <p:nvSpPr>
          <p:cNvPr id="2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Secti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505670"/>
            <a:ext cx="8082481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3561836"/>
            <a:ext cx="8082481" cy="615553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bg1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Section Subtitle</a:t>
            </a:r>
          </a:p>
        </p:txBody>
      </p:sp>
      <p:sp>
        <p:nvSpPr>
          <p:cNvPr id="2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3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S - 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/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accent1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838199" y="1600200"/>
            <a:ext cx="5161231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1"/>
          </p:nvPr>
        </p:nvSpPr>
        <p:spPr>
          <a:xfrm>
            <a:off x="6192571" y="1600200"/>
            <a:ext cx="5161232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Only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2911937"/>
            <a:ext cx="2952184" cy="103412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&amp; Subtit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947330"/>
            <a:ext cx="3336233" cy="36625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834955" y="2768821"/>
            <a:ext cx="3334512" cy="103438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marL="0"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967336"/>
            <a:ext cx="8708755" cy="923330"/>
          </a:xfrm>
          <a:prstGeom prst="rect">
            <a:avLst/>
          </a:prstGeom>
        </p:spPr>
        <p:txBody>
          <a:bodyPr vert="horz" wrap="square" lIns="0" tIns="0" rIns="0" bIns="182880" rtlCol="0" anchor="ctr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Closing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42533" y="5517984"/>
            <a:ext cx="1711268" cy="705016"/>
          </a:xfrm>
          <a:prstGeom prst="rect">
            <a:avLst/>
          </a:prstGeom>
        </p:spPr>
      </p:pic>
      <p:sp>
        <p:nvSpPr>
          <p:cNvPr id="2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a website or email</a:t>
            </a:r>
          </a:p>
        </p:txBody>
      </p:sp>
      <p:sp>
        <p:nvSpPr>
          <p:cNvPr id="3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AS - 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S - Vide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3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5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955" y="1600200"/>
            <a:ext cx="10515600" cy="45767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4955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Add Slide Title</a:t>
            </a:r>
          </a:p>
        </p:txBody>
      </p:sp>
      <p:pic>
        <p:nvPicPr>
          <p:cNvPr id="5" name="Pictur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242570" y="4400550"/>
            <a:ext cx="4064000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endParaRPr lang="zh-CN" altLang="en-US" dirty="0">
              <a:solidFill>
                <a:schemeClr val="tx1"/>
              </a:solidFill>
            </a:endParaRPr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735" b="1" i="0" kern="1200">
          <a:solidFill>
            <a:schemeClr val="accent5"/>
          </a:solidFill>
          <a:latin typeface="Anova Bold" panose="020B0703020203020204" pitchFamily="34" charset="0"/>
          <a:ea typeface="+mj-ea"/>
          <a:cs typeface="+mj-cs"/>
        </a:defRPr>
      </a:lvl1pPr>
    </p:titleStyle>
    <p:bodyStyle>
      <a:lvl1pPr marL="24384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8768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–"/>
        <a:defRPr sz="186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0984752" y="6096000"/>
            <a:ext cx="1207248" cy="7620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6096000"/>
            <a:ext cx="10984752" cy="762001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955" y="1600200"/>
            <a:ext cx="10515600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4955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Add Slide Title</a:t>
            </a:r>
          </a:p>
        </p:txBody>
      </p:sp>
      <p:sp>
        <p:nvSpPr>
          <p:cNvPr id="8" name="TextBox 4"/>
          <p:cNvSpPr txBox="1"/>
          <p:nvPr userDrawn="1"/>
        </p:nvSpPr>
        <p:spPr>
          <a:xfrm>
            <a:off x="834955" y="6180007"/>
            <a:ext cx="5725995" cy="420564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135" b="1" i="0" u="none" strike="noStrike" kern="300" cap="none" spc="67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nova Bold" panose="020B07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CONFIDENTIAL — DO NOT DISCLOSE</a:t>
            </a:r>
          </a:p>
        </p:txBody>
      </p:sp>
      <p:sp>
        <p:nvSpPr>
          <p:cNvPr id="10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4" name="Picture 6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735" b="1" i="0" kern="1200">
          <a:solidFill>
            <a:schemeClr val="accent5"/>
          </a:solidFill>
          <a:latin typeface="Anova Bold" panose="020B0703020203020204" pitchFamily="34" charset="0"/>
          <a:ea typeface="+mj-ea"/>
          <a:cs typeface="+mj-cs"/>
        </a:defRPr>
      </a:lvl1pPr>
    </p:titleStyle>
    <p:bodyStyle>
      <a:lvl1pPr marL="24384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8768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–"/>
        <a:defRPr sz="186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5419" y="1213071"/>
            <a:ext cx="10518846" cy="2400657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数智驱动的肉鸡养殖根因分析实施方案</a:t>
            </a: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第三周成果汇报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834955" y="4308945"/>
            <a:ext cx="8082481" cy="705015"/>
          </a:xfrm>
        </p:spPr>
        <p:txBody>
          <a:bodyPr/>
          <a:lstStyle/>
          <a:p>
            <a:r>
              <a:rPr lang="en-US" altLang="zh-CN" dirty="0"/>
              <a:t>2025.05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组合 87"/>
          <p:cNvGrpSpPr/>
          <p:nvPr/>
        </p:nvGrpSpPr>
        <p:grpSpPr>
          <a:xfrm>
            <a:off x="2689795" y="1304579"/>
            <a:ext cx="9182857" cy="5080787"/>
            <a:chOff x="2689795" y="1304579"/>
            <a:chExt cx="9182857" cy="5080787"/>
          </a:xfrm>
        </p:grpSpPr>
        <p:cxnSp>
          <p:nvCxnSpPr>
            <p:cNvPr id="50" name="直接连接符 49"/>
            <p:cNvCxnSpPr/>
            <p:nvPr/>
          </p:nvCxnSpPr>
          <p:spPr>
            <a:xfrm>
              <a:off x="2689795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58" name="直接连接符 57"/>
            <p:cNvCxnSpPr/>
            <p:nvPr/>
          </p:nvCxnSpPr>
          <p:spPr>
            <a:xfrm>
              <a:off x="5215019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59" name="直接连接符 58"/>
            <p:cNvCxnSpPr/>
            <p:nvPr/>
          </p:nvCxnSpPr>
          <p:spPr>
            <a:xfrm>
              <a:off x="6477631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60" name="直接连接符 59"/>
            <p:cNvCxnSpPr/>
            <p:nvPr/>
          </p:nvCxnSpPr>
          <p:spPr>
            <a:xfrm>
              <a:off x="10265467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68" name="直接连接符 67"/>
            <p:cNvCxnSpPr/>
            <p:nvPr/>
          </p:nvCxnSpPr>
          <p:spPr>
            <a:xfrm>
              <a:off x="9002855" y="1442480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77" name="直接连接符 76"/>
            <p:cNvCxnSpPr/>
            <p:nvPr/>
          </p:nvCxnSpPr>
          <p:spPr>
            <a:xfrm>
              <a:off x="3952407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83" name="直接连接符 82"/>
            <p:cNvCxnSpPr/>
            <p:nvPr/>
          </p:nvCxnSpPr>
          <p:spPr>
            <a:xfrm>
              <a:off x="11528078" y="1304579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pic>
          <p:nvPicPr>
            <p:cNvPr id="84" name="图形 83" descr="鲤鱼旗 纯色填充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497028" y="1404375"/>
              <a:ext cx="375624" cy="360000"/>
            </a:xfrm>
            <a:prstGeom prst="rect">
              <a:avLst/>
            </a:prstGeom>
          </p:spPr>
        </p:pic>
        <p:cxnSp>
          <p:nvCxnSpPr>
            <p:cNvPr id="87" name="直接连接符 86"/>
            <p:cNvCxnSpPr/>
            <p:nvPr/>
          </p:nvCxnSpPr>
          <p:spPr>
            <a:xfrm>
              <a:off x="7740243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</p:grpSp>
      <p:cxnSp>
        <p:nvCxnSpPr>
          <p:cNvPr id="49" name="直接连接符 48"/>
          <p:cNvCxnSpPr/>
          <p:nvPr/>
        </p:nvCxnSpPr>
        <p:spPr>
          <a:xfrm>
            <a:off x="11526134" y="1453366"/>
            <a:ext cx="0" cy="493200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65000"/>
              </a:srgbClr>
            </a:solidFill>
            <a:prstDash val="lgDash"/>
            <a:miter lim="800000"/>
          </a:ln>
          <a:effectLst/>
        </p:spPr>
      </p:cxnSp>
      <p:sp>
        <p:nvSpPr>
          <p:cNvPr id="2" name="标题 1"/>
          <p:cNvSpPr txBox="1"/>
          <p:nvPr/>
        </p:nvSpPr>
        <p:spPr>
          <a:xfrm>
            <a:off x="552010" y="27333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基于前期沟通，制定了详细合理的工作实施计划，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PoC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预计整体周期为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7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周，具体实施过程中采用多任务同步推进，串行和并行相结合的方式进行，有效推进项目快速落地</a:t>
            </a:r>
          </a:p>
        </p:txBody>
      </p:sp>
      <p:sp>
        <p:nvSpPr>
          <p:cNvPr id="6" name="Freeform 60"/>
          <p:cNvSpPr/>
          <p:nvPr/>
        </p:nvSpPr>
        <p:spPr bwMode="auto">
          <a:xfrm>
            <a:off x="1358471" y="1349215"/>
            <a:ext cx="10363180" cy="73919"/>
          </a:xfrm>
          <a:custGeom>
            <a:avLst/>
            <a:gdLst>
              <a:gd name="T0" fmla="*/ 0 w 4490"/>
              <a:gd name="T1" fmla="*/ 2147483647 h 91"/>
              <a:gd name="T2" fmla="*/ 0 w 4490"/>
              <a:gd name="T3" fmla="*/ 0 h 91"/>
              <a:gd name="T4" fmla="*/ 2147483647 w 4490"/>
              <a:gd name="T5" fmla="*/ 0 h 91"/>
              <a:gd name="T6" fmla="*/ 2147483647 w 4490"/>
              <a:gd name="T7" fmla="*/ 2147483647 h 91"/>
              <a:gd name="T8" fmla="*/ 0 60000 65536"/>
              <a:gd name="T9" fmla="*/ 0 60000 65536"/>
              <a:gd name="T10" fmla="*/ 0 60000 65536"/>
              <a:gd name="T11" fmla="*/ 0 60000 65536"/>
              <a:gd name="T12" fmla="*/ 0 w 4490"/>
              <a:gd name="T13" fmla="*/ 0 h 91"/>
              <a:gd name="T14" fmla="*/ 4490 w 4490"/>
              <a:gd name="T15" fmla="*/ 91 h 9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490" h="91">
                <a:moveTo>
                  <a:pt x="0" y="91"/>
                </a:moveTo>
                <a:lnTo>
                  <a:pt x="0" y="0"/>
                </a:lnTo>
                <a:lnTo>
                  <a:pt x="4490" y="0"/>
                </a:lnTo>
                <a:lnTo>
                  <a:pt x="4490" y="91"/>
                </a:lnTo>
              </a:path>
            </a:pathLst>
          </a:custGeom>
          <a:noFill/>
          <a:ln w="6350">
            <a:solidFill>
              <a:srgbClr val="BBBCBC"/>
            </a:solidFill>
            <a:round/>
          </a:ln>
        </p:spPr>
        <p:txBody>
          <a:bodyPr wrap="none" lIns="0" tIns="0" rIns="0" bIns="0" anchor="ctr"/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65" b="0" i="0" u="none" strike="noStrike" kern="1200" cap="none" spc="0" normalizeH="0" baseline="0" noProof="0" dirty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685505" y="1442480"/>
            <a:ext cx="619678" cy="749660"/>
            <a:chOff x="427051" y="1660594"/>
            <a:chExt cx="593903" cy="749660"/>
          </a:xfrm>
        </p:grpSpPr>
        <p:sp>
          <p:nvSpPr>
            <p:cNvPr id="32" name="矩形 31"/>
            <p:cNvSpPr/>
            <p:nvPr/>
          </p:nvSpPr>
          <p:spPr>
            <a:xfrm>
              <a:off x="520023" y="1660594"/>
              <a:ext cx="500931" cy="7496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前期准备</a:t>
              </a:r>
            </a:p>
          </p:txBody>
        </p:sp>
        <p:sp>
          <p:nvSpPr>
            <p:cNvPr id="33" name="Oval 20"/>
            <p:cNvSpPr/>
            <p:nvPr/>
          </p:nvSpPr>
          <p:spPr bwMode="gray">
            <a:xfrm>
              <a:off x="427051" y="1943984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680726" y="2284224"/>
            <a:ext cx="616963" cy="3575538"/>
            <a:chOff x="446496" y="2370258"/>
            <a:chExt cx="591301" cy="3575538"/>
          </a:xfrm>
        </p:grpSpPr>
        <p:sp>
          <p:nvSpPr>
            <p:cNvPr id="35" name="矩形 34"/>
            <p:cNvSpPr/>
            <p:nvPr/>
          </p:nvSpPr>
          <p:spPr>
            <a:xfrm>
              <a:off x="528856" y="2370258"/>
              <a:ext cx="508941" cy="35755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lang="zh-CN" altLang="en-US" sz="1100" b="1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主体实施</a:t>
              </a:r>
              <a:endPara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" name="Oval 20"/>
            <p:cNvSpPr/>
            <p:nvPr/>
          </p:nvSpPr>
          <p:spPr bwMode="gray">
            <a:xfrm>
              <a:off x="446496" y="3822520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687104" y="5910770"/>
            <a:ext cx="618080" cy="453681"/>
            <a:chOff x="406210" y="5558612"/>
            <a:chExt cx="592371" cy="453681"/>
          </a:xfrm>
        </p:grpSpPr>
        <p:sp>
          <p:nvSpPr>
            <p:cNvPr id="38" name="矩形 37"/>
            <p:cNvSpPr/>
            <p:nvPr/>
          </p:nvSpPr>
          <p:spPr>
            <a:xfrm>
              <a:off x="485637" y="5558612"/>
              <a:ext cx="512944" cy="4536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lang="zh-CN" altLang="en-US" sz="1100" b="1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分析交付</a:t>
              </a:r>
              <a:endPara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" name="Oval 20"/>
            <p:cNvSpPr/>
            <p:nvPr/>
          </p:nvSpPr>
          <p:spPr bwMode="gray">
            <a:xfrm>
              <a:off x="406210" y="5710478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3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0" name="矩形 39"/>
          <p:cNvSpPr/>
          <p:nvPr/>
        </p:nvSpPr>
        <p:spPr bwMode="gray">
          <a:xfrm>
            <a:off x="1358471" y="1442481"/>
            <a:ext cx="10363182" cy="750507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1203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环境和数据准备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12036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1" name="AutoShape 95"/>
          <p:cNvSpPr>
            <a:spLocks noChangeArrowheads="1"/>
          </p:cNvSpPr>
          <p:nvPr/>
        </p:nvSpPr>
        <p:spPr bwMode="auto">
          <a:xfrm>
            <a:off x="343949" y="1442480"/>
            <a:ext cx="264859" cy="4921972"/>
          </a:xfrm>
          <a:prstGeom prst="rect">
            <a:avLst/>
          </a:prstGeom>
          <a:pattFill prst="dkDnDiag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lIns="0" tIns="88900" rIns="0" bIns="88900" anchor="ctr"/>
          <a:lstStyle>
            <a:lvl1pPr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083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1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时间计划安排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4" name="矩形 43"/>
          <p:cNvSpPr/>
          <p:nvPr/>
        </p:nvSpPr>
        <p:spPr bwMode="gray">
          <a:xfrm>
            <a:off x="1358469" y="2284223"/>
            <a:ext cx="10363182" cy="1512401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数据质量检查</a:t>
            </a:r>
          </a:p>
        </p:txBody>
      </p:sp>
      <p:sp>
        <p:nvSpPr>
          <p:cNvPr id="45" name="矩形 44"/>
          <p:cNvSpPr/>
          <p:nvPr/>
        </p:nvSpPr>
        <p:spPr bwMode="gray">
          <a:xfrm>
            <a:off x="1358469" y="5912872"/>
            <a:ext cx="10363182" cy="453681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defTabSz="914400"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成果分析和报表交付</a:t>
            </a:r>
            <a:endParaRPr lang="en-US" altLang="zh-CN" sz="1000" b="1" dirty="0">
              <a:solidFill>
                <a:srgbClr val="01203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4774317" y="980093"/>
            <a:ext cx="848804" cy="442535"/>
            <a:chOff x="3224585" y="980599"/>
            <a:chExt cx="848804" cy="442535"/>
          </a:xfrm>
        </p:grpSpPr>
        <p:sp>
          <p:nvSpPr>
            <p:cNvPr id="5" name="Text Box 49"/>
            <p:cNvSpPr txBox="1">
              <a:spLocks noChangeArrowheads="1"/>
            </p:cNvSpPr>
            <p:nvPr/>
          </p:nvSpPr>
          <p:spPr bwMode="auto">
            <a:xfrm>
              <a:off x="3224585" y="980599"/>
              <a:ext cx="848804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W2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7" name="Oval 61"/>
            <p:cNvSpPr>
              <a:spLocks noChangeArrowheads="1"/>
            </p:cNvSpPr>
            <p:nvPr/>
          </p:nvSpPr>
          <p:spPr bwMode="auto">
            <a:xfrm>
              <a:off x="3567418" y="1274544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036054" y="980093"/>
            <a:ext cx="848804" cy="442535"/>
            <a:chOff x="2362212" y="980599"/>
            <a:chExt cx="773093" cy="442535"/>
          </a:xfrm>
        </p:grpSpPr>
        <p:sp>
          <p:nvSpPr>
            <p:cNvPr id="9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W3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7297791" y="980093"/>
            <a:ext cx="848804" cy="442535"/>
            <a:chOff x="2362212" y="980599"/>
            <a:chExt cx="773093" cy="442535"/>
          </a:xfrm>
        </p:grpSpPr>
        <p:sp>
          <p:nvSpPr>
            <p:cNvPr id="12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W4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8559528" y="980093"/>
            <a:ext cx="848804" cy="442535"/>
            <a:chOff x="2362212" y="980599"/>
            <a:chExt cx="773093" cy="442535"/>
          </a:xfrm>
        </p:grpSpPr>
        <p:sp>
          <p:nvSpPr>
            <p:cNvPr id="15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W5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1083005" y="980093"/>
            <a:ext cx="848804" cy="442535"/>
            <a:chOff x="2362212" y="980599"/>
            <a:chExt cx="773093" cy="442535"/>
          </a:xfrm>
        </p:grpSpPr>
        <p:sp>
          <p:nvSpPr>
            <p:cNvPr id="18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W7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2293002" y="981073"/>
            <a:ext cx="806645" cy="440575"/>
            <a:chOff x="1890330" y="982705"/>
            <a:chExt cx="806645" cy="440575"/>
          </a:xfrm>
        </p:grpSpPr>
        <p:sp>
          <p:nvSpPr>
            <p:cNvPr id="46" name="Text Box 49"/>
            <p:cNvSpPr txBox="1">
              <a:spLocks noChangeArrowheads="1"/>
            </p:cNvSpPr>
            <p:nvPr/>
          </p:nvSpPr>
          <p:spPr bwMode="auto">
            <a:xfrm>
              <a:off x="1890330" y="982705"/>
              <a:ext cx="806645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W0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43" name="Oval 61"/>
            <p:cNvSpPr>
              <a:spLocks noChangeArrowheads="1"/>
            </p:cNvSpPr>
            <p:nvPr/>
          </p:nvSpPr>
          <p:spPr bwMode="auto">
            <a:xfrm>
              <a:off x="2216133" y="1274690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1" name="矩形 50"/>
          <p:cNvSpPr/>
          <p:nvPr/>
        </p:nvSpPr>
        <p:spPr>
          <a:xfrm>
            <a:off x="2708293" y="2353974"/>
            <a:ext cx="1226315" cy="25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3" name="矩形 22"/>
          <p:cNvSpPr/>
          <p:nvPr/>
        </p:nvSpPr>
        <p:spPr>
          <a:xfrm>
            <a:off x="2695012" y="1577056"/>
            <a:ext cx="1255450" cy="1644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6" name="矩形 25"/>
          <p:cNvSpPr/>
          <p:nvPr/>
        </p:nvSpPr>
        <p:spPr>
          <a:xfrm>
            <a:off x="3985506" y="2565788"/>
            <a:ext cx="1226316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7" name="矩形 26"/>
          <p:cNvSpPr/>
          <p:nvPr/>
        </p:nvSpPr>
        <p:spPr>
          <a:xfrm>
            <a:off x="3990303" y="3224220"/>
            <a:ext cx="1216722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8" name="矩形 27"/>
          <p:cNvSpPr/>
          <p:nvPr/>
        </p:nvSpPr>
        <p:spPr>
          <a:xfrm>
            <a:off x="5243656" y="3919366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9" name="矩形 28"/>
          <p:cNvSpPr/>
          <p:nvPr/>
        </p:nvSpPr>
        <p:spPr>
          <a:xfrm>
            <a:off x="5243656" y="4378978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30" name="矩形 29"/>
          <p:cNvSpPr/>
          <p:nvPr/>
        </p:nvSpPr>
        <p:spPr>
          <a:xfrm>
            <a:off x="6506738" y="4912799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2638643" y="2597966"/>
            <a:ext cx="147543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2.1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环控数据和生产数据盘点</a:t>
            </a:r>
          </a:p>
        </p:txBody>
      </p:sp>
      <p:sp>
        <p:nvSpPr>
          <p:cNvPr id="53" name="矩形 52"/>
          <p:cNvSpPr/>
          <p:nvPr/>
        </p:nvSpPr>
        <p:spPr>
          <a:xfrm>
            <a:off x="10297042" y="5927268"/>
            <a:ext cx="1349027" cy="2539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10095058" y="6152892"/>
            <a:ext cx="175299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5.1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报告交付和现场汇报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3968224" y="2832674"/>
            <a:ext cx="227509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2.2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数据完整性、准确性、有效性、一致性、时效性检验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3968224" y="3420745"/>
            <a:ext cx="127552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2.3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数据缺失率、极值、异常值检查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5243656" y="4154744"/>
            <a:ext cx="12167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3.1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变量分布分析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5171820" y="4603222"/>
            <a:ext cx="25075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3.2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变量趋势分析及异常模式探查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6425581" y="5130637"/>
            <a:ext cx="1777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自变量间相关性探查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2636350" y="1938224"/>
            <a:ext cx="177372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1.2 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分析环境搭建</a:t>
            </a:r>
          </a:p>
        </p:txBody>
      </p:sp>
      <p:sp>
        <p:nvSpPr>
          <p:cNvPr id="22" name="矩形 21"/>
          <p:cNvSpPr/>
          <p:nvPr/>
        </p:nvSpPr>
        <p:spPr bwMode="gray">
          <a:xfrm>
            <a:off x="1358469" y="3840667"/>
            <a:ext cx="10363182" cy="969279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现状分析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3512580" y="980093"/>
            <a:ext cx="848804" cy="442535"/>
            <a:chOff x="3224585" y="980599"/>
            <a:chExt cx="848804" cy="442535"/>
          </a:xfrm>
        </p:grpSpPr>
        <p:sp>
          <p:nvSpPr>
            <p:cNvPr id="42" name="Text Box 49"/>
            <p:cNvSpPr txBox="1">
              <a:spLocks noChangeArrowheads="1"/>
            </p:cNvSpPr>
            <p:nvPr/>
          </p:nvSpPr>
          <p:spPr bwMode="auto">
            <a:xfrm>
              <a:off x="3224585" y="980599"/>
              <a:ext cx="848804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W1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47" name="Oval 61"/>
            <p:cNvSpPr>
              <a:spLocks noChangeArrowheads="1"/>
            </p:cNvSpPr>
            <p:nvPr/>
          </p:nvSpPr>
          <p:spPr bwMode="auto">
            <a:xfrm>
              <a:off x="3567418" y="1274544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821265" y="980093"/>
            <a:ext cx="848804" cy="442535"/>
            <a:chOff x="2362212" y="980599"/>
            <a:chExt cx="773093" cy="442535"/>
          </a:xfrm>
        </p:grpSpPr>
        <p:sp>
          <p:nvSpPr>
            <p:cNvPr id="85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W6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sp>
        <p:nvSpPr>
          <p:cNvPr id="89" name="文本框 88"/>
          <p:cNvSpPr txBox="1"/>
          <p:nvPr/>
        </p:nvSpPr>
        <p:spPr>
          <a:xfrm>
            <a:off x="2636350" y="1735802"/>
            <a:ext cx="15710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1.1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需求确认及数据准备</a:t>
            </a:r>
          </a:p>
        </p:txBody>
      </p:sp>
      <p:sp>
        <p:nvSpPr>
          <p:cNvPr id="90" name="矩形 89"/>
          <p:cNvSpPr/>
          <p:nvPr/>
        </p:nvSpPr>
        <p:spPr>
          <a:xfrm>
            <a:off x="5243734" y="3293787"/>
            <a:ext cx="1216722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1" name="文本框 90"/>
          <p:cNvSpPr txBox="1"/>
          <p:nvPr/>
        </p:nvSpPr>
        <p:spPr>
          <a:xfrm>
            <a:off x="5202998" y="3549910"/>
            <a:ext cx="146401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2.4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数据质量检查报告</a:t>
            </a:r>
          </a:p>
        </p:txBody>
      </p:sp>
      <p:sp>
        <p:nvSpPr>
          <p:cNvPr id="92" name="矩形 91"/>
          <p:cNvSpPr/>
          <p:nvPr/>
        </p:nvSpPr>
        <p:spPr bwMode="gray">
          <a:xfrm>
            <a:off x="1358469" y="4890483"/>
            <a:ext cx="10363182" cy="969279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效应分析</a:t>
            </a:r>
          </a:p>
        </p:txBody>
      </p:sp>
      <p:sp>
        <p:nvSpPr>
          <p:cNvPr id="93" name="矩形 92"/>
          <p:cNvSpPr/>
          <p:nvPr/>
        </p:nvSpPr>
        <p:spPr>
          <a:xfrm>
            <a:off x="6508510" y="5365777"/>
            <a:ext cx="2447835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4" name="文本框 93"/>
          <p:cNvSpPr txBox="1"/>
          <p:nvPr/>
        </p:nvSpPr>
        <p:spPr>
          <a:xfrm>
            <a:off x="6425581" y="5583615"/>
            <a:ext cx="2718419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4.2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自变量与目标变量之间影响效应分析</a:t>
            </a:r>
            <a:endParaRPr lang="zh-CN" altLang="en-US" sz="1050" i="1" dirty="0">
              <a:highlight>
                <a:srgbClr val="F1F2F4"/>
              </a:highligh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9036391" y="5367174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6" name="文本框 95"/>
          <p:cNvSpPr txBox="1"/>
          <p:nvPr/>
        </p:nvSpPr>
        <p:spPr>
          <a:xfrm>
            <a:off x="8955234" y="5585012"/>
            <a:ext cx="1777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4.3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影响效应分析结果解读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3CEBF6-F5D3-BC53-F5FD-4A16ECA9A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226" y="957768"/>
            <a:ext cx="8082481" cy="861774"/>
          </a:xfrm>
        </p:spPr>
        <p:txBody>
          <a:bodyPr/>
          <a:lstStyle/>
          <a:p>
            <a:r>
              <a:rPr lang="zh-CN" altLang="en-US" sz="4400" dirty="0">
                <a:latin typeface="等线" panose="02010600030101010101" pitchFamily="2" charset="-122"/>
                <a:ea typeface="等线" panose="02010600030101010101" pitchFamily="2" charset="-122"/>
              </a:rPr>
              <a:t>目录</a:t>
            </a:r>
            <a:endParaRPr lang="en-US" sz="4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4D02FC-AB0A-E09A-CFCB-79E270DFCF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2226" y="2105025"/>
            <a:ext cx="10628249" cy="3638550"/>
          </a:xfrm>
        </p:spPr>
        <p:txBody>
          <a:bodyPr/>
          <a:lstStyle/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数据清洗与整合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死淘相关分析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相关分析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下周计划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10086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4BEA8-C0F7-9E9C-952C-C282FB797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D749DB9-B7AF-D595-8D22-56A20501B2F7}"/>
              </a:ext>
            </a:extLst>
          </p:cNvPr>
          <p:cNvSpPr txBox="1"/>
          <p:nvPr/>
        </p:nvSpPr>
        <p:spPr>
          <a:xfrm>
            <a:off x="339052" y="280917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环控数据清洗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 Light" panose="02010600030101010101" pitchFamily="2" charset="-122"/>
              <a:ea typeface="等线 Light" panose="02010600030101010101" pitchFamily="2" charset="-122"/>
              <a:cs typeface="+mj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3844885-A977-DB55-FA7C-B417FAA9CA23}"/>
              </a:ext>
            </a:extLst>
          </p:cNvPr>
          <p:cNvSpPr txBox="1"/>
          <p:nvPr/>
        </p:nvSpPr>
        <p:spPr>
          <a:xfrm>
            <a:off x="1184869" y="1933110"/>
            <a:ext cx="49111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目标温度分布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2519A80-B3A4-7F6F-C515-9527EEB207E4}"/>
              </a:ext>
            </a:extLst>
          </p:cNvPr>
          <p:cNvSpPr/>
          <p:nvPr/>
        </p:nvSpPr>
        <p:spPr>
          <a:xfrm>
            <a:off x="492981" y="1606658"/>
            <a:ext cx="11239200" cy="483224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43E1CC5-7C2B-3EF4-BD99-D54AC1B727E4}"/>
              </a:ext>
            </a:extLst>
          </p:cNvPr>
          <p:cNvSpPr txBox="1"/>
          <p:nvPr/>
        </p:nvSpPr>
        <p:spPr>
          <a:xfrm>
            <a:off x="3362919" y="5443662"/>
            <a:ext cx="6097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对目标变量进行上限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37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度，下限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度的盖帽。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F79A7AE6-BB6D-B35D-D9D4-596BAE161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2645859"/>
              </p:ext>
            </p:extLst>
          </p:nvPr>
        </p:nvGraphicFramePr>
        <p:xfrm>
          <a:off x="3710781" y="2532173"/>
          <a:ext cx="4064000" cy="25958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76195101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03178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mean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25.15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60229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std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4.51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10267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min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514258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25%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22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55134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50%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24.8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11992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75%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28.2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48622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max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51.2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25736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485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E2D66-D219-F89D-93AB-448418ABA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0BAADFC0-5B04-3454-5F31-C62AD23C5C34}"/>
              </a:ext>
            </a:extLst>
          </p:cNvPr>
          <p:cNvSpPr txBox="1"/>
          <p:nvPr/>
        </p:nvSpPr>
        <p:spPr>
          <a:xfrm>
            <a:off x="339052" y="280917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环控数据清洗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 Light" panose="02010600030101010101" pitchFamily="2" charset="-122"/>
              <a:ea typeface="等线 Light" panose="02010600030101010101" pitchFamily="2" charset="-122"/>
              <a:cs typeface="+mj-cs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C342BB0-3295-6AA9-F48B-46B2864D27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8612659"/>
              </p:ext>
            </p:extLst>
          </p:nvPr>
        </p:nvGraphicFramePr>
        <p:xfrm>
          <a:off x="892175" y="2094672"/>
          <a:ext cx="4486278" cy="3197448"/>
        </p:xfrm>
        <a:graphic>
          <a:graphicData uri="http://schemas.openxmlformats.org/drawingml/2006/table">
            <a:tbl>
              <a:tblPr/>
              <a:tblGrid>
                <a:gridCol w="747713">
                  <a:extLst>
                    <a:ext uri="{9D8B030D-6E8A-4147-A177-3AD203B41FA5}">
                      <a16:colId xmlns:a16="http://schemas.microsoft.com/office/drawing/2014/main" val="3996273480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664346447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170777999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1177513116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3730236407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2660415651"/>
                    </a:ext>
                  </a:extLst>
                </a:gridCol>
              </a:tblGrid>
              <a:tr h="495846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endParaRPr lang="zh-CN" altLang="en-US" b="1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 </a:t>
                      </a: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与目标差异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 </a:t>
                      </a: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与目标差异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 </a:t>
                      </a: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与目标差异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 </a:t>
                      </a: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与目标差异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 </a:t>
                      </a: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与目标差异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683767"/>
                  </a:ext>
                </a:extLst>
              </a:tr>
              <a:tr h="317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mean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1.09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1.45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1.65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1.73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1.77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5530979"/>
                  </a:ext>
                </a:extLst>
              </a:tr>
              <a:tr h="317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std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3.47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3.39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3.41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3.51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3.69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51920"/>
                  </a:ext>
                </a:extLst>
              </a:tr>
              <a:tr h="317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min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-51.00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-327.70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-59.60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-30.40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-30.00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174422"/>
                  </a:ext>
                </a:extLst>
              </a:tr>
              <a:tr h="317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1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25%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-0.60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-0.30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-0.20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-0.20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-0.30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69404"/>
                  </a:ext>
                </a:extLst>
              </a:tr>
              <a:tr h="317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1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50%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912641"/>
                  </a:ext>
                </a:extLst>
              </a:tr>
              <a:tr h="317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1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75%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2.40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2.70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3.00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3.20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3.40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08194"/>
                  </a:ext>
                </a:extLst>
              </a:tr>
              <a:tr h="317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max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32.40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303.50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72.80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41.80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55.8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130912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59EBBC26-CD8F-050D-E04B-5D320EEFF419}"/>
              </a:ext>
            </a:extLst>
          </p:cNvPr>
          <p:cNvSpPr txBox="1"/>
          <p:nvPr/>
        </p:nvSpPr>
        <p:spPr>
          <a:xfrm>
            <a:off x="679450" y="5573122"/>
            <a:ext cx="108140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因为</a:t>
            </a: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探头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温度和目标差异高于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度的占比较高（接近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25%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故温度差异上限以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95%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分位数盖帽处理，下限以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-3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盖帽处理</a:t>
            </a: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，再以盖帽后的温度差异修正温度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1-</a:t>
            </a:r>
            <a:r>
              <a:rPr lang="zh-CN" altLang="en-US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温度</a:t>
            </a:r>
            <a:r>
              <a:rPr lang="en-US" altLang="zh-CN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的值（即探头</a:t>
            </a:r>
            <a:r>
              <a:rPr lang="en-US" altLang="zh-CN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1-</a:t>
            </a:r>
            <a:r>
              <a:rPr lang="zh-CN" altLang="en-US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探头</a:t>
            </a:r>
            <a:r>
              <a:rPr lang="en-US" altLang="zh-CN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A3D9041-F294-663E-B87E-7CD6E4F5A0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1717714"/>
              </p:ext>
            </p:extLst>
          </p:nvPr>
        </p:nvGraphicFramePr>
        <p:xfrm>
          <a:off x="6772275" y="2094672"/>
          <a:ext cx="4486278" cy="3197448"/>
        </p:xfrm>
        <a:graphic>
          <a:graphicData uri="http://schemas.openxmlformats.org/drawingml/2006/table">
            <a:tbl>
              <a:tblPr/>
              <a:tblGrid>
                <a:gridCol w="747713">
                  <a:extLst>
                    <a:ext uri="{9D8B030D-6E8A-4147-A177-3AD203B41FA5}">
                      <a16:colId xmlns:a16="http://schemas.microsoft.com/office/drawing/2014/main" val="268490361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2314696005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1887016926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759769463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187340800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3707292979"/>
                    </a:ext>
                  </a:extLst>
                </a:gridCol>
              </a:tblGrid>
              <a:tr h="6019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zh-CN" altLang="en-US" b="1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 </a:t>
                      </a: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与目标差异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 </a:t>
                      </a: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与目标差异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 </a:t>
                      </a: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与目标差异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 </a:t>
                      </a: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与目标差异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 </a:t>
                      </a: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与目标差异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241312"/>
                  </a:ext>
                </a:extLst>
              </a:tr>
              <a:tr h="2891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mean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1.17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1.49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1.67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1.75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1.81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132859"/>
                  </a:ext>
                </a:extLst>
              </a:tr>
              <a:tr h="2891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std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2.68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2.58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2.73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2.88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3.07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305022"/>
                  </a:ext>
                </a:extLst>
              </a:tr>
              <a:tr h="2891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min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-3.00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-3.00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-3.00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-3.00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-3.00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2078581"/>
                  </a:ext>
                </a:extLst>
              </a:tr>
              <a:tr h="2891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1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25%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-0.60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-0.30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-0.20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-0.20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-0.30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530873"/>
                  </a:ext>
                </a:extLst>
              </a:tr>
              <a:tr h="2891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1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50%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1124743"/>
                  </a:ext>
                </a:extLst>
              </a:tr>
              <a:tr h="2891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1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75%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2.40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2.70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3.00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3.20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3.40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827534"/>
                  </a:ext>
                </a:extLst>
              </a:tr>
              <a:tr h="2891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max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7.50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7.60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8.10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8.50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8.90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873631"/>
                  </a:ext>
                </a:extLst>
              </a:tr>
            </a:tbl>
          </a:graphicData>
        </a:graphic>
      </p:graphicFrame>
      <p:sp>
        <p:nvSpPr>
          <p:cNvPr id="7" name="箭头: 右 6">
            <a:extLst>
              <a:ext uri="{FF2B5EF4-FFF2-40B4-BE49-F238E27FC236}">
                <a16:creationId xmlns:a16="http://schemas.microsoft.com/office/drawing/2014/main" id="{765218C5-4B7A-A997-6A22-C9A0AF09B62E}"/>
              </a:ext>
            </a:extLst>
          </p:cNvPr>
          <p:cNvSpPr/>
          <p:nvPr/>
        </p:nvSpPr>
        <p:spPr>
          <a:xfrm>
            <a:off x="5800725" y="3390900"/>
            <a:ext cx="571500" cy="43815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080AA3C-6C45-44B8-C652-01F557609989}"/>
              </a:ext>
            </a:extLst>
          </p:cNvPr>
          <p:cNvSpPr/>
          <p:nvPr/>
        </p:nvSpPr>
        <p:spPr>
          <a:xfrm>
            <a:off x="492981" y="1606658"/>
            <a:ext cx="11239200" cy="483224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38E1A85-6E33-BBF5-4483-2C47DEE0F253}"/>
              </a:ext>
            </a:extLst>
          </p:cNvPr>
          <p:cNvSpPr txBox="1"/>
          <p:nvPr/>
        </p:nvSpPr>
        <p:spPr>
          <a:xfrm>
            <a:off x="5745868" y="3002175"/>
            <a:ext cx="73342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400" dirty="0">
                <a:solidFill>
                  <a:schemeClr val="tx1"/>
                </a:solidFill>
              </a:rPr>
              <a:t>盖帽处理</a:t>
            </a:r>
          </a:p>
        </p:txBody>
      </p:sp>
    </p:spTree>
    <p:extLst>
      <p:ext uri="{BB962C8B-B14F-4D97-AF65-F5344CB8AC3E}">
        <p14:creationId xmlns:p14="http://schemas.microsoft.com/office/powerpoint/2010/main" val="436216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6F964-969D-D710-A6AE-504D31799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C7F379C3-C6DE-DE90-05D1-0B355F88942D}"/>
              </a:ext>
            </a:extLst>
          </p:cNvPr>
          <p:cNvSpPr txBox="1"/>
          <p:nvPr/>
        </p:nvSpPr>
        <p:spPr>
          <a:xfrm>
            <a:off x="339052" y="280917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环控数据清洗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004B4B1-4336-7079-4454-13CFC9C55553}"/>
              </a:ext>
            </a:extLst>
          </p:cNvPr>
          <p:cNvSpPr/>
          <p:nvPr/>
        </p:nvSpPr>
        <p:spPr>
          <a:xfrm>
            <a:off x="492981" y="1114425"/>
            <a:ext cx="11239200" cy="532447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E399FC1-D89D-847F-5341-538D4B4AC930}"/>
              </a:ext>
            </a:extLst>
          </p:cNvPr>
          <p:cNvSpPr txBox="1"/>
          <p:nvPr/>
        </p:nvSpPr>
        <p:spPr>
          <a:xfrm>
            <a:off x="1543657" y="5684673"/>
            <a:ext cx="88299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 algn="just">
              <a:buFont typeface="Arial" panose="020B0604020202020204" pitchFamily="34" charset="0"/>
              <a:buChar char="•"/>
              <a:defRPr sz="16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按</a:t>
            </a:r>
            <a:r>
              <a:rPr lang="en-US" altLang="zh-CN" dirty="0"/>
              <a:t>1%</a:t>
            </a:r>
            <a:r>
              <a:rPr lang="zh-CN" altLang="en-US" dirty="0"/>
              <a:t>百分位数作为下限和</a:t>
            </a:r>
            <a:r>
              <a:rPr lang="en-US" altLang="zh-CN" dirty="0"/>
              <a:t>99%</a:t>
            </a:r>
            <a:r>
              <a:rPr lang="zh-CN" altLang="en-US" dirty="0"/>
              <a:t>百分位数作为上限修正环控数据中的</a:t>
            </a:r>
            <a:r>
              <a:rPr lang="en-US" altLang="zh-CN" dirty="0"/>
              <a:t>'</a:t>
            </a:r>
            <a:r>
              <a:rPr lang="zh-CN" altLang="en-US" dirty="0"/>
              <a:t>外部</a:t>
            </a:r>
            <a:r>
              <a:rPr lang="en-US" altLang="zh-CN" dirty="0"/>
              <a:t>-</a:t>
            </a:r>
            <a:r>
              <a:rPr lang="zh-CN" altLang="en-US" dirty="0"/>
              <a:t>平均</a:t>
            </a:r>
            <a:r>
              <a:rPr lang="en-US" altLang="zh-CN" dirty="0"/>
              <a:t>', '</a:t>
            </a:r>
            <a:r>
              <a:rPr lang="zh-CN" altLang="en-US" dirty="0"/>
              <a:t>湿度内部平均</a:t>
            </a:r>
            <a:r>
              <a:rPr lang="en-US" altLang="zh-CN" dirty="0"/>
              <a:t>', '</a:t>
            </a:r>
            <a:r>
              <a:rPr lang="zh-CN" altLang="en-US" dirty="0"/>
              <a:t>湿度外部平均</a:t>
            </a:r>
            <a:r>
              <a:rPr lang="en-US" altLang="zh-CN" dirty="0"/>
              <a:t>','</a:t>
            </a:r>
            <a:r>
              <a:rPr lang="zh-CN" altLang="en-US" dirty="0"/>
              <a:t>鸡舍温度</a:t>
            </a:r>
            <a:r>
              <a:rPr lang="en-US" altLang="zh-CN" dirty="0"/>
              <a:t>-</a:t>
            </a:r>
            <a:r>
              <a:rPr lang="zh-CN" altLang="en-US" dirty="0"/>
              <a:t>最低</a:t>
            </a:r>
            <a:r>
              <a:rPr lang="en-US" altLang="zh-CN" dirty="0"/>
              <a:t>', '</a:t>
            </a:r>
            <a:r>
              <a:rPr lang="zh-CN" altLang="en-US" dirty="0"/>
              <a:t>鸡舍温度</a:t>
            </a:r>
            <a:r>
              <a:rPr lang="en-US" altLang="zh-CN" dirty="0"/>
              <a:t>-</a:t>
            </a:r>
            <a:r>
              <a:rPr lang="zh-CN" altLang="en-US" dirty="0"/>
              <a:t>平均</a:t>
            </a:r>
            <a:r>
              <a:rPr lang="en-US" altLang="zh-CN" dirty="0"/>
              <a:t>', '</a:t>
            </a:r>
            <a:r>
              <a:rPr lang="zh-CN" altLang="en-US" dirty="0"/>
              <a:t>鸡舍温度</a:t>
            </a:r>
            <a:r>
              <a:rPr lang="en-US" altLang="zh-CN" dirty="0"/>
              <a:t>-</a:t>
            </a:r>
            <a:r>
              <a:rPr lang="zh-CN" altLang="en-US" dirty="0"/>
              <a:t>最高</a:t>
            </a:r>
            <a:r>
              <a:rPr lang="en-US" altLang="zh-CN" dirty="0"/>
              <a:t>', '</a:t>
            </a:r>
            <a:r>
              <a:rPr lang="zh-CN" altLang="en-US" dirty="0"/>
              <a:t>水</a:t>
            </a:r>
            <a:r>
              <a:rPr lang="en-US" altLang="zh-CN" dirty="0"/>
              <a:t>', '</a:t>
            </a:r>
            <a:r>
              <a:rPr lang="zh-CN" altLang="en-US" dirty="0"/>
              <a:t>饲料</a:t>
            </a:r>
            <a:r>
              <a:rPr lang="en-US" altLang="zh-CN" dirty="0"/>
              <a:t>', '</a:t>
            </a:r>
            <a:r>
              <a:rPr lang="zh-CN" altLang="en-US" dirty="0"/>
              <a:t>水平</a:t>
            </a:r>
            <a:r>
              <a:rPr lang="en-US" altLang="zh-CN" dirty="0"/>
              <a:t>'</a:t>
            </a:r>
            <a:r>
              <a:rPr lang="zh-CN" altLang="en-US" dirty="0"/>
              <a:t>字段 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913DDEE-B9DF-84D4-13D4-AE336E8C60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952631"/>
              </p:ext>
            </p:extLst>
          </p:nvPr>
        </p:nvGraphicFramePr>
        <p:xfrm>
          <a:off x="1467612" y="1441852"/>
          <a:ext cx="8786050" cy="1554947"/>
        </p:xfrm>
        <a:graphic>
          <a:graphicData uri="http://schemas.openxmlformats.org/drawingml/2006/table">
            <a:tbl>
              <a:tblPr firstRow="1" firstCol="1" bandRow="1"/>
              <a:tblGrid>
                <a:gridCol w="577881">
                  <a:extLst>
                    <a:ext uri="{9D8B030D-6E8A-4147-A177-3AD203B41FA5}">
                      <a16:colId xmlns:a16="http://schemas.microsoft.com/office/drawing/2014/main" val="461192333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1353131097"/>
                    </a:ext>
                  </a:extLst>
                </a:gridCol>
                <a:gridCol w="978694">
                  <a:extLst>
                    <a:ext uri="{9D8B030D-6E8A-4147-A177-3AD203B41FA5}">
                      <a16:colId xmlns:a16="http://schemas.microsoft.com/office/drawing/2014/main" val="1867875436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3407163960"/>
                    </a:ext>
                  </a:extLst>
                </a:gridCol>
                <a:gridCol w="1054894">
                  <a:extLst>
                    <a:ext uri="{9D8B030D-6E8A-4147-A177-3AD203B41FA5}">
                      <a16:colId xmlns:a16="http://schemas.microsoft.com/office/drawing/2014/main" val="1223541665"/>
                    </a:ext>
                  </a:extLst>
                </a:gridCol>
                <a:gridCol w="1016794">
                  <a:extLst>
                    <a:ext uri="{9D8B030D-6E8A-4147-A177-3AD203B41FA5}">
                      <a16:colId xmlns:a16="http://schemas.microsoft.com/office/drawing/2014/main" val="571194548"/>
                    </a:ext>
                  </a:extLst>
                </a:gridCol>
                <a:gridCol w="1054894">
                  <a:extLst>
                    <a:ext uri="{9D8B030D-6E8A-4147-A177-3AD203B41FA5}">
                      <a16:colId xmlns:a16="http://schemas.microsoft.com/office/drawing/2014/main" val="1986894304"/>
                    </a:ext>
                  </a:extLst>
                </a:gridCol>
                <a:gridCol w="707231">
                  <a:extLst>
                    <a:ext uri="{9D8B030D-6E8A-4147-A177-3AD203B41FA5}">
                      <a16:colId xmlns:a16="http://schemas.microsoft.com/office/drawing/2014/main" val="1761183290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675509152"/>
                    </a:ext>
                  </a:extLst>
                </a:gridCol>
                <a:gridCol w="757237">
                  <a:extLst>
                    <a:ext uri="{9D8B030D-6E8A-4147-A177-3AD203B41FA5}">
                      <a16:colId xmlns:a16="http://schemas.microsoft.com/office/drawing/2014/main" val="2352956256"/>
                    </a:ext>
                  </a:extLst>
                </a:gridCol>
              </a:tblGrid>
              <a:tr h="274787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 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5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外部</a:t>
                      </a:r>
                      <a:r>
                        <a:rPr lang="en-US" sz="105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zh-CN" sz="105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5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湿度内部平均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5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湿度外部平均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5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鸡舍温度</a:t>
                      </a:r>
                      <a:r>
                        <a:rPr lang="en-US" sz="105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zh-CN" sz="105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最低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5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鸡舍温度</a:t>
                      </a:r>
                      <a:r>
                        <a:rPr lang="en-US" sz="105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zh-CN" sz="105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5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鸡舍温度</a:t>
                      </a:r>
                      <a:r>
                        <a:rPr lang="en-US" sz="105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zh-CN" sz="105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最高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5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水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5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饲料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5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水平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171941"/>
                  </a:ext>
                </a:extLst>
              </a:tr>
              <a:tr h="15915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count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1312970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1381045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75931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1406959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1439302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1405735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1436297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1440224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1440218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extLst>
                  <a:ext uri="{0D108BD9-81ED-4DB2-BD59-A6C34878D82A}">
                    <a16:rowId xmlns:a16="http://schemas.microsoft.com/office/drawing/2014/main" val="2836895494"/>
                  </a:ext>
                </a:extLst>
              </a:tr>
              <a:tr h="15915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mean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14.28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72.84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71.57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26.22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26.75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27.12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161.54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78.02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14.69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extLst>
                  <a:ext uri="{0D108BD9-81ED-4DB2-BD59-A6C34878D82A}">
                    <a16:rowId xmlns:a16="http://schemas.microsoft.com/office/drawing/2014/main" val="3014750270"/>
                  </a:ext>
                </a:extLst>
              </a:tr>
              <a:tr h="15915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std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10.94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19.4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24.67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4.57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4.54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4.48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181.26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261.21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31.11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extLst>
                  <a:ext uri="{0D108BD9-81ED-4DB2-BD59-A6C34878D82A}">
                    <a16:rowId xmlns:a16="http://schemas.microsoft.com/office/drawing/2014/main" val="2900771925"/>
                  </a:ext>
                </a:extLst>
              </a:tr>
              <a:tr h="15915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min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-5.3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10.5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11.1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11.6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-1964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-2778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extLst>
                  <a:ext uri="{0D108BD9-81ED-4DB2-BD59-A6C34878D82A}">
                    <a16:rowId xmlns:a16="http://schemas.microsoft.com/office/drawing/2014/main" val="945602504"/>
                  </a:ext>
                </a:extLst>
              </a:tr>
              <a:tr h="15915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25%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5.4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67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56.9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23.4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24.4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extLst>
                  <a:ext uri="{0D108BD9-81ED-4DB2-BD59-A6C34878D82A}">
                    <a16:rowId xmlns:a16="http://schemas.microsoft.com/office/drawing/2014/main" val="2689730730"/>
                  </a:ext>
                </a:extLst>
              </a:tr>
              <a:tr h="15915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50%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12.6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76.1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76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26.5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27.1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27.4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88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extLst>
                  <a:ext uri="{0D108BD9-81ED-4DB2-BD59-A6C34878D82A}">
                    <a16:rowId xmlns:a16="http://schemas.microsoft.com/office/drawing/2014/main" val="295204602"/>
                  </a:ext>
                </a:extLst>
              </a:tr>
              <a:tr h="15915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75%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24.4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84.8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92.3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29.4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29.8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30.1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270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21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extLst>
                  <a:ext uri="{0D108BD9-81ED-4DB2-BD59-A6C34878D82A}">
                    <a16:rowId xmlns:a16="http://schemas.microsoft.com/office/drawing/2014/main" val="306423008"/>
                  </a:ext>
                </a:extLst>
              </a:tr>
              <a:tr h="15915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max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37.7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34.6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35.2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35.5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2950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3271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10000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extLst>
                  <a:ext uri="{0D108BD9-81ED-4DB2-BD59-A6C34878D82A}">
                    <a16:rowId xmlns:a16="http://schemas.microsoft.com/office/drawing/2014/main" val="2238445915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116D17E-13B4-4A90-0BC8-6144F1316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1856284"/>
              </p:ext>
            </p:extLst>
          </p:nvPr>
        </p:nvGraphicFramePr>
        <p:xfrm>
          <a:off x="1467612" y="3895725"/>
          <a:ext cx="8786050" cy="1554947"/>
        </p:xfrm>
        <a:graphic>
          <a:graphicData uri="http://schemas.openxmlformats.org/drawingml/2006/table">
            <a:tbl>
              <a:tblPr firstRow="1" firstCol="1" bandRow="1"/>
              <a:tblGrid>
                <a:gridCol w="577881">
                  <a:extLst>
                    <a:ext uri="{9D8B030D-6E8A-4147-A177-3AD203B41FA5}">
                      <a16:colId xmlns:a16="http://schemas.microsoft.com/office/drawing/2014/main" val="461192333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1353131097"/>
                    </a:ext>
                  </a:extLst>
                </a:gridCol>
                <a:gridCol w="978694">
                  <a:extLst>
                    <a:ext uri="{9D8B030D-6E8A-4147-A177-3AD203B41FA5}">
                      <a16:colId xmlns:a16="http://schemas.microsoft.com/office/drawing/2014/main" val="1867875436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3407163960"/>
                    </a:ext>
                  </a:extLst>
                </a:gridCol>
                <a:gridCol w="1069182">
                  <a:extLst>
                    <a:ext uri="{9D8B030D-6E8A-4147-A177-3AD203B41FA5}">
                      <a16:colId xmlns:a16="http://schemas.microsoft.com/office/drawing/2014/main" val="1223541665"/>
                    </a:ext>
                  </a:extLst>
                </a:gridCol>
                <a:gridCol w="1002506">
                  <a:extLst>
                    <a:ext uri="{9D8B030D-6E8A-4147-A177-3AD203B41FA5}">
                      <a16:colId xmlns:a16="http://schemas.microsoft.com/office/drawing/2014/main" val="571194548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1986894304"/>
                    </a:ext>
                  </a:extLst>
                </a:gridCol>
                <a:gridCol w="700088">
                  <a:extLst>
                    <a:ext uri="{9D8B030D-6E8A-4147-A177-3AD203B41FA5}">
                      <a16:colId xmlns:a16="http://schemas.microsoft.com/office/drawing/2014/main" val="1761183290"/>
                    </a:ext>
                  </a:extLst>
                </a:gridCol>
                <a:gridCol w="881062">
                  <a:extLst>
                    <a:ext uri="{9D8B030D-6E8A-4147-A177-3AD203B41FA5}">
                      <a16:colId xmlns:a16="http://schemas.microsoft.com/office/drawing/2014/main" val="675509152"/>
                    </a:ext>
                  </a:extLst>
                </a:gridCol>
                <a:gridCol w="757237">
                  <a:extLst>
                    <a:ext uri="{9D8B030D-6E8A-4147-A177-3AD203B41FA5}">
                      <a16:colId xmlns:a16="http://schemas.microsoft.com/office/drawing/2014/main" val="2352956256"/>
                    </a:ext>
                  </a:extLst>
                </a:gridCol>
              </a:tblGrid>
              <a:tr h="274787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050" b="1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 </a:t>
                      </a:r>
                      <a:endParaRPr lang="zh-CN" altLang="en-US" sz="1050" b="1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2165" marR="621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zh-CN" altLang="en-US" sz="1050" b="1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外部</a:t>
                      </a:r>
                      <a:r>
                        <a:rPr lang="en-US" sz="1050" b="1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050" b="1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平均</a:t>
                      </a:r>
                    </a:p>
                  </a:txBody>
                  <a:tcPr marL="62165" marR="621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zh-CN" altLang="en-US" sz="1050" b="1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湿度内部平均</a:t>
                      </a:r>
                    </a:p>
                  </a:txBody>
                  <a:tcPr marL="62165" marR="621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zh-CN" altLang="en-US" sz="1050" b="1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湿度外部平均</a:t>
                      </a:r>
                    </a:p>
                  </a:txBody>
                  <a:tcPr marL="62165" marR="621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zh-CN" altLang="en-US" sz="1050" b="1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鸡舍温度</a:t>
                      </a:r>
                      <a:r>
                        <a:rPr lang="en-US" sz="1050" b="1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050" b="1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最低</a:t>
                      </a:r>
                    </a:p>
                  </a:txBody>
                  <a:tcPr marL="62165" marR="621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zh-CN" altLang="en-US" sz="1050" b="1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鸡舍温度</a:t>
                      </a:r>
                      <a:r>
                        <a:rPr lang="en-US" sz="1050" b="1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050" b="1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平均</a:t>
                      </a:r>
                    </a:p>
                  </a:txBody>
                  <a:tcPr marL="62165" marR="621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zh-CN" altLang="en-US" sz="1050" b="1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鸡舍温度</a:t>
                      </a:r>
                      <a:r>
                        <a:rPr lang="en-US" sz="1050" b="1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050" b="1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最高</a:t>
                      </a:r>
                    </a:p>
                  </a:txBody>
                  <a:tcPr marL="62165" marR="621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zh-CN" altLang="en-US" sz="1050" b="1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水</a:t>
                      </a:r>
                    </a:p>
                  </a:txBody>
                  <a:tcPr marL="62165" marR="621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zh-CN" altLang="en-US" sz="1050" b="1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饲料</a:t>
                      </a:r>
                    </a:p>
                  </a:txBody>
                  <a:tcPr marL="62165" marR="621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zh-CN" altLang="en-US" sz="1050" b="1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水平</a:t>
                      </a:r>
                    </a:p>
                  </a:txBody>
                  <a:tcPr marL="62165" marR="621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171941"/>
                  </a:ext>
                </a:extLst>
              </a:tr>
              <a:tr h="15915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count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1312970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1381045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75931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1406959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1439302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1405735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1436297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1440224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1440218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extLst>
                  <a:ext uri="{0D108BD9-81ED-4DB2-BD59-A6C34878D82A}">
                    <a16:rowId xmlns:a16="http://schemas.microsoft.com/office/drawing/2014/main" val="2836895494"/>
                  </a:ext>
                </a:extLst>
              </a:tr>
              <a:tr h="15915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mean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14.28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72.84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71.57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26.22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26.75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27.12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161.54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78.02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14.69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extLst>
                  <a:ext uri="{0D108BD9-81ED-4DB2-BD59-A6C34878D82A}">
                    <a16:rowId xmlns:a16="http://schemas.microsoft.com/office/drawing/2014/main" val="3014750270"/>
                  </a:ext>
                </a:extLst>
              </a:tr>
              <a:tr h="15915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std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10.94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19.4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24.67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4.57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4.54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4.48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181.26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261.21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31.11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extLst>
                  <a:ext uri="{0D108BD9-81ED-4DB2-BD59-A6C34878D82A}">
                    <a16:rowId xmlns:a16="http://schemas.microsoft.com/office/drawing/2014/main" val="2900771925"/>
                  </a:ext>
                </a:extLst>
              </a:tr>
              <a:tr h="15915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min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-5.3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10.5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11.1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11.6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-1964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-2778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extLst>
                  <a:ext uri="{0D108BD9-81ED-4DB2-BD59-A6C34878D82A}">
                    <a16:rowId xmlns:a16="http://schemas.microsoft.com/office/drawing/2014/main" val="945602504"/>
                  </a:ext>
                </a:extLst>
              </a:tr>
              <a:tr h="15915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25%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5.4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67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56.9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23.4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24.4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extLst>
                  <a:ext uri="{0D108BD9-81ED-4DB2-BD59-A6C34878D82A}">
                    <a16:rowId xmlns:a16="http://schemas.microsoft.com/office/drawing/2014/main" val="2689730730"/>
                  </a:ext>
                </a:extLst>
              </a:tr>
              <a:tr h="15915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50%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12.6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76.1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76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26.5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27.1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27.4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88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extLst>
                  <a:ext uri="{0D108BD9-81ED-4DB2-BD59-A6C34878D82A}">
                    <a16:rowId xmlns:a16="http://schemas.microsoft.com/office/drawing/2014/main" val="295204602"/>
                  </a:ext>
                </a:extLst>
              </a:tr>
              <a:tr h="15915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75%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24.4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84.8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92.3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29.4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29.8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30.1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270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21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extLst>
                  <a:ext uri="{0D108BD9-81ED-4DB2-BD59-A6C34878D82A}">
                    <a16:rowId xmlns:a16="http://schemas.microsoft.com/office/drawing/2014/main" val="306423008"/>
                  </a:ext>
                </a:extLst>
              </a:tr>
              <a:tr h="15915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max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37.7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34.6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35.2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35.5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2950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3271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5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10000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5" marR="62165" marT="0" marB="0" anchor="ctr"/>
                </a:tc>
                <a:extLst>
                  <a:ext uri="{0D108BD9-81ED-4DB2-BD59-A6C34878D82A}">
                    <a16:rowId xmlns:a16="http://schemas.microsoft.com/office/drawing/2014/main" val="2238445915"/>
                  </a:ext>
                </a:extLst>
              </a:tr>
            </a:tbl>
          </a:graphicData>
        </a:graphic>
      </p:graphicFrame>
      <p:sp>
        <p:nvSpPr>
          <p:cNvPr id="6" name="箭头: 右 5">
            <a:extLst>
              <a:ext uri="{FF2B5EF4-FFF2-40B4-BE49-F238E27FC236}">
                <a16:creationId xmlns:a16="http://schemas.microsoft.com/office/drawing/2014/main" id="{33F826DE-CC97-30EF-557E-473211DB0EA4}"/>
              </a:ext>
            </a:extLst>
          </p:cNvPr>
          <p:cNvSpPr/>
          <p:nvPr/>
        </p:nvSpPr>
        <p:spPr>
          <a:xfrm rot="5400000">
            <a:off x="5355812" y="3256182"/>
            <a:ext cx="571500" cy="43815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88206CD-5E7B-DC6E-1528-222108F85DE4}"/>
              </a:ext>
            </a:extLst>
          </p:cNvPr>
          <p:cNvSpPr txBox="1"/>
          <p:nvPr/>
        </p:nvSpPr>
        <p:spPr>
          <a:xfrm>
            <a:off x="5958651" y="3280934"/>
            <a:ext cx="73342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盖帽处理</a:t>
            </a:r>
          </a:p>
        </p:txBody>
      </p:sp>
    </p:spTree>
    <p:extLst>
      <p:ext uri="{BB962C8B-B14F-4D97-AF65-F5344CB8AC3E}">
        <p14:creationId xmlns:p14="http://schemas.microsoft.com/office/powerpoint/2010/main" val="2501307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8F9A1668-24CB-DAB9-5C8C-4A4750946195}"/>
              </a:ext>
            </a:extLst>
          </p:cNvPr>
          <p:cNvSpPr/>
          <p:nvPr/>
        </p:nvSpPr>
        <p:spPr>
          <a:xfrm>
            <a:off x="1194111" y="1287144"/>
            <a:ext cx="9611745" cy="28019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118A0A1-4A1A-BA5E-D529-E7337C296B29}"/>
              </a:ext>
            </a:extLst>
          </p:cNvPr>
          <p:cNvSpPr txBox="1"/>
          <p:nvPr/>
        </p:nvSpPr>
        <p:spPr>
          <a:xfrm>
            <a:off x="1194111" y="1503189"/>
            <a:ext cx="9274628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zh-CN" altLang="zh-CN" sz="16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特征衍生</a:t>
            </a:r>
            <a:endParaRPr lang="zh-CN" altLang="zh-CN" sz="1600" kern="100" dirty="0">
              <a:solidFill>
                <a:schemeClr val="bg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100" kern="100" dirty="0">
              <a:solidFill>
                <a:schemeClr val="bg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2" algn="just"/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data['</a:t>
            </a:r>
            <a:r>
              <a:rPr lang="zh-CN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内外温差</a:t>
            </a:r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']=data['</a:t>
            </a:r>
            <a:r>
              <a:rPr lang="zh-CN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鸡舍温度</a:t>
            </a:r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平均</a:t>
            </a:r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'].</a:t>
            </a:r>
            <a:r>
              <a:rPr lang="en-US" altLang="zh-CN" sz="1100" b="1" kern="100" dirty="0" err="1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astype</a:t>
            </a:r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(float)-data['</a:t>
            </a:r>
            <a:r>
              <a:rPr lang="zh-CN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外部</a:t>
            </a:r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平均</a:t>
            </a:r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'].</a:t>
            </a:r>
            <a:r>
              <a:rPr lang="en-US" altLang="zh-CN" sz="1100" b="1" kern="100" dirty="0" err="1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astype</a:t>
            </a:r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(float)</a:t>
            </a:r>
            <a:endParaRPr lang="zh-CN" altLang="zh-CN" sz="1100" kern="100" dirty="0">
              <a:solidFill>
                <a:schemeClr val="bg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2" algn="just"/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data['</a:t>
            </a:r>
            <a:r>
              <a:rPr lang="zh-CN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内外湿差</a:t>
            </a:r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']=data['</a:t>
            </a:r>
            <a:r>
              <a:rPr lang="zh-CN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湿度内部平均</a:t>
            </a:r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'].</a:t>
            </a:r>
            <a:r>
              <a:rPr lang="en-US" altLang="zh-CN" sz="1100" b="1" kern="100" dirty="0" err="1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astype</a:t>
            </a:r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(float)-data['</a:t>
            </a:r>
            <a:r>
              <a:rPr lang="zh-CN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湿度外部平均</a:t>
            </a:r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'].</a:t>
            </a:r>
            <a:r>
              <a:rPr lang="en-US" altLang="zh-CN" sz="1100" b="1" kern="100" dirty="0" err="1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astype</a:t>
            </a:r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(float)</a:t>
            </a:r>
            <a:endParaRPr lang="zh-CN" altLang="zh-CN" sz="1100" kern="100" dirty="0">
              <a:solidFill>
                <a:schemeClr val="bg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2" algn="just"/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100" kern="100" dirty="0">
              <a:solidFill>
                <a:schemeClr val="bg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2" algn="just"/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100" kern="100" dirty="0">
              <a:solidFill>
                <a:schemeClr val="bg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2" algn="just"/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grouped2['</a:t>
            </a:r>
            <a:r>
              <a:rPr lang="zh-CN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平均温度变化率</a:t>
            </a:r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'] = grouped2.groupby(['ID_NUM', '</a:t>
            </a:r>
            <a:r>
              <a:rPr lang="zh-CN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日龄</a:t>
            </a:r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'])['</a:t>
            </a:r>
            <a:r>
              <a:rPr lang="zh-CN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鸡舍温度</a:t>
            </a:r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平均</a:t>
            </a:r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'].transform(</a:t>
            </a:r>
            <a:r>
              <a:rPr lang="en-US" altLang="zh-CN" sz="1100" b="1" kern="100" dirty="0" err="1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calculate_change_rate</a:t>
            </a:r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1100" kern="100" dirty="0">
              <a:solidFill>
                <a:schemeClr val="bg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2" algn="just"/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grouped2['</a:t>
            </a:r>
            <a:r>
              <a:rPr lang="zh-CN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最高温度变化率</a:t>
            </a:r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'] = grouped2.groupby(['ID_NUM', '</a:t>
            </a:r>
            <a:r>
              <a:rPr lang="zh-CN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日龄</a:t>
            </a:r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'])['</a:t>
            </a:r>
            <a:r>
              <a:rPr lang="zh-CN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鸡舍温度</a:t>
            </a:r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最高</a:t>
            </a:r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'].transform(</a:t>
            </a:r>
            <a:r>
              <a:rPr lang="en-US" altLang="zh-CN" sz="1100" b="1" kern="100" dirty="0" err="1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calculate_change_rate</a:t>
            </a:r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1100" kern="100" dirty="0">
              <a:solidFill>
                <a:schemeClr val="bg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2" algn="just"/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grouped2['</a:t>
            </a:r>
            <a:r>
              <a:rPr lang="zh-CN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最低温度变化率</a:t>
            </a:r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'] = grouped2.groupby(['ID_NUM', '</a:t>
            </a:r>
            <a:r>
              <a:rPr lang="zh-CN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日龄</a:t>
            </a:r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'])['</a:t>
            </a:r>
            <a:r>
              <a:rPr lang="zh-CN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鸡舍温度</a:t>
            </a:r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最低</a:t>
            </a:r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'].transform(</a:t>
            </a:r>
            <a:r>
              <a:rPr lang="en-US" altLang="zh-CN" sz="1100" b="1" kern="100" dirty="0" err="1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calculate_change_rate</a:t>
            </a:r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1100" kern="100" dirty="0">
              <a:solidFill>
                <a:schemeClr val="bg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2" algn="just"/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100" kern="100" dirty="0">
              <a:solidFill>
                <a:schemeClr val="bg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2" algn="just"/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100" kern="100" dirty="0">
              <a:solidFill>
                <a:schemeClr val="bg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2" algn="just"/>
            <a:r>
              <a:rPr lang="en-US" altLang="zh-CN" sz="1100" b="1" kern="100" dirty="0" err="1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agg_result</a:t>
            </a:r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zh-CN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‘每日温差’</a:t>
            </a:r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] = </a:t>
            </a:r>
            <a:r>
              <a:rPr lang="en-US" altLang="zh-CN" sz="1100" b="1" kern="100" dirty="0" err="1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agg_result</a:t>
            </a:r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[('</a:t>
            </a:r>
            <a:r>
              <a:rPr lang="zh-CN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鸡舍温度</a:t>
            </a:r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最高</a:t>
            </a:r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', 'max')] - </a:t>
            </a:r>
            <a:r>
              <a:rPr lang="en-US" altLang="zh-CN" sz="1100" b="1" kern="100" dirty="0" err="1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agg_result</a:t>
            </a:r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[('</a:t>
            </a:r>
            <a:r>
              <a:rPr lang="zh-CN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鸡舍温度</a:t>
            </a:r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最低</a:t>
            </a:r>
            <a:r>
              <a:rPr lang="en-US" altLang="zh-CN" sz="1100" b="1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', 'min')]</a:t>
            </a:r>
            <a:endParaRPr lang="zh-CN" altLang="zh-CN" sz="1100" b="1" kern="100" dirty="0">
              <a:solidFill>
                <a:schemeClr val="bg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2" algn="just"/>
            <a:r>
              <a:rPr lang="en-US" altLang="zh-CN" sz="1100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100" kern="100" dirty="0">
              <a:solidFill>
                <a:schemeClr val="bg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448D78A6-949C-994E-3BC3-EB2A30DFF9D6}"/>
              </a:ext>
            </a:extLst>
          </p:cNvPr>
          <p:cNvSpPr txBox="1"/>
          <p:nvPr/>
        </p:nvSpPr>
        <p:spPr>
          <a:xfrm>
            <a:off x="339052" y="280917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环控数据聚合衍生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8170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70202-4BF3-2015-5A6F-CAB28DC72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53B57754-EB67-1543-424E-A82158D49A87}"/>
              </a:ext>
            </a:extLst>
          </p:cNvPr>
          <p:cNvSpPr/>
          <p:nvPr/>
        </p:nvSpPr>
        <p:spPr>
          <a:xfrm>
            <a:off x="0" y="591378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56B1447B-612E-1B24-99A2-C7B20808815B}"/>
              </a:ext>
            </a:extLst>
          </p:cNvPr>
          <p:cNvSpPr txBox="1"/>
          <p:nvPr/>
        </p:nvSpPr>
        <p:spPr>
          <a:xfrm>
            <a:off x="313885" y="31758"/>
            <a:ext cx="3277040" cy="6281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8661442-02AE-9CD8-3722-18762DD36811}"/>
              </a:ext>
            </a:extLst>
          </p:cNvPr>
          <p:cNvSpPr txBox="1"/>
          <p:nvPr/>
        </p:nvSpPr>
        <p:spPr>
          <a:xfrm>
            <a:off x="551901" y="559215"/>
            <a:ext cx="7249074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固定变量和温度数据对死淘率是否存在影响？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2E6EC96E-8BE8-D526-EB03-70D090CEB0EF}"/>
              </a:ext>
            </a:extLst>
          </p:cNvPr>
          <p:cNvSpPr txBox="1"/>
          <p:nvPr/>
        </p:nvSpPr>
        <p:spPr>
          <a:xfrm>
            <a:off x="926427" y="2122902"/>
            <a:ext cx="4640402" cy="970342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Ø"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数据处理：</a:t>
            </a:r>
            <a:endParaRPr kumimoji="0" lang="en-US" altLang="zh-CN" sz="16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l">
              <a:defRPr/>
            </a:pPr>
            <a:endParaRPr lang="en-US" altLang="zh-CN" sz="14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l">
              <a:defRPr/>
            </a:pPr>
            <a:r>
              <a:rPr lang="en-US" altLang="zh-CN" sz="14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		1</a:t>
            </a:r>
            <a:r>
              <a:rPr lang="zh-CN" altLang="en-US" sz="14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、全量样本按月份划分季节，样本分布如下：</a:t>
            </a:r>
            <a:endParaRPr lang="en-US" altLang="zh-CN" sz="14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l"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06F084B5-E5D8-7921-5966-51D0BD86121D}"/>
              </a:ext>
            </a:extLst>
          </p:cNvPr>
          <p:cNvSpPr txBox="1"/>
          <p:nvPr/>
        </p:nvSpPr>
        <p:spPr>
          <a:xfrm>
            <a:off x="98783" y="-301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35B1093A-4B0C-3EF1-2CE7-6319C110FBB3}"/>
              </a:ext>
            </a:extLst>
          </p:cNvPr>
          <p:cNvSpPr txBox="1"/>
          <p:nvPr/>
        </p:nvSpPr>
        <p:spPr>
          <a:xfrm>
            <a:off x="6328633" y="1871339"/>
            <a:ext cx="4640402" cy="146706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Ø"/>
              <a:defRPr/>
            </a:pP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目标变量划分：</a:t>
            </a:r>
            <a:endParaRPr lang="en-US" altLang="zh-CN" sz="16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l">
              <a:defRPr/>
            </a:pPr>
            <a:endParaRPr lang="en-US" altLang="zh-CN" sz="14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l"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		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按各个季节的样本的前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80%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分位数划分高死淘，各个月份的高死淘样本数如下：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1B64FBA-2931-DA4D-72FF-EF39C48699C0}"/>
              </a:ext>
            </a:extLst>
          </p:cNvPr>
          <p:cNvSpPr txBox="1"/>
          <p:nvPr/>
        </p:nvSpPr>
        <p:spPr>
          <a:xfrm>
            <a:off x="1290759" y="4613915"/>
            <a:ext cx="491751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、用分层抽样的方式划分验证集，使得模型的正负样本平均</a:t>
            </a:r>
            <a:endParaRPr lang="en-US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地分布在训练集，测试集和验证集中。</a:t>
            </a:r>
            <a:endParaRPr lang="en-US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如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正样本比例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- 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训练集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: 19.93%</a:t>
            </a:r>
            <a:endParaRPr lang="zh-CN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- 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测试集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: 20.31%</a:t>
            </a:r>
            <a:endParaRPr lang="zh-CN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- 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验证集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: 20.56%</a:t>
            </a:r>
            <a:endParaRPr lang="zh-CN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zh-CN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878E523-B61A-B387-134D-2F282D6BD682}"/>
              </a:ext>
            </a:extLst>
          </p:cNvPr>
          <p:cNvSpPr/>
          <p:nvPr/>
        </p:nvSpPr>
        <p:spPr>
          <a:xfrm>
            <a:off x="492980" y="1419416"/>
            <a:ext cx="1843025" cy="451923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建模准备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9E9C2B5-C59B-31CF-E31D-03F60F8A396A}"/>
              </a:ext>
            </a:extLst>
          </p:cNvPr>
          <p:cNvSpPr/>
          <p:nvPr/>
        </p:nvSpPr>
        <p:spPr>
          <a:xfrm>
            <a:off x="492981" y="1422434"/>
            <a:ext cx="11239200" cy="501646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EEFAB05-DF2D-CA86-9000-8F6648D3AA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7428051"/>
              </p:ext>
            </p:extLst>
          </p:nvPr>
        </p:nvGraphicFramePr>
        <p:xfrm>
          <a:off x="1688231" y="3032128"/>
          <a:ext cx="2907476" cy="127692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26506">
                  <a:extLst>
                    <a:ext uri="{9D8B030D-6E8A-4147-A177-3AD203B41FA5}">
                      <a16:colId xmlns:a16="http://schemas.microsoft.com/office/drawing/2014/main" val="211047833"/>
                    </a:ext>
                  </a:extLst>
                </a:gridCol>
                <a:gridCol w="980970">
                  <a:extLst>
                    <a:ext uri="{9D8B030D-6E8A-4147-A177-3AD203B41FA5}">
                      <a16:colId xmlns:a16="http://schemas.microsoft.com/office/drawing/2014/main" val="2291262820"/>
                    </a:ext>
                  </a:extLst>
                </a:gridCol>
              </a:tblGrid>
              <a:tr h="3156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</a:rPr>
                        <a:t>Winter（12，1，2）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数据量</a:t>
                      </a:r>
                      <a:r>
                        <a:rPr lang="en-US" altLang="zh-CN" sz="1100" u="none" strike="noStrike">
                          <a:effectLst/>
                        </a:rPr>
                        <a:t>: 531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57615321"/>
                  </a:ext>
                </a:extLst>
              </a:tr>
              <a:tr h="3156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</a:rPr>
                        <a:t>Spring（3，4）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数据量</a:t>
                      </a:r>
                      <a:r>
                        <a:rPr lang="en-US" altLang="zh-CN" sz="1100" u="none" strike="noStrike" dirty="0">
                          <a:effectLst/>
                        </a:rPr>
                        <a:t>: 175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24483057"/>
                  </a:ext>
                </a:extLst>
              </a:tr>
              <a:tr h="32984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</a:rPr>
                        <a:t>Summer（5，6，7，8，9）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数据量</a:t>
                      </a:r>
                      <a:r>
                        <a:rPr lang="en-US" altLang="zh-CN" sz="1100" u="none" strike="noStrike" dirty="0">
                          <a:effectLst/>
                        </a:rPr>
                        <a:t>: 212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54679"/>
                  </a:ext>
                </a:extLst>
              </a:tr>
              <a:tr h="3156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</a:rPr>
                        <a:t>Autumn（10，11）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数据量</a:t>
                      </a:r>
                      <a:r>
                        <a:rPr lang="en-US" altLang="zh-CN" sz="1100" u="none" strike="noStrike" dirty="0">
                          <a:effectLst/>
                        </a:rPr>
                        <a:t>: 339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81565378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9C2AEB4-5F65-DD63-B49E-6E2FF5116F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979075"/>
              </p:ext>
            </p:extLst>
          </p:nvPr>
        </p:nvGraphicFramePr>
        <p:xfrm>
          <a:off x="7519243" y="3338399"/>
          <a:ext cx="2414076" cy="252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07038">
                  <a:extLst>
                    <a:ext uri="{9D8B030D-6E8A-4147-A177-3AD203B41FA5}">
                      <a16:colId xmlns:a16="http://schemas.microsoft.com/office/drawing/2014/main" val="3397376712"/>
                    </a:ext>
                  </a:extLst>
                </a:gridCol>
                <a:gridCol w="1207038">
                  <a:extLst>
                    <a:ext uri="{9D8B030D-6E8A-4147-A177-3AD203B41FA5}">
                      <a16:colId xmlns:a16="http://schemas.microsoft.com/office/drawing/2014/main" val="2622651463"/>
                    </a:ext>
                  </a:extLst>
                </a:gridCol>
              </a:tblGrid>
              <a:tr h="28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月份</a:t>
                      </a:r>
                      <a:endParaRPr lang="en-US" altLang="zh-CN" sz="13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高死淘样本数</a:t>
                      </a:r>
                      <a:endParaRPr lang="en-US" altLang="zh-CN" sz="13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277123006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u="none" strike="noStrike" dirty="0">
                          <a:effectLst/>
                        </a:rPr>
                        <a:t>1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u="none" strike="noStrike" dirty="0">
                          <a:effectLst/>
                        </a:rPr>
                        <a:t>64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25649894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u="none" strike="noStrike">
                          <a:effectLst/>
                        </a:rPr>
                        <a:t>12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u="none" strike="noStrike" dirty="0">
                          <a:effectLst/>
                        </a:rPr>
                        <a:t>8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21215645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u="none" strike="noStrike">
                          <a:effectLst/>
                        </a:rPr>
                        <a:t>2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u="none" strike="noStrike">
                          <a:effectLst/>
                        </a:rPr>
                        <a:t>35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81262372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u="none" strike="noStrike">
                          <a:effectLst/>
                        </a:rPr>
                        <a:t>10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u="none" strike="noStrike" dirty="0">
                          <a:effectLst/>
                        </a:rPr>
                        <a:t>12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14870092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u="none" strike="noStrike">
                          <a:effectLst/>
                        </a:rPr>
                        <a:t>11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u="none" strike="noStrike" dirty="0">
                          <a:effectLst/>
                        </a:rPr>
                        <a:t>57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42640515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u="none" strike="noStrike">
                          <a:effectLst/>
                        </a:rPr>
                        <a:t>8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u="none" strike="noStrike" dirty="0">
                          <a:effectLst/>
                        </a:rPr>
                        <a:t>0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59931484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u="none" strike="noStrike">
                          <a:effectLst/>
                        </a:rPr>
                        <a:t>9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u="none" strike="noStrike" dirty="0">
                          <a:effectLst/>
                        </a:rPr>
                        <a:t>43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22170443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u="none" strike="noStrike" dirty="0">
                          <a:effectLst/>
                        </a:rPr>
                        <a:t>3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u="none" strike="noStrike" dirty="0">
                          <a:effectLst/>
                        </a:rPr>
                        <a:t>35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93432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7160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C3238-E331-4497-471D-CBDAEB59E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6D8188DC-2C99-AC40-F981-6A198C0AE224}"/>
              </a:ext>
            </a:extLst>
          </p:cNvPr>
          <p:cNvSpPr/>
          <p:nvPr/>
        </p:nvSpPr>
        <p:spPr>
          <a:xfrm>
            <a:off x="0" y="591378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29338C8A-4901-5722-E9DC-B2BD77208105}"/>
              </a:ext>
            </a:extLst>
          </p:cNvPr>
          <p:cNvSpPr txBox="1"/>
          <p:nvPr/>
        </p:nvSpPr>
        <p:spPr>
          <a:xfrm>
            <a:off x="313885" y="31758"/>
            <a:ext cx="3277040" cy="6281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68C00F5-BD69-BE04-4C98-44F297EEB263}"/>
              </a:ext>
            </a:extLst>
          </p:cNvPr>
          <p:cNvSpPr txBox="1"/>
          <p:nvPr/>
        </p:nvSpPr>
        <p:spPr>
          <a:xfrm>
            <a:off x="551901" y="559215"/>
            <a:ext cx="7249074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固定变量和温度数据对死淘率是否存在影响？</a:t>
            </a: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A657E662-9FEE-D4AA-0DC0-076A3B3D5367}"/>
              </a:ext>
            </a:extLst>
          </p:cNvPr>
          <p:cNvSpPr txBox="1"/>
          <p:nvPr/>
        </p:nvSpPr>
        <p:spPr>
          <a:xfrm>
            <a:off x="98783" y="-301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16A0B49-47CF-1AEB-EC14-3A596A30AD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662228"/>
              </p:ext>
            </p:extLst>
          </p:nvPr>
        </p:nvGraphicFramePr>
        <p:xfrm>
          <a:off x="1191873" y="3204916"/>
          <a:ext cx="9043839" cy="872490"/>
        </p:xfrm>
        <a:graphic>
          <a:graphicData uri="http://schemas.openxmlformats.org/drawingml/2006/table">
            <a:tbl>
              <a:tblPr firstRow="1" firstCol="1" bandRow="1"/>
              <a:tblGrid>
                <a:gridCol w="1298704">
                  <a:extLst>
                    <a:ext uri="{9D8B030D-6E8A-4147-A177-3AD203B41FA5}">
                      <a16:colId xmlns:a16="http://schemas.microsoft.com/office/drawing/2014/main" val="3801373755"/>
                    </a:ext>
                  </a:extLst>
                </a:gridCol>
                <a:gridCol w="875269">
                  <a:extLst>
                    <a:ext uri="{9D8B030D-6E8A-4147-A177-3AD203B41FA5}">
                      <a16:colId xmlns:a16="http://schemas.microsoft.com/office/drawing/2014/main" val="811401970"/>
                    </a:ext>
                  </a:extLst>
                </a:gridCol>
                <a:gridCol w="1158803">
                  <a:extLst>
                    <a:ext uri="{9D8B030D-6E8A-4147-A177-3AD203B41FA5}">
                      <a16:colId xmlns:a16="http://schemas.microsoft.com/office/drawing/2014/main" val="1679194711"/>
                    </a:ext>
                  </a:extLst>
                </a:gridCol>
                <a:gridCol w="1301989">
                  <a:extLst>
                    <a:ext uri="{9D8B030D-6E8A-4147-A177-3AD203B41FA5}">
                      <a16:colId xmlns:a16="http://schemas.microsoft.com/office/drawing/2014/main" val="3461694118"/>
                    </a:ext>
                  </a:extLst>
                </a:gridCol>
                <a:gridCol w="1132749">
                  <a:extLst>
                    <a:ext uri="{9D8B030D-6E8A-4147-A177-3AD203B41FA5}">
                      <a16:colId xmlns:a16="http://schemas.microsoft.com/office/drawing/2014/main" val="2447547013"/>
                    </a:ext>
                  </a:extLst>
                </a:gridCol>
                <a:gridCol w="1588419">
                  <a:extLst>
                    <a:ext uri="{9D8B030D-6E8A-4147-A177-3AD203B41FA5}">
                      <a16:colId xmlns:a16="http://schemas.microsoft.com/office/drawing/2014/main" val="2128753147"/>
                    </a:ext>
                  </a:extLst>
                </a:gridCol>
                <a:gridCol w="1687906">
                  <a:extLst>
                    <a:ext uri="{9D8B030D-6E8A-4147-A177-3AD203B41FA5}">
                      <a16:colId xmlns:a16="http://schemas.microsoft.com/office/drawing/2014/main" val="995393870"/>
                    </a:ext>
                  </a:extLst>
                </a:gridCol>
              </a:tblGrid>
              <a:tr h="1172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季节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AUC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平衡准确率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F1-Score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验证集</a:t>
                      </a:r>
                      <a:r>
                        <a:rPr lang="en-US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AUC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验证集平衡准确率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验证集</a:t>
                      </a:r>
                      <a:r>
                        <a:rPr lang="en-US" alt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F1-score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7880505"/>
                  </a:ext>
                </a:extLst>
              </a:tr>
              <a:tr h="20093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冬季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0.777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0.71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0.538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0.727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0.622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0.4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902591"/>
                  </a:ext>
                </a:extLst>
              </a:tr>
              <a:tr h="20093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秋季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0.684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0.629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0.412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0.799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0.604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0.37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1794857"/>
                  </a:ext>
                </a:extLst>
              </a:tr>
              <a:tr h="20093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夏季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0.756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0.615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0.381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0.696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0.578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0.333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347528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B09B313-8B2D-68BA-27A9-F2E7589238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20348"/>
              </p:ext>
            </p:extLst>
          </p:nvPr>
        </p:nvGraphicFramePr>
        <p:xfrm>
          <a:off x="1199712" y="4927061"/>
          <a:ext cx="6974237" cy="872490"/>
        </p:xfrm>
        <a:graphic>
          <a:graphicData uri="http://schemas.openxmlformats.org/drawingml/2006/table">
            <a:tbl>
              <a:tblPr firstRow="1" firstCol="1" bandRow="1"/>
              <a:tblGrid>
                <a:gridCol w="996845">
                  <a:extLst>
                    <a:ext uri="{9D8B030D-6E8A-4147-A177-3AD203B41FA5}">
                      <a16:colId xmlns:a16="http://schemas.microsoft.com/office/drawing/2014/main" val="3801373755"/>
                    </a:ext>
                  </a:extLst>
                </a:gridCol>
                <a:gridCol w="675505">
                  <a:extLst>
                    <a:ext uri="{9D8B030D-6E8A-4147-A177-3AD203B41FA5}">
                      <a16:colId xmlns:a16="http://schemas.microsoft.com/office/drawing/2014/main" val="811401970"/>
                    </a:ext>
                  </a:extLst>
                </a:gridCol>
                <a:gridCol w="894303">
                  <a:extLst>
                    <a:ext uri="{9D8B030D-6E8A-4147-A177-3AD203B41FA5}">
                      <a16:colId xmlns:a16="http://schemas.microsoft.com/office/drawing/2014/main" val="1679194711"/>
                    </a:ext>
                  </a:extLst>
                </a:gridCol>
                <a:gridCol w="691335">
                  <a:extLst>
                    <a:ext uri="{9D8B030D-6E8A-4147-A177-3AD203B41FA5}">
                      <a16:colId xmlns:a16="http://schemas.microsoft.com/office/drawing/2014/main" val="3461694118"/>
                    </a:ext>
                  </a:extLst>
                </a:gridCol>
                <a:gridCol w="1187707">
                  <a:extLst>
                    <a:ext uri="{9D8B030D-6E8A-4147-A177-3AD203B41FA5}">
                      <a16:colId xmlns:a16="http://schemas.microsoft.com/office/drawing/2014/main" val="2447547013"/>
                    </a:ext>
                  </a:extLst>
                </a:gridCol>
                <a:gridCol w="1225899">
                  <a:extLst>
                    <a:ext uri="{9D8B030D-6E8A-4147-A177-3AD203B41FA5}">
                      <a16:colId xmlns:a16="http://schemas.microsoft.com/office/drawing/2014/main" val="2128753147"/>
                    </a:ext>
                  </a:extLst>
                </a:gridCol>
                <a:gridCol w="1302643">
                  <a:extLst>
                    <a:ext uri="{9D8B030D-6E8A-4147-A177-3AD203B41FA5}">
                      <a16:colId xmlns:a16="http://schemas.microsoft.com/office/drawing/2014/main" val="9953938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季节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RMSE</a:t>
                      </a:r>
                      <a:endParaRPr lang="zh-CN" altLang="en-US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MAE</a:t>
                      </a:r>
                      <a:endParaRPr lang="zh-CN" altLang="en-US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方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验证集</a:t>
                      </a: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RMSE</a:t>
                      </a:r>
                      <a:endParaRPr lang="zh-CN" altLang="en-US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验证集</a:t>
                      </a: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MAE</a:t>
                      </a:r>
                      <a:endParaRPr lang="zh-CN" altLang="en-US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验证集</a:t>
                      </a: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方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7880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冬季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0.035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0.027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0.262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0.04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0.029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0.19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902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秋季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0.015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0.01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0.35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0.014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0.011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0.237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1794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夏季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0.01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0.008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0.434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0.012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0.009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0.295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347528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818B48AB-0D6F-01C1-929F-0BECBBFD9D35}"/>
              </a:ext>
            </a:extLst>
          </p:cNvPr>
          <p:cNvSpPr/>
          <p:nvPr/>
        </p:nvSpPr>
        <p:spPr>
          <a:xfrm>
            <a:off x="1199713" y="2660206"/>
            <a:ext cx="1029137" cy="3679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二分类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91DD70A-BC19-E12A-EEE6-239C87B4B91E}"/>
              </a:ext>
            </a:extLst>
          </p:cNvPr>
          <p:cNvSpPr txBox="1"/>
          <p:nvPr/>
        </p:nvSpPr>
        <p:spPr>
          <a:xfrm>
            <a:off x="1199713" y="2106655"/>
            <a:ext cx="722276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</a:t>
            </a:r>
            <a:r>
              <a:rPr lang="en-US" altLang="zh-CN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的比例划分死淘率，以日龄维度的指标建模的模型结果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EFD224B-B2EA-69D3-1DD6-6E21ABA1DC80}"/>
              </a:ext>
            </a:extLst>
          </p:cNvPr>
          <p:cNvSpPr/>
          <p:nvPr/>
        </p:nvSpPr>
        <p:spPr>
          <a:xfrm>
            <a:off x="492980" y="1419416"/>
            <a:ext cx="1843025" cy="451923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A3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模型结果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BAD4336-77E5-428E-2B60-6728F9D99BA7}"/>
              </a:ext>
            </a:extLst>
          </p:cNvPr>
          <p:cNvSpPr/>
          <p:nvPr/>
        </p:nvSpPr>
        <p:spPr>
          <a:xfrm>
            <a:off x="492981" y="1422434"/>
            <a:ext cx="11239200" cy="501646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36613A8-63FF-9873-0584-F43059582134}"/>
              </a:ext>
            </a:extLst>
          </p:cNvPr>
          <p:cNvSpPr/>
          <p:nvPr/>
        </p:nvSpPr>
        <p:spPr>
          <a:xfrm>
            <a:off x="1199712" y="4353559"/>
            <a:ext cx="1029137" cy="3679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回归</a:t>
            </a:r>
          </a:p>
        </p:txBody>
      </p:sp>
    </p:spTree>
    <p:extLst>
      <p:ext uri="{BB962C8B-B14F-4D97-AF65-F5344CB8AC3E}">
        <p14:creationId xmlns:p14="http://schemas.microsoft.com/office/powerpoint/2010/main" val="1125780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A1A9C-5190-5B65-A2CB-E0FF2BA98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2029A1A3-953E-B613-8A31-C97732161EE5}"/>
              </a:ext>
            </a:extLst>
          </p:cNvPr>
          <p:cNvSpPr/>
          <p:nvPr/>
        </p:nvSpPr>
        <p:spPr>
          <a:xfrm>
            <a:off x="1357313" y="2614613"/>
            <a:ext cx="9980670" cy="340042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E803A026-01E2-6C93-776F-82F6FB0A68D3}"/>
              </a:ext>
            </a:extLst>
          </p:cNvPr>
          <p:cNvSpPr/>
          <p:nvPr/>
        </p:nvSpPr>
        <p:spPr>
          <a:xfrm>
            <a:off x="0" y="591378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91BA4BEE-989F-8891-2086-D1385DBE5570}"/>
              </a:ext>
            </a:extLst>
          </p:cNvPr>
          <p:cNvSpPr txBox="1"/>
          <p:nvPr/>
        </p:nvSpPr>
        <p:spPr>
          <a:xfrm>
            <a:off x="313885" y="31758"/>
            <a:ext cx="3277040" cy="6281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06B3BDE-6044-C186-8C1A-E1D5BDDAF721}"/>
              </a:ext>
            </a:extLst>
          </p:cNvPr>
          <p:cNvSpPr txBox="1"/>
          <p:nvPr/>
        </p:nvSpPr>
        <p:spPr>
          <a:xfrm>
            <a:off x="551901" y="559215"/>
            <a:ext cx="7249074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固定变量和温度数据对死淘率是否存在影响？</a:t>
            </a: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44E9100A-92E7-2C75-CB82-1A232C36E45B}"/>
              </a:ext>
            </a:extLst>
          </p:cNvPr>
          <p:cNvSpPr txBox="1"/>
          <p:nvPr/>
        </p:nvSpPr>
        <p:spPr>
          <a:xfrm>
            <a:off x="98783" y="-301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DADC9B7-77E9-3AE8-07F2-42C32298AEC6}"/>
              </a:ext>
            </a:extLst>
          </p:cNvPr>
          <p:cNvSpPr txBox="1"/>
          <p:nvPr/>
        </p:nvSpPr>
        <p:spPr>
          <a:xfrm>
            <a:off x="788568" y="2089676"/>
            <a:ext cx="872373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</a:t>
            </a:r>
            <a:r>
              <a:rPr lang="en-US" altLang="zh-CN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的比例划分死淘率，以日龄维度的指标建模的模型重要变量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5D247F-61FF-66D4-B83A-D007C3195E12}"/>
              </a:ext>
            </a:extLst>
          </p:cNvPr>
          <p:cNvSpPr/>
          <p:nvPr/>
        </p:nvSpPr>
        <p:spPr>
          <a:xfrm>
            <a:off x="492980" y="1419416"/>
            <a:ext cx="1843025" cy="451923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A3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模型结果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ED88716-59D7-8602-8990-5985612214F4}"/>
              </a:ext>
            </a:extLst>
          </p:cNvPr>
          <p:cNvSpPr/>
          <p:nvPr/>
        </p:nvSpPr>
        <p:spPr>
          <a:xfrm>
            <a:off x="492981" y="1422434"/>
            <a:ext cx="11239200" cy="501646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E08706E7-5819-556C-9D94-38F6198D29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402465"/>
              </p:ext>
            </p:extLst>
          </p:nvPr>
        </p:nvGraphicFramePr>
        <p:xfrm>
          <a:off x="878681" y="2621255"/>
          <a:ext cx="10459302" cy="3386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8062">
                  <a:extLst>
                    <a:ext uri="{9D8B030D-6E8A-4147-A177-3AD203B41FA5}">
                      <a16:colId xmlns:a16="http://schemas.microsoft.com/office/drawing/2014/main" val="2649439620"/>
                    </a:ext>
                  </a:extLst>
                </a:gridCol>
                <a:gridCol w="498062">
                  <a:extLst>
                    <a:ext uri="{9D8B030D-6E8A-4147-A177-3AD203B41FA5}">
                      <a16:colId xmlns:a16="http://schemas.microsoft.com/office/drawing/2014/main" val="3607642644"/>
                    </a:ext>
                  </a:extLst>
                </a:gridCol>
                <a:gridCol w="498062">
                  <a:extLst>
                    <a:ext uri="{9D8B030D-6E8A-4147-A177-3AD203B41FA5}">
                      <a16:colId xmlns:a16="http://schemas.microsoft.com/office/drawing/2014/main" val="1277106473"/>
                    </a:ext>
                  </a:extLst>
                </a:gridCol>
                <a:gridCol w="498062">
                  <a:extLst>
                    <a:ext uri="{9D8B030D-6E8A-4147-A177-3AD203B41FA5}">
                      <a16:colId xmlns:a16="http://schemas.microsoft.com/office/drawing/2014/main" val="381312640"/>
                    </a:ext>
                  </a:extLst>
                </a:gridCol>
                <a:gridCol w="498062">
                  <a:extLst>
                    <a:ext uri="{9D8B030D-6E8A-4147-A177-3AD203B41FA5}">
                      <a16:colId xmlns:a16="http://schemas.microsoft.com/office/drawing/2014/main" val="2966535045"/>
                    </a:ext>
                  </a:extLst>
                </a:gridCol>
                <a:gridCol w="498062">
                  <a:extLst>
                    <a:ext uri="{9D8B030D-6E8A-4147-A177-3AD203B41FA5}">
                      <a16:colId xmlns:a16="http://schemas.microsoft.com/office/drawing/2014/main" val="268873095"/>
                    </a:ext>
                  </a:extLst>
                </a:gridCol>
                <a:gridCol w="498062">
                  <a:extLst>
                    <a:ext uri="{9D8B030D-6E8A-4147-A177-3AD203B41FA5}">
                      <a16:colId xmlns:a16="http://schemas.microsoft.com/office/drawing/2014/main" val="2996464670"/>
                    </a:ext>
                  </a:extLst>
                </a:gridCol>
                <a:gridCol w="498062">
                  <a:extLst>
                    <a:ext uri="{9D8B030D-6E8A-4147-A177-3AD203B41FA5}">
                      <a16:colId xmlns:a16="http://schemas.microsoft.com/office/drawing/2014/main" val="3923853797"/>
                    </a:ext>
                  </a:extLst>
                </a:gridCol>
                <a:gridCol w="498062">
                  <a:extLst>
                    <a:ext uri="{9D8B030D-6E8A-4147-A177-3AD203B41FA5}">
                      <a16:colId xmlns:a16="http://schemas.microsoft.com/office/drawing/2014/main" val="1872641418"/>
                    </a:ext>
                  </a:extLst>
                </a:gridCol>
                <a:gridCol w="498062">
                  <a:extLst>
                    <a:ext uri="{9D8B030D-6E8A-4147-A177-3AD203B41FA5}">
                      <a16:colId xmlns:a16="http://schemas.microsoft.com/office/drawing/2014/main" val="1381106137"/>
                    </a:ext>
                  </a:extLst>
                </a:gridCol>
                <a:gridCol w="498062">
                  <a:extLst>
                    <a:ext uri="{9D8B030D-6E8A-4147-A177-3AD203B41FA5}">
                      <a16:colId xmlns:a16="http://schemas.microsoft.com/office/drawing/2014/main" val="1494913897"/>
                    </a:ext>
                  </a:extLst>
                </a:gridCol>
                <a:gridCol w="498062">
                  <a:extLst>
                    <a:ext uri="{9D8B030D-6E8A-4147-A177-3AD203B41FA5}">
                      <a16:colId xmlns:a16="http://schemas.microsoft.com/office/drawing/2014/main" val="3628458899"/>
                    </a:ext>
                  </a:extLst>
                </a:gridCol>
                <a:gridCol w="498062">
                  <a:extLst>
                    <a:ext uri="{9D8B030D-6E8A-4147-A177-3AD203B41FA5}">
                      <a16:colId xmlns:a16="http://schemas.microsoft.com/office/drawing/2014/main" val="2516147968"/>
                    </a:ext>
                  </a:extLst>
                </a:gridCol>
                <a:gridCol w="498062">
                  <a:extLst>
                    <a:ext uri="{9D8B030D-6E8A-4147-A177-3AD203B41FA5}">
                      <a16:colId xmlns:a16="http://schemas.microsoft.com/office/drawing/2014/main" val="3316521455"/>
                    </a:ext>
                  </a:extLst>
                </a:gridCol>
                <a:gridCol w="498062">
                  <a:extLst>
                    <a:ext uri="{9D8B030D-6E8A-4147-A177-3AD203B41FA5}">
                      <a16:colId xmlns:a16="http://schemas.microsoft.com/office/drawing/2014/main" val="2952798753"/>
                    </a:ext>
                  </a:extLst>
                </a:gridCol>
                <a:gridCol w="498062">
                  <a:extLst>
                    <a:ext uri="{9D8B030D-6E8A-4147-A177-3AD203B41FA5}">
                      <a16:colId xmlns:a16="http://schemas.microsoft.com/office/drawing/2014/main" val="4113144650"/>
                    </a:ext>
                  </a:extLst>
                </a:gridCol>
                <a:gridCol w="498062">
                  <a:extLst>
                    <a:ext uri="{9D8B030D-6E8A-4147-A177-3AD203B41FA5}">
                      <a16:colId xmlns:a16="http://schemas.microsoft.com/office/drawing/2014/main" val="2663236501"/>
                    </a:ext>
                  </a:extLst>
                </a:gridCol>
                <a:gridCol w="498062">
                  <a:extLst>
                    <a:ext uri="{9D8B030D-6E8A-4147-A177-3AD203B41FA5}">
                      <a16:colId xmlns:a16="http://schemas.microsoft.com/office/drawing/2014/main" val="3355882246"/>
                    </a:ext>
                  </a:extLst>
                </a:gridCol>
                <a:gridCol w="498062">
                  <a:extLst>
                    <a:ext uri="{9D8B030D-6E8A-4147-A177-3AD203B41FA5}">
                      <a16:colId xmlns:a16="http://schemas.microsoft.com/office/drawing/2014/main" val="3864947581"/>
                    </a:ext>
                  </a:extLst>
                </a:gridCol>
                <a:gridCol w="498062">
                  <a:extLst>
                    <a:ext uri="{9D8B030D-6E8A-4147-A177-3AD203B41FA5}">
                      <a16:colId xmlns:a16="http://schemas.microsoft.com/office/drawing/2014/main" val="4050083708"/>
                    </a:ext>
                  </a:extLst>
                </a:gridCol>
                <a:gridCol w="498062">
                  <a:extLst>
                    <a:ext uri="{9D8B030D-6E8A-4147-A177-3AD203B41FA5}">
                      <a16:colId xmlns:a16="http://schemas.microsoft.com/office/drawing/2014/main" val="1738220129"/>
                    </a:ext>
                  </a:extLst>
                </a:gridCol>
              </a:tblGrid>
              <a:tr h="84666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6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7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8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9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10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11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12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13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14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15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16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17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18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19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20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147759"/>
                  </a:ext>
                </a:extLst>
              </a:tr>
              <a:tr h="8466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冬</a:t>
                      </a:r>
                      <a:endParaRPr lang="en-US" altLang="zh-CN" sz="1400" b="1" dirty="0"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1-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MEAN_34'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最低温度变化率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_17'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5-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MEAN_16'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'DENSITY'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内外温差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</a:t>
                      </a: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MEAN_15'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'HOUSEAMOUNT'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5-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MEAN_0'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最低温度变化率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_13'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最高温度变化率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_20'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'FARMSUPERVISOR'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外部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MEAN_35'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3-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</a:t>
                      </a: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MEAN_3'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最高温度变化率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_24'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每日温差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_33'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3-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</a:t>
                      </a: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MEAN_10'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内外温差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</a:t>
                      </a: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MEAN_1'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平均温度变化率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_22'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平均温度变化率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_21'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最低温度变化率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_35'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平均温度变化率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_28'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106247"/>
                  </a:ext>
                </a:extLst>
              </a:tr>
              <a:tr h="8466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夏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每日温差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_20'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每日温差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_31'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1-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</a:t>
                      </a: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MEAN_16'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1-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</a:t>
                      </a: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MEAN_0'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5-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MEAN_0'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鸡舍温度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最低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</a:t>
                      </a: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MIN_10'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最高温度变化率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_34'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'DOCAMOUNT'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1-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MEAN_23'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'GAS_COST'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1-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MEAN_29'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湿度内部平均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MEAN_12'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平均温度变化率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_11'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最低温度变化率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_16'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湿度内部平均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MEAN_35'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内外温差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MEAN_26'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最高温度变化率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_14'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鸡舍温度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最低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MIN_22'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 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平均温度变化率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_24'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每日温差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_29'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0513143"/>
                  </a:ext>
                </a:extLst>
              </a:tr>
              <a:tr h="8466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秋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最高温度变化率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_27'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内外温差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</a:t>
                      </a: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MEAN_21'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'HARVESTSTATUS_month'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平均温度变化率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_1'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1-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</a:t>
                      </a: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MEAN_-1'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4-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</a:t>
                      </a: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MEAN_29'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平均温度变化率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_12'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最高温度变化率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_20'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平均温度变化率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_31'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平均温度变化率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_3'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每日温差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_35'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每日温差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_31'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 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最高温度变化率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_35'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1-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</a:t>
                      </a: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MEAN_0'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内外温差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</a:t>
                      </a: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MEAN_33'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'ELECTRICITY_COST'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每日温差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_22'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最高温度变化率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_5'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1-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MEAN_5'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最低温度变化率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_3'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41036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4467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B75C0-B3CF-58AF-8D28-CFDC819CD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E7023EF2-A47C-F9B2-CC26-410B92AFBBAC}"/>
              </a:ext>
            </a:extLst>
          </p:cNvPr>
          <p:cNvSpPr/>
          <p:nvPr/>
        </p:nvSpPr>
        <p:spPr>
          <a:xfrm>
            <a:off x="0" y="591378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EAB09596-8505-E600-F21C-463B28299443}"/>
              </a:ext>
            </a:extLst>
          </p:cNvPr>
          <p:cNvSpPr txBox="1"/>
          <p:nvPr/>
        </p:nvSpPr>
        <p:spPr>
          <a:xfrm>
            <a:off x="313885" y="31758"/>
            <a:ext cx="3277040" cy="6281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9F500EA-9C8F-ABCD-8791-ACFF18A990B6}"/>
              </a:ext>
            </a:extLst>
          </p:cNvPr>
          <p:cNvSpPr txBox="1"/>
          <p:nvPr/>
        </p:nvSpPr>
        <p:spPr>
          <a:xfrm>
            <a:off x="551901" y="559215"/>
            <a:ext cx="7249074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固定变量和温度数据对死淘率是否存在影响？</a:t>
            </a: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00DAEB99-5427-D1BE-C3D0-E4B7F17B509C}"/>
              </a:ext>
            </a:extLst>
          </p:cNvPr>
          <p:cNvSpPr txBox="1"/>
          <p:nvPr/>
        </p:nvSpPr>
        <p:spPr>
          <a:xfrm>
            <a:off x="98783" y="-301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3D14016-E246-045F-F20F-0445638A1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0433445"/>
              </p:ext>
            </p:extLst>
          </p:nvPr>
        </p:nvGraphicFramePr>
        <p:xfrm>
          <a:off x="1199712" y="3204916"/>
          <a:ext cx="9036000" cy="872490"/>
        </p:xfrm>
        <a:graphic>
          <a:graphicData uri="http://schemas.openxmlformats.org/drawingml/2006/table">
            <a:tbl>
              <a:tblPr firstRow="1" firstCol="1" bandRow="1"/>
              <a:tblGrid>
                <a:gridCol w="1290865">
                  <a:extLst>
                    <a:ext uri="{9D8B030D-6E8A-4147-A177-3AD203B41FA5}">
                      <a16:colId xmlns:a16="http://schemas.microsoft.com/office/drawing/2014/main" val="3801373755"/>
                    </a:ext>
                  </a:extLst>
                </a:gridCol>
                <a:gridCol w="875269">
                  <a:extLst>
                    <a:ext uri="{9D8B030D-6E8A-4147-A177-3AD203B41FA5}">
                      <a16:colId xmlns:a16="http://schemas.microsoft.com/office/drawing/2014/main" val="811401970"/>
                    </a:ext>
                  </a:extLst>
                </a:gridCol>
                <a:gridCol w="1158803">
                  <a:extLst>
                    <a:ext uri="{9D8B030D-6E8A-4147-A177-3AD203B41FA5}">
                      <a16:colId xmlns:a16="http://schemas.microsoft.com/office/drawing/2014/main" val="1679194711"/>
                    </a:ext>
                  </a:extLst>
                </a:gridCol>
                <a:gridCol w="1301989">
                  <a:extLst>
                    <a:ext uri="{9D8B030D-6E8A-4147-A177-3AD203B41FA5}">
                      <a16:colId xmlns:a16="http://schemas.microsoft.com/office/drawing/2014/main" val="3461694118"/>
                    </a:ext>
                  </a:extLst>
                </a:gridCol>
                <a:gridCol w="1132749">
                  <a:extLst>
                    <a:ext uri="{9D8B030D-6E8A-4147-A177-3AD203B41FA5}">
                      <a16:colId xmlns:a16="http://schemas.microsoft.com/office/drawing/2014/main" val="2447547013"/>
                    </a:ext>
                  </a:extLst>
                </a:gridCol>
                <a:gridCol w="1588419">
                  <a:extLst>
                    <a:ext uri="{9D8B030D-6E8A-4147-A177-3AD203B41FA5}">
                      <a16:colId xmlns:a16="http://schemas.microsoft.com/office/drawing/2014/main" val="2128753147"/>
                    </a:ext>
                  </a:extLst>
                </a:gridCol>
                <a:gridCol w="1687906">
                  <a:extLst>
                    <a:ext uri="{9D8B030D-6E8A-4147-A177-3AD203B41FA5}">
                      <a16:colId xmlns:a16="http://schemas.microsoft.com/office/drawing/2014/main" val="9953938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季节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AUC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平衡准确率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F1-Score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验证集</a:t>
                      </a:r>
                      <a:r>
                        <a:rPr lang="en-US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AUC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验证集平衡准确率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验证集</a:t>
                      </a:r>
                      <a:r>
                        <a:rPr lang="en-US" alt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F1-score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7880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冬季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0.742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0.686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0.5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0.742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0.598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0.37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902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秋季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0.661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0.666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0.471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0.718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0.603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0.375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1794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夏季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0.81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0.677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0.476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0.719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0.582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0.308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347528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C979989-8364-E25B-0E36-230D7AB5F2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204565"/>
              </p:ext>
            </p:extLst>
          </p:nvPr>
        </p:nvGraphicFramePr>
        <p:xfrm>
          <a:off x="1199712" y="4927061"/>
          <a:ext cx="6974237" cy="872490"/>
        </p:xfrm>
        <a:graphic>
          <a:graphicData uri="http://schemas.openxmlformats.org/drawingml/2006/table">
            <a:tbl>
              <a:tblPr firstRow="1" firstCol="1" bandRow="1"/>
              <a:tblGrid>
                <a:gridCol w="996845">
                  <a:extLst>
                    <a:ext uri="{9D8B030D-6E8A-4147-A177-3AD203B41FA5}">
                      <a16:colId xmlns:a16="http://schemas.microsoft.com/office/drawing/2014/main" val="3801373755"/>
                    </a:ext>
                  </a:extLst>
                </a:gridCol>
                <a:gridCol w="675505">
                  <a:extLst>
                    <a:ext uri="{9D8B030D-6E8A-4147-A177-3AD203B41FA5}">
                      <a16:colId xmlns:a16="http://schemas.microsoft.com/office/drawing/2014/main" val="811401970"/>
                    </a:ext>
                  </a:extLst>
                </a:gridCol>
                <a:gridCol w="894303">
                  <a:extLst>
                    <a:ext uri="{9D8B030D-6E8A-4147-A177-3AD203B41FA5}">
                      <a16:colId xmlns:a16="http://schemas.microsoft.com/office/drawing/2014/main" val="1679194711"/>
                    </a:ext>
                  </a:extLst>
                </a:gridCol>
                <a:gridCol w="691335">
                  <a:extLst>
                    <a:ext uri="{9D8B030D-6E8A-4147-A177-3AD203B41FA5}">
                      <a16:colId xmlns:a16="http://schemas.microsoft.com/office/drawing/2014/main" val="3461694118"/>
                    </a:ext>
                  </a:extLst>
                </a:gridCol>
                <a:gridCol w="1187707">
                  <a:extLst>
                    <a:ext uri="{9D8B030D-6E8A-4147-A177-3AD203B41FA5}">
                      <a16:colId xmlns:a16="http://schemas.microsoft.com/office/drawing/2014/main" val="2447547013"/>
                    </a:ext>
                  </a:extLst>
                </a:gridCol>
                <a:gridCol w="1225899">
                  <a:extLst>
                    <a:ext uri="{9D8B030D-6E8A-4147-A177-3AD203B41FA5}">
                      <a16:colId xmlns:a16="http://schemas.microsoft.com/office/drawing/2014/main" val="2128753147"/>
                    </a:ext>
                  </a:extLst>
                </a:gridCol>
                <a:gridCol w="1302643">
                  <a:extLst>
                    <a:ext uri="{9D8B030D-6E8A-4147-A177-3AD203B41FA5}">
                      <a16:colId xmlns:a16="http://schemas.microsoft.com/office/drawing/2014/main" val="9953938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季节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RMSE</a:t>
                      </a:r>
                      <a:endParaRPr lang="zh-CN" altLang="en-US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MAE</a:t>
                      </a:r>
                      <a:endParaRPr lang="zh-CN" altLang="en-US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方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验证集</a:t>
                      </a: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RMSE</a:t>
                      </a:r>
                      <a:endParaRPr lang="zh-CN" altLang="en-US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验证集</a:t>
                      </a: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MAE</a:t>
                      </a:r>
                      <a:endParaRPr lang="zh-CN" altLang="en-US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验证集</a:t>
                      </a: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方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7880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zh-CN" altLang="en-US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冬季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0.035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0.027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0.234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0.04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0.03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0.181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902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zh-CN" altLang="en-US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秋季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0.014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0.011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0.409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0.015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0.012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0.125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1794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zh-CN" altLang="en-US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夏季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0.011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0.009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0.326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0.013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0.009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0.225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347528"/>
                  </a:ext>
                </a:extLst>
              </a:tr>
            </a:tbl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C3527200-C62E-42CB-2831-0BB6EBB0DF7B}"/>
              </a:ext>
            </a:extLst>
          </p:cNvPr>
          <p:cNvSpPr/>
          <p:nvPr/>
        </p:nvSpPr>
        <p:spPr>
          <a:xfrm>
            <a:off x="1199713" y="2660206"/>
            <a:ext cx="1029137" cy="3679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二分类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1023E6E-AD04-FAE0-3750-16D514BADAF2}"/>
              </a:ext>
            </a:extLst>
          </p:cNvPr>
          <p:cNvSpPr txBox="1"/>
          <p:nvPr/>
        </p:nvSpPr>
        <p:spPr>
          <a:xfrm>
            <a:off x="1199713" y="2106655"/>
            <a:ext cx="826575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</a:t>
            </a:r>
            <a:r>
              <a:rPr lang="en-US" altLang="zh-CN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的比例划分死淘率，按</a:t>
            </a:r>
            <a:r>
              <a:rPr lang="en-US" altLang="zh-CN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天滑窗加工日龄维度的指标建模的模型结果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98D7853-8A80-B283-412A-C40F96E463CB}"/>
              </a:ext>
            </a:extLst>
          </p:cNvPr>
          <p:cNvSpPr/>
          <p:nvPr/>
        </p:nvSpPr>
        <p:spPr>
          <a:xfrm>
            <a:off x="492980" y="1419416"/>
            <a:ext cx="1843025" cy="451923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A3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模型结果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714F440-B9BA-9457-1628-E138AE62F833}"/>
              </a:ext>
            </a:extLst>
          </p:cNvPr>
          <p:cNvSpPr/>
          <p:nvPr/>
        </p:nvSpPr>
        <p:spPr>
          <a:xfrm>
            <a:off x="492981" y="1422434"/>
            <a:ext cx="11239200" cy="501646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06DCCB8-CE2B-983C-27B4-558516D62772}"/>
              </a:ext>
            </a:extLst>
          </p:cNvPr>
          <p:cNvSpPr/>
          <p:nvPr/>
        </p:nvSpPr>
        <p:spPr>
          <a:xfrm>
            <a:off x="1199712" y="4353559"/>
            <a:ext cx="1029137" cy="3679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回归</a:t>
            </a:r>
          </a:p>
        </p:txBody>
      </p:sp>
    </p:spTree>
    <p:extLst>
      <p:ext uri="{BB962C8B-B14F-4D97-AF65-F5344CB8AC3E}">
        <p14:creationId xmlns:p14="http://schemas.microsoft.com/office/powerpoint/2010/main" val="1152391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35CA9-18F1-6895-6DD2-D4113FB57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6A2C0AD8-757A-E980-633C-D0BDC54AC453}"/>
              </a:ext>
            </a:extLst>
          </p:cNvPr>
          <p:cNvSpPr/>
          <p:nvPr/>
        </p:nvSpPr>
        <p:spPr>
          <a:xfrm>
            <a:off x="1271588" y="2607470"/>
            <a:ext cx="10258426" cy="340042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C60C4B04-F21E-F446-BAA1-D0BE78E439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374590"/>
              </p:ext>
            </p:extLst>
          </p:nvPr>
        </p:nvGraphicFramePr>
        <p:xfrm>
          <a:off x="771525" y="2621255"/>
          <a:ext cx="10758489" cy="3386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2309">
                  <a:extLst>
                    <a:ext uri="{9D8B030D-6E8A-4147-A177-3AD203B41FA5}">
                      <a16:colId xmlns:a16="http://schemas.microsoft.com/office/drawing/2014/main" val="2649439620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3607642644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1277106473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381312640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2966535045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268873095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2996464670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3923853797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1872641418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1381106137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1494913897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3628458899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2516147968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3316521455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2952798753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4113144650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2663236501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3355882246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3864947581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4050083708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1738220129"/>
                    </a:ext>
                  </a:extLst>
                </a:gridCol>
              </a:tblGrid>
              <a:tr h="84666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6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7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8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9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10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11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12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13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14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15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16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17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18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19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20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147759"/>
                  </a:ext>
                </a:extLst>
              </a:tr>
              <a:tr h="8466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冬</a:t>
                      </a:r>
                      <a:endParaRPr lang="en-US" altLang="zh-CN" sz="1400" b="1" dirty="0"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W7_12-18天_内外温差_MEAN'</a:t>
                      </a:r>
                      <a:endParaRPr lang="zh-CN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'DENSITY'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'W7_-2-4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湿度内部平均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'W7_26-32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鸡舍温度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最高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'HARVESTSTATUS_month'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'HOUSEAMOUNT'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'W7_26-32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最高温度变化率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'W7_5-11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鸡舍温度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平均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'AGE'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'W7_12-18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内外温差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'W7_-2-4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内外温差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'W7_5-11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平均温度变化率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'W7_26-32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每日温差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'W7_26-32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平均温度变化率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'W7_26-32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鸡舍温度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最低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'W7_26-32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平均温度变化率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'W7_19-25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每日温差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'FARMSUPERVISOR'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'W7_26-32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湿度内部平均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'W7_19-25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鸡舍温度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最低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106247"/>
                  </a:ext>
                </a:extLst>
              </a:tr>
              <a:tr h="8466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秋</a:t>
                      </a:r>
                      <a:endParaRPr lang="zh-CN" altLang="en-US" sz="1400" b="1" dirty="0"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'HARVESTSTATUS_month'</a:t>
                      </a:r>
                      <a:endParaRPr lang="zh-CN" alt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'W7_12-18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最低温度变化率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'W7_26-32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最高温度变化率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'W7_5-11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平均温度变化率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'ELECTRICITY_COST'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'W7_26-32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湿度内部平均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'W7_19-25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湿度内部平均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'W7_19-25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内外温差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'W7_19-25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鸡舍温度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最高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'W7_19-25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最高温度变化率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'W7_19-25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最高温度变化率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'W7_-2-4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外部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平均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'W7_5-11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平均温度变化率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'W7_-2-4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湿度内部平均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'W7_26-32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每日温差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'W7_26-32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最高温度变化率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'W7_5-11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最低温度变化率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'W7_19-25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平均温度变化率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'W7_-2-4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鸡舍温度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平均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'DOCAMOUNT'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0513143"/>
                  </a:ext>
                </a:extLst>
              </a:tr>
              <a:tr h="8466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夏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'W7_26-32天_每日温差_MEAN'</a:t>
                      </a:r>
                      <a:endParaRPr lang="zh-CN" alt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'W7_19-25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鸡舍温度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平均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'W7_5-11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鸡舍温度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最低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'W7_26-32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最高温度变化率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'GAS_COST'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'W7_19-25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湿度内部平均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'DOCAMOUNT'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'W7_12-18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鸡舍温度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平均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'W7_12-18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鸡舍温度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最高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'W7_19-25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鸡舍温度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最低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'DENSITY'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'W7_19-25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最低温度变化率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'W7_5-11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平均温度变化率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'W7_12-18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鸡舍温度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最低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'W7_-2-4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内外温差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'W7_12-18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每日温差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'W7_19-25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内外温差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'W7_19-25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鸡舍温度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最高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'W7_-2-4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鸡舍温度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最高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'W7_19-25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鸡舍温度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最高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4103682"/>
                  </a:ext>
                </a:extLst>
              </a:tr>
            </a:tbl>
          </a:graphicData>
        </a:graphic>
      </p:graphicFrame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D49B3ECB-C455-74DF-5415-2A1E7DC66B53}"/>
              </a:ext>
            </a:extLst>
          </p:cNvPr>
          <p:cNvSpPr/>
          <p:nvPr/>
        </p:nvSpPr>
        <p:spPr>
          <a:xfrm>
            <a:off x="0" y="591378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F72699D7-4C73-EE47-FE32-346A9084EB2B}"/>
              </a:ext>
            </a:extLst>
          </p:cNvPr>
          <p:cNvSpPr txBox="1"/>
          <p:nvPr/>
        </p:nvSpPr>
        <p:spPr>
          <a:xfrm>
            <a:off x="313885" y="31758"/>
            <a:ext cx="3277040" cy="6281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11AE08C-D146-DAC5-8717-EF5390483BCF}"/>
              </a:ext>
            </a:extLst>
          </p:cNvPr>
          <p:cNvSpPr txBox="1"/>
          <p:nvPr/>
        </p:nvSpPr>
        <p:spPr>
          <a:xfrm>
            <a:off x="551901" y="559215"/>
            <a:ext cx="7249074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固定变量和温度数据对死淘率是否存在影响？</a:t>
            </a: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824EFB7C-F7FB-F27C-8502-032BADCEB3BA}"/>
              </a:ext>
            </a:extLst>
          </p:cNvPr>
          <p:cNvSpPr txBox="1"/>
          <p:nvPr/>
        </p:nvSpPr>
        <p:spPr>
          <a:xfrm>
            <a:off x="98783" y="-301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B347551-7FA0-727E-1C1F-091208B2CAEA}"/>
              </a:ext>
            </a:extLst>
          </p:cNvPr>
          <p:cNvSpPr/>
          <p:nvPr/>
        </p:nvSpPr>
        <p:spPr>
          <a:xfrm>
            <a:off x="492980" y="1419416"/>
            <a:ext cx="1843025" cy="451923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A3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模型结果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9ED0A2E-CA67-750F-CF22-A8E96D1F6AAF}"/>
              </a:ext>
            </a:extLst>
          </p:cNvPr>
          <p:cNvSpPr/>
          <p:nvPr/>
        </p:nvSpPr>
        <p:spPr>
          <a:xfrm>
            <a:off x="492981" y="1422434"/>
            <a:ext cx="11239200" cy="501646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2AEA6E4-5A35-B1A7-593A-00FE224C0707}"/>
              </a:ext>
            </a:extLst>
          </p:cNvPr>
          <p:cNvSpPr txBox="1"/>
          <p:nvPr/>
        </p:nvSpPr>
        <p:spPr>
          <a:xfrm>
            <a:off x="1021119" y="2106256"/>
            <a:ext cx="826575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</a:t>
            </a:r>
            <a:r>
              <a:rPr lang="en-US" altLang="zh-CN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的比例划分死淘率，按</a:t>
            </a:r>
            <a:r>
              <a:rPr lang="en-US" altLang="zh-CN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天滑窗加工日龄维度的指标建模的模型结果</a:t>
            </a:r>
          </a:p>
        </p:txBody>
      </p:sp>
    </p:spTree>
    <p:extLst>
      <p:ext uri="{BB962C8B-B14F-4D97-AF65-F5344CB8AC3E}">
        <p14:creationId xmlns:p14="http://schemas.microsoft.com/office/powerpoint/2010/main" val="3896831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80EC5-8067-BCDF-95DF-3733A97DB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6C6F0718-8FDD-C929-36E0-682268C8CDEB}"/>
              </a:ext>
            </a:extLst>
          </p:cNvPr>
          <p:cNvSpPr/>
          <p:nvPr/>
        </p:nvSpPr>
        <p:spPr>
          <a:xfrm>
            <a:off x="0" y="591378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F66F03DF-7403-2450-8FB8-C70C43321A36}"/>
              </a:ext>
            </a:extLst>
          </p:cNvPr>
          <p:cNvSpPr txBox="1"/>
          <p:nvPr/>
        </p:nvSpPr>
        <p:spPr>
          <a:xfrm>
            <a:off x="313885" y="31758"/>
            <a:ext cx="3277040" cy="6281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0303938-50E8-373F-F46C-377AF4C064A0}"/>
              </a:ext>
            </a:extLst>
          </p:cNvPr>
          <p:cNvSpPr txBox="1"/>
          <p:nvPr/>
        </p:nvSpPr>
        <p:spPr>
          <a:xfrm>
            <a:off x="551901" y="559215"/>
            <a:ext cx="7249074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固定变量和温度数据对死淘率是否存在影响？</a:t>
            </a: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C3A575A2-5413-44F7-8968-7D4936206624}"/>
              </a:ext>
            </a:extLst>
          </p:cNvPr>
          <p:cNvSpPr txBox="1"/>
          <p:nvPr/>
        </p:nvSpPr>
        <p:spPr>
          <a:xfrm>
            <a:off x="98783" y="-301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1F108FA-FF72-3A10-B910-B163B0D18D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464975"/>
              </p:ext>
            </p:extLst>
          </p:nvPr>
        </p:nvGraphicFramePr>
        <p:xfrm>
          <a:off x="1199712" y="3204916"/>
          <a:ext cx="9036000" cy="872490"/>
        </p:xfrm>
        <a:graphic>
          <a:graphicData uri="http://schemas.openxmlformats.org/drawingml/2006/table">
            <a:tbl>
              <a:tblPr firstRow="1" firstCol="1" bandRow="1"/>
              <a:tblGrid>
                <a:gridCol w="1290865">
                  <a:extLst>
                    <a:ext uri="{9D8B030D-6E8A-4147-A177-3AD203B41FA5}">
                      <a16:colId xmlns:a16="http://schemas.microsoft.com/office/drawing/2014/main" val="3801373755"/>
                    </a:ext>
                  </a:extLst>
                </a:gridCol>
                <a:gridCol w="875269">
                  <a:extLst>
                    <a:ext uri="{9D8B030D-6E8A-4147-A177-3AD203B41FA5}">
                      <a16:colId xmlns:a16="http://schemas.microsoft.com/office/drawing/2014/main" val="811401970"/>
                    </a:ext>
                  </a:extLst>
                </a:gridCol>
                <a:gridCol w="1158803">
                  <a:extLst>
                    <a:ext uri="{9D8B030D-6E8A-4147-A177-3AD203B41FA5}">
                      <a16:colId xmlns:a16="http://schemas.microsoft.com/office/drawing/2014/main" val="1679194711"/>
                    </a:ext>
                  </a:extLst>
                </a:gridCol>
                <a:gridCol w="1301989">
                  <a:extLst>
                    <a:ext uri="{9D8B030D-6E8A-4147-A177-3AD203B41FA5}">
                      <a16:colId xmlns:a16="http://schemas.microsoft.com/office/drawing/2014/main" val="3461694118"/>
                    </a:ext>
                  </a:extLst>
                </a:gridCol>
                <a:gridCol w="1132749">
                  <a:extLst>
                    <a:ext uri="{9D8B030D-6E8A-4147-A177-3AD203B41FA5}">
                      <a16:colId xmlns:a16="http://schemas.microsoft.com/office/drawing/2014/main" val="2447547013"/>
                    </a:ext>
                  </a:extLst>
                </a:gridCol>
                <a:gridCol w="1588419">
                  <a:extLst>
                    <a:ext uri="{9D8B030D-6E8A-4147-A177-3AD203B41FA5}">
                      <a16:colId xmlns:a16="http://schemas.microsoft.com/office/drawing/2014/main" val="2128753147"/>
                    </a:ext>
                  </a:extLst>
                </a:gridCol>
                <a:gridCol w="1687906">
                  <a:extLst>
                    <a:ext uri="{9D8B030D-6E8A-4147-A177-3AD203B41FA5}">
                      <a16:colId xmlns:a16="http://schemas.microsoft.com/office/drawing/2014/main" val="9953938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季节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AUC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平衡准确率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F1-Score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验证集</a:t>
                      </a:r>
                      <a:r>
                        <a:rPr lang="en-US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AUC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验证集平衡准确率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验证集</a:t>
                      </a:r>
                      <a:r>
                        <a:rPr lang="en-US" alt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F1-score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7880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冬季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0.746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0.686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0.5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0.795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0.724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0.538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902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秋季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0.647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0.629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0.412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0.716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0.595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0.357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1794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夏季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0.766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0.615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0.381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0.667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0.593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0.353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347528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C6F3CB01-724B-7DC4-0D5B-541A3969F4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641173"/>
              </p:ext>
            </p:extLst>
          </p:nvPr>
        </p:nvGraphicFramePr>
        <p:xfrm>
          <a:off x="1199712" y="4927061"/>
          <a:ext cx="6974237" cy="872490"/>
        </p:xfrm>
        <a:graphic>
          <a:graphicData uri="http://schemas.openxmlformats.org/drawingml/2006/table">
            <a:tbl>
              <a:tblPr firstRow="1" firstCol="1" bandRow="1"/>
              <a:tblGrid>
                <a:gridCol w="996845">
                  <a:extLst>
                    <a:ext uri="{9D8B030D-6E8A-4147-A177-3AD203B41FA5}">
                      <a16:colId xmlns:a16="http://schemas.microsoft.com/office/drawing/2014/main" val="3801373755"/>
                    </a:ext>
                  </a:extLst>
                </a:gridCol>
                <a:gridCol w="675505">
                  <a:extLst>
                    <a:ext uri="{9D8B030D-6E8A-4147-A177-3AD203B41FA5}">
                      <a16:colId xmlns:a16="http://schemas.microsoft.com/office/drawing/2014/main" val="811401970"/>
                    </a:ext>
                  </a:extLst>
                </a:gridCol>
                <a:gridCol w="894303">
                  <a:extLst>
                    <a:ext uri="{9D8B030D-6E8A-4147-A177-3AD203B41FA5}">
                      <a16:colId xmlns:a16="http://schemas.microsoft.com/office/drawing/2014/main" val="1679194711"/>
                    </a:ext>
                  </a:extLst>
                </a:gridCol>
                <a:gridCol w="691335">
                  <a:extLst>
                    <a:ext uri="{9D8B030D-6E8A-4147-A177-3AD203B41FA5}">
                      <a16:colId xmlns:a16="http://schemas.microsoft.com/office/drawing/2014/main" val="3461694118"/>
                    </a:ext>
                  </a:extLst>
                </a:gridCol>
                <a:gridCol w="1187707">
                  <a:extLst>
                    <a:ext uri="{9D8B030D-6E8A-4147-A177-3AD203B41FA5}">
                      <a16:colId xmlns:a16="http://schemas.microsoft.com/office/drawing/2014/main" val="2447547013"/>
                    </a:ext>
                  </a:extLst>
                </a:gridCol>
                <a:gridCol w="1225899">
                  <a:extLst>
                    <a:ext uri="{9D8B030D-6E8A-4147-A177-3AD203B41FA5}">
                      <a16:colId xmlns:a16="http://schemas.microsoft.com/office/drawing/2014/main" val="2128753147"/>
                    </a:ext>
                  </a:extLst>
                </a:gridCol>
                <a:gridCol w="1302643">
                  <a:extLst>
                    <a:ext uri="{9D8B030D-6E8A-4147-A177-3AD203B41FA5}">
                      <a16:colId xmlns:a16="http://schemas.microsoft.com/office/drawing/2014/main" val="9953938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季节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RMSE</a:t>
                      </a:r>
                      <a:endParaRPr lang="zh-CN" altLang="en-US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MAE</a:t>
                      </a:r>
                      <a:endParaRPr lang="zh-CN" altLang="en-US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方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验证集</a:t>
                      </a: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RMSE</a:t>
                      </a:r>
                      <a:endParaRPr lang="zh-CN" altLang="en-US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验证集</a:t>
                      </a: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MAE</a:t>
                      </a:r>
                      <a:endParaRPr lang="zh-CN" altLang="en-US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验证集</a:t>
                      </a: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方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7880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zh-CN" altLang="en-US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冬季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0.034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0.026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0.037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0.028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0.312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902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zh-CN" altLang="en-US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秋季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0.014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0.011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0.386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0.014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0.011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0.257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1794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zh-CN" altLang="en-US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夏季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0.011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0.008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0.292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0.013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0.009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0.249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347528"/>
                  </a:ext>
                </a:extLst>
              </a:tr>
            </a:tbl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0C053196-3175-147E-134A-4B9788EBF61D}"/>
              </a:ext>
            </a:extLst>
          </p:cNvPr>
          <p:cNvSpPr/>
          <p:nvPr/>
        </p:nvSpPr>
        <p:spPr>
          <a:xfrm>
            <a:off x="1199713" y="2660206"/>
            <a:ext cx="1029137" cy="3679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二分类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28FF8FD-66A1-DD3B-BCCE-C8166E10E886}"/>
              </a:ext>
            </a:extLst>
          </p:cNvPr>
          <p:cNvSpPr txBox="1"/>
          <p:nvPr/>
        </p:nvSpPr>
        <p:spPr>
          <a:xfrm>
            <a:off x="1199713" y="2106655"/>
            <a:ext cx="826575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</a:t>
            </a:r>
            <a:r>
              <a:rPr lang="en-US" altLang="zh-CN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的比例划分死淘率，按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天滑窗加工日龄维度的指标建模的模型结果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A1E04B8-209A-68AC-7297-B796C6B45948}"/>
              </a:ext>
            </a:extLst>
          </p:cNvPr>
          <p:cNvSpPr/>
          <p:nvPr/>
        </p:nvSpPr>
        <p:spPr>
          <a:xfrm>
            <a:off x="492980" y="1419416"/>
            <a:ext cx="1843025" cy="451923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A3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模型结果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9A7B319-AD99-61BD-EA66-4035F1B97F1B}"/>
              </a:ext>
            </a:extLst>
          </p:cNvPr>
          <p:cNvSpPr/>
          <p:nvPr/>
        </p:nvSpPr>
        <p:spPr>
          <a:xfrm>
            <a:off x="492981" y="1422434"/>
            <a:ext cx="11239200" cy="501646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0BD99E8-E4E8-29E1-ADAE-4A851BFBCDC0}"/>
              </a:ext>
            </a:extLst>
          </p:cNvPr>
          <p:cNvSpPr/>
          <p:nvPr/>
        </p:nvSpPr>
        <p:spPr>
          <a:xfrm>
            <a:off x="1199712" y="4353559"/>
            <a:ext cx="1029137" cy="3679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回归</a:t>
            </a:r>
          </a:p>
        </p:txBody>
      </p:sp>
    </p:spTree>
    <p:extLst>
      <p:ext uri="{BB962C8B-B14F-4D97-AF65-F5344CB8AC3E}">
        <p14:creationId xmlns:p14="http://schemas.microsoft.com/office/powerpoint/2010/main" val="1698830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35010-AD89-D1A4-5EA7-A553A8728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80239BF9-708E-9E4A-552E-5F9CD9EDD829}"/>
              </a:ext>
            </a:extLst>
          </p:cNvPr>
          <p:cNvSpPr/>
          <p:nvPr/>
        </p:nvSpPr>
        <p:spPr>
          <a:xfrm>
            <a:off x="1228725" y="2614613"/>
            <a:ext cx="10241756" cy="340042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E3768F2A-F5A2-128B-B356-C83B3B1A3F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983474"/>
              </p:ext>
            </p:extLst>
          </p:nvPr>
        </p:nvGraphicFramePr>
        <p:xfrm>
          <a:off x="721519" y="2621255"/>
          <a:ext cx="10758489" cy="3386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0832">
                  <a:extLst>
                    <a:ext uri="{9D8B030D-6E8A-4147-A177-3AD203B41FA5}">
                      <a16:colId xmlns:a16="http://schemas.microsoft.com/office/drawing/2014/main" val="2649439620"/>
                    </a:ext>
                  </a:extLst>
                </a:gridCol>
                <a:gridCol w="533786">
                  <a:extLst>
                    <a:ext uri="{9D8B030D-6E8A-4147-A177-3AD203B41FA5}">
                      <a16:colId xmlns:a16="http://schemas.microsoft.com/office/drawing/2014/main" val="3607642644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1277106473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381312640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2966535045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268873095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2996464670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3923853797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1872641418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1381106137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1494913897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3628458899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2516147968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3316521455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2952798753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4113144650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2663236501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3355882246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3864947581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4050083708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1738220129"/>
                    </a:ext>
                  </a:extLst>
                </a:gridCol>
              </a:tblGrid>
              <a:tr h="84666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6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7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8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9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10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11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12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13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14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15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16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17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18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19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20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147759"/>
                  </a:ext>
                </a:extLst>
              </a:tr>
              <a:tr h="8466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冬</a:t>
                      </a:r>
                      <a:endParaRPr lang="en-US" altLang="zh-CN" sz="1400" b="1" dirty="0"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'W3_4-6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内外温差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'HARVESTSTATUS_month'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'W3_34-36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最高温度变化率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'DENSITY'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'W3_31-33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鸡舍温度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最高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'W3_1-3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湿度内部平均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'W3_16-18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鸡舍温度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平均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'W3_19-21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平均温度变化率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'W3_16-18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内外温差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'W3_31-33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每日温差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'W3_19-21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最高温度变化率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'FARMSUPERVISOR'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'HOUSEAMOUNT'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'W3_34-36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鸡舍温度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平均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'W3_16-18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最低温度变化率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'W3_31-33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最高温度变化率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'W3_31-33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最低温度变化率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'W3_28-30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湿度内部平均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'W3_31-33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每日温差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'W3_25-27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每日温差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106247"/>
                  </a:ext>
                </a:extLst>
              </a:tr>
              <a:tr h="8466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秋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'HARVESTSTATUS_month'</a:t>
                      </a:r>
                      <a:endParaRPr lang="zh-CN" alt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'W3_34-36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平均温度变化率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'ELECTRICITY_COST'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'W3_34-36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湿度内部平均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'W3_28-30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湿度内部平均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'W3_10-12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平均温度变化率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'W3_16-18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最低温度变化率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'W3_28-30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平均温度变化率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'W3_1-3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最低温度变化率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'W3_19-21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最低温度变化率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'W3_13-15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鸡舍温度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平均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'W3_34-36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最低温度变化率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'DOCAMOUNT'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'W3_31-33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每日温差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'W3_7-9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最低温度变化率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'W3_1-3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鸡舍温度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平均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'W3_31-33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内外温差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'W3_31-33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鸡舍温度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最低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'W3_22-24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每日温差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'W3_34-36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内外温差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0513143"/>
                  </a:ext>
                </a:extLst>
              </a:tr>
              <a:tr h="8466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夏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'W3_19-21天_平均温度变化率_RANGE'</a:t>
                      </a:r>
                      <a:endParaRPr lang="zh-CN" alt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'W3_16-18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平均温度变化率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'W3_34-36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鸡舍温度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最低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'W3_10-12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鸡舍温度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平均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'W3_7-9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鸡舍温度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最低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'GAS_COST'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'W3_10-12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鸡舍温度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最低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'W3_28-30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鸡舍温度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最低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'DOCAMOUNT'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'DENSITY'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'W3_13-15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每日温差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'W3_-2-0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鸡舍温度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最低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'W3_1-3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鸡舍温度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平均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'W3_16-18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鸡舍温度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最低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'W3_22-24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鸡舍温度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最高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'W3_16-18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鸡舍温度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平均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'W3_16-18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湿度内部平均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'W3_28-30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每日温差</a:t>
                      </a:r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'W3_31-33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湿度内部平均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'W3_13-15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鸡舍温度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最低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4103682"/>
                  </a:ext>
                </a:extLst>
              </a:tr>
            </a:tbl>
          </a:graphicData>
        </a:graphic>
      </p:graphicFrame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85ABA532-C4CE-BE80-100A-CFA1915CDC01}"/>
              </a:ext>
            </a:extLst>
          </p:cNvPr>
          <p:cNvSpPr/>
          <p:nvPr/>
        </p:nvSpPr>
        <p:spPr>
          <a:xfrm>
            <a:off x="0" y="591378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FB7923E3-57D8-E5EC-EB4A-FFB4162EE7F2}"/>
              </a:ext>
            </a:extLst>
          </p:cNvPr>
          <p:cNvSpPr txBox="1"/>
          <p:nvPr/>
        </p:nvSpPr>
        <p:spPr>
          <a:xfrm>
            <a:off x="313885" y="31758"/>
            <a:ext cx="3277040" cy="6281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D7516D1-4534-7FA8-0C75-F4BB9465B4A3}"/>
              </a:ext>
            </a:extLst>
          </p:cNvPr>
          <p:cNvSpPr txBox="1"/>
          <p:nvPr/>
        </p:nvSpPr>
        <p:spPr>
          <a:xfrm>
            <a:off x="551901" y="559215"/>
            <a:ext cx="7249074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固定变量和温度数据对死淘率是否存在影响？</a:t>
            </a: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B357C6C9-106E-2781-3B74-30746F272D7A}"/>
              </a:ext>
            </a:extLst>
          </p:cNvPr>
          <p:cNvSpPr txBox="1"/>
          <p:nvPr/>
        </p:nvSpPr>
        <p:spPr>
          <a:xfrm>
            <a:off x="98783" y="-301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769DA50-D91A-D042-F4F4-64B596656500}"/>
              </a:ext>
            </a:extLst>
          </p:cNvPr>
          <p:cNvSpPr txBox="1"/>
          <p:nvPr/>
        </p:nvSpPr>
        <p:spPr>
          <a:xfrm>
            <a:off x="788568" y="2089676"/>
            <a:ext cx="872373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</a:t>
            </a:r>
            <a:r>
              <a:rPr lang="en-US" altLang="zh-CN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的比例划分死淘率，按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天滑窗加工日龄维度的指标建模的模型结果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9E3427D-E742-50E7-EE97-7C72E54D85A1}"/>
              </a:ext>
            </a:extLst>
          </p:cNvPr>
          <p:cNvSpPr/>
          <p:nvPr/>
        </p:nvSpPr>
        <p:spPr>
          <a:xfrm>
            <a:off x="492980" y="1419416"/>
            <a:ext cx="1843025" cy="451923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A3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模型结果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D7B11B6-9301-A5DF-38CA-D7D6B2C91AFA}"/>
              </a:ext>
            </a:extLst>
          </p:cNvPr>
          <p:cNvSpPr/>
          <p:nvPr/>
        </p:nvSpPr>
        <p:spPr>
          <a:xfrm>
            <a:off x="492981" y="1422434"/>
            <a:ext cx="11239200" cy="501646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9470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9EE30F01-297E-D653-0142-EF94BA2A4090}"/>
              </a:ext>
            </a:extLst>
          </p:cNvPr>
          <p:cNvSpPr/>
          <p:nvPr/>
        </p:nvSpPr>
        <p:spPr>
          <a:xfrm>
            <a:off x="0" y="591378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BB7EA54F-10FF-A03A-6072-50A4B7A89619}"/>
              </a:ext>
            </a:extLst>
          </p:cNvPr>
          <p:cNvSpPr txBox="1"/>
          <p:nvPr/>
        </p:nvSpPr>
        <p:spPr>
          <a:xfrm>
            <a:off x="313885" y="31758"/>
            <a:ext cx="3277040" cy="6281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52FFB45D-1872-D2A7-080D-759086BE8AC8}"/>
              </a:ext>
            </a:extLst>
          </p:cNvPr>
          <p:cNvSpPr txBox="1"/>
          <p:nvPr/>
        </p:nvSpPr>
        <p:spPr>
          <a:xfrm>
            <a:off x="551901" y="559215"/>
            <a:ext cx="7249074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固定变量和温度数据对死淘率是否存在影响？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1636CE47-F030-6AF7-5439-BE78F5BF3F10}"/>
              </a:ext>
            </a:extLst>
          </p:cNvPr>
          <p:cNvSpPr txBox="1"/>
          <p:nvPr/>
        </p:nvSpPr>
        <p:spPr>
          <a:xfrm>
            <a:off x="98783" y="-301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4F9E514-08A9-B985-4F21-6F561819F810}"/>
              </a:ext>
            </a:extLst>
          </p:cNvPr>
          <p:cNvSpPr txBox="1"/>
          <p:nvPr/>
        </p:nvSpPr>
        <p:spPr>
          <a:xfrm>
            <a:off x="1194045" y="2011775"/>
            <a:ext cx="9803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以每日龄的死淘率为目标变量，探索温度相关因素，包括当天温度，前</a:t>
            </a:r>
            <a:r>
              <a:rPr lang="en-US" altLang="zh-CN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天温度，前</a:t>
            </a:r>
            <a:r>
              <a:rPr lang="en-US" altLang="zh-CN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天温度等指标对死淘率的影响。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853C724-8109-151C-2A1A-1E188579094D}"/>
              </a:ext>
            </a:extLst>
          </p:cNvPr>
          <p:cNvSpPr/>
          <p:nvPr/>
        </p:nvSpPr>
        <p:spPr>
          <a:xfrm>
            <a:off x="492980" y="1419416"/>
            <a:ext cx="1843025" cy="451923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A3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模型结果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6FA0A00-C440-0793-5FBE-CC0A6C5B109B}"/>
              </a:ext>
            </a:extLst>
          </p:cNvPr>
          <p:cNvSpPr/>
          <p:nvPr/>
        </p:nvSpPr>
        <p:spPr>
          <a:xfrm>
            <a:off x="492981" y="1422434"/>
            <a:ext cx="11239200" cy="501646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BE6A39A7-2E74-3D5A-F6C3-ED51436C4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5792812"/>
              </p:ext>
            </p:extLst>
          </p:nvPr>
        </p:nvGraphicFramePr>
        <p:xfrm>
          <a:off x="1628227" y="2975396"/>
          <a:ext cx="8392946" cy="1526940"/>
        </p:xfrm>
        <a:graphic>
          <a:graphicData uri="http://schemas.openxmlformats.org/drawingml/2006/table">
            <a:tbl>
              <a:tblPr firstRow="1" firstCol="1" bandRow="1"/>
              <a:tblGrid>
                <a:gridCol w="852174">
                  <a:extLst>
                    <a:ext uri="{9D8B030D-6E8A-4147-A177-3AD203B41FA5}">
                      <a16:colId xmlns:a16="http://schemas.microsoft.com/office/drawing/2014/main" val="1246134311"/>
                    </a:ext>
                  </a:extLst>
                </a:gridCol>
                <a:gridCol w="852174">
                  <a:extLst>
                    <a:ext uri="{9D8B030D-6E8A-4147-A177-3AD203B41FA5}">
                      <a16:colId xmlns:a16="http://schemas.microsoft.com/office/drawing/2014/main" val="811401970"/>
                    </a:ext>
                  </a:extLst>
                </a:gridCol>
                <a:gridCol w="1128226">
                  <a:extLst>
                    <a:ext uri="{9D8B030D-6E8A-4147-A177-3AD203B41FA5}">
                      <a16:colId xmlns:a16="http://schemas.microsoft.com/office/drawing/2014/main" val="1679194711"/>
                    </a:ext>
                  </a:extLst>
                </a:gridCol>
                <a:gridCol w="1267635">
                  <a:extLst>
                    <a:ext uri="{9D8B030D-6E8A-4147-A177-3AD203B41FA5}">
                      <a16:colId xmlns:a16="http://schemas.microsoft.com/office/drawing/2014/main" val="3461694118"/>
                    </a:ext>
                  </a:extLst>
                </a:gridCol>
                <a:gridCol w="1102860">
                  <a:extLst>
                    <a:ext uri="{9D8B030D-6E8A-4147-A177-3AD203B41FA5}">
                      <a16:colId xmlns:a16="http://schemas.microsoft.com/office/drawing/2014/main" val="2447547013"/>
                    </a:ext>
                  </a:extLst>
                </a:gridCol>
                <a:gridCol w="1546508">
                  <a:extLst>
                    <a:ext uri="{9D8B030D-6E8A-4147-A177-3AD203B41FA5}">
                      <a16:colId xmlns:a16="http://schemas.microsoft.com/office/drawing/2014/main" val="2128753147"/>
                    </a:ext>
                  </a:extLst>
                </a:gridCol>
                <a:gridCol w="1643369">
                  <a:extLst>
                    <a:ext uri="{9D8B030D-6E8A-4147-A177-3AD203B41FA5}">
                      <a16:colId xmlns:a16="http://schemas.microsoft.com/office/drawing/2014/main" val="995393870"/>
                    </a:ext>
                  </a:extLst>
                </a:gridCol>
              </a:tblGrid>
              <a:tr h="50398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AUC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平衡准确率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F1-Score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验证集</a:t>
                      </a:r>
                      <a:r>
                        <a:rPr lang="en-US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AUC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验证集平衡准确率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验证集</a:t>
                      </a:r>
                      <a:r>
                        <a:rPr lang="en-US" alt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F1-score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7880505"/>
                  </a:ext>
                </a:extLst>
              </a:tr>
              <a:tr h="511480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加入日龄变量</a:t>
                      </a:r>
                      <a:endParaRPr lang="en-US" altLang="zh-CN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0.85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0.76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0.61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0.86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0.77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0.62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902591"/>
                  </a:ext>
                </a:extLst>
              </a:tr>
              <a:tr h="511480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不加入日龄变量</a:t>
                      </a:r>
                      <a:endParaRPr lang="en-US" altLang="zh-CN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0.80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0.70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0.53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0.81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0.71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0.53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17948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183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E8520-793B-7FA7-7A1B-39E0717AB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DF13CF90-F142-E2FC-C4EF-29C7699F0DD0}"/>
              </a:ext>
            </a:extLst>
          </p:cNvPr>
          <p:cNvSpPr/>
          <p:nvPr/>
        </p:nvSpPr>
        <p:spPr>
          <a:xfrm>
            <a:off x="1228725" y="3164689"/>
            <a:ext cx="10241756" cy="257177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CE84E8F5-C06F-8C9B-A1BF-F89325AA09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822533"/>
              </p:ext>
            </p:extLst>
          </p:nvPr>
        </p:nvGraphicFramePr>
        <p:xfrm>
          <a:off x="711992" y="3164689"/>
          <a:ext cx="10758489" cy="25399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2309">
                  <a:extLst>
                    <a:ext uri="{9D8B030D-6E8A-4147-A177-3AD203B41FA5}">
                      <a16:colId xmlns:a16="http://schemas.microsoft.com/office/drawing/2014/main" val="2649439620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3607642644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1277106473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381312640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2966535045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268873095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2996464670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3923853797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1872641418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1381106137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1494913897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3628458899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2516147968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3316521455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2952798753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4113144650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2663236501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3355882246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3864947581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4050083708"/>
                    </a:ext>
                  </a:extLst>
                </a:gridCol>
                <a:gridCol w="512309">
                  <a:extLst>
                    <a:ext uri="{9D8B030D-6E8A-4147-A177-3AD203B41FA5}">
                      <a16:colId xmlns:a16="http://schemas.microsoft.com/office/drawing/2014/main" val="1738220129"/>
                    </a:ext>
                  </a:extLst>
                </a:gridCol>
              </a:tblGrid>
              <a:tr h="84666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6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7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8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9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10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11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12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13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14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15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16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17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18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19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20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147759"/>
                  </a:ext>
                </a:extLst>
              </a:tr>
              <a:tr h="846660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加入日龄变量</a:t>
                      </a:r>
                      <a:endParaRPr lang="en-US" altLang="zh-CN" sz="12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Age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内外温差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_max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鸡舍最低温度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前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5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天变化百分比</a:t>
                      </a:r>
                      <a:endParaRPr lang="en-US" altLang="zh-CN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温度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5-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平均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_max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温度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平均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前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7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天变化</a:t>
                      </a:r>
                      <a:endParaRPr lang="en-US" altLang="zh-CN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内外温差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前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3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天变化百分比</a:t>
                      </a:r>
                      <a:endParaRPr lang="en-US" altLang="zh-CN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最低温度变化率</a:t>
                      </a:r>
                      <a:endParaRPr lang="en-US" altLang="zh-CN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鸡舍最低温度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前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3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天变化百分比</a:t>
                      </a:r>
                      <a:endParaRPr lang="en-US" altLang="zh-CN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鸡舍最低温度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前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天变化</a:t>
                      </a:r>
                      <a:endParaRPr lang="en-US" altLang="zh-CN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内部平均湿度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前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5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endParaRPr lang="en-US" altLang="zh-CN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内外温差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前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7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天变化百分比</a:t>
                      </a:r>
                      <a:endParaRPr lang="en-US" altLang="zh-CN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外部平均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前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5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天变化百分比</a:t>
                      </a:r>
                      <a:endParaRPr lang="en-US" altLang="zh-CN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平均温度变化率</a:t>
                      </a:r>
                      <a:endParaRPr lang="en-US" altLang="zh-CN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最高温度变化率</a:t>
                      </a:r>
                      <a:endParaRPr lang="en-US" altLang="zh-CN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内外温差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前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天变化</a:t>
                      </a:r>
                      <a:endParaRPr lang="en-US" altLang="zh-CN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每日温差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前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7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endParaRPr lang="en-US" altLang="zh-CN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湿度内部平均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_max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外部平均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前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7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天变化百分比</a:t>
                      </a:r>
                      <a:endParaRPr lang="en-US" altLang="zh-CN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内外温差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前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天变化百分比</a:t>
                      </a:r>
                      <a:endParaRPr lang="en-US" altLang="zh-CN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每日温差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前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3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endParaRPr lang="en-US" altLang="zh-CN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106247"/>
                  </a:ext>
                </a:extLst>
              </a:tr>
              <a:tr h="846660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不加入日龄变量</a:t>
                      </a:r>
                      <a:endParaRPr lang="en-US" altLang="zh-CN" sz="12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温度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1-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平均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_max'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温度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平均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前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7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天变化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内外温差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_max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鸡舍最低温度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前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5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天变化百分比</a:t>
                      </a:r>
                      <a:endParaRPr lang="en-US" altLang="zh-CN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内外温差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前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3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天变化百分比</a:t>
                      </a:r>
                      <a:endParaRPr lang="en-US" altLang="zh-CN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鸡舍最低温度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前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3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天变化百分比</a:t>
                      </a:r>
                      <a:endParaRPr lang="en-US" altLang="zh-CN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最低温度变化率</a:t>
                      </a:r>
                      <a:endParaRPr lang="en-US" altLang="zh-CN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鸡舍最低温度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前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天变化</a:t>
                      </a:r>
                      <a:endParaRPr lang="en-US" altLang="zh-CN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外部平均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前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5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天变化百分比</a:t>
                      </a:r>
                      <a:endParaRPr lang="en-US" altLang="zh-CN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内外温差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前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7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天变化百分比</a:t>
                      </a:r>
                      <a:endParaRPr lang="en-US" altLang="zh-CN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每日温差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前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7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endParaRPr lang="en-US" altLang="zh-CN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平均温度变化率</a:t>
                      </a:r>
                      <a:endParaRPr lang="en-US" altLang="zh-CN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 温度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平均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前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5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天变化</a:t>
                      </a:r>
                      <a:endParaRPr lang="en-US" altLang="zh-CN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温度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平均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前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3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天变化</a:t>
                      </a:r>
                      <a:endParaRPr lang="en-US" altLang="zh-CN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外部平均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前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7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天变化百分比</a:t>
                      </a:r>
                      <a:endParaRPr lang="en-US" altLang="zh-CN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外部平均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前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3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天变化百分比</a:t>
                      </a:r>
                      <a:endParaRPr lang="en-US" altLang="zh-CN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外部平均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前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天变化百分比</a:t>
                      </a:r>
                      <a:endParaRPr lang="en-US" altLang="zh-CN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每日温差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前</a:t>
                      </a:r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5</a:t>
                      </a:r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天</a:t>
                      </a:r>
                      <a:endParaRPr lang="en-US" altLang="zh-CN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每日温差</a:t>
                      </a:r>
                      <a:endParaRPr lang="en-US" altLang="zh-CN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最高温度变化率</a:t>
                      </a:r>
                      <a:endParaRPr lang="en-US" altLang="zh-CN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0513143"/>
                  </a:ext>
                </a:extLst>
              </a:tr>
            </a:tbl>
          </a:graphicData>
        </a:graphic>
      </p:graphicFrame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F0D41AA3-98BA-143F-DAEC-62D3EE0737B5}"/>
              </a:ext>
            </a:extLst>
          </p:cNvPr>
          <p:cNvSpPr/>
          <p:nvPr/>
        </p:nvSpPr>
        <p:spPr>
          <a:xfrm>
            <a:off x="0" y="591378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C4000168-2129-7847-5B57-78A01AD747D8}"/>
              </a:ext>
            </a:extLst>
          </p:cNvPr>
          <p:cNvSpPr txBox="1"/>
          <p:nvPr/>
        </p:nvSpPr>
        <p:spPr>
          <a:xfrm>
            <a:off x="313885" y="31758"/>
            <a:ext cx="3277040" cy="6281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1070503-7E1F-A3C4-6F9E-9A7C6AB13AA6}"/>
              </a:ext>
            </a:extLst>
          </p:cNvPr>
          <p:cNvSpPr txBox="1"/>
          <p:nvPr/>
        </p:nvSpPr>
        <p:spPr>
          <a:xfrm>
            <a:off x="551901" y="559215"/>
            <a:ext cx="7249074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固定变量和温度数据对死淘率是否存在影响？</a:t>
            </a: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46384085-9D3A-CDF7-153E-A6871052180A}"/>
              </a:ext>
            </a:extLst>
          </p:cNvPr>
          <p:cNvSpPr txBox="1"/>
          <p:nvPr/>
        </p:nvSpPr>
        <p:spPr>
          <a:xfrm>
            <a:off x="98783" y="-301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1C2858D-C353-43C9-88A6-F1AB5E643237}"/>
              </a:ext>
            </a:extLst>
          </p:cNvPr>
          <p:cNvSpPr/>
          <p:nvPr/>
        </p:nvSpPr>
        <p:spPr>
          <a:xfrm>
            <a:off x="492980" y="1419416"/>
            <a:ext cx="1843025" cy="451923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A3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模型结果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DE4F179-982A-22D8-70EC-3C45A89C5712}"/>
              </a:ext>
            </a:extLst>
          </p:cNvPr>
          <p:cNvSpPr/>
          <p:nvPr/>
        </p:nvSpPr>
        <p:spPr>
          <a:xfrm>
            <a:off x="492981" y="1422434"/>
            <a:ext cx="11239200" cy="517765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2343A41-F7C2-F4C4-C919-B59FFE168610}"/>
              </a:ext>
            </a:extLst>
          </p:cNvPr>
          <p:cNvSpPr txBox="1"/>
          <p:nvPr/>
        </p:nvSpPr>
        <p:spPr>
          <a:xfrm>
            <a:off x="1194045" y="1969298"/>
            <a:ext cx="9803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以每日龄的死淘率为目标变量，探索温度相关因素，包括当天温度，前</a:t>
            </a:r>
            <a:r>
              <a:rPr lang="en-US" altLang="zh-CN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天温度，前</a:t>
            </a:r>
            <a:r>
              <a:rPr lang="en-US" altLang="zh-CN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天温度等指标对死淘率的影响。</a:t>
            </a:r>
          </a:p>
        </p:txBody>
      </p:sp>
    </p:spTree>
    <p:extLst>
      <p:ext uri="{BB962C8B-B14F-4D97-AF65-F5344CB8AC3E}">
        <p14:creationId xmlns:p14="http://schemas.microsoft.com/office/powerpoint/2010/main" val="3264143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28D7A-2FF8-4367-E35C-3FFAF72F7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342D3851-5F4E-42C8-3573-A4A2D412DA1D}"/>
              </a:ext>
            </a:extLst>
          </p:cNvPr>
          <p:cNvSpPr/>
          <p:nvPr/>
        </p:nvSpPr>
        <p:spPr>
          <a:xfrm>
            <a:off x="0" y="864476"/>
            <a:ext cx="7592037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E5335BE9-2755-2208-1B70-8791A6FE534F}"/>
              </a:ext>
            </a:extLst>
          </p:cNvPr>
          <p:cNvSpPr txBox="1"/>
          <p:nvPr/>
        </p:nvSpPr>
        <p:spPr>
          <a:xfrm>
            <a:off x="313885" y="21618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804C28C-0C73-8E1E-829B-0DA18AB910C9}"/>
              </a:ext>
            </a:extLst>
          </p:cNvPr>
          <p:cNvSpPr txBox="1"/>
          <p:nvPr/>
        </p:nvSpPr>
        <p:spPr>
          <a:xfrm>
            <a:off x="551901" y="832313"/>
            <a:ext cx="6528407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的温度曲线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ABC08890-A922-7127-5A06-9D61C636437F}"/>
              </a:ext>
            </a:extLst>
          </p:cNvPr>
          <p:cNvSpPr txBox="1"/>
          <p:nvPr/>
        </p:nvSpPr>
        <p:spPr>
          <a:xfrm>
            <a:off x="339052" y="1215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9E7C4A3-732F-211A-8420-45D4302EDF0E}"/>
              </a:ext>
            </a:extLst>
          </p:cNvPr>
          <p:cNvSpPr/>
          <p:nvPr/>
        </p:nvSpPr>
        <p:spPr>
          <a:xfrm>
            <a:off x="492981" y="1606656"/>
            <a:ext cx="387864" cy="1464628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9532516-8E14-AA39-EB1F-2762830EE04F}"/>
              </a:ext>
            </a:extLst>
          </p:cNvPr>
          <p:cNvSpPr/>
          <p:nvPr/>
        </p:nvSpPr>
        <p:spPr>
          <a:xfrm>
            <a:off x="492981" y="1606658"/>
            <a:ext cx="11060104" cy="14646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42DC9C25-E6D1-A448-1223-5CE9377524D9}"/>
              </a:ext>
            </a:extLst>
          </p:cNvPr>
          <p:cNvSpPr txBox="1"/>
          <p:nvPr/>
        </p:nvSpPr>
        <p:spPr>
          <a:xfrm>
            <a:off x="971850" y="1660386"/>
            <a:ext cx="10581235" cy="12114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数据处理：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取每月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排名前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的栋舍记为高效群，后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为低效群。高效群平均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460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，低效群平均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437</a:t>
            </a: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字段含义：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分别取字段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最高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作为该日龄的最低温度，平均温度，最高温度，得到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左边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图像。取五个探头每个日龄的平均温度作为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右图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的温度分布</a:t>
            </a:r>
            <a:endParaRPr lang="en-US" altLang="zh-CN" sz="16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3FABF56-59B9-C90C-868F-E6B878F82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53" y="3419154"/>
            <a:ext cx="5347180" cy="296109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F2E93EB-5035-7198-D46B-A945CD3FF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791" y="3419154"/>
            <a:ext cx="5863771" cy="2961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161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6A7FD-EFE9-984A-B2AA-F54E27836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5B601A3A-DFAA-86C0-39F8-CA5FFABC3B8C}"/>
              </a:ext>
            </a:extLst>
          </p:cNvPr>
          <p:cNvSpPr/>
          <p:nvPr/>
        </p:nvSpPr>
        <p:spPr>
          <a:xfrm>
            <a:off x="0" y="864476"/>
            <a:ext cx="7592037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28FBFE4F-BBA7-1751-838A-A6CB0152F77D}"/>
              </a:ext>
            </a:extLst>
          </p:cNvPr>
          <p:cNvSpPr txBox="1"/>
          <p:nvPr/>
        </p:nvSpPr>
        <p:spPr>
          <a:xfrm>
            <a:off x="313885" y="21618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8906FC7-1FCD-89EC-BE8C-349800469D93}"/>
              </a:ext>
            </a:extLst>
          </p:cNvPr>
          <p:cNvSpPr txBox="1"/>
          <p:nvPr/>
        </p:nvSpPr>
        <p:spPr>
          <a:xfrm>
            <a:off x="551901" y="832313"/>
            <a:ext cx="6528407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的温度曲线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C4AA1DD7-41C8-B64D-DB01-C4AA8D183845}"/>
              </a:ext>
            </a:extLst>
          </p:cNvPr>
          <p:cNvSpPr txBox="1"/>
          <p:nvPr/>
        </p:nvSpPr>
        <p:spPr>
          <a:xfrm>
            <a:off x="339052" y="1215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EDD79E9-1EE3-D2DF-F2E8-BD20F4CA0CB0}"/>
              </a:ext>
            </a:extLst>
          </p:cNvPr>
          <p:cNvSpPr/>
          <p:nvPr/>
        </p:nvSpPr>
        <p:spPr>
          <a:xfrm>
            <a:off x="492981" y="1606656"/>
            <a:ext cx="387864" cy="1464628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A3AFACA-236E-DFF7-3B56-649E1D9AD194}"/>
              </a:ext>
            </a:extLst>
          </p:cNvPr>
          <p:cNvSpPr/>
          <p:nvPr/>
        </p:nvSpPr>
        <p:spPr>
          <a:xfrm>
            <a:off x="492981" y="1606658"/>
            <a:ext cx="11060104" cy="14646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3520D9AC-ABAD-0B06-1755-4D54068568A0}"/>
              </a:ext>
            </a:extLst>
          </p:cNvPr>
          <p:cNvSpPr txBox="1"/>
          <p:nvPr/>
        </p:nvSpPr>
        <p:spPr>
          <a:xfrm>
            <a:off x="971850" y="1660386"/>
            <a:ext cx="10581235" cy="12114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数据处理：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取每月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排名前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的栋舍记为高效群，后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为低效群。高效群平均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476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，低效群平均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412</a:t>
            </a: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字段含义：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分别取字段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最高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作为该日龄的最低温度，平均温度，最高温度，得到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左边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图像。取五个探头每个日龄的平均温度作为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右图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的温度分布</a:t>
            </a:r>
            <a:endParaRPr lang="en-US" altLang="zh-CN" sz="16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B188FBD-C040-F210-52CD-0D7197810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52" y="3595955"/>
            <a:ext cx="5094514" cy="264392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DF2840A-F078-DF5B-5D08-1B43038F7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2060" y="3505363"/>
            <a:ext cx="5374138" cy="266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183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135FD-FAFB-764F-0DE1-194C859E8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0DDA7278-D480-7C03-37ED-3DB19047079F}"/>
              </a:ext>
            </a:extLst>
          </p:cNvPr>
          <p:cNvSpPr/>
          <p:nvPr/>
        </p:nvSpPr>
        <p:spPr>
          <a:xfrm>
            <a:off x="0" y="864476"/>
            <a:ext cx="7592037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F647D668-7DE6-1AF7-7489-EE9281DB1A42}"/>
              </a:ext>
            </a:extLst>
          </p:cNvPr>
          <p:cNvSpPr txBox="1"/>
          <p:nvPr/>
        </p:nvSpPr>
        <p:spPr>
          <a:xfrm>
            <a:off x="313885" y="21618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6B2321F-445C-3CEB-68A7-D93DD4AC2392}"/>
              </a:ext>
            </a:extLst>
          </p:cNvPr>
          <p:cNvSpPr txBox="1"/>
          <p:nvPr/>
        </p:nvSpPr>
        <p:spPr>
          <a:xfrm>
            <a:off x="551901" y="832313"/>
            <a:ext cx="6528407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的温度曲线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6B908365-191B-BB78-25A8-D6E70A1480CD}"/>
              </a:ext>
            </a:extLst>
          </p:cNvPr>
          <p:cNvSpPr txBox="1"/>
          <p:nvPr/>
        </p:nvSpPr>
        <p:spPr>
          <a:xfrm>
            <a:off x="339052" y="1215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06A08B0-765B-453A-A798-08548A067C3D}"/>
              </a:ext>
            </a:extLst>
          </p:cNvPr>
          <p:cNvSpPr/>
          <p:nvPr/>
        </p:nvSpPr>
        <p:spPr>
          <a:xfrm>
            <a:off x="492981" y="1606656"/>
            <a:ext cx="387864" cy="1464628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1944E5E-4D0C-CAD9-DD03-12609AA2C767}"/>
              </a:ext>
            </a:extLst>
          </p:cNvPr>
          <p:cNvSpPr/>
          <p:nvPr/>
        </p:nvSpPr>
        <p:spPr>
          <a:xfrm>
            <a:off x="492981" y="1606658"/>
            <a:ext cx="11060104" cy="14646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C39B2F3F-A6C7-E38E-8DE0-2F9D34588A9F}"/>
              </a:ext>
            </a:extLst>
          </p:cNvPr>
          <p:cNvSpPr txBox="1"/>
          <p:nvPr/>
        </p:nvSpPr>
        <p:spPr>
          <a:xfrm>
            <a:off x="971850" y="1660386"/>
            <a:ext cx="10581235" cy="12114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数据处理：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取每月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排名前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的栋舍记为高效群，后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为低效群。高效群平均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473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，低效群平均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83</a:t>
            </a: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字段含义：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分别取字段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最高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作为该日龄的最低温度，平均温度，最高温度，得到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左边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图像。取五个探头每个日龄的平均温度作为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右图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的温度分布</a:t>
            </a:r>
            <a:endParaRPr lang="en-US" altLang="zh-CN" sz="16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37A83AF-D7CE-888E-C7F3-5E090E598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6" y="3429000"/>
            <a:ext cx="5990664" cy="298436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54636FC-209C-876B-C995-FD773A146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093" y="3429000"/>
            <a:ext cx="5453381" cy="301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492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ED547-D480-11CA-4F97-86A459B7A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5F4268F3-46B9-90B8-E69A-C7B1E771CDF5}"/>
              </a:ext>
            </a:extLst>
          </p:cNvPr>
          <p:cNvSpPr/>
          <p:nvPr/>
        </p:nvSpPr>
        <p:spPr>
          <a:xfrm>
            <a:off x="0" y="864476"/>
            <a:ext cx="7592037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02B0AF94-5BD7-4521-FD34-A78819677A2D}"/>
              </a:ext>
            </a:extLst>
          </p:cNvPr>
          <p:cNvSpPr txBox="1"/>
          <p:nvPr/>
        </p:nvSpPr>
        <p:spPr>
          <a:xfrm>
            <a:off x="313885" y="21618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93B4989-06B8-7D41-2B9B-2FD998C3E274}"/>
              </a:ext>
            </a:extLst>
          </p:cNvPr>
          <p:cNvSpPr txBox="1"/>
          <p:nvPr/>
        </p:nvSpPr>
        <p:spPr>
          <a:xfrm>
            <a:off x="551901" y="832313"/>
            <a:ext cx="6528407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的温度曲线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405485BF-1451-967A-B822-8464B7D79565}"/>
              </a:ext>
            </a:extLst>
          </p:cNvPr>
          <p:cNvSpPr txBox="1"/>
          <p:nvPr/>
        </p:nvSpPr>
        <p:spPr>
          <a:xfrm>
            <a:off x="339052" y="1215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9D44198-E22F-5DBD-6A77-E3AECAACE349}"/>
              </a:ext>
            </a:extLst>
          </p:cNvPr>
          <p:cNvSpPr/>
          <p:nvPr/>
        </p:nvSpPr>
        <p:spPr>
          <a:xfrm>
            <a:off x="492981" y="1606656"/>
            <a:ext cx="387864" cy="1464628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8A7F18-51F5-7F40-8BCF-BD14A98FEB96}"/>
              </a:ext>
            </a:extLst>
          </p:cNvPr>
          <p:cNvSpPr/>
          <p:nvPr/>
        </p:nvSpPr>
        <p:spPr>
          <a:xfrm>
            <a:off x="492981" y="1606658"/>
            <a:ext cx="11060104" cy="14646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10FDCFF-1674-0CA7-78DB-9690016B5E4E}"/>
              </a:ext>
            </a:extLst>
          </p:cNvPr>
          <p:cNvSpPr txBox="1"/>
          <p:nvPr/>
        </p:nvSpPr>
        <p:spPr>
          <a:xfrm>
            <a:off x="971850" y="1660386"/>
            <a:ext cx="10581235" cy="12114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数据处理：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取每月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排名前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的栋舍记为高效群，后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为低效群。高效群平均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416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，低效群平均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335</a:t>
            </a: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字段含义：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分别取字段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最高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作为该日龄的最低温度，平均温度，最高温度，得到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左边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图像。取五个探头每个日龄的平均温度作为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右图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的温度分布</a:t>
            </a:r>
            <a:endParaRPr lang="en-US" altLang="zh-CN" sz="16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B6BDA68-C22B-D57F-0EDC-46C24288B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85" y="3478063"/>
            <a:ext cx="5635538" cy="283112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2D75D60-38C6-5B57-3E8D-B90E20876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812" y="3496096"/>
            <a:ext cx="5563011" cy="283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399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A7D69-92CF-F272-46F4-36431ADFD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39B87B28-0783-F334-EB78-5881D9563664}"/>
              </a:ext>
            </a:extLst>
          </p:cNvPr>
          <p:cNvSpPr/>
          <p:nvPr/>
        </p:nvSpPr>
        <p:spPr>
          <a:xfrm>
            <a:off x="0" y="864476"/>
            <a:ext cx="7592037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FF9F5F74-50F2-3631-E7AC-63CC35DD3421}"/>
              </a:ext>
            </a:extLst>
          </p:cNvPr>
          <p:cNvSpPr txBox="1"/>
          <p:nvPr/>
        </p:nvSpPr>
        <p:spPr>
          <a:xfrm>
            <a:off x="313885" y="21618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72A9E01-16A7-AAC6-1C20-A9E51F4FE345}"/>
              </a:ext>
            </a:extLst>
          </p:cNvPr>
          <p:cNvSpPr txBox="1"/>
          <p:nvPr/>
        </p:nvSpPr>
        <p:spPr>
          <a:xfrm>
            <a:off x="551901" y="832313"/>
            <a:ext cx="6528407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的温度曲线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76D63FD-6AED-B3D2-3C4D-7265C7B6A279}"/>
              </a:ext>
            </a:extLst>
          </p:cNvPr>
          <p:cNvSpPr txBox="1"/>
          <p:nvPr/>
        </p:nvSpPr>
        <p:spPr>
          <a:xfrm>
            <a:off x="339052" y="1215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E37E87D-316E-0374-D825-FC7247810AC1}"/>
              </a:ext>
            </a:extLst>
          </p:cNvPr>
          <p:cNvSpPr/>
          <p:nvPr/>
        </p:nvSpPr>
        <p:spPr>
          <a:xfrm>
            <a:off x="492981" y="1606656"/>
            <a:ext cx="387864" cy="1464628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CD9E3C4-F5D8-30B1-3F12-2CD17EFA2AF1}"/>
              </a:ext>
            </a:extLst>
          </p:cNvPr>
          <p:cNvSpPr/>
          <p:nvPr/>
        </p:nvSpPr>
        <p:spPr>
          <a:xfrm>
            <a:off x="492981" y="1606658"/>
            <a:ext cx="11060104" cy="14646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998F6D76-1783-0CDA-55A4-7DC7E8070B9C}"/>
              </a:ext>
            </a:extLst>
          </p:cNvPr>
          <p:cNvSpPr txBox="1"/>
          <p:nvPr/>
        </p:nvSpPr>
        <p:spPr>
          <a:xfrm>
            <a:off x="971850" y="1660386"/>
            <a:ext cx="10581235" cy="12114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数据处理：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取每月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排名前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的栋舍记为高效群，后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为低效群。高效群平均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400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，低效群平均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294</a:t>
            </a: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字段含义：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分别取字段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最高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作为该日龄的最低温度，平均温度，最高温度，得到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左边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图像。取五个探头每个日龄的平均温度作为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右图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的温度分布</a:t>
            </a:r>
            <a:endParaRPr lang="en-US" altLang="zh-CN" sz="16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AB9E7F5-D7D0-4E97-012B-4FA9123E8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75" y="3236989"/>
            <a:ext cx="5652261" cy="321642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6D43E30-AD0E-F482-88CA-806DB2FBF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9937" y="3429000"/>
            <a:ext cx="5894764" cy="299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373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D3F58-FBA0-5890-E017-0F64302C6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241ECC46-522F-F7FD-BAC3-0D9D652D5EB7}"/>
              </a:ext>
            </a:extLst>
          </p:cNvPr>
          <p:cNvSpPr/>
          <p:nvPr/>
        </p:nvSpPr>
        <p:spPr>
          <a:xfrm>
            <a:off x="0" y="864476"/>
            <a:ext cx="7592037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5853EC75-9F03-0F26-BE76-066836FDB224}"/>
              </a:ext>
            </a:extLst>
          </p:cNvPr>
          <p:cNvSpPr txBox="1"/>
          <p:nvPr/>
        </p:nvSpPr>
        <p:spPr>
          <a:xfrm>
            <a:off x="313885" y="21618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6514734-1069-88B2-2F78-BCB1D5306C5C}"/>
              </a:ext>
            </a:extLst>
          </p:cNvPr>
          <p:cNvSpPr txBox="1"/>
          <p:nvPr/>
        </p:nvSpPr>
        <p:spPr>
          <a:xfrm>
            <a:off x="551901" y="832313"/>
            <a:ext cx="6528407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的温度曲线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545CDCD8-EA6E-F0F4-45DF-34DD3ACC17D4}"/>
              </a:ext>
            </a:extLst>
          </p:cNvPr>
          <p:cNvSpPr txBox="1"/>
          <p:nvPr/>
        </p:nvSpPr>
        <p:spPr>
          <a:xfrm>
            <a:off x="339052" y="1215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3A1AA45-A00E-CFD4-9F95-C8996EC931AE}"/>
              </a:ext>
            </a:extLst>
          </p:cNvPr>
          <p:cNvSpPr/>
          <p:nvPr/>
        </p:nvSpPr>
        <p:spPr>
          <a:xfrm>
            <a:off x="492981" y="1606656"/>
            <a:ext cx="387864" cy="1464628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C9904C1-9323-10EC-3DF3-15D8847329D5}"/>
              </a:ext>
            </a:extLst>
          </p:cNvPr>
          <p:cNvSpPr/>
          <p:nvPr/>
        </p:nvSpPr>
        <p:spPr>
          <a:xfrm>
            <a:off x="492981" y="1606658"/>
            <a:ext cx="11060104" cy="14646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5E21B7A9-B634-99B9-ECCF-0215DE721182}"/>
              </a:ext>
            </a:extLst>
          </p:cNvPr>
          <p:cNvSpPr txBox="1"/>
          <p:nvPr/>
        </p:nvSpPr>
        <p:spPr>
          <a:xfrm>
            <a:off x="971850" y="1660386"/>
            <a:ext cx="10581235" cy="12114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数据处理：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取每月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排名前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的栋舍记为高效群，后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为低效群。高效群平均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369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，低效群平均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202</a:t>
            </a: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字段含义：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分别取字段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最高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作为该日龄的最低温度，平均温度，最高温度，得到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左边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图像。取五个探头每个日龄的平均温度作为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右图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的温度分布</a:t>
            </a:r>
            <a:endParaRPr lang="en-US" altLang="zh-CN" sz="16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B2A475B-03F1-D1FD-36F4-1315A5508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81" y="3429000"/>
            <a:ext cx="5696565" cy="283027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3E8B408-9AAB-89BE-6FC8-76704A713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467" y="3418650"/>
            <a:ext cx="5660492" cy="284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508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B8CBE-0CF3-D692-0C65-31C16B4DE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3FB370D2-14C2-6B5A-685F-303272F44DF2}"/>
              </a:ext>
            </a:extLst>
          </p:cNvPr>
          <p:cNvSpPr/>
          <p:nvPr/>
        </p:nvSpPr>
        <p:spPr>
          <a:xfrm>
            <a:off x="0" y="864476"/>
            <a:ext cx="7592037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2450C629-97D7-7125-0984-92106B0B7087}"/>
              </a:ext>
            </a:extLst>
          </p:cNvPr>
          <p:cNvSpPr txBox="1"/>
          <p:nvPr/>
        </p:nvSpPr>
        <p:spPr>
          <a:xfrm>
            <a:off x="313885" y="21618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877E6FF-EFE0-E155-E59E-C74EAC8F7352}"/>
              </a:ext>
            </a:extLst>
          </p:cNvPr>
          <p:cNvSpPr txBox="1"/>
          <p:nvPr/>
        </p:nvSpPr>
        <p:spPr>
          <a:xfrm>
            <a:off x="551901" y="832313"/>
            <a:ext cx="6528407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的温度曲线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5900873E-72B7-A8BC-D17F-52EF09411E78}"/>
              </a:ext>
            </a:extLst>
          </p:cNvPr>
          <p:cNvSpPr txBox="1"/>
          <p:nvPr/>
        </p:nvSpPr>
        <p:spPr>
          <a:xfrm>
            <a:off x="339052" y="1215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C5C474B-719D-640A-6226-5C3E08FB14AF}"/>
              </a:ext>
            </a:extLst>
          </p:cNvPr>
          <p:cNvSpPr/>
          <p:nvPr/>
        </p:nvSpPr>
        <p:spPr>
          <a:xfrm>
            <a:off x="492981" y="1606656"/>
            <a:ext cx="387864" cy="1464628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FACBC7A-B75E-4EA2-84AA-D3355CEC8D59}"/>
              </a:ext>
            </a:extLst>
          </p:cNvPr>
          <p:cNvSpPr/>
          <p:nvPr/>
        </p:nvSpPr>
        <p:spPr>
          <a:xfrm>
            <a:off x="492981" y="1606658"/>
            <a:ext cx="11060104" cy="14646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E55E506-D2DD-7657-3BA2-7447DB73C143}"/>
              </a:ext>
            </a:extLst>
          </p:cNvPr>
          <p:cNvSpPr txBox="1"/>
          <p:nvPr/>
        </p:nvSpPr>
        <p:spPr>
          <a:xfrm>
            <a:off x="971850" y="1660386"/>
            <a:ext cx="10581235" cy="12114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数据处理：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取每月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排名前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的栋舍记为高效群，后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为低效群。高效群平均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375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，低效群平均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248</a:t>
            </a: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字段含义：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分别取字段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最高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作为该日龄的最低温度，平均温度，最高温度，得到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左边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图像。取五个探头每个日龄的平均温度作为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右图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的温度分布</a:t>
            </a:r>
            <a:endParaRPr lang="en-US" altLang="zh-CN" sz="16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ED3AADA-625E-1760-5C17-CEC0ED501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853" y="3674594"/>
            <a:ext cx="5628508" cy="281722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4A33DC1-15FF-3A8E-3675-F42B871DC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551345"/>
            <a:ext cx="5733040" cy="2817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227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F4B12-2D15-DB7F-4F78-6DF91B5BB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C25CE94E-0E01-353B-4C80-B9DB1E10784B}"/>
              </a:ext>
            </a:extLst>
          </p:cNvPr>
          <p:cNvSpPr/>
          <p:nvPr/>
        </p:nvSpPr>
        <p:spPr>
          <a:xfrm>
            <a:off x="0" y="864476"/>
            <a:ext cx="7592037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8B5C04B6-1C63-79B1-C7CD-7AE0B70FEFCB}"/>
              </a:ext>
            </a:extLst>
          </p:cNvPr>
          <p:cNvSpPr txBox="1"/>
          <p:nvPr/>
        </p:nvSpPr>
        <p:spPr>
          <a:xfrm>
            <a:off x="313885" y="21618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ACA73D5-C0D4-5427-A581-1DB25FECDD79}"/>
              </a:ext>
            </a:extLst>
          </p:cNvPr>
          <p:cNvSpPr txBox="1"/>
          <p:nvPr/>
        </p:nvSpPr>
        <p:spPr>
          <a:xfrm>
            <a:off x="551901" y="832313"/>
            <a:ext cx="6528407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的温度曲线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C9B3414B-F516-7FCA-5A1B-080199B0E204}"/>
              </a:ext>
            </a:extLst>
          </p:cNvPr>
          <p:cNvSpPr txBox="1"/>
          <p:nvPr/>
        </p:nvSpPr>
        <p:spPr>
          <a:xfrm>
            <a:off x="339052" y="1215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87E0A95-F0F9-6017-0059-117942FB50DD}"/>
              </a:ext>
            </a:extLst>
          </p:cNvPr>
          <p:cNvSpPr/>
          <p:nvPr/>
        </p:nvSpPr>
        <p:spPr>
          <a:xfrm>
            <a:off x="492981" y="1606656"/>
            <a:ext cx="387864" cy="1464628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EF05EF1-D1F6-C4CD-A55B-9AF91BF7DF82}"/>
              </a:ext>
            </a:extLst>
          </p:cNvPr>
          <p:cNvSpPr/>
          <p:nvPr/>
        </p:nvSpPr>
        <p:spPr>
          <a:xfrm>
            <a:off x="492981" y="1606658"/>
            <a:ext cx="11060104" cy="14646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79AB9A3E-F2DC-3CAF-F9DE-B060A59A5751}"/>
              </a:ext>
            </a:extLst>
          </p:cNvPr>
          <p:cNvSpPr txBox="1"/>
          <p:nvPr/>
        </p:nvSpPr>
        <p:spPr>
          <a:xfrm>
            <a:off x="971850" y="1660386"/>
            <a:ext cx="10581235" cy="12114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数据处理：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取每月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排名前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的栋舍记为高效群，后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为低效群。高效群平均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404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，低效群平均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227</a:t>
            </a: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字段含义：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分别取字段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最高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作为该日龄的最低温度，平均温度，最高温度，得到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左边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图像。取五个探头每个日龄的平均温度作为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右图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的温度分布</a:t>
            </a:r>
            <a:endParaRPr lang="en-US" altLang="zh-CN" sz="16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0391206-900F-3A13-3B9F-C362B097C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45" y="3488076"/>
            <a:ext cx="5556196" cy="285966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C4FE94A-9292-6FAF-388D-8527D1205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13314"/>
            <a:ext cx="5692433" cy="2859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3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E1759-B493-67DE-1F9E-D3F539CEB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7F18B6-B26F-09DF-E000-A7BF0AD0D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226" y="957768"/>
            <a:ext cx="8082481" cy="861774"/>
          </a:xfrm>
        </p:spPr>
        <p:txBody>
          <a:bodyPr/>
          <a:lstStyle/>
          <a:p>
            <a:r>
              <a:rPr lang="zh-CN" altLang="en-US" sz="4400" dirty="0">
                <a:latin typeface="等线" panose="02010600030101010101" pitchFamily="2" charset="-122"/>
                <a:ea typeface="等线" panose="02010600030101010101" pitchFamily="2" charset="-122"/>
              </a:rPr>
              <a:t>下周计划</a:t>
            </a:r>
            <a:endParaRPr lang="en-US" sz="4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344FB5-5D1A-25EB-41D1-35CC3CFE31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2226" y="2206884"/>
            <a:ext cx="11168009" cy="2649716"/>
          </a:xfrm>
        </p:spPr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数据修正后（补缺）修正模型；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春秋合并后建模（暂不考虑）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尝试</a:t>
            </a:r>
            <a:r>
              <a:rPr lang="en-US" altLang="zh-CN" dirty="0"/>
              <a:t>Transformer</a:t>
            </a:r>
            <a:r>
              <a:rPr lang="zh-CN" altLang="en-US" dirty="0"/>
              <a:t>算法，构建最佳温度曲线选择</a:t>
            </a:r>
            <a:endParaRPr lang="en-US" altLang="zh-CN" dirty="0"/>
          </a:p>
          <a:p>
            <a:r>
              <a:rPr lang="en-US" altLang="zh-CN" dirty="0"/>
              <a:t>4. </a:t>
            </a:r>
            <a:r>
              <a:rPr lang="zh-CN" altLang="en-US" dirty="0"/>
              <a:t>加工饮水量变化分析其对日龄维度死淘的影响</a:t>
            </a:r>
          </a:p>
          <a:p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199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2020-TEMPLATE-EXTERNAL" val="pdtUH84H"/>
  <p:tag name="ARTICULATE_DESIGN_ID_SAS-EXTERNAL-16X9-2023" val="CJxW6PTk"/>
  <p:tag name="ARTICULATE_DESIGN_ID_1_NDA" val="5KPCLKMf"/>
  <p:tag name="ARTICULATE_DESIGN_ID_1_SAS-EXTERNAL-16X9-2023" val="OvZPFYIY"/>
  <p:tag name="ARTICULATE_DESIGN_ID_SAS - EXTERNAL - 16X9 - 2023" val="iju6vBOG"/>
  <p:tag name="ARTICULATE_DESIGN_ID_SAS - EXTERNAL" val="IZ9bNYet"/>
  <p:tag name="ARTICULATE_DESIGN_ID_SAS - EXTERNAL - NDA" val="RR4fBfJW"/>
  <p:tag name="ARTICULATE_SLIDE_THUMBNAIL_REFRESH" val="1"/>
  <p:tag name="ARTICULATE_DESIGN_ID_CUSTOM DESIGN" val="WASRYxhz"/>
  <p:tag name="ARTICULATE_SLIDE_COUNT" val="11"/>
  <p:tag name="ARTICULATE_PROJECT_OPEN" val="0"/>
  <p:tag name="COMMONDATA" val="eyJoZGlkIjoiY2FmNGJlNDAzN2U1NmMyNzMzZTc0YjA1YWNhMzZlN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AS - EXTERNAL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AS - EXTERNAL - NDA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52B48C136D414EB12EC6609A2B4A69" ma:contentTypeVersion="5" ma:contentTypeDescription="Create a new document." ma:contentTypeScope="" ma:versionID="c506d0840867f1adddbc926f9a8dfc6f">
  <xsd:schema xmlns:xsd="http://www.w3.org/2001/XMLSchema" xmlns:xs="http://www.w3.org/2001/XMLSchema" xmlns:p="http://schemas.microsoft.com/office/2006/metadata/properties" xmlns:ns2="d21cdafc-5a3a-425e-9674-4fb06b514c0e" xmlns:ns3="6e647c50-2143-4825-9865-d236e7692e65" targetNamespace="http://schemas.microsoft.com/office/2006/metadata/properties" ma:root="true" ma:fieldsID="0df08590ed69fcf4c72a3fc3581b1869" ns2:_="" ns3:_="">
    <xsd:import namespace="d21cdafc-5a3a-425e-9674-4fb06b514c0e"/>
    <xsd:import namespace="6e647c50-2143-4825-9865-d236e7692e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1cdafc-5a3a-425e-9674-4fb06b514c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47c50-2143-4825-9865-d236e7692e6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1779852-367B-483D-8C46-CF2C7DC5D261}">
  <ds:schemaRefs/>
</ds:datastoreItem>
</file>

<file path=customXml/itemProps2.xml><?xml version="1.0" encoding="utf-8"?>
<ds:datastoreItem xmlns:ds="http://schemas.openxmlformats.org/officeDocument/2006/customXml" ds:itemID="{E3E925E4-5239-4639-A029-07B3CFD6A3F1}">
  <ds:schemaRefs/>
</ds:datastoreItem>
</file>

<file path=customXml/itemProps3.xml><?xml version="1.0" encoding="utf-8"?>
<ds:datastoreItem xmlns:ds="http://schemas.openxmlformats.org/officeDocument/2006/customXml" ds:itemID="{E2663518-7548-4643-8219-608BFF0DFA0C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EXTERNAL_Template_2023</Template>
  <TotalTime>3456</TotalTime>
  <Words>4653</Words>
  <Application>Microsoft Office PowerPoint</Application>
  <PresentationFormat>宽屏</PresentationFormat>
  <Paragraphs>986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5" baseType="lpstr">
      <vt:lpstr>Anova Bold</vt:lpstr>
      <vt:lpstr>Anova Light</vt:lpstr>
      <vt:lpstr>等线</vt:lpstr>
      <vt:lpstr>等线 Light</vt:lpstr>
      <vt:lpstr>Arial</vt:lpstr>
      <vt:lpstr>Calibri</vt:lpstr>
      <vt:lpstr>Wingdings</vt:lpstr>
      <vt:lpstr>Wingdings 2</vt:lpstr>
      <vt:lpstr>SAS - EXTERNAL</vt:lpstr>
      <vt:lpstr>SAS - EXTERNAL - NDA</vt:lpstr>
      <vt:lpstr>数智驱动的肉鸡养殖根因分析实施方案  第三周成果汇报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下周计划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Plus Solution assist Value</dc:title>
  <dc:creator>Alex Zhang</dc:creator>
  <cp:lastModifiedBy>渊琰 肖</cp:lastModifiedBy>
  <cp:revision>189</cp:revision>
  <dcterms:created xsi:type="dcterms:W3CDTF">2023-10-08T03:09:00Z</dcterms:created>
  <dcterms:modified xsi:type="dcterms:W3CDTF">2025-05-16T09:11:53Z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451006F2-8E20-4D4E-B05C-4B5D02827FD6</vt:lpwstr>
  </property>
  <property fmtid="{D5CDD505-2E9C-101B-9397-08002B2CF9AE}" pid="3" name="ArticulatePath">
    <vt:lpwstr>2020-Template-External</vt:lpwstr>
  </property>
  <property fmtid="{D5CDD505-2E9C-101B-9397-08002B2CF9AE}" pid="4" name="ContentTypeId">
    <vt:lpwstr>0x0101008252B48C136D414EB12EC6609A2B4A69</vt:lpwstr>
  </property>
  <property fmtid="{D5CDD505-2E9C-101B-9397-08002B2CF9AE}" pid="5" name="ICV">
    <vt:lpwstr>5DA87FED2261458DA9A831FC15E03DC4_13</vt:lpwstr>
  </property>
  <property fmtid="{D5CDD505-2E9C-101B-9397-08002B2CF9AE}" pid="6" name="KSOProductBuildVer">
    <vt:lpwstr>2052-12.1.0.20784</vt:lpwstr>
  </property>
</Properties>
</file>