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20"/>
  </p:notesMasterIdLst>
  <p:handoutMasterIdLst>
    <p:handoutMasterId r:id="rId21"/>
  </p:handoutMasterIdLst>
  <p:sldIdLst>
    <p:sldId id="16771194" r:id="rId6"/>
    <p:sldId id="16771204" r:id="rId7"/>
    <p:sldId id="2147477425" r:id="rId8"/>
    <p:sldId id="2147477533" r:id="rId9"/>
    <p:sldId id="2147477534" r:id="rId10"/>
    <p:sldId id="2147477525" r:id="rId11"/>
    <p:sldId id="2147477526" r:id="rId12"/>
    <p:sldId id="2147477527" r:id="rId13"/>
    <p:sldId id="2147477528" r:id="rId14"/>
    <p:sldId id="2147477529" r:id="rId15"/>
    <p:sldId id="2147477530" r:id="rId16"/>
    <p:sldId id="2147477531" r:id="rId17"/>
    <p:sldId id="2147477532" r:id="rId18"/>
    <p:sldId id="2147477430" r:id="rId19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C3829F-2C56-4915-AA34-5F93EE359221}">
          <p14:sldIdLst>
            <p14:sldId id="16771194"/>
            <p14:sldId id="16771204"/>
            <p14:sldId id="2147477425"/>
          </p14:sldIdLst>
        </p14:section>
        <p14:section name="数据" id="{2FECDC8B-DE91-4323-AA2B-D801C56C963D}">
          <p14:sldIdLst/>
        </p14:section>
        <p14:section name="死淘" id="{132B593A-E1D9-4DD8-8D75-8389B5773F71}">
          <p14:sldIdLst/>
        </p14:section>
        <p14:section name="eef" id="{0CBA3FCE-B567-4F49-936C-7A69C0064915}">
          <p14:sldIdLst/>
        </p14:section>
        <p14:section name="综合分析" id="{39D6EB33-D176-4FFB-96B9-C60E24F1B3DB}">
          <p14:sldIdLst/>
        </p14:section>
        <p14:section name="夏季" id="{B86F3F91-4136-4C59-B05F-F943D4768B99}">
          <p14:sldIdLst>
            <p14:sldId id="2147477533"/>
            <p14:sldId id="2147477534"/>
            <p14:sldId id="2147477525"/>
            <p14:sldId id="2147477526"/>
            <p14:sldId id="2147477527"/>
            <p14:sldId id="2147477528"/>
            <p14:sldId id="2147477529"/>
            <p14:sldId id="2147477530"/>
            <p14:sldId id="2147477531"/>
            <p14:sldId id="2147477532"/>
          </p14:sldIdLst>
        </p14:section>
        <p14:section name="下周计划" id="{AAB4484A-A58E-4FF9-9CE2-A3928016DD34}">
          <p14:sldIdLst>
            <p14:sldId id="21474774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F1F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50" autoAdjust="0"/>
    <p:restoredTop sz="93438" autoAdjust="0"/>
  </p:normalViewPr>
  <p:slideViewPr>
    <p:cSldViewPr snapToGrid="0" showGuides="1">
      <p:cViewPr varScale="1">
        <p:scale>
          <a:sx n="81" d="100"/>
          <a:sy n="81" d="100"/>
        </p:scale>
        <p:origin x="586" y="82"/>
      </p:cViewPr>
      <p:guideLst>
        <p:guide orient="horz" pos="2103"/>
        <p:guide pos="25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E34E3-7E5C-436A-9E6D-2FFC8FFCFCBF}" type="datetimeFigureOut">
              <a:rPr lang="en-US" smtClean="0">
                <a:latin typeface="Anova Light" panose="020B0403020203020204" pitchFamily="34" charset="0"/>
              </a:rPr>
              <a:t>5/28/2025</a:t>
            </a:fld>
            <a:endParaRPr lang="en-US" dirty="0">
              <a:latin typeface="Anova Light" panose="020B040302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C4EF46A2-9381-4C51-8277-3C7F2938E9F9}" type="slidenum">
              <a:rPr lang="en-US" smtClean="0">
                <a:latin typeface="Anova Light" panose="020B0403020203020204" pitchFamily="34" charset="0"/>
              </a:rPr>
              <a:t>‹#›</a:t>
            </a:fld>
            <a:endParaRPr lang="en-US" dirty="0">
              <a:latin typeface="Anova Light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fld id="{D46682E9-A1D3-F04F-A14F-ABAA4D2618F2}" type="datetimeFigureOut">
              <a:rPr lang="en-US" smtClean="0"/>
              <a:t>5/28/2025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685800" y="8879554"/>
            <a:ext cx="2514600" cy="169277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27432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00" b="0" i="0" u="none" strike="noStrike" kern="300" cap="none" spc="5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pPr algn="l"/>
            <a:fld id="{C4EF46A2-9381-4C51-8277-3C7F2938E9F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992336" y="8788172"/>
            <a:ext cx="627951" cy="260659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2493335" y="8732520"/>
            <a:ext cx="187133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82880"/>
            <a:r>
              <a:rPr lang="en-US" sz="800" dirty="0">
                <a:solidFill>
                  <a:schemeClr val="tx1"/>
                </a:solidFill>
                <a:latin typeface="Anova Light" panose="020B0403020203020204" pitchFamily="34" charset="0"/>
              </a:rPr>
              <a:t>sas.com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286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600" b="0" i="0" kern="1200">
        <a:solidFill>
          <a:schemeClr val="tx1"/>
        </a:solidFill>
        <a:latin typeface="+mn-lt"/>
        <a:ea typeface="+mn-ea"/>
        <a:cs typeface="+mn-cs"/>
      </a:defRPr>
    </a:lvl1pPr>
    <a:lvl2pPr marL="8382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335" b="0" i="0" kern="1200">
        <a:solidFill>
          <a:schemeClr val="tx1"/>
        </a:solidFill>
        <a:latin typeface="+mn-lt"/>
        <a:ea typeface="+mn-ea"/>
        <a:cs typeface="+mn-cs"/>
      </a:defRPr>
    </a:lvl2pPr>
    <a:lvl3pPr marL="14478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20574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065" b="0" i="0" kern="1200">
        <a:solidFill>
          <a:schemeClr val="tx1"/>
        </a:solidFill>
        <a:latin typeface="+mn-lt"/>
        <a:ea typeface="+mn-ea"/>
        <a:cs typeface="+mn-cs"/>
      </a:defRPr>
    </a:lvl4pPr>
    <a:lvl5pPr marL="26670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935" b="0" i="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4" y="1890117"/>
            <a:ext cx="1051884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4" y="2813447"/>
            <a:ext cx="1051884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Title &amp;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1"/>
            <a:ext cx="5161231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1"/>
            <a:ext cx="5161232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1890117"/>
            <a:ext cx="1052169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2813447"/>
            <a:ext cx="1052169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3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accent1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0"/>
            <a:ext cx="5161231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0"/>
            <a:ext cx="5161232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242570" y="4400550"/>
            <a:ext cx="406400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0984752" y="6096000"/>
            <a:ext cx="1207248" cy="7620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96000"/>
            <a:ext cx="10984752" cy="762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8" name="TextBox 4"/>
          <p:cNvSpPr txBox="1"/>
          <p:nvPr userDrawn="1"/>
        </p:nvSpPr>
        <p:spPr>
          <a:xfrm>
            <a:off x="834955" y="6180007"/>
            <a:ext cx="5725995" cy="420564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35" b="1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Bold" panose="020B07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CONFIDENTIAL — DO NOT DISCLOSE</a:t>
            </a:r>
          </a:p>
        </p:txBody>
      </p:sp>
      <p:sp>
        <p:nvSpPr>
          <p:cNvPr id="10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4" name="Picture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5419" y="1213071"/>
            <a:ext cx="10518846" cy="2400657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数智驱动的肉鸡养殖根因分析实施方案</a:t>
            </a: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第五周成果汇报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834955" y="4308945"/>
            <a:ext cx="8082481" cy="705015"/>
          </a:xfrm>
        </p:spPr>
        <p:txBody>
          <a:bodyPr/>
          <a:lstStyle/>
          <a:p>
            <a:r>
              <a:rPr lang="en-US" altLang="zh-CN" dirty="0"/>
              <a:t>2025.05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组合 87"/>
          <p:cNvGrpSpPr/>
          <p:nvPr/>
        </p:nvGrpSpPr>
        <p:grpSpPr>
          <a:xfrm>
            <a:off x="2689795" y="1304579"/>
            <a:ext cx="9182857" cy="5080787"/>
            <a:chOff x="2689795" y="1304579"/>
            <a:chExt cx="9182857" cy="508078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2689795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8" name="直接连接符 57"/>
            <p:cNvCxnSpPr/>
            <p:nvPr/>
          </p:nvCxnSpPr>
          <p:spPr>
            <a:xfrm>
              <a:off x="5215019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>
            <a:xfrm>
              <a:off x="6477631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>
            <a:xfrm>
              <a:off x="1026546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8" name="直接连接符 67"/>
            <p:cNvCxnSpPr/>
            <p:nvPr/>
          </p:nvCxnSpPr>
          <p:spPr>
            <a:xfrm>
              <a:off x="9002855" y="1442480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77" name="直接连接符 76"/>
            <p:cNvCxnSpPr/>
            <p:nvPr/>
          </p:nvCxnSpPr>
          <p:spPr>
            <a:xfrm>
              <a:off x="395240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83" name="直接连接符 82"/>
            <p:cNvCxnSpPr/>
            <p:nvPr/>
          </p:nvCxnSpPr>
          <p:spPr>
            <a:xfrm>
              <a:off x="11528078" y="1304579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pic>
          <p:nvPicPr>
            <p:cNvPr id="84" name="图形 83" descr="鲤鱼旗 纯色填充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97028" y="1404375"/>
              <a:ext cx="375624" cy="360000"/>
            </a:xfrm>
            <a:prstGeom prst="rect">
              <a:avLst/>
            </a:prstGeom>
          </p:spPr>
        </p:pic>
        <p:cxnSp>
          <p:nvCxnSpPr>
            <p:cNvPr id="87" name="直接连接符 86"/>
            <p:cNvCxnSpPr/>
            <p:nvPr/>
          </p:nvCxnSpPr>
          <p:spPr>
            <a:xfrm>
              <a:off x="7740243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</p:grpSp>
      <p:cxnSp>
        <p:nvCxnSpPr>
          <p:cNvPr id="49" name="直接连接符 48"/>
          <p:cNvCxnSpPr/>
          <p:nvPr/>
        </p:nvCxnSpPr>
        <p:spPr>
          <a:xfrm>
            <a:off x="11526134" y="1453366"/>
            <a:ext cx="0" cy="493200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65000"/>
              </a:srgbClr>
            </a:solidFill>
            <a:prstDash val="lgDash"/>
            <a:miter lim="800000"/>
          </a:ln>
          <a:effectLst/>
        </p:spPr>
      </p:cxnSp>
      <p:sp>
        <p:nvSpPr>
          <p:cNvPr id="2" name="标题 1"/>
          <p:cNvSpPr txBox="1"/>
          <p:nvPr/>
        </p:nvSpPr>
        <p:spPr>
          <a:xfrm>
            <a:off x="552010" y="27333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基于前期沟通，制定了详细合理的工作实施计划，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PoC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预计整体周期为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7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周，具体实施过程中采用多任务同步推进，串行和并行相结合的方式进行，有效推进项目快速落地</a:t>
            </a:r>
          </a:p>
        </p:txBody>
      </p:sp>
      <p:sp>
        <p:nvSpPr>
          <p:cNvPr id="6" name="Freeform 60"/>
          <p:cNvSpPr/>
          <p:nvPr/>
        </p:nvSpPr>
        <p:spPr bwMode="auto">
          <a:xfrm>
            <a:off x="1358471" y="1349215"/>
            <a:ext cx="10363180" cy="73919"/>
          </a:xfrm>
          <a:custGeom>
            <a:avLst/>
            <a:gdLst>
              <a:gd name="T0" fmla="*/ 0 w 4490"/>
              <a:gd name="T1" fmla="*/ 2147483647 h 91"/>
              <a:gd name="T2" fmla="*/ 0 w 4490"/>
              <a:gd name="T3" fmla="*/ 0 h 91"/>
              <a:gd name="T4" fmla="*/ 2147483647 w 4490"/>
              <a:gd name="T5" fmla="*/ 0 h 91"/>
              <a:gd name="T6" fmla="*/ 2147483647 w 4490"/>
              <a:gd name="T7" fmla="*/ 2147483647 h 91"/>
              <a:gd name="T8" fmla="*/ 0 60000 65536"/>
              <a:gd name="T9" fmla="*/ 0 60000 65536"/>
              <a:gd name="T10" fmla="*/ 0 60000 65536"/>
              <a:gd name="T11" fmla="*/ 0 60000 65536"/>
              <a:gd name="T12" fmla="*/ 0 w 4490"/>
              <a:gd name="T13" fmla="*/ 0 h 91"/>
              <a:gd name="T14" fmla="*/ 4490 w 4490"/>
              <a:gd name="T15" fmla="*/ 91 h 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90" h="91">
                <a:moveTo>
                  <a:pt x="0" y="91"/>
                </a:moveTo>
                <a:lnTo>
                  <a:pt x="0" y="0"/>
                </a:lnTo>
                <a:lnTo>
                  <a:pt x="4490" y="0"/>
                </a:lnTo>
                <a:lnTo>
                  <a:pt x="4490" y="91"/>
                </a:lnTo>
              </a:path>
            </a:pathLst>
          </a:custGeom>
          <a:noFill/>
          <a:ln w="6350">
            <a:solidFill>
              <a:srgbClr val="BBBCBC"/>
            </a:solidFill>
            <a:round/>
          </a:ln>
        </p:spPr>
        <p:txBody>
          <a:bodyPr wrap="none" lIns="0" tIns="0" rIns="0" bIns="0" anchor="ctr"/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65" b="0" i="0" u="none" strike="noStrike" kern="120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85505" y="1442480"/>
            <a:ext cx="619678" cy="749660"/>
            <a:chOff x="427051" y="1660594"/>
            <a:chExt cx="593903" cy="749660"/>
          </a:xfrm>
        </p:grpSpPr>
        <p:sp>
          <p:nvSpPr>
            <p:cNvPr id="32" name="矩形 31"/>
            <p:cNvSpPr/>
            <p:nvPr/>
          </p:nvSpPr>
          <p:spPr>
            <a:xfrm>
              <a:off x="520023" y="1660594"/>
              <a:ext cx="500931" cy="749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前期准备</a:t>
              </a:r>
            </a:p>
          </p:txBody>
        </p:sp>
        <p:sp>
          <p:nvSpPr>
            <p:cNvPr id="33" name="Oval 20"/>
            <p:cNvSpPr/>
            <p:nvPr/>
          </p:nvSpPr>
          <p:spPr bwMode="gray">
            <a:xfrm>
              <a:off x="427051" y="1943984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80726" y="2284224"/>
            <a:ext cx="616963" cy="3575538"/>
            <a:chOff x="446496" y="2370258"/>
            <a:chExt cx="591301" cy="3575538"/>
          </a:xfrm>
        </p:grpSpPr>
        <p:sp>
          <p:nvSpPr>
            <p:cNvPr id="35" name="矩形 34"/>
            <p:cNvSpPr/>
            <p:nvPr/>
          </p:nvSpPr>
          <p:spPr>
            <a:xfrm>
              <a:off x="528856" y="2370258"/>
              <a:ext cx="508941" cy="3575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主体实施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Oval 20"/>
            <p:cNvSpPr/>
            <p:nvPr/>
          </p:nvSpPr>
          <p:spPr bwMode="gray">
            <a:xfrm>
              <a:off x="446496" y="3822520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87104" y="5910770"/>
            <a:ext cx="618080" cy="453681"/>
            <a:chOff x="406210" y="5558612"/>
            <a:chExt cx="592371" cy="453681"/>
          </a:xfrm>
        </p:grpSpPr>
        <p:sp>
          <p:nvSpPr>
            <p:cNvPr id="38" name="矩形 37"/>
            <p:cNvSpPr/>
            <p:nvPr/>
          </p:nvSpPr>
          <p:spPr>
            <a:xfrm>
              <a:off x="485637" y="5558612"/>
              <a:ext cx="512944" cy="4536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分析交付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Oval 20"/>
            <p:cNvSpPr/>
            <p:nvPr/>
          </p:nvSpPr>
          <p:spPr bwMode="gray">
            <a:xfrm>
              <a:off x="406210" y="5710478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3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" name="矩形 39"/>
          <p:cNvSpPr/>
          <p:nvPr/>
        </p:nvSpPr>
        <p:spPr bwMode="gray">
          <a:xfrm>
            <a:off x="1358471" y="1442481"/>
            <a:ext cx="10363182" cy="750507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1203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环境和数据准备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1203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AutoShape 95"/>
          <p:cNvSpPr>
            <a:spLocks noChangeArrowheads="1"/>
          </p:cNvSpPr>
          <p:nvPr/>
        </p:nvSpPr>
        <p:spPr bwMode="auto">
          <a:xfrm>
            <a:off x="343949" y="1442480"/>
            <a:ext cx="264859" cy="4921972"/>
          </a:xfrm>
          <a:prstGeom prst="rect">
            <a:avLst/>
          </a:prstGeom>
          <a:pattFill prst="dkDn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lIns="0" tIns="88900" rIns="0" bIns="88900" anchor="ctr"/>
          <a:lstStyle>
            <a:lvl1pPr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083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时间计划安排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1358469" y="2284223"/>
            <a:ext cx="10363182" cy="151240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数据质量检查</a:t>
            </a:r>
          </a:p>
        </p:txBody>
      </p:sp>
      <p:sp>
        <p:nvSpPr>
          <p:cNvPr id="45" name="矩形 44"/>
          <p:cNvSpPr/>
          <p:nvPr/>
        </p:nvSpPr>
        <p:spPr bwMode="gray">
          <a:xfrm>
            <a:off x="1358469" y="5912872"/>
            <a:ext cx="10363182" cy="45368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defTabSz="914400"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成果分析和报表交付</a:t>
            </a:r>
            <a:endParaRPr lang="en-US" altLang="zh-CN" sz="1000" b="1" dirty="0">
              <a:solidFill>
                <a:srgbClr val="01203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4774317" y="980093"/>
            <a:ext cx="848804" cy="442535"/>
            <a:chOff x="3224585" y="980599"/>
            <a:chExt cx="848804" cy="442535"/>
          </a:xfrm>
        </p:grpSpPr>
        <p:sp>
          <p:nvSpPr>
            <p:cNvPr id="5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W2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036054" y="980093"/>
            <a:ext cx="848804" cy="442535"/>
            <a:chOff x="2362212" y="980599"/>
            <a:chExt cx="773093" cy="442535"/>
          </a:xfrm>
        </p:grpSpPr>
        <p:sp>
          <p:nvSpPr>
            <p:cNvPr id="9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W3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297791" y="980093"/>
            <a:ext cx="848804" cy="442535"/>
            <a:chOff x="2362212" y="980599"/>
            <a:chExt cx="773093" cy="442535"/>
          </a:xfrm>
        </p:grpSpPr>
        <p:sp>
          <p:nvSpPr>
            <p:cNvPr id="12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W4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559528" y="980093"/>
            <a:ext cx="848804" cy="442535"/>
            <a:chOff x="2362212" y="980599"/>
            <a:chExt cx="773093" cy="442535"/>
          </a:xfrm>
        </p:grpSpPr>
        <p:sp>
          <p:nvSpPr>
            <p:cNvPr id="1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W5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083005" y="980093"/>
            <a:ext cx="848804" cy="442535"/>
            <a:chOff x="2362212" y="980599"/>
            <a:chExt cx="773093" cy="442535"/>
          </a:xfrm>
        </p:grpSpPr>
        <p:sp>
          <p:nvSpPr>
            <p:cNvPr id="18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W7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293002" y="981073"/>
            <a:ext cx="806645" cy="440575"/>
            <a:chOff x="1890330" y="982705"/>
            <a:chExt cx="806645" cy="440575"/>
          </a:xfrm>
        </p:grpSpPr>
        <p:sp>
          <p:nvSpPr>
            <p:cNvPr id="46" name="Text Box 49"/>
            <p:cNvSpPr txBox="1">
              <a:spLocks noChangeArrowheads="1"/>
            </p:cNvSpPr>
            <p:nvPr/>
          </p:nvSpPr>
          <p:spPr bwMode="auto">
            <a:xfrm>
              <a:off x="1890330" y="982705"/>
              <a:ext cx="806645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W0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3" name="Oval 61"/>
            <p:cNvSpPr>
              <a:spLocks noChangeArrowheads="1"/>
            </p:cNvSpPr>
            <p:nvPr/>
          </p:nvSpPr>
          <p:spPr bwMode="auto">
            <a:xfrm>
              <a:off x="2216133" y="1274690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1" name="矩形 50"/>
          <p:cNvSpPr/>
          <p:nvPr/>
        </p:nvSpPr>
        <p:spPr>
          <a:xfrm>
            <a:off x="2708293" y="2353974"/>
            <a:ext cx="1226315" cy="25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3" name="矩形 22"/>
          <p:cNvSpPr/>
          <p:nvPr/>
        </p:nvSpPr>
        <p:spPr>
          <a:xfrm>
            <a:off x="2695012" y="1577056"/>
            <a:ext cx="1255450" cy="1644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6" name="矩形 25"/>
          <p:cNvSpPr/>
          <p:nvPr/>
        </p:nvSpPr>
        <p:spPr>
          <a:xfrm>
            <a:off x="3985506" y="2565788"/>
            <a:ext cx="1226316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7" name="矩形 26"/>
          <p:cNvSpPr/>
          <p:nvPr/>
        </p:nvSpPr>
        <p:spPr>
          <a:xfrm>
            <a:off x="3990303" y="3224220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8" name="矩形 27"/>
          <p:cNvSpPr/>
          <p:nvPr/>
        </p:nvSpPr>
        <p:spPr>
          <a:xfrm>
            <a:off x="5243656" y="3919366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9" name="矩形 28"/>
          <p:cNvSpPr/>
          <p:nvPr/>
        </p:nvSpPr>
        <p:spPr>
          <a:xfrm>
            <a:off x="5243656" y="4378978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30" name="矩形 29"/>
          <p:cNvSpPr/>
          <p:nvPr/>
        </p:nvSpPr>
        <p:spPr>
          <a:xfrm>
            <a:off x="6506738" y="4912799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2638643" y="2597966"/>
            <a:ext cx="147543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环控数据和生产数据盘点</a:t>
            </a:r>
          </a:p>
        </p:txBody>
      </p:sp>
      <p:sp>
        <p:nvSpPr>
          <p:cNvPr id="53" name="矩形 52"/>
          <p:cNvSpPr/>
          <p:nvPr/>
        </p:nvSpPr>
        <p:spPr>
          <a:xfrm>
            <a:off x="10297042" y="5927268"/>
            <a:ext cx="1349027" cy="253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0095058" y="6152892"/>
            <a:ext cx="175299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5.1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报告交付和现场汇报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968224" y="2832674"/>
            <a:ext cx="22750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数据完整性、准确性、有效性、一致性、时效性检验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968224" y="3420745"/>
            <a:ext cx="12755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2.3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数据缺失率、极值、异常值检查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5243656" y="4154744"/>
            <a:ext cx="12167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变量分布分析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5171820" y="4603222"/>
            <a:ext cx="25075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变量趋势分析及异常模式探查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6425581" y="5130637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自变量间相关性探查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2636350" y="1938224"/>
            <a:ext cx="17737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1.2 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分析环境搭建</a:t>
            </a:r>
          </a:p>
        </p:txBody>
      </p:sp>
      <p:sp>
        <p:nvSpPr>
          <p:cNvPr id="22" name="矩形 21"/>
          <p:cNvSpPr/>
          <p:nvPr/>
        </p:nvSpPr>
        <p:spPr bwMode="gray">
          <a:xfrm>
            <a:off x="1358469" y="3840667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现状分析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3512580" y="980093"/>
            <a:ext cx="848804" cy="442535"/>
            <a:chOff x="3224585" y="980599"/>
            <a:chExt cx="848804" cy="442535"/>
          </a:xfrm>
        </p:grpSpPr>
        <p:sp>
          <p:nvSpPr>
            <p:cNvPr id="42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W1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821265" y="980093"/>
            <a:ext cx="848804" cy="442535"/>
            <a:chOff x="2362212" y="980599"/>
            <a:chExt cx="773093" cy="442535"/>
          </a:xfrm>
        </p:grpSpPr>
        <p:sp>
          <p:nvSpPr>
            <p:cNvPr id="8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W6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2636350" y="1735802"/>
            <a:ext cx="15710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需求确认及数据准备</a:t>
            </a:r>
          </a:p>
        </p:txBody>
      </p:sp>
      <p:sp>
        <p:nvSpPr>
          <p:cNvPr id="90" name="矩形 89"/>
          <p:cNvSpPr/>
          <p:nvPr/>
        </p:nvSpPr>
        <p:spPr>
          <a:xfrm>
            <a:off x="5243734" y="3293787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5202998" y="3549910"/>
            <a:ext cx="14640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2.4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数据质量检查报告</a:t>
            </a:r>
          </a:p>
        </p:txBody>
      </p:sp>
      <p:sp>
        <p:nvSpPr>
          <p:cNvPr id="92" name="矩形 91"/>
          <p:cNvSpPr/>
          <p:nvPr/>
        </p:nvSpPr>
        <p:spPr bwMode="gray">
          <a:xfrm>
            <a:off x="1358469" y="4890483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效应分析</a:t>
            </a:r>
          </a:p>
        </p:txBody>
      </p:sp>
      <p:sp>
        <p:nvSpPr>
          <p:cNvPr id="93" name="矩形 92"/>
          <p:cNvSpPr/>
          <p:nvPr/>
        </p:nvSpPr>
        <p:spPr>
          <a:xfrm>
            <a:off x="6508510" y="5365777"/>
            <a:ext cx="2447835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6425581" y="5583615"/>
            <a:ext cx="2718419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4.2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自变量与目标变量之间影响效应分析</a:t>
            </a:r>
            <a:endParaRPr lang="zh-CN" altLang="en-US" sz="1050" i="1" dirty="0">
              <a:highlight>
                <a:srgbClr val="F1F2F4"/>
              </a:highligh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036391" y="5367174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8955234" y="5585012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4.3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影响效应分析结果解读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3CEBF6-F5D3-BC53-F5FD-4A16ECA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目录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D02FC-AB0A-E09A-CFCB-79E270DFC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226" y="2105025"/>
            <a:ext cx="10628249" cy="3638550"/>
          </a:xfrm>
        </p:spPr>
        <p:txBody>
          <a:bodyPr/>
          <a:lstStyle/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数据清洗与整合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008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71167-C9B8-10B6-1146-7F9440F65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B74F7E6-6175-AA1E-B934-E0E6BA859712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22B5B1D-EAFE-F32E-CCDE-2E0A9D69421B}"/>
              </a:ext>
            </a:extLst>
          </p:cNvPr>
          <p:cNvGraphicFramePr>
            <a:graphicFrameLocks noGrp="1"/>
          </p:cNvGraphicFramePr>
          <p:nvPr/>
        </p:nvGraphicFramePr>
        <p:xfrm>
          <a:off x="1376274" y="4101288"/>
          <a:ext cx="4303118" cy="19893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332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231516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234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23613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761219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age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out-upper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</a:t>
                      </a:r>
                      <a:r>
                        <a:rPr lang="en-US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-lower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In-upper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0-2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15.1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16.1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33.5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3-5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14.8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31(max)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30.6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31.2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6-8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9.3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17.6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28.6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29.1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9-11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6.5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27.6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28.1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12-14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29.1(max)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26.9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15-17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11.9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19.1(max)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25.2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18-20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10.2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17.9(max)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23.9</a:t>
                      </a:r>
                      <a:endParaRPr lang="en-US" altLang="zh-CN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24.4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21-23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8.8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</a:rPr>
                        <a:t>15.9(max)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22.7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23.9</a:t>
                      </a: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C03F6BC-9C6B-C7CB-116C-78197A04B7B1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：对低温敏感，防止低温应激影响，保证内温稳定；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：对低温敏感，内温区间收窄至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30.6℃~31.2℃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：养殖过渡阶段，对低温敏感程度下降，内温区间较前一阶段下降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外温下限 </a:t>
            </a:r>
            <a:r>
              <a:rPr lang="en-US" altLang="zh-CN" sz="1200" i="0" dirty="0">
                <a:solidFill>
                  <a:srgbClr val="000000"/>
                </a:solidFill>
                <a:effectLst/>
                <a:latin typeface="Inter"/>
              </a:rPr>
              <a:t>6.5℃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为全周期最低，显示此阶段可耐受一定低温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低死淘和高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分布在温度最高的分箱中，内温从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12-14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26.2℃~26.9℃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）→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15-17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25.2℃~25.9℃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），每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日龄下降约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1℃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18-23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外部温度下限逐步降低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，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耐低温能力逐步增强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，内部温度的偏移对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的波动较为显著</a:t>
            </a:r>
            <a:endParaRPr lang="zh-CN" altLang="en-US" sz="1200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早期（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0-5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）和中期（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）对外部低温较为敏感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和死淘受内部温度偏移波动显著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当外部温度不佳时，依旧可以通过内部温度控制较低的死淘和较高的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3.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异常值警示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b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</a:b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12-14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日龄外温上限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29.1℃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（标注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max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）可能为特殊环境下的偶然观测值，需结合实际生产验证，不可作为常规管理阈值。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C210C5-97ED-6414-7A27-53FEAE549643}"/>
              </a:ext>
            </a:extLst>
          </p:cNvPr>
          <p:cNvSpPr txBox="1"/>
          <p:nvPr/>
        </p:nvSpPr>
        <p:spPr>
          <a:xfrm>
            <a:off x="566898" y="6143497"/>
            <a:ext cx="64625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"max"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out-upper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（外温上限）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zh-CN" altLang="en-US" sz="1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6D213E-7180-A048-6433-789B1AC3BAE9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F67030B-A74C-E427-0D3D-694AF7520C74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3AE6AC51-4AFC-235E-EC90-AECB72E07598}"/>
              </a:ext>
            </a:extLst>
          </p:cNvPr>
          <p:cNvSpPr/>
          <p:nvPr/>
        </p:nvSpPr>
        <p:spPr>
          <a:xfrm>
            <a:off x="5276850" y="4343400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待修改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E76C5E-27FF-F85C-9617-6A60D5151055}"/>
              </a:ext>
            </a:extLst>
          </p:cNvPr>
          <p:cNvSpPr/>
          <p:nvPr/>
        </p:nvSpPr>
        <p:spPr>
          <a:xfrm>
            <a:off x="4374964" y="1265773"/>
            <a:ext cx="1235758" cy="371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dirty="0"/>
              <a:t>待补充</a:t>
            </a:r>
          </a:p>
        </p:txBody>
      </p:sp>
    </p:spTree>
    <p:extLst>
      <p:ext uri="{BB962C8B-B14F-4D97-AF65-F5344CB8AC3E}">
        <p14:creationId xmlns:p14="http://schemas.microsoft.com/office/powerpoint/2010/main" val="209105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FACCF7B-EA3A-9DA9-8036-EA69828383FF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31FFB6-C570-DCED-905A-C94C28144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344" y="965640"/>
            <a:ext cx="5803281" cy="28787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7E37FB6-27AD-60F5-F10A-732CC0DE5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669" y="4233025"/>
            <a:ext cx="6157646" cy="2036310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6986AC7-AE0E-06E4-3431-4CCF85A6971C}"/>
              </a:ext>
            </a:extLst>
          </p:cNvPr>
          <p:cNvCxnSpPr/>
          <p:nvPr/>
        </p:nvCxnSpPr>
        <p:spPr>
          <a:xfrm>
            <a:off x="7870005" y="795131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6233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EA44E-D0C8-07BA-0F14-59BBD26B3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36AE2688-33B3-FC5F-739E-1485CBB13C6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7629D31-D96E-DDDD-C95D-13ADBD3286C5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E2E56D-D50B-FA9D-599B-86BA7F454B76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日龄外部温度处于</a:t>
            </a:r>
            <a:r>
              <a:rPr lang="en-US" altLang="zh-CN" sz="1400" dirty="0">
                <a:solidFill>
                  <a:schemeClr val="tx1"/>
                </a:solidFill>
              </a:rPr>
              <a:t>27.1-32.2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33.0-33.6</a:t>
            </a:r>
            <a:r>
              <a:rPr lang="zh-CN" altLang="en-US" sz="1400" dirty="0">
                <a:solidFill>
                  <a:schemeClr val="tx1"/>
                </a:solidFill>
              </a:rPr>
              <a:t>度，依旧可保持较低的死淘和较高的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AE32D3A0-DB44-ADF5-6ACC-A96983F108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902" y="3220948"/>
            <a:ext cx="4797595" cy="2346527"/>
          </a:xfrm>
          <a:prstGeom prst="rect">
            <a:avLst/>
          </a:prstGeom>
        </p:spPr>
      </p:pic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CDF6046E-5AEE-368F-FE91-B2B53B053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3208782"/>
            <a:ext cx="4726003" cy="2372868"/>
          </a:xfrm>
          <a:prstGeom prst="rect">
            <a:avLst/>
          </a:prstGeom>
        </p:spPr>
      </p:pic>
      <p:pic>
        <p:nvPicPr>
          <p:cNvPr id="11" name="图片 10" descr="图表, 直方图&#10;&#10;AI 生成的内容可能不正确。">
            <a:extLst>
              <a:ext uri="{FF2B5EF4-FFF2-40B4-BE49-F238E27FC236}">
                <a16:creationId xmlns:a16="http://schemas.microsoft.com/office/drawing/2014/main" id="{85991A5E-6B68-05A8-D843-3FEA4244F1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826" y="857242"/>
            <a:ext cx="4795951" cy="2260405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D23F43E5-7F62-A7FA-0287-0CE8CE35594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857242"/>
            <a:ext cx="4726003" cy="2260405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60D86B0C-7DF7-4ACE-BC30-85CED08E48CD}"/>
              </a:ext>
            </a:extLst>
          </p:cNvPr>
          <p:cNvSpPr/>
          <p:nvPr/>
        </p:nvSpPr>
        <p:spPr>
          <a:xfrm>
            <a:off x="4227815" y="1194789"/>
            <a:ext cx="313363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6A4D5F4-B926-ECAB-4226-A32A93E7EF5F}"/>
              </a:ext>
            </a:extLst>
          </p:cNvPr>
          <p:cNvSpPr/>
          <p:nvPr/>
        </p:nvSpPr>
        <p:spPr>
          <a:xfrm>
            <a:off x="7484249" y="1095895"/>
            <a:ext cx="1728907" cy="429373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93110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1A52E-3CF6-8C7F-3A6C-CAD0A4A81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0F27C45-1699-EEA8-26CE-39138C189B80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D8980C2-4CC5-7600-7FBD-426CACA7BD83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F8DB9F-C971-FB2A-ADF6-BC1E461D385A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日龄外部温度大于</a:t>
            </a:r>
            <a:r>
              <a:rPr lang="en-US" altLang="zh-CN" sz="1400" dirty="0">
                <a:solidFill>
                  <a:schemeClr val="tx1"/>
                </a:solidFill>
              </a:rPr>
              <a:t>14.8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30.6-31.2</a:t>
            </a:r>
            <a:r>
              <a:rPr lang="zh-CN" altLang="en-US" sz="1400" dirty="0">
                <a:solidFill>
                  <a:schemeClr val="tx1"/>
                </a:solidFill>
              </a:rPr>
              <a:t>度，依旧可保持较低的死淘和较高的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5" name="图片 4" descr="图表, 直方图&#10;&#10;AI 生成的内容可能不正确。">
            <a:extLst>
              <a:ext uri="{FF2B5EF4-FFF2-40B4-BE49-F238E27FC236}">
                <a16:creationId xmlns:a16="http://schemas.microsoft.com/office/drawing/2014/main" id="{A10F23E0-A065-D7C9-F47E-C2AE5C9D2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3220949"/>
            <a:ext cx="4851354" cy="2389276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F0AFAEBE-2224-ECEC-FB8D-EB5710DDA2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845244"/>
            <a:ext cx="4851354" cy="2299210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987B13E7-3EC8-C0E8-82D0-B21CACDB26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79" y="845244"/>
            <a:ext cx="4771001" cy="228842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B485A970-B064-261C-58DD-C79CCB30FFDE}"/>
              </a:ext>
            </a:extLst>
          </p:cNvPr>
          <p:cNvSpPr/>
          <p:nvPr/>
        </p:nvSpPr>
        <p:spPr>
          <a:xfrm>
            <a:off x="4723034" y="1221596"/>
            <a:ext cx="419182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615B2E94-DBB4-EAD7-34D3-2F147074E9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79" y="3209608"/>
            <a:ext cx="4771001" cy="240061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49D83615-0E39-E64F-1A56-70DBB6BD265B}"/>
              </a:ext>
            </a:extLst>
          </p:cNvPr>
          <p:cNvSpPr/>
          <p:nvPr/>
        </p:nvSpPr>
        <p:spPr>
          <a:xfrm>
            <a:off x="8124568" y="1247775"/>
            <a:ext cx="803190" cy="414185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0751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03F81-35B8-EB21-8216-262185667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6D38370-B21F-BAF1-236A-5BE55FA2145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A87B09-841C-33F8-129F-BBB18D7D1222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EC3303-9390-272E-8A2E-2BC45BDE60C1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9" name="图片 8" descr="图表, 折线图&#10;&#10;AI 生成的内容可能不正确。">
            <a:extLst>
              <a:ext uri="{FF2B5EF4-FFF2-40B4-BE49-F238E27FC236}">
                <a16:creationId xmlns:a16="http://schemas.microsoft.com/office/drawing/2014/main" id="{F2F5423D-3323-85ED-27E9-B92DFE6B9A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3265710"/>
            <a:ext cx="4881473" cy="2328575"/>
          </a:xfrm>
          <a:prstGeom prst="rect">
            <a:avLst/>
          </a:prstGeom>
        </p:spPr>
      </p:pic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B28B9FBF-419B-0D30-3214-7C101F0821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8" y="3264155"/>
            <a:ext cx="4799040" cy="2328574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0350A5BC-C852-5FA9-0E14-61FFBA02BC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8" y="833317"/>
            <a:ext cx="4799040" cy="2343557"/>
          </a:xfrm>
          <a:prstGeom prst="rect">
            <a:avLst/>
          </a:prstGeom>
        </p:spPr>
      </p:pic>
      <p:pic>
        <p:nvPicPr>
          <p:cNvPr id="14" name="图片 13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A50F1EAD-A95E-A97D-CD60-D0BA804734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834872"/>
            <a:ext cx="4881473" cy="234355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FB59719-F8A7-1077-7437-492A55FEADF9}"/>
              </a:ext>
            </a:extLst>
          </p:cNvPr>
          <p:cNvSpPr/>
          <p:nvPr/>
        </p:nvSpPr>
        <p:spPr>
          <a:xfrm>
            <a:off x="4675373" y="1183305"/>
            <a:ext cx="292043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697AD4C-5D1A-95F0-6E6E-EED2467E94CD}"/>
              </a:ext>
            </a:extLst>
          </p:cNvPr>
          <p:cNvSpPr/>
          <p:nvPr/>
        </p:nvSpPr>
        <p:spPr>
          <a:xfrm>
            <a:off x="7860766" y="1209484"/>
            <a:ext cx="1613647" cy="414185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11276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FDE06-FFDB-6BB8-3732-56A45EB2B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6AE9D7A-C0E0-9A08-9D5F-2035FBC0A582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2C4BA0-6FB8-1B33-72D2-C0C7D978E14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FCFEF6-119E-0D7D-324E-C1A46AE26FFE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D46DA6F7-70FA-1E28-5AAB-AF70BF9447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7" y="3304249"/>
            <a:ext cx="4700844" cy="2305436"/>
          </a:xfrm>
          <a:prstGeom prst="rect">
            <a:avLst/>
          </a:prstGeom>
        </p:spPr>
      </p:pic>
      <p:pic>
        <p:nvPicPr>
          <p:cNvPr id="11" name="图片 10" descr="图表, 折线图, 直方图&#10;&#10;AI 生成的内容可能不正确。">
            <a:extLst>
              <a:ext uri="{FF2B5EF4-FFF2-40B4-BE49-F238E27FC236}">
                <a16:creationId xmlns:a16="http://schemas.microsoft.com/office/drawing/2014/main" id="{5C9D399B-6820-6E7B-3362-14308A99B2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4" y="3304249"/>
            <a:ext cx="5015671" cy="2305437"/>
          </a:xfrm>
          <a:prstGeom prst="rect">
            <a:avLst/>
          </a:prstGeom>
        </p:spPr>
      </p:pic>
      <p:pic>
        <p:nvPicPr>
          <p:cNvPr id="12" name="图片 11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FC4A65D5-E076-37FD-5A32-757959CFFA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4" y="876290"/>
            <a:ext cx="5015671" cy="2315386"/>
          </a:xfrm>
          <a:prstGeom prst="rect">
            <a:avLst/>
          </a:prstGeom>
        </p:spPr>
      </p:pic>
      <p:pic>
        <p:nvPicPr>
          <p:cNvPr id="14" name="图片 13" descr="图表, 折线图&#10;&#10;AI 生成的内容可能不正确。">
            <a:extLst>
              <a:ext uri="{FF2B5EF4-FFF2-40B4-BE49-F238E27FC236}">
                <a16:creationId xmlns:a16="http://schemas.microsoft.com/office/drawing/2014/main" id="{3A1F4E60-8BF1-81EB-C1C9-E18D2A7825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7" y="876290"/>
            <a:ext cx="4700844" cy="2344659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A6602755-656A-ADD1-81F5-1D3C83837857}"/>
              </a:ext>
            </a:extLst>
          </p:cNvPr>
          <p:cNvSpPr/>
          <p:nvPr/>
        </p:nvSpPr>
        <p:spPr>
          <a:xfrm>
            <a:off x="4341479" y="1209484"/>
            <a:ext cx="487696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26FF95A-DCAD-B286-4FED-287E6EC2F867}"/>
              </a:ext>
            </a:extLst>
          </p:cNvPr>
          <p:cNvSpPr/>
          <p:nvPr/>
        </p:nvSpPr>
        <p:spPr>
          <a:xfrm>
            <a:off x="10140013" y="1201682"/>
            <a:ext cx="487696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36498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62322-7050-2113-3561-4AA570FCB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632132E-86AC-F441-33BF-118488420DC2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70D2DD-7EB0-F784-FB96-97899A173D1E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FCF008B-A4B6-5461-2BEC-3DFC36B6893B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6" name="图片 5" descr="图表&#10;&#10;AI 生成的内容可能不正确。">
            <a:extLst>
              <a:ext uri="{FF2B5EF4-FFF2-40B4-BE49-F238E27FC236}">
                <a16:creationId xmlns:a16="http://schemas.microsoft.com/office/drawing/2014/main" id="{D1BB8986-01FD-4313-25CF-C8202D6ADD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3293531"/>
            <a:ext cx="4985315" cy="2302821"/>
          </a:xfrm>
          <a:prstGeom prst="rect">
            <a:avLst/>
          </a:prstGeom>
        </p:spPr>
      </p:pic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255EF84E-0B5E-9E7A-968A-309001644E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2" y="3293531"/>
            <a:ext cx="4625975" cy="2293778"/>
          </a:xfrm>
          <a:prstGeom prst="rect">
            <a:avLst/>
          </a:prstGeom>
        </p:spPr>
      </p:pic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07214AC2-A575-FBC8-09E7-21FBB32B85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203" y="751037"/>
            <a:ext cx="4625574" cy="2429753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BF119A7E-03B6-0376-A99C-EA60D69A9A52}"/>
              </a:ext>
            </a:extLst>
          </p:cNvPr>
          <p:cNvSpPr/>
          <p:nvPr/>
        </p:nvSpPr>
        <p:spPr>
          <a:xfrm>
            <a:off x="10063172" y="1169683"/>
            <a:ext cx="207469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0" name="图片 19" descr="图表&#10;&#10;AI 生成的内容可能不正确。">
            <a:extLst>
              <a:ext uri="{FF2B5EF4-FFF2-40B4-BE49-F238E27FC236}">
                <a16:creationId xmlns:a16="http://schemas.microsoft.com/office/drawing/2014/main" id="{C09E8918-681C-9BB3-D0C0-36182B80ADC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751037"/>
            <a:ext cx="4985315" cy="242641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EB20458-5B8D-4990-C3C0-C9DFDFF1B786}"/>
              </a:ext>
            </a:extLst>
          </p:cNvPr>
          <p:cNvSpPr/>
          <p:nvPr/>
        </p:nvSpPr>
        <p:spPr>
          <a:xfrm>
            <a:off x="5248195" y="1169683"/>
            <a:ext cx="207469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149455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DFFEA-8C7C-7C38-D721-42C6A0BEF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197FAA7-3617-05E2-8A39-09C4F4CB7DD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3D5273-226B-596A-27F7-FA5CF7F4D888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835387-4613-2CF3-B0B4-BDCF6DDAFE1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AA5936A8-1297-9592-CAC2-FF9E18DA53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610" y="3394184"/>
            <a:ext cx="4720588" cy="2222584"/>
          </a:xfrm>
          <a:prstGeom prst="rect">
            <a:avLst/>
          </a:prstGeom>
        </p:spPr>
      </p:pic>
      <p:pic>
        <p:nvPicPr>
          <p:cNvPr id="18" name="图片 17" descr="图表, 折线图&#10;&#10;AI 生成的内容可能不正确。">
            <a:extLst>
              <a:ext uri="{FF2B5EF4-FFF2-40B4-BE49-F238E27FC236}">
                <a16:creationId xmlns:a16="http://schemas.microsoft.com/office/drawing/2014/main" id="{F6CE910E-D3F8-3F07-22AB-9B9800C577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7" y="3394184"/>
            <a:ext cx="4852750" cy="2222584"/>
          </a:xfrm>
          <a:prstGeom prst="rect">
            <a:avLst/>
          </a:prstGeom>
        </p:spPr>
      </p:pic>
      <p:pic>
        <p:nvPicPr>
          <p:cNvPr id="24" name="图片 23" descr="图表, 折线图&#10;&#10;AI 生成的内容可能不正确。">
            <a:extLst>
              <a:ext uri="{FF2B5EF4-FFF2-40B4-BE49-F238E27FC236}">
                <a16:creationId xmlns:a16="http://schemas.microsoft.com/office/drawing/2014/main" id="{627471E7-E7D8-48BD-18E2-8BBB4A2C79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7" y="861089"/>
            <a:ext cx="4852750" cy="2430608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CD06A4B-B9AC-4E14-2426-7FE4C8F1D942}"/>
              </a:ext>
            </a:extLst>
          </p:cNvPr>
          <p:cNvSpPr/>
          <p:nvPr/>
        </p:nvSpPr>
        <p:spPr>
          <a:xfrm>
            <a:off x="3611496" y="1196123"/>
            <a:ext cx="1244813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30" name="图片 29" descr="图表&#10;&#10;AI 生成的内容可能不正确。">
            <a:extLst>
              <a:ext uri="{FF2B5EF4-FFF2-40B4-BE49-F238E27FC236}">
                <a16:creationId xmlns:a16="http://schemas.microsoft.com/office/drawing/2014/main" id="{4FC804A0-EDD5-A357-F0CC-2B07662334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610" y="852206"/>
            <a:ext cx="4720588" cy="2409277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C2291D9A-3000-D61A-093A-DDEF286DBF62}"/>
              </a:ext>
            </a:extLst>
          </p:cNvPr>
          <p:cNvSpPr/>
          <p:nvPr/>
        </p:nvSpPr>
        <p:spPr>
          <a:xfrm>
            <a:off x="6657655" y="1136743"/>
            <a:ext cx="650928" cy="424948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7970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FD593-E929-541D-30E4-C1599285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8A1B5292-3F6B-5C60-C83B-5EA37492BBB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D4EBB4-4ED0-B845-46CC-9E13951D4C8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D75F60-3C62-BA21-6A6A-F4B662BBFAB7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13" name="图片 12" descr="图表, 折线图&#10;&#10;AI 生成的内容可能不正确。">
            <a:extLst>
              <a:ext uri="{FF2B5EF4-FFF2-40B4-BE49-F238E27FC236}">
                <a16:creationId xmlns:a16="http://schemas.microsoft.com/office/drawing/2014/main" id="{14FDB460-1143-556E-8DF1-07D71A687D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1" y="779093"/>
            <a:ext cx="5065531" cy="2354575"/>
          </a:xfrm>
          <a:prstGeom prst="rect">
            <a:avLst/>
          </a:prstGeom>
        </p:spPr>
      </p:pic>
      <p:pic>
        <p:nvPicPr>
          <p:cNvPr id="27" name="图片 26" descr="图表&#10;&#10;AI 生成的内容可能不正确。">
            <a:extLst>
              <a:ext uri="{FF2B5EF4-FFF2-40B4-BE49-F238E27FC236}">
                <a16:creationId xmlns:a16="http://schemas.microsoft.com/office/drawing/2014/main" id="{A810808C-01DD-8AF2-C723-EAB40C1F55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091" y="554904"/>
            <a:ext cx="4173815" cy="2544009"/>
          </a:xfrm>
          <a:prstGeom prst="rect">
            <a:avLst/>
          </a:prstGeom>
        </p:spPr>
      </p:pic>
      <p:pic>
        <p:nvPicPr>
          <p:cNvPr id="29" name="图片 28" descr="图表, 折线图&#10;&#10;AI 生成的内容可能不正确。">
            <a:extLst>
              <a:ext uri="{FF2B5EF4-FFF2-40B4-BE49-F238E27FC236}">
                <a16:creationId xmlns:a16="http://schemas.microsoft.com/office/drawing/2014/main" id="{5423DFC1-C9B7-D787-1E9E-229B44FA4D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138" y="3296930"/>
            <a:ext cx="4976783" cy="2252240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B16BF75D-1359-3253-6526-C01322275BE1}"/>
              </a:ext>
            </a:extLst>
          </p:cNvPr>
          <p:cNvSpPr/>
          <p:nvPr/>
        </p:nvSpPr>
        <p:spPr>
          <a:xfrm>
            <a:off x="5158946" y="1172457"/>
            <a:ext cx="222422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35" name="图片 34" descr="图表, 折线图&#10;&#10;AI 生成的内容可能不正确。">
            <a:extLst>
              <a:ext uri="{FF2B5EF4-FFF2-40B4-BE49-F238E27FC236}">
                <a16:creationId xmlns:a16="http://schemas.microsoft.com/office/drawing/2014/main" id="{1D414F9F-6C73-6229-4335-A5A52ADC81A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613" y="3251904"/>
            <a:ext cx="4144293" cy="2297266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5AFE9C6A-BB1C-3CD6-72C2-4C4ED19520A4}"/>
              </a:ext>
            </a:extLst>
          </p:cNvPr>
          <p:cNvSpPr/>
          <p:nvPr/>
        </p:nvSpPr>
        <p:spPr>
          <a:xfrm>
            <a:off x="9756161" y="899032"/>
            <a:ext cx="468316" cy="443617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64045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103CF-5178-4B82-D5DF-05C026301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7DCD49B-FB76-6024-AF02-C21AD1A47A5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A6C2B2-826E-5B10-AA68-074F331F37B7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733A5F-28D1-F0A0-4A62-7AA0110E63A6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endParaRPr lang="zh-CN" altLang="en-US" sz="1400" dirty="0">
              <a:solidFill>
                <a:schemeClr val="tx1"/>
              </a:solidFill>
            </a:endParaRPr>
          </a:p>
        </p:txBody>
      </p:sp>
      <p:pic>
        <p:nvPicPr>
          <p:cNvPr id="6" name="图片 5" descr="图形用户界面&#10;&#10;AI 生成的内容可能不正确。">
            <a:extLst>
              <a:ext uri="{FF2B5EF4-FFF2-40B4-BE49-F238E27FC236}">
                <a16:creationId xmlns:a16="http://schemas.microsoft.com/office/drawing/2014/main" id="{3FAC2895-8A29-99E2-B9DD-7D60756BAD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20" y="3220948"/>
            <a:ext cx="5005477" cy="2320909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B38AB310-32FE-2879-5E45-72BC1A9537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3220947"/>
            <a:ext cx="4698756" cy="2320909"/>
          </a:xfrm>
          <a:prstGeom prst="rect">
            <a:avLst/>
          </a:prstGeom>
        </p:spPr>
      </p:pic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F2D2099D-BBC5-14D7-5D17-AFCDCBA016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51" y="747048"/>
            <a:ext cx="4993645" cy="2320909"/>
          </a:xfrm>
          <a:prstGeom prst="rect">
            <a:avLst/>
          </a:prstGeom>
        </p:spPr>
      </p:pic>
      <p:pic>
        <p:nvPicPr>
          <p:cNvPr id="14" name="图片 13" descr="图表, 直方图&#10;&#10;AI 生成的内容可能不正确。">
            <a:extLst>
              <a:ext uri="{FF2B5EF4-FFF2-40B4-BE49-F238E27FC236}">
                <a16:creationId xmlns:a16="http://schemas.microsoft.com/office/drawing/2014/main" id="{7181CBC3-BE0F-5418-7784-80BA72731F0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747046"/>
            <a:ext cx="4698756" cy="232091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A81396EA-83D3-909D-51E2-6EB9A038D76A}"/>
              </a:ext>
            </a:extLst>
          </p:cNvPr>
          <p:cNvSpPr/>
          <p:nvPr/>
        </p:nvSpPr>
        <p:spPr>
          <a:xfrm>
            <a:off x="5386338" y="1145568"/>
            <a:ext cx="390524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EDAA2BE-70C1-25E5-A859-67719B621827}"/>
              </a:ext>
            </a:extLst>
          </p:cNvPr>
          <p:cNvSpPr/>
          <p:nvPr/>
        </p:nvSpPr>
        <p:spPr>
          <a:xfrm>
            <a:off x="9844880" y="1109611"/>
            <a:ext cx="763098" cy="425768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3463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1759-B493-67DE-1F9E-D3F539CE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7F18B6-B26F-09DF-E000-A7BF0AD0D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344FB5-5D1A-25EB-41D1-35CC3CFE31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9212" y="2246743"/>
            <a:ext cx="9192622" cy="2088951"/>
          </a:xfrm>
        </p:spPr>
        <p:txBody>
          <a:bodyPr/>
          <a:lstStyle/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99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2020-TEMPLATE-EXTERNAL" val="pdtUH84H"/>
  <p:tag name="ARTICULATE_DESIGN_ID_SAS-EXTERNAL-16X9-2023" val="CJxW6PTk"/>
  <p:tag name="ARTICULATE_DESIGN_ID_1_NDA" val="5KPCLKMf"/>
  <p:tag name="ARTICULATE_DESIGN_ID_1_SAS-EXTERNAL-16X9-2023" val="OvZPFYIY"/>
  <p:tag name="ARTICULATE_DESIGN_ID_SAS - EXTERNAL - 16X9 - 2023" val="iju6vBOG"/>
  <p:tag name="ARTICULATE_DESIGN_ID_SAS - EXTERNAL" val="IZ9bNYet"/>
  <p:tag name="ARTICULATE_DESIGN_ID_SAS - EXTERNAL - NDA" val="RR4fBfJW"/>
  <p:tag name="ARTICULATE_SLIDE_THUMBNAIL_REFRESH" val="1"/>
  <p:tag name="ARTICULATE_DESIGN_ID_CUSTOM DESIGN" val="WASRYxhz"/>
  <p:tag name="ARTICULATE_SLIDE_COUNT" val="11"/>
  <p:tag name="ARTICULATE_PROJECT_OPEN" val="0"/>
  <p:tag name="COMMONDATA" val="eyJoZGlkIjoiY2FmNGJlNDAzN2U1NmMyNzMzZTc0YjA1YWNhMzZlN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AS - EXTERNAL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S - EXTERNAL - NDA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2B48C136D414EB12EC6609A2B4A69" ma:contentTypeVersion="5" ma:contentTypeDescription="Create a new document." ma:contentTypeScope="" ma:versionID="c506d0840867f1adddbc926f9a8dfc6f">
  <xsd:schema xmlns:xsd="http://www.w3.org/2001/XMLSchema" xmlns:xs="http://www.w3.org/2001/XMLSchema" xmlns:p="http://schemas.microsoft.com/office/2006/metadata/properties" xmlns:ns2="d21cdafc-5a3a-425e-9674-4fb06b514c0e" xmlns:ns3="6e647c50-2143-4825-9865-d236e7692e65" targetNamespace="http://schemas.microsoft.com/office/2006/metadata/properties" ma:root="true" ma:fieldsID="0df08590ed69fcf4c72a3fc3581b1869" ns2:_="" ns3:_="">
    <xsd:import namespace="d21cdafc-5a3a-425e-9674-4fb06b514c0e"/>
    <xsd:import namespace="6e647c50-2143-4825-9865-d236e7692e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1cdafc-5a3a-425e-9674-4fb06b514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47c50-2143-4825-9865-d236e7692e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663518-7548-4643-8219-608BFF0DFA0C}">
  <ds:schemaRefs/>
</ds:datastoreItem>
</file>

<file path=customXml/itemProps2.xml><?xml version="1.0" encoding="utf-8"?>
<ds:datastoreItem xmlns:ds="http://schemas.openxmlformats.org/officeDocument/2006/customXml" ds:itemID="{E3E925E4-5239-4639-A029-07B3CFD6A3F1}">
  <ds:schemaRefs/>
</ds:datastoreItem>
</file>

<file path=customXml/itemProps3.xml><?xml version="1.0" encoding="utf-8"?>
<ds:datastoreItem xmlns:ds="http://schemas.openxmlformats.org/officeDocument/2006/customXml" ds:itemID="{51779852-367B-483D-8C46-CF2C7DC5D26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EXTERNAL_Template_2023</Template>
  <TotalTime>5140</TotalTime>
  <Words>774</Words>
  <Application>Microsoft Office PowerPoint</Application>
  <PresentationFormat>宽屏</PresentationFormat>
  <Paragraphs>126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Anova Bold</vt:lpstr>
      <vt:lpstr>Anova Light</vt:lpstr>
      <vt:lpstr>DeepSeek-CJK-patch</vt:lpstr>
      <vt:lpstr>Inter</vt:lpstr>
      <vt:lpstr>等线</vt:lpstr>
      <vt:lpstr>等线 Light</vt:lpstr>
      <vt:lpstr>Calibri</vt:lpstr>
      <vt:lpstr>Wingdings</vt:lpstr>
      <vt:lpstr>Wingdings 2</vt:lpstr>
      <vt:lpstr>SAS - EXTERNAL</vt:lpstr>
      <vt:lpstr>SAS - EXTERNAL - NDA</vt:lpstr>
      <vt:lpstr>数智驱动的肉鸡养殖根因分析实施方案  第五周成果汇报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下周计划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Plus Solution assist Value</dc:title>
  <dc:creator>Alex Zhang</dc:creator>
  <cp:lastModifiedBy>渊琰 肖</cp:lastModifiedBy>
  <cp:revision>230</cp:revision>
  <dcterms:created xsi:type="dcterms:W3CDTF">2023-10-08T03:09:00Z</dcterms:created>
  <dcterms:modified xsi:type="dcterms:W3CDTF">2025-05-28T10:24:14Z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451006F2-8E20-4D4E-B05C-4B5D02827FD6</vt:lpwstr>
  </property>
  <property fmtid="{D5CDD505-2E9C-101B-9397-08002B2CF9AE}" pid="3" name="ArticulatePath">
    <vt:lpwstr>2020-Template-External</vt:lpwstr>
  </property>
  <property fmtid="{D5CDD505-2E9C-101B-9397-08002B2CF9AE}" pid="4" name="ContentTypeId">
    <vt:lpwstr>0x0101008252B48C136D414EB12EC6609A2B4A69</vt:lpwstr>
  </property>
  <property fmtid="{D5CDD505-2E9C-101B-9397-08002B2CF9AE}" pid="5" name="ICV">
    <vt:lpwstr>5DA87FED2261458DA9A831FC15E03DC4_13</vt:lpwstr>
  </property>
  <property fmtid="{D5CDD505-2E9C-101B-9397-08002B2CF9AE}" pid="6" name="KSOProductBuildVer">
    <vt:lpwstr>2052-12.1.0.20784</vt:lpwstr>
  </property>
</Properties>
</file>