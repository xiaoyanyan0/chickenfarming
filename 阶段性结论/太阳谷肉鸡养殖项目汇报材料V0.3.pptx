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94"/>
  </p:notesMasterIdLst>
  <p:handoutMasterIdLst>
    <p:handoutMasterId r:id="rId95"/>
  </p:handoutMasterIdLst>
  <p:sldIdLst>
    <p:sldId id="16771204" r:id="rId6"/>
    <p:sldId id="2147477708" r:id="rId7"/>
    <p:sldId id="2147477425" r:id="rId8"/>
    <p:sldId id="2147477709" r:id="rId9"/>
    <p:sldId id="2147477702" r:id="rId10"/>
    <p:sldId id="2147477703" r:id="rId11"/>
    <p:sldId id="2147477704" r:id="rId12"/>
    <p:sldId id="2147477705" r:id="rId13"/>
    <p:sldId id="2147477706" r:id="rId14"/>
    <p:sldId id="2147477707" r:id="rId15"/>
    <p:sldId id="2147477710" r:id="rId16"/>
    <p:sldId id="2147477713" r:id="rId17"/>
    <p:sldId id="2147477714" r:id="rId18"/>
    <p:sldId id="2147477715" r:id="rId19"/>
    <p:sldId id="2147477712" r:id="rId20"/>
    <p:sldId id="2147477627" r:id="rId21"/>
    <p:sldId id="2147477673" r:id="rId22"/>
    <p:sldId id="2147477507" r:id="rId23"/>
    <p:sldId id="2147477778" r:id="rId24"/>
    <p:sldId id="2147477779" r:id="rId25"/>
    <p:sldId id="2147477780" r:id="rId26"/>
    <p:sldId id="2147477781" r:id="rId27"/>
    <p:sldId id="2147477782" r:id="rId28"/>
    <p:sldId id="2147477783" r:id="rId29"/>
    <p:sldId id="2147477784" r:id="rId30"/>
    <p:sldId id="2147477785" r:id="rId31"/>
    <p:sldId id="2147477786" r:id="rId32"/>
    <p:sldId id="2147477787" r:id="rId33"/>
    <p:sldId id="2147477788" r:id="rId34"/>
    <p:sldId id="2147477789" r:id="rId35"/>
    <p:sldId id="2147477790" r:id="rId36"/>
    <p:sldId id="2147477792" r:id="rId37"/>
    <p:sldId id="2147477791" r:id="rId38"/>
    <p:sldId id="2147477793" r:id="rId39"/>
    <p:sldId id="2147477794" r:id="rId40"/>
    <p:sldId id="2147477719" r:id="rId41"/>
    <p:sldId id="2147477648" r:id="rId42"/>
    <p:sldId id="2147477647" r:id="rId43"/>
    <p:sldId id="2147477675" r:id="rId44"/>
    <p:sldId id="2147477755" r:id="rId45"/>
    <p:sldId id="2147477651" r:id="rId46"/>
    <p:sldId id="2147477733" r:id="rId47"/>
    <p:sldId id="2147477734" r:id="rId48"/>
    <p:sldId id="2147477735" r:id="rId49"/>
    <p:sldId id="2147477736" r:id="rId50"/>
    <p:sldId id="2147477737" r:id="rId51"/>
    <p:sldId id="2147477738" r:id="rId52"/>
    <p:sldId id="2147477739" r:id="rId53"/>
    <p:sldId id="2147477741" r:id="rId54"/>
    <p:sldId id="2147477742" r:id="rId55"/>
    <p:sldId id="2147477743" r:id="rId56"/>
    <p:sldId id="2147477744" r:id="rId57"/>
    <p:sldId id="2147477745" r:id="rId58"/>
    <p:sldId id="2147477746" r:id="rId59"/>
    <p:sldId id="2147477747" r:id="rId60"/>
    <p:sldId id="2147477749" r:id="rId61"/>
    <p:sldId id="2147477750" r:id="rId62"/>
    <p:sldId id="2147477751" r:id="rId63"/>
    <p:sldId id="2147477752" r:id="rId64"/>
    <p:sldId id="2147477753" r:id="rId65"/>
    <p:sldId id="2147477754" r:id="rId66"/>
    <p:sldId id="2147477720" r:id="rId67"/>
    <p:sldId id="2147477731" r:id="rId68"/>
    <p:sldId id="2147477667" r:id="rId69"/>
    <p:sldId id="2147477701" r:id="rId70"/>
    <p:sldId id="2147477777" r:id="rId71"/>
    <p:sldId id="2147477756" r:id="rId72"/>
    <p:sldId id="2147477757" r:id="rId73"/>
    <p:sldId id="2147477758" r:id="rId74"/>
    <p:sldId id="2147477759" r:id="rId75"/>
    <p:sldId id="2147477760" r:id="rId76"/>
    <p:sldId id="2147477761" r:id="rId77"/>
    <p:sldId id="2147477762" r:id="rId78"/>
    <p:sldId id="2147477763" r:id="rId79"/>
    <p:sldId id="2147477764" r:id="rId80"/>
    <p:sldId id="2147477765" r:id="rId81"/>
    <p:sldId id="2147477766" r:id="rId82"/>
    <p:sldId id="2147477767" r:id="rId83"/>
    <p:sldId id="2147477768" r:id="rId84"/>
    <p:sldId id="2147477769" r:id="rId85"/>
    <p:sldId id="2147477770" r:id="rId86"/>
    <p:sldId id="2147477771" r:id="rId87"/>
    <p:sldId id="2147477772" r:id="rId88"/>
    <p:sldId id="2147477773" r:id="rId89"/>
    <p:sldId id="2147477774" r:id="rId90"/>
    <p:sldId id="2147477775" r:id="rId91"/>
    <p:sldId id="2147477776" r:id="rId92"/>
    <p:sldId id="2147477430" r:id="rId93"/>
  </p:sldIdLst>
  <p:sldSz cx="12192000" cy="6858000"/>
  <p:notesSz cx="6858000" cy="9144000"/>
  <p:custDataLst>
    <p:tags r:id="rId96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204"/>
            <p14:sldId id="2147477708"/>
            <p14:sldId id="2147477425"/>
            <p14:sldId id="2147477709"/>
          </p14:sldIdLst>
        </p14:section>
        <p14:section name="数据和图例" id="{76BBB22E-3CD8-442F-A55A-EFE124622DB0}">
          <p14:sldIdLst>
            <p14:sldId id="2147477702"/>
            <p14:sldId id="2147477703"/>
            <p14:sldId id="2147477704"/>
            <p14:sldId id="2147477705"/>
            <p14:sldId id="2147477706"/>
            <p14:sldId id="2147477707"/>
            <p14:sldId id="2147477710"/>
          </p14:sldIdLst>
        </p14:section>
        <p14:section name="饮水量" id="{3B01393A-1D95-4800-BEDE-61C4A5126674}">
          <p14:sldIdLst>
            <p14:sldId id="2147477713"/>
            <p14:sldId id="2147477714"/>
            <p14:sldId id="2147477715"/>
            <p14:sldId id="2147477712"/>
          </p14:sldIdLst>
        </p14:section>
        <p14:section name="冬季" id="{37F0E41A-B668-40D3-8BAC-D2DF595AE658}">
          <p14:sldIdLst>
            <p14:sldId id="2147477627"/>
            <p14:sldId id="2147477673"/>
            <p14:sldId id="2147477507"/>
            <p14:sldId id="2147477778"/>
            <p14:sldId id="2147477779"/>
            <p14:sldId id="2147477780"/>
            <p14:sldId id="2147477781"/>
            <p14:sldId id="2147477782"/>
            <p14:sldId id="2147477783"/>
            <p14:sldId id="2147477784"/>
            <p14:sldId id="2147477785"/>
            <p14:sldId id="2147477786"/>
            <p14:sldId id="2147477787"/>
            <p14:sldId id="2147477788"/>
            <p14:sldId id="2147477789"/>
            <p14:sldId id="2147477790"/>
            <p14:sldId id="2147477792"/>
            <p14:sldId id="2147477791"/>
            <p14:sldId id="2147477793"/>
            <p14:sldId id="2147477794"/>
          </p14:sldIdLst>
        </p14:section>
        <p14:section name="死淘影响模型" id="{ABE72186-3AA2-45D4-95D8-3243064FAD44}">
          <p14:sldIdLst>
            <p14:sldId id="2147477719"/>
            <p14:sldId id="2147477648"/>
          </p14:sldIdLst>
        </p14:section>
        <p14:section name="冬季" id="{8777B0C1-C613-4467-9781-ADB7D70DD6DF}">
          <p14:sldIdLst>
            <p14:sldId id="2147477647"/>
            <p14:sldId id="2147477675"/>
            <p14:sldId id="2147477755"/>
            <p14:sldId id="2147477651"/>
            <p14:sldId id="2147477733"/>
            <p14:sldId id="2147477734"/>
            <p14:sldId id="2147477735"/>
            <p14:sldId id="2147477736"/>
            <p14:sldId id="2147477737"/>
            <p14:sldId id="2147477738"/>
            <p14:sldId id="2147477739"/>
            <p14:sldId id="2147477741"/>
            <p14:sldId id="2147477742"/>
            <p14:sldId id="2147477743"/>
            <p14:sldId id="2147477744"/>
            <p14:sldId id="2147477745"/>
            <p14:sldId id="2147477746"/>
            <p14:sldId id="2147477747"/>
            <p14:sldId id="2147477749"/>
            <p14:sldId id="2147477750"/>
            <p14:sldId id="2147477751"/>
            <p14:sldId id="2147477752"/>
            <p14:sldId id="2147477753"/>
            <p14:sldId id="2147477754"/>
          </p14:sldIdLst>
        </p14:section>
        <p14:section name="秋季" id="{3E966AC5-8C5A-48D3-8F45-36128EE1B741}">
          <p14:sldIdLst>
            <p14:sldId id="2147477720"/>
            <p14:sldId id="2147477731"/>
          </p14:sldIdLst>
        </p14:section>
        <p14:section name="冬季" id="{45AAA3A6-081A-4B0D-8645-EE1111945460}">
          <p14:sldIdLst>
            <p14:sldId id="2147477667"/>
            <p14:sldId id="2147477701"/>
            <p14:sldId id="2147477777"/>
            <p14:sldId id="2147477756"/>
            <p14:sldId id="2147477757"/>
            <p14:sldId id="2147477758"/>
            <p14:sldId id="2147477759"/>
            <p14:sldId id="2147477760"/>
            <p14:sldId id="2147477761"/>
            <p14:sldId id="2147477762"/>
            <p14:sldId id="2147477763"/>
            <p14:sldId id="2147477764"/>
            <p14:sldId id="2147477765"/>
            <p14:sldId id="2147477766"/>
            <p14:sldId id="2147477767"/>
            <p14:sldId id="2147477768"/>
            <p14:sldId id="2147477769"/>
            <p14:sldId id="2147477770"/>
            <p14:sldId id="2147477771"/>
            <p14:sldId id="2147477772"/>
            <p14:sldId id="2147477773"/>
            <p14:sldId id="2147477774"/>
            <p14:sldId id="2147477775"/>
            <p14:sldId id="2147477776"/>
          </p14:sldIdLst>
        </p14:section>
        <p14:section name="无标题节" id="{B21C4C34-D348-44A2-A915-B0999FD9FF15}">
          <p14:sldIdLst/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1" autoAdjust="0"/>
    <p:restoredTop sz="88546" autoAdjust="0"/>
  </p:normalViewPr>
  <p:slideViewPr>
    <p:cSldViewPr snapToGrid="0" showGuides="1">
      <p:cViewPr>
        <p:scale>
          <a:sx n="66" d="100"/>
          <a:sy n="66" d="100"/>
        </p:scale>
        <p:origin x="1229" y="179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notesMaster" Target="notesMasters/notesMaster1.xml"/><Relationship Id="rId9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6/6/2025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825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F81B-150A-8D2A-1D56-CEF33555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E2528C-FA35-B18A-E184-DC43A4ED7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DD22B5-2B4F-B5DB-B25F-DC9E2AFCE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CEE45-ED3D-E9DE-33D1-10D6120C2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7.png"/><Relationship Id="rId4" Type="http://schemas.openxmlformats.org/officeDocument/2006/relationships/image" Target="../media/image21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5.png"/><Relationship Id="rId4" Type="http://schemas.openxmlformats.org/officeDocument/2006/relationships/image" Target="../media/image22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25430" y="5042370"/>
            <a:ext cx="8082481" cy="891705"/>
          </a:xfrm>
        </p:spPr>
        <p:txBody>
          <a:bodyPr/>
          <a:lstStyle/>
          <a:p>
            <a:r>
              <a:rPr lang="zh-CN" altLang="en-US" b="1" i="1" dirty="0">
                <a:latin typeface="DengXian" panose="02010600030101010101" pitchFamily="2" charset="-122"/>
                <a:ea typeface="DengXian" panose="02010600030101010101" pitchFamily="2" charset="-122"/>
              </a:rPr>
              <a:t>北京智兴邦科技有限公司</a:t>
            </a:r>
            <a:endParaRPr lang="en-US" altLang="zh-CN" b="1" i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b="1" i="1" dirty="0">
                <a:latin typeface="DengXian" panose="02010600030101010101" pitchFamily="2" charset="-122"/>
                <a:ea typeface="DengXian" panose="02010600030101010101" pitchFamily="2" charset="-122"/>
              </a:rPr>
              <a:t>2025.06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核心影响因素数据加工说明和模型相关图例说明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基于饮水量指标的死淘预警模型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基于核心影响因素的死淘影响模型和相关养殖建议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基于核心影响因素的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影响模型和相关养殖建议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下周计划：分析代码封装和知识转移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84B7-5DC6-19D8-9AAC-E3FAEB1E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5D2B65-45FC-3E4A-06F5-142E42B0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552410"/>
            <a:ext cx="8082481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1.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核心影响因素数据加工说明和模型相关图例说明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EC1EF7-48C7-5C4B-2AE0-B87529227B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3561836"/>
            <a:ext cx="8082481" cy="1178330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1.1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核心影响因素数据说明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1.2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图例说明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11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3E3270-BED7-7F92-8A09-8AD0778FCA57}"/>
              </a:ext>
            </a:extLst>
          </p:cNvPr>
          <p:cNvSpPr txBox="1"/>
          <p:nvPr/>
        </p:nvSpPr>
        <p:spPr>
          <a:xfrm>
            <a:off x="957695" y="1432404"/>
            <a:ext cx="107840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指标加工逻辑：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饮水差值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饮水涨幅差值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“前 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天的饮水差值”计算逻辑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：假设今天是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日龄（比如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日龄），前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天就是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T-n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日龄（前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天→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日龄，前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天→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日龄），直接拿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T-n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日龄当天的饮水差值（实际饮水量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该日龄的标准饮水量）来用。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5049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举个具体例子：在“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10-12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日龄段” 的分析里，样本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T=10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日龄当天的饮水差值；样本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日龄当天的饮水差值；样本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理解示例：</a:t>
            </a:r>
            <a:endParaRPr lang="en-US" altLang="zh-CN" sz="1600" b="1" dirty="0">
              <a:solidFill>
                <a:srgbClr val="40404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10-12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日龄，前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天差值超过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-18.8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或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2.3,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该阶段出现高死淘的概率较高：如果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日龄中的某一日龄（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），当日单只饮水量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该日龄标准单只饮水量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&lt;-18.8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或者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&gt;2.3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，那么它的后一天（分别对应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）出现高死淘的概率较高</a:t>
            </a:r>
            <a:endParaRPr lang="en-US" altLang="zh-CN" sz="160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21179D-384C-3D6F-A155-907352E01A5E}"/>
              </a:ext>
            </a:extLst>
          </p:cNvPr>
          <p:cNvSpPr txBox="1"/>
          <p:nvPr/>
        </p:nvSpPr>
        <p:spPr>
          <a:xfrm>
            <a:off x="663612" y="426017"/>
            <a:ext cx="1098430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数据说明</a:t>
            </a:r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：饮水量加工逻辑和变量说明</a:t>
            </a:r>
            <a:endParaRPr lang="en-US" altLang="zh-CN" sz="2800" b="1" dirty="0">
              <a:solidFill>
                <a:srgbClr val="000000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90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28A7-1B8E-D66A-B0D4-766AB081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3BFBC91-29CE-3BC8-910E-687ABFC69A8C}"/>
              </a:ext>
            </a:extLst>
          </p:cNvPr>
          <p:cNvSpPr txBox="1"/>
          <p:nvPr/>
        </p:nvSpPr>
        <p:spPr>
          <a:xfrm>
            <a:off x="571404" y="439894"/>
            <a:ext cx="1114488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数据说明</a:t>
            </a:r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：控制变量（环控数据）加工逻辑和变量说明</a:t>
            </a:r>
            <a:endParaRPr lang="en-US" altLang="zh-CN" sz="2800" b="1" dirty="0">
              <a:solidFill>
                <a:srgbClr val="000000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341970-71BB-0630-6CA6-5E96F76F7B53}"/>
              </a:ext>
            </a:extLst>
          </p:cNvPr>
          <p:cNvSpPr txBox="1"/>
          <p:nvPr/>
        </p:nvSpPr>
        <p:spPr>
          <a:xfrm>
            <a:off x="901393" y="1196060"/>
            <a:ext cx="10049945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六个控制变量序列加工逻辑：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环控数据“外部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环控数据“湿度内部平均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环控数据“鸡舍温度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探头温度标准差：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探头各日龄下平均温度的标准差，其中当日龄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&lt;=5,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按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探头计算，当日龄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&gt;5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时，按探头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计算。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各日龄下的最大温度减去最小温度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平均变化：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时刻与上一时刻的温度差的最大值</a:t>
            </a:r>
            <a:endParaRPr lang="en-US" altLang="zh-CN" sz="16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886325-CECB-C8AB-6355-8BD193939BA6}"/>
              </a:ext>
            </a:extLst>
          </p:cNvPr>
          <p:cNvSpPr txBox="1"/>
          <p:nvPr/>
        </p:nvSpPr>
        <p:spPr>
          <a:xfrm>
            <a:off x="901393" y="3606944"/>
            <a:ext cx="10714336" cy="1105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具体指标释义：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W3_0-2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 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：“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w3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天为滑窗，把日龄划分成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等阶段。“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天”指计算的日龄阶段。“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”指计算指标。该指标含义为：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日龄字段“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 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”的平均值。</a:t>
            </a:r>
            <a:endParaRPr lang="en-US" altLang="zh-CN" sz="14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B8F88A-BBCE-6A4C-F421-ED5E0CD023BA}"/>
              </a:ext>
            </a:extLst>
          </p:cNvPr>
          <p:cNvSpPr txBox="1"/>
          <p:nvPr/>
        </p:nvSpPr>
        <p:spPr>
          <a:xfrm>
            <a:off x="901393" y="4880823"/>
            <a:ext cx="10714336" cy="16722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理解示例：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，探头温度标准差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。可以理解为：当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温度不均匀（标准差＞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0.5℃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zh-CN" altLang="en-US" sz="1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，意味着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雏鸡早期环境温度不稳定，出现高死淘率的概率上升，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温度过均匀（标准差极低）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：可能室内温度等不适宜或探头故障，同样有可能增加高死淘率的概率，可排查其他风险。</a:t>
            </a:r>
          </a:p>
          <a:p>
            <a:pPr fontAlgn="ctr"/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3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043304-9044-E982-9D22-38D673DB17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38" y="1667404"/>
            <a:ext cx="5197377" cy="318804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249CC9F-2222-F04B-5B18-EDF7F0597824}"/>
              </a:ext>
            </a:extLst>
          </p:cNvPr>
          <p:cNvSpPr txBox="1"/>
          <p:nvPr/>
        </p:nvSpPr>
        <p:spPr>
          <a:xfrm>
            <a:off x="675238" y="362460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1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WOE 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分组双轴图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43A865-CE05-BBFC-499B-39A64D28357A}"/>
              </a:ext>
            </a:extLst>
          </p:cNvPr>
          <p:cNvSpPr txBox="1"/>
          <p:nvPr/>
        </p:nvSpPr>
        <p:spPr>
          <a:xfrm>
            <a:off x="675238" y="967513"/>
            <a:ext cx="10581341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图的核心用途：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分析 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冬季 </a:t>
            </a:r>
            <a:r>
              <a:rPr lang="en-US" altLang="zh-CN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10-12 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日龄群体</a:t>
            </a:r>
            <a:r>
              <a:rPr lang="zh-CN" altLang="en-US" sz="1600" i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中，“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前 </a:t>
            </a:r>
            <a:r>
              <a:rPr lang="en-US" altLang="zh-CN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 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天的饮水差值”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（实际饮水量与基准值的差异）对 “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死淘率”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（各日龄死亡淘汰比例）的影响，同时展示不同饮水差值区间的 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样本数量分布”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，辅助判断数据可靠性。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43DBF3E-867B-75DD-0D12-3593B017294C}"/>
              </a:ext>
            </a:extLst>
          </p:cNvPr>
          <p:cNvGraphicFramePr>
            <a:graphicFrameLocks noGrp="1"/>
          </p:cNvGraphicFramePr>
          <p:nvPr/>
        </p:nvGraphicFramePr>
        <p:xfrm>
          <a:off x="6524349" y="1944194"/>
          <a:ext cx="4992413" cy="2634466"/>
        </p:xfrm>
        <a:graphic>
          <a:graphicData uri="http://schemas.openxmlformats.org/drawingml/2006/table">
            <a:tbl>
              <a:tblPr/>
              <a:tblGrid>
                <a:gridCol w="815655">
                  <a:extLst>
                    <a:ext uri="{9D8B030D-6E8A-4147-A177-3AD203B41FA5}">
                      <a16:colId xmlns:a16="http://schemas.microsoft.com/office/drawing/2014/main" val="2619423002"/>
                    </a:ext>
                  </a:extLst>
                </a:gridCol>
                <a:gridCol w="4176758">
                  <a:extLst>
                    <a:ext uri="{9D8B030D-6E8A-4147-A177-3AD203B41FA5}">
                      <a16:colId xmlns:a16="http://schemas.microsoft.com/office/drawing/2014/main" val="2485446452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元素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含义解析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366417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横轴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饮水范围差值（单位：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cm</a:t>
                      </a:r>
                      <a:r>
                        <a:rPr lang="en-US" altLang="zh-CN" sz="1200" b="1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只）：负值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=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饮水少于基准值，正值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=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饮水多于基准值。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790752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左侧纵轴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数量：每个饮水差值区间内的样本数量（蓝色柱状图，越高代表该区间样本越多）。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90408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右侧纵轴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死淘率：对应区间的死淘比例（红色折线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+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圆点，数值标注为具体比例，如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0.00114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代表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1.14‰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548062"/>
                  </a:ext>
                </a:extLst>
              </a:tr>
              <a:tr h="841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阅读逻辑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① 样本多的区间（如 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-18.8~-3.4 cm3/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只）的死淘率趋势更具普遍意义；</a:t>
                      </a:r>
                      <a:b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</a:b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② 样本少的区间（如 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-30.9~-18.8 cm3/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只）若死淘率异常，需谨慎解读（可能为偶然）。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2044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F80F8F9-81EF-377C-1275-47256D0345D8}"/>
              </a:ext>
            </a:extLst>
          </p:cNvPr>
          <p:cNvSpPr txBox="1"/>
          <p:nvPr/>
        </p:nvSpPr>
        <p:spPr>
          <a:xfrm>
            <a:off x="604298" y="5190596"/>
            <a:ext cx="53392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IV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Information Value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，信息值）是 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衡量 “饮水差值” 对 “死淘率” 的预测能力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的指标，通过分组（横轴区间）计算各分组对死淘率的 “信息贡献” </a:t>
            </a:r>
            <a:r>
              <a:rPr lang="en-US" altLang="zh-CN" sz="1600" b="1" i="0" baseline="3000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并累加得到。</a:t>
            </a:r>
            <a:endParaRPr lang="en-US" altLang="zh-CN" sz="1200" b="0" i="0" dirty="0"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“信息贡献”即“证据权重”（</a:t>
            </a:r>
            <a:r>
              <a:rPr lang="en-US" altLang="zh-CN" sz="10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Weight of Evidence</a:t>
            </a:r>
            <a:r>
              <a:rPr lang="zh-CN" altLang="en-US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），计算公式如下：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D8EF90C-B3F6-BE79-6127-3F51FCE72D30}"/>
              </a:ext>
            </a:extLst>
          </p:cNvPr>
          <p:cNvGraphicFramePr>
            <a:graphicFrameLocks noGrp="1"/>
          </p:cNvGraphicFramePr>
          <p:nvPr/>
        </p:nvGraphicFramePr>
        <p:xfrm>
          <a:off x="6706038" y="5169792"/>
          <a:ext cx="4634624" cy="135255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69512">
                  <a:extLst>
                    <a:ext uri="{9D8B030D-6E8A-4147-A177-3AD203B41FA5}">
                      <a16:colId xmlns:a16="http://schemas.microsoft.com/office/drawing/2014/main" val="1764925945"/>
                    </a:ext>
                  </a:extLst>
                </a:gridCol>
                <a:gridCol w="782145">
                  <a:extLst>
                    <a:ext uri="{9D8B030D-6E8A-4147-A177-3AD203B41FA5}">
                      <a16:colId xmlns:a16="http://schemas.microsoft.com/office/drawing/2014/main" val="1167606723"/>
                    </a:ext>
                  </a:extLst>
                </a:gridCol>
                <a:gridCol w="2982967">
                  <a:extLst>
                    <a:ext uri="{9D8B030D-6E8A-4147-A177-3AD203B41FA5}">
                      <a16:colId xmlns:a16="http://schemas.microsoft.com/office/drawing/2014/main" val="1315381739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 </a:t>
                      </a:r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范围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预测能力强弱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解读（本图 </a:t>
                      </a:r>
                      <a:r>
                        <a:rPr lang="en-US" altLang="zh-CN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IV=0.5674</a:t>
                      </a:r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）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74293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&lt;0.1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弱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变量对死淘率几乎无区分能力。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4132818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0.1~0.2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中等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有一定区分能力，但需结合其他指标。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1681497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0.2~0.5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较强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对死淘率有较好的解释力。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91903487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&gt;=0.5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本图 </a:t>
                      </a:r>
                      <a:r>
                        <a:rPr lang="en-US" altLang="zh-CN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IV=0.5674</a:t>
                      </a:r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，说明 饮水差值对死淘率有较强预测区分能力，可作为分析死淘原因的关键指标。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126517100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1CFDC365-F2BB-E0DF-5215-45B72AABA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6191545"/>
            <a:ext cx="1576535" cy="30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5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5106EF-86FF-F202-290C-8CB529785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195" y="2045066"/>
            <a:ext cx="4943448" cy="2226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特征重要性条形图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 ，用于展示在 “summer（夏季）” 场景下，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与日死淘相关的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前 20 个特征的</a:t>
            </a:r>
            <a:r>
              <a:rPr lang="zh-CN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重要性</a:t>
            </a:r>
            <a:r>
              <a:rPr lang="en-US" altLang="zh-CN" sz="1800" b="1" i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排序。</a:t>
            </a:r>
            <a:endParaRPr lang="zh-CN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横轴（重要性得分）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：数值越大，代表该特征对模型的影响、贡献度越高，是衡量特征重要性的量化指标。</a:t>
            </a: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纵轴（特征名称）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：以 “water_p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r_xxx” 为前缀，如 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天单只饮水量与标准的差值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）、water_p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shift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 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单只饮水量较上日涨幅与标准日涨幅的差值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）、water_p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rate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 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单只饮水量较上日涨幅变化率与标准涨幅变化率的差值）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48537C-4EC8-678E-3218-60FBF1E89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78" y="1957310"/>
            <a:ext cx="5928844" cy="393317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4C1662-4271-3CDC-71FB-11A8A6C5F9B9}"/>
              </a:ext>
            </a:extLst>
          </p:cNvPr>
          <p:cNvSpPr txBox="1"/>
          <p:nvPr/>
        </p:nvSpPr>
        <p:spPr>
          <a:xfrm>
            <a:off x="675238" y="362460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2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变量重要性图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1DBC7F-28F7-B73F-0E34-AF97D8351329}"/>
              </a:ext>
            </a:extLst>
          </p:cNvPr>
          <p:cNvSpPr txBox="1"/>
          <p:nvPr/>
        </p:nvSpPr>
        <p:spPr>
          <a:xfrm>
            <a:off x="675238" y="967513"/>
            <a:ext cx="10581341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图的核心用途：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这是 </a:t>
            </a:r>
            <a:r>
              <a:rPr lang="en-US" altLang="zh-CN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LightGBM 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模型在夏季（</a:t>
            </a:r>
            <a:r>
              <a:rPr lang="en-US" altLang="zh-CN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summer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）场景下输出的 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</a:t>
            </a:r>
            <a:r>
              <a:rPr lang="en-US" altLang="zh-CN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Top20 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重要特征” 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柱状图，用于展示 哪些饮水相关指标对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模型预测目标（死淘）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影响最大。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011B2F-B35C-527B-33A4-08690409A45A}"/>
              </a:ext>
            </a:extLst>
          </p:cNvPr>
          <p:cNvSpPr txBox="1"/>
          <p:nvPr/>
        </p:nvSpPr>
        <p:spPr>
          <a:xfrm>
            <a:off x="6605195" y="4731680"/>
            <a:ext cx="4796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1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i="1" dirty="0">
                <a:latin typeface="DengXian" panose="02010600030101010101" pitchFamily="2" charset="-122"/>
                <a:ea typeface="DengXian" panose="02010600030101010101" pitchFamily="2" charset="-122"/>
              </a:rPr>
              <a:t>“重要性指标通过分裂次数来计算，</a:t>
            </a:r>
            <a:r>
              <a:rPr lang="zh-CN" altLang="en-US" sz="12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统计特征在所有决策树中 </a:t>
            </a:r>
            <a:r>
              <a:rPr lang="zh-CN" altLang="en-US" sz="12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被选为分裂节点的总次数</a:t>
            </a:r>
            <a:r>
              <a:rPr lang="zh-CN" altLang="en-US" sz="12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。分裂次数越多，说明该特征越频繁地帮助模型划分样本、拟合标签，重要性越高。</a:t>
            </a:r>
            <a:endParaRPr lang="zh-CN" altLang="en-US" sz="1200" i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9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E5EB8F-8129-553C-B161-B8A72D9B40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1" y="1933615"/>
            <a:ext cx="5385553" cy="35682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85A003-B67A-D0B9-26E3-504BEEE9A4E9}"/>
              </a:ext>
            </a:extLst>
          </p:cNvPr>
          <p:cNvSpPr txBox="1"/>
          <p:nvPr/>
        </p:nvSpPr>
        <p:spPr>
          <a:xfrm>
            <a:off x="6157057" y="2411478"/>
            <a:ext cx="5621482" cy="2035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横轴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是平均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SHAP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值，代表特征对模型输出的 “平均影响力”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纵轴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是参与建模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序列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名称（如 “探头温度标准差”“鸡舍温度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_mean”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等 ）。</a:t>
            </a: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这张图中“探头温度标准差”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 是最关键特征，对模型决策影响最大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可用于快速识别 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全局最具影响力的核心特征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89CB35-1F77-AFF2-7EB7-8E2D201B9D6A}"/>
              </a:ext>
            </a:extLst>
          </p:cNvPr>
          <p:cNvSpPr txBox="1"/>
          <p:nvPr/>
        </p:nvSpPr>
        <p:spPr>
          <a:xfrm>
            <a:off x="538152" y="206692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3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SHAP</a:t>
            </a:r>
            <a:r>
              <a:rPr lang="zh-CN" altLang="en-US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值平均特征重要性图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8A3D85-CF80-4D51-9791-F5A74AA678DF}"/>
              </a:ext>
            </a:extLst>
          </p:cNvPr>
          <p:cNvSpPr txBox="1"/>
          <p:nvPr/>
        </p:nvSpPr>
        <p:spPr>
          <a:xfrm>
            <a:off x="610888" y="925297"/>
            <a:ext cx="10970224" cy="618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  <a:defRPr sz="1600" b="1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 dirty="0"/>
              <a:t>图的核心用途：</a:t>
            </a:r>
            <a:r>
              <a:rPr lang="zh-CN" altLang="en-US" b="0" dirty="0"/>
              <a:t>展示不同序列（变量）对模型预测结果的影响程度，即</a:t>
            </a:r>
            <a:r>
              <a:rPr lang="zh-CN" altLang="en-US" dirty="0"/>
              <a:t>特征重要性分析</a:t>
            </a:r>
            <a:r>
              <a:rPr lang="zh-CN" altLang="en-US" b="0" dirty="0"/>
              <a:t>。通过平均</a:t>
            </a:r>
            <a:r>
              <a:rPr lang="en-US" altLang="zh-CN" b="0" dirty="0"/>
              <a:t>SHAP</a:t>
            </a:r>
            <a:r>
              <a:rPr lang="zh-CN" altLang="en-US" b="0" dirty="0"/>
              <a:t>值（</a:t>
            </a:r>
            <a:r>
              <a:rPr lang="en-US" altLang="zh-CN" b="0" dirty="0" err="1"/>
              <a:t>SHapley</a:t>
            </a:r>
            <a:r>
              <a:rPr lang="en-US" altLang="zh-CN" b="0" dirty="0"/>
              <a:t> Additive </a:t>
            </a:r>
            <a:r>
              <a:rPr lang="en-US" altLang="zh-CN" b="0" dirty="0" err="1"/>
              <a:t>exPlanations</a:t>
            </a:r>
            <a:r>
              <a:rPr lang="zh-CN" altLang="en-US" b="0" dirty="0"/>
              <a:t>）来衡量特征对模型输出的平均贡献，帮助理解</a:t>
            </a:r>
            <a:r>
              <a:rPr lang="zh-CN" altLang="en-US" dirty="0"/>
              <a:t>哪些序列在模型中起关键作用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1972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40EA97-54ED-1DD5-C199-CF8E409994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14" y="1716220"/>
            <a:ext cx="5461759" cy="38125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671A979-0B65-0F9B-338D-EA564C120FE0}"/>
              </a:ext>
            </a:extLst>
          </p:cNvPr>
          <p:cNvSpPr txBox="1"/>
          <p:nvPr/>
        </p:nvSpPr>
        <p:spPr>
          <a:xfrm>
            <a:off x="6663373" y="2525105"/>
            <a:ext cx="4479281" cy="2080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纵轴是特征，横轴是日龄，颜色映射平均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SHAP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值大小（右侧色阶）。</a:t>
            </a: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能观察 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特征重要性的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变化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：比如某些日龄颜色变黄，说明该时刻此特征对模型影响突增；如“鸡舍温度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_mean”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在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步颜色较亮，早期影响更显著 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62E96D-41DF-8533-5453-A972E66D13FB}"/>
              </a:ext>
            </a:extLst>
          </p:cNvPr>
          <p:cNvSpPr txBox="1"/>
          <p:nvPr/>
        </p:nvSpPr>
        <p:spPr>
          <a:xfrm>
            <a:off x="411263" y="165004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4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SHAP</a:t>
            </a:r>
            <a:r>
              <a:rPr lang="zh-CN" altLang="en-US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值平均</a:t>
            </a:r>
            <a:r>
              <a:rPr lang="zh-CN" altLang="en-US" sz="280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特征重要性时序热力图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1643B3-8E9B-5C3F-FD34-CC331ED12155}"/>
              </a:ext>
            </a:extLst>
          </p:cNvPr>
          <p:cNvSpPr txBox="1"/>
          <p:nvPr/>
        </p:nvSpPr>
        <p:spPr>
          <a:xfrm>
            <a:off x="610888" y="925297"/>
            <a:ext cx="10970224" cy="618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  <a:defRPr sz="1600" b="1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 dirty="0"/>
              <a:t>图的核心用途：</a:t>
            </a:r>
            <a:r>
              <a:rPr lang="zh-CN" altLang="en-US" b="0" dirty="0"/>
              <a:t>按日龄展示每个序列的 </a:t>
            </a:r>
            <a:r>
              <a:rPr lang="en-US" altLang="zh-CN" b="0" dirty="0"/>
              <a:t>SHAP </a:t>
            </a:r>
            <a:r>
              <a:rPr lang="zh-CN" altLang="en-US" b="0" dirty="0"/>
              <a:t>值分布，颜色越亮（黄 </a:t>
            </a:r>
            <a:r>
              <a:rPr lang="en-US" altLang="zh-CN" b="0" dirty="0"/>
              <a:t>/ </a:t>
            </a:r>
            <a:r>
              <a:rPr lang="zh-CN" altLang="en-US" b="0" dirty="0"/>
              <a:t>绿），该日龄下特征影响越大；颜色暗（紫 </a:t>
            </a:r>
            <a:r>
              <a:rPr lang="en-US" altLang="zh-CN" b="0" dirty="0"/>
              <a:t>/ </a:t>
            </a:r>
            <a:r>
              <a:rPr lang="zh-CN" altLang="en-US" b="0" dirty="0"/>
              <a:t>蓝）则影响小。用于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观察 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特征重要性的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变化</a:t>
            </a:r>
            <a:r>
              <a:rPr lang="zh-CN" altLang="en-US" b="0" dirty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8080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6901-57CA-CEF6-31B6-EFCF8C88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373A71-CA92-2C39-6661-2711EDB8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552410"/>
            <a:ext cx="9055279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2.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基于饮水量指标的死淘预警模型</a:t>
            </a:r>
            <a:b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endParaRPr lang="zh-CN" alt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BA223A-EF3B-258E-1826-DF10A8DBF1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2767077"/>
            <a:ext cx="8082481" cy="2941513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预测性建模参考说明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2.2.3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2.2.4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9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065E0-0F68-14DD-6E1E-5C14AB17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4762896D-8CC1-6FC4-7816-621E753D5270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792FE041-9682-AE87-E81B-000EA215685E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4C6D68-658C-51AA-4FAD-9CA24AF66314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冬季模型重要变量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4" name="图片 3" descr="图表, 条形图&#10;&#10;AI 生成的内容可能不正确。">
            <a:extLst>
              <a:ext uri="{FF2B5EF4-FFF2-40B4-BE49-F238E27FC236}">
                <a16:creationId xmlns:a16="http://schemas.microsoft.com/office/drawing/2014/main" id="{C7721CAC-1B2E-7371-344F-3453A79E1D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932" y="982766"/>
            <a:ext cx="8328130" cy="55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1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C37D-CCE2-5A46-C3A8-C2CBA9A0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FEB3F46-B551-AECD-4CFA-342DC09FF881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8EC1B90-05D4-01CD-1679-CE9952E208B2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A22400-1893-6004-8E04-DA8F78B0957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秋季模型重要变量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575997BD-969D-532F-8D24-7260D9925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1172381"/>
            <a:ext cx="8199312" cy="543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6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C57C-6F9F-1604-7B58-46C2C5FE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9442ABD-D503-CFBE-78D4-BC2D2E912C2C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D8FFE55A-4B2E-391E-D918-FBFB4FDB10DB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898094-6F80-5FE2-E60B-54B007D81151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夏季模型重要变量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A5B70A5B-6EFB-F698-DDD8-54344A406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01" y="1198359"/>
            <a:ext cx="7990265" cy="530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5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6E23-4CA3-6FEF-1C42-9967D742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663D8B4-AA9C-E0EB-BF59-83B593304B13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A3E933C-A023-10A0-89EC-10355FB00D18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CA5F1F-5C09-E20A-156F-F521097494E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春季模型重要变量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14" name="图片 13" descr="图表, 条形图&#10;&#10;AI 生成的内容可能不正确。">
            <a:extLst>
              <a:ext uri="{FF2B5EF4-FFF2-40B4-BE49-F238E27FC236}">
                <a16:creationId xmlns:a16="http://schemas.microsoft.com/office/drawing/2014/main" id="{25B341CC-22C1-0A14-E77D-9979C6DF4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529" y="1145136"/>
            <a:ext cx="8353895" cy="554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9307C40-C3CC-244C-C211-B422090F6906}"/>
              </a:ext>
            </a:extLst>
          </p:cNvPr>
          <p:cNvSpPr txBox="1"/>
          <p:nvPr/>
        </p:nvSpPr>
        <p:spPr>
          <a:xfrm>
            <a:off x="695785" y="4404881"/>
            <a:ext cx="509683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688030-38AA-6AE2-350A-E9BA68C473DC}"/>
              </a:ext>
            </a:extLst>
          </p:cNvPr>
          <p:cNvSpPr txBox="1"/>
          <p:nvPr/>
        </p:nvSpPr>
        <p:spPr>
          <a:xfrm>
            <a:off x="562937" y="1124921"/>
            <a:ext cx="110661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以当前日龄死淘率为目标，考虑了前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5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7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400" b="1" i="1" u="none" strike="noStrike" dirty="0">
              <a:solidFill>
                <a:srgbClr val="000000"/>
              </a:solidFill>
              <a:effectLst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DDC979E2-6548-83E9-3772-2E9321753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03410"/>
              </p:ext>
            </p:extLst>
          </p:nvPr>
        </p:nvGraphicFramePr>
        <p:xfrm>
          <a:off x="1138067" y="1738663"/>
          <a:ext cx="9309100" cy="2023174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76333818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23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6095625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2367307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056405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66459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26461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9332728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91577186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83748314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20922049"/>
                    </a:ext>
                  </a:extLst>
                </a:gridCol>
              </a:tblGrid>
              <a:tr h="145457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6392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3308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2872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869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3695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1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4965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148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7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8751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4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3466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7278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069861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76D6C83-DF51-BE33-D19B-4C2150710F1F}"/>
              </a:ext>
            </a:extLst>
          </p:cNvPr>
          <p:cNvSpPr txBox="1"/>
          <p:nvPr/>
        </p:nvSpPr>
        <p:spPr>
          <a:xfrm>
            <a:off x="823321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6AD4F0-36B0-5C4C-4A25-5E657DB2F13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冬季预警模型概述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5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88F6D88-AEBA-2F1E-754B-F8F6B5F2DA3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C76D03F-CF3F-BA6B-F4C4-D63D012E5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795463"/>
              </p:ext>
            </p:extLst>
          </p:nvPr>
        </p:nvGraphicFramePr>
        <p:xfrm>
          <a:off x="533399" y="1273625"/>
          <a:ext cx="10722430" cy="4411332"/>
        </p:xfrm>
        <a:graphic>
          <a:graphicData uri="http://schemas.openxmlformats.org/drawingml/2006/table">
            <a:tbl>
              <a:tblPr/>
              <a:tblGrid>
                <a:gridCol w="861647">
                  <a:extLst>
                    <a:ext uri="{9D8B030D-6E8A-4147-A177-3AD203B41FA5}">
                      <a16:colId xmlns:a16="http://schemas.microsoft.com/office/drawing/2014/main" val="1490321830"/>
                    </a:ext>
                  </a:extLst>
                </a:gridCol>
                <a:gridCol w="1427535">
                  <a:extLst>
                    <a:ext uri="{9D8B030D-6E8A-4147-A177-3AD203B41FA5}">
                      <a16:colId xmlns:a16="http://schemas.microsoft.com/office/drawing/2014/main" val="1793946532"/>
                    </a:ext>
                  </a:extLst>
                </a:gridCol>
                <a:gridCol w="1706407">
                  <a:extLst>
                    <a:ext uri="{9D8B030D-6E8A-4147-A177-3AD203B41FA5}">
                      <a16:colId xmlns:a16="http://schemas.microsoft.com/office/drawing/2014/main" val="905268364"/>
                    </a:ext>
                  </a:extLst>
                </a:gridCol>
                <a:gridCol w="1773766">
                  <a:extLst>
                    <a:ext uri="{9D8B030D-6E8A-4147-A177-3AD203B41FA5}">
                      <a16:colId xmlns:a16="http://schemas.microsoft.com/office/drawing/2014/main" val="2387070128"/>
                    </a:ext>
                  </a:extLst>
                </a:gridCol>
                <a:gridCol w="1580673">
                  <a:extLst>
                    <a:ext uri="{9D8B030D-6E8A-4147-A177-3AD203B41FA5}">
                      <a16:colId xmlns:a16="http://schemas.microsoft.com/office/drawing/2014/main" val="1984463901"/>
                    </a:ext>
                  </a:extLst>
                </a:gridCol>
                <a:gridCol w="1751314">
                  <a:extLst>
                    <a:ext uri="{9D8B030D-6E8A-4147-A177-3AD203B41FA5}">
                      <a16:colId xmlns:a16="http://schemas.microsoft.com/office/drawing/2014/main" val="1904761930"/>
                    </a:ext>
                  </a:extLst>
                </a:gridCol>
                <a:gridCol w="1621088">
                  <a:extLst>
                    <a:ext uri="{9D8B030D-6E8A-4147-A177-3AD203B41FA5}">
                      <a16:colId xmlns:a16="http://schemas.microsoft.com/office/drawing/2014/main" val="943710728"/>
                    </a:ext>
                  </a:extLst>
                </a:gridCol>
              </a:tblGrid>
              <a:tr h="290826"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冬季各日龄阶段重要关注指标和预警阈值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495558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411326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-10.1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-0.04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涨幅差值超过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98839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-0.4.2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852242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-12.2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或小于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798525"/>
                  </a:ext>
                </a:extLst>
              </a:tr>
              <a:tr h="5723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或处于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-1.7-12.8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9989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-7.6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或小于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486678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-8.7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-16.7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309972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-28.9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-23.1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-16.5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-14.4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494417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-24.7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-25.9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-11.2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-11.2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-14.1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60764"/>
                  </a:ext>
                </a:extLst>
              </a:tr>
              <a:tr h="3830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-31.1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-18.9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-24.1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-11.5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-7.8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-19.2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09982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BF0ABBE-9FA2-83AC-E7BB-A0AFE5414474}"/>
              </a:ext>
            </a:extLst>
          </p:cNvPr>
          <p:cNvSpPr txBox="1"/>
          <p:nvPr/>
        </p:nvSpPr>
        <p:spPr>
          <a:xfrm>
            <a:off x="779552" y="5994683"/>
            <a:ext cx="337041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结合上页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值的大小进行参考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408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EBAAA-B970-BCD3-1C3F-1A665E50B2B1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6D47A9-C6B7-EFF0-6660-33E23B19CEFA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B4F07C-7428-1E53-0AAD-E7A0AAD914BF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79ABE4-54D5-594F-454A-EA04AAFEEBE1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-10.1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0057CF-7E6A-847D-7A9B-213083FCE974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-5.7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319F3A-F705-B2F3-2A9F-08244FBCE501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-0.04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0.06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ACD1888-5A26-534C-427E-28C605D3AE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3" y="1615832"/>
            <a:ext cx="3931405" cy="24115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DD26F44-BAE9-A19B-1226-C996D77846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649" y="1723409"/>
            <a:ext cx="3756026" cy="230392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2F707EE-CDB9-7A2B-326A-6899D40CB5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105" y="1669620"/>
            <a:ext cx="3756027" cy="230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2D90-F6F5-5225-CDDF-7B53E127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5F1B26A-4BB8-45D1-B30C-ADCE484A399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9D988C-5380-148F-F30F-0299364E3C54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6032AB-339C-AB01-6B92-8CC448B596DD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-3.3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4FE0C0-12C3-B348-B198-492DC1EF8C51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4AFEF6-38D4-2C14-8680-C2131FA4EF0F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73077D-7BA1-E351-A7C4-4CCEA0994F8B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8BB497-255C-D7DE-C4BC-6AC0E17BFF2F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954E00-4A0C-8561-B200-11F5A28E9A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21" y="1885406"/>
            <a:ext cx="3843716" cy="235771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BE4C052-388C-1F12-753F-ABCC4D50E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20" y="1867477"/>
            <a:ext cx="3872945" cy="237564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A4CCCF6-B2B6-13C1-9650-AE7E34898E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646" y="1867476"/>
            <a:ext cx="3872945" cy="237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19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11B5-8F84-E282-B1DC-50D641D9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D9016E2-1681-56B2-F2A5-2C25E759427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2E5655-CD63-72D0-AC81-ACAC7EBFA088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0DBF3C-1C5D-76D2-4FA2-871431C1BF75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9146D3-8999-E6BF-A886-BCA49E72A017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DA963E-5F00-78BF-A4C6-F5317B66C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819" y="1795257"/>
            <a:ext cx="3488361" cy="21397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097D54E-CF5D-5554-01A9-9DFCAA23D6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824614"/>
            <a:ext cx="3488362" cy="21397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033676-4361-637C-A3F7-75683ED0C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56" y="1824614"/>
            <a:ext cx="3488361" cy="213974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076CF361-6B2F-F6A4-C0AB-CCDD49F4B989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2.9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FE190D-9578-95CF-D362-83123293E7CA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-5.6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8CAAD9-5E2E-F9B7-16D4-2AB9FF261DC8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-0.4.2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07309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F49F1-DD94-4C55-0633-45F6455B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5B78E77-FDA8-7FA9-69A0-905C927C0B8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08ED3A-A5B6-D99F-D3E7-71244563C6A5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34371C-7169-6CD3-1139-F86E01574F5E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6360F-342F-A393-7FED-5F42A7BF5889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044EA1-C64E-6663-4240-6BC2E1FD4D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930" y="1799301"/>
            <a:ext cx="3716556" cy="22787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7969781-D0D9-3798-4562-A2D05E872E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90" y="1648484"/>
            <a:ext cx="3716556" cy="227875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2802E88-DC8F-F6B5-3A50-BC07EE9687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424" y="1799301"/>
            <a:ext cx="3714991" cy="227875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A799FA0-E512-1200-A9CF-C8292E7569CC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2.4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DE8BA6-8CD9-69BE-E44C-698F04FD051D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7A2CF9-6D26-7147-A6C5-CD5C517525B9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-3.7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426811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E6F-5E64-6A1F-3C94-40AAD783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1B55009-D3C3-935F-E461-EF397D4207A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D991B7-6FA9-EB09-10BC-6C3631244B1D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29CBC9-6C64-E10E-C7C0-0470C4B7B6BD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05F6CE-92F0-2272-182E-B69B74B0088E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064F5C-ED45-F155-49ED-6B5B4DC896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615832"/>
            <a:ext cx="3808287" cy="23359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D1527E9-3D3D-25A4-1184-4B5EFAA6CF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861" y="1615832"/>
            <a:ext cx="3855180" cy="23647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E0A3EF-A700-0D35-BAF7-3D38D5FE6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528" y="1587067"/>
            <a:ext cx="3855182" cy="236475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0FC1AE2-29C1-F168-1643-705C53427CDF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-17.7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7.6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FD352E-8AAC-2A1B-D2EB-2975643DE070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-12.2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7.8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C66320-CEC5-DADD-CA98-4005EDF11C80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5.2</a:t>
            </a:r>
            <a:r>
              <a:rPr lang="zh-CN" altLang="en-US" sz="1400" dirty="0">
                <a:solidFill>
                  <a:schemeClr val="tx1"/>
                </a:solidFill>
              </a:rPr>
              <a:t>或小于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46412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5392-A03F-B7FD-B0D1-256F00F0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9D5C61D-91DF-4726-8622-B9E866B6B27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7386F9-73BD-1205-7674-5AB2E5140C52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466ECF-C194-F336-BEB6-C895118CAD13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3BADB8-89CB-9A9E-D454-A1D3F18B1BBF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B97D949-AD53-E5CA-FDF9-6D5A7272BE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50" y="1627488"/>
            <a:ext cx="4103923" cy="25173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E9C29E5-AD29-71C8-997D-D5C08676C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136" y="1592252"/>
            <a:ext cx="4103923" cy="25173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EE641C9-19EA-7A5D-16B2-FB3D28F1DE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003" y="1698435"/>
            <a:ext cx="3874231" cy="237543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52AB0F4-5952-B698-DF86-DD7E6D594082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天前涨幅差值小于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7.2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D50E23-F70D-A90E-C0AA-ACF67BA751F3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0B4E12-7193-5B6B-4ED6-BD6B20A7CEC2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4064428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2A2F0-4887-14EF-B951-B6F15B25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181054A-FB12-DF78-167E-579170485A3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23FE2E-ADF6-7A1E-B8C6-7489B4775BD3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A18E21-E7EF-F965-6E97-E9CE9C7FC745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A1D5BC-84BA-F1E3-73BB-36A08B7603B7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1C04F2-222C-B726-F657-17EC439EED34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14.3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A4253C-CBDA-8D7B-3FEE-2A8734668647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CD2F1E-965B-EAAA-32B5-1FDEBC3A5661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</a:t>
            </a:r>
            <a:r>
              <a:rPr lang="zh-CN" altLang="en-US" sz="1400" u="sng" dirty="0">
                <a:solidFill>
                  <a:schemeClr val="tx1"/>
                </a:solidFill>
              </a:rPr>
              <a:t>超过</a:t>
            </a:r>
            <a:r>
              <a:rPr lang="en-US" altLang="zh-CN" sz="1400" u="sng" dirty="0">
                <a:solidFill>
                  <a:schemeClr val="tx1"/>
                </a:solidFill>
              </a:rPr>
              <a:t>11.7</a:t>
            </a:r>
            <a:r>
              <a:rPr lang="zh-CN" altLang="en-US" sz="1400" u="sng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BC7169-9FF2-EEA6-4ED0-19C744597A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565" y="1615832"/>
            <a:ext cx="3533234" cy="21672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D47EF46-3369-FBA7-72DC-2E4BF317F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95" y="1695534"/>
            <a:ext cx="3470742" cy="212893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86E38C-C97D-B6D8-7ADE-425FC1BDE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239" y="1537156"/>
            <a:ext cx="3789759" cy="232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0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A607-DA23-0052-A092-16A2FCD9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F4303F0-42E6-1593-EC89-17FE3C7BBE0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845BAD-4CB8-8742-D38B-CB7AA097C277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21FB53-9333-AFD4-1234-9694F60985AC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F44CBA-1A94-3605-C1C6-6EDC2EACACCC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142B64-9C4A-CB65-35D2-BA6DB05063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15" y="1615832"/>
            <a:ext cx="3558166" cy="21825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E7159DF-522C-FB31-061A-B4D3EB2E3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921" y="1615832"/>
            <a:ext cx="3752158" cy="230058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4BE4DBA-C276-8070-6C3E-7D8863FD48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291" y="1615832"/>
            <a:ext cx="3752159" cy="230058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48028A62-5196-4EAB-E3F6-872E3B75F957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4.8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82FC4E-CAC6-87B3-6F64-DE375EF7051C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5.4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633BB4-D817-0543-6A21-C489439FBC0D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天前涨幅差值小于</a:t>
            </a:r>
            <a:r>
              <a:rPr lang="en-US" altLang="zh-CN" sz="1400" dirty="0">
                <a:solidFill>
                  <a:schemeClr val="tx1"/>
                </a:solidFill>
              </a:rPr>
              <a:t>-3.8</a:t>
            </a:r>
            <a:r>
              <a:rPr lang="zh-CN" altLang="en-US" sz="1400" dirty="0">
                <a:solidFill>
                  <a:schemeClr val="tx1"/>
                </a:solidFill>
              </a:rPr>
              <a:t>或处于</a:t>
            </a:r>
            <a:r>
              <a:rPr lang="en-US" altLang="zh-CN" sz="1400" dirty="0">
                <a:solidFill>
                  <a:schemeClr val="tx1"/>
                </a:solidFill>
              </a:rPr>
              <a:t>-1.7-12.8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8364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3FCB-F054-75A2-DF37-F090F4E6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7191648-7BA4-6504-876C-182279ABFA8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76D79E-DF2E-1EC6-35AC-707E565A4B51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7A4D24-FC91-C14C-E415-B782C825FA53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433B8C-4E4F-0D76-5E61-FEC8AFD3F810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3B85CA1-D634-C328-D2CF-85825DFAD3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6" y="1843158"/>
            <a:ext cx="3618520" cy="221958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940B8DD-FDCB-1418-6E55-FBAF093708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61" y="1843158"/>
            <a:ext cx="3620877" cy="22200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EA36B7D-33AB-6554-ACF8-325F669794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159" y="1659511"/>
            <a:ext cx="3917915" cy="2403231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115700B-54E3-0DAC-2DE3-D4E599C0CF23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天前差值小于</a:t>
            </a:r>
            <a:r>
              <a:rPr lang="en-US" altLang="zh-CN" sz="1400" dirty="0">
                <a:solidFill>
                  <a:schemeClr val="tx1"/>
                </a:solidFill>
              </a:rPr>
              <a:t>16.4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-7.6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C25DC1-EC39-9C9F-9C9B-357147A594FC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99D5F6-4D87-3C80-1942-53CF07D0C22B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12.6</a:t>
            </a:r>
            <a:r>
              <a:rPr lang="zh-CN" altLang="en-US" sz="1400" dirty="0">
                <a:solidFill>
                  <a:schemeClr val="tx1"/>
                </a:solidFill>
              </a:rPr>
              <a:t>或小于</a:t>
            </a:r>
            <a:r>
              <a:rPr lang="en-US" altLang="zh-CN" sz="1400" dirty="0">
                <a:solidFill>
                  <a:schemeClr val="tx1"/>
                </a:solidFill>
              </a:rPr>
              <a:t>2.8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407939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CA32-418B-6601-020D-75D5A9CF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0B07448-FA26-D78D-D390-D7F133F1579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502D1F-5662-44C5-B1BE-53C8E69FE633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D47941-0A30-F1C1-7CF5-E6326B8EE382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3EAED0-CA1A-979F-BD8B-C63305D2B21A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EF14DA-1127-BA68-C3B6-4C8CADF00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740" y="1573179"/>
            <a:ext cx="3618520" cy="22195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7EBA68F-8DE1-F1F9-AD0B-40F8040A11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573178"/>
            <a:ext cx="3618520" cy="22195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51EC61B-C7BA-64FC-0C23-6214A51EC9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393" y="1611594"/>
            <a:ext cx="3618520" cy="221958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BC9D782-D81F-06D8-969D-138F1FC7E3C5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-5.2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5AAED5-2075-4409-D7F1-C9B989CE42B6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0B7CDA-4EAC-6CE0-05AE-369011A9D9B1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-4.7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275142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379A-3C7B-B03E-DD61-81678CB0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D60465-5CFC-6D58-DC5E-1E5121F56B8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63C53F-2806-B162-4D6C-F0BB73B5F328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4B2C78-C6C4-D09F-ACD0-E9EB974BD6CE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0BC1F2-7F6D-5F77-B348-2A681746477A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1C5EBF-9B1F-CD4E-4EBC-3C4EFAA29F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42" y="1658486"/>
            <a:ext cx="3554879" cy="21687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A5200E-7BB4-3B2E-B43B-E3DBD54AF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093" y="1658486"/>
            <a:ext cx="3612504" cy="221589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16F8D61-37A7-995B-1838-C7A943927D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008" y="1588147"/>
            <a:ext cx="3650350" cy="2239108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A97DD31-665B-7CDA-698A-F1C82F02E8F5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CB41D2-9814-AB80-EDC1-DCCD38AB2213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-17.8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C4AB3B-CA3F-72A2-0B3D-29825AB37980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9.4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09549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9D9E-E54F-2089-BB1A-4C7D7CFA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C98378A-1859-AA8D-1ADC-270A56D28D0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3DB470-5512-B027-E08B-D7AA50D665FB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3EC7E1-3176-49F6-EFF8-54812F5A191B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824E2A-67E6-7D08-0879-0FDD0DA41D28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6BEC5F3-50B6-9AAD-31D2-5C91E2ECF5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22" y="1948733"/>
            <a:ext cx="3618520" cy="22195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11AD328-3C72-609B-FFDC-732ED9E8B0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584" y="1874374"/>
            <a:ext cx="3879691" cy="23797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FE7ED81-47F4-C6B3-6F6E-44124A78F6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275" y="1843815"/>
            <a:ext cx="3879691" cy="237978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36006B8-7B03-03DE-BAA6-988C9883C3D2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-3.6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A30EF6-48E9-5B0D-54D7-5110FBC545E3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-8.7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8944F-F123-615B-9F43-0B266042BA37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-16.7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2700402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D025-AFA2-0A7B-2DA8-065BF6EE5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9FC1931-8876-D3B8-20DA-30B9EC46D8D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BC52F5-0107-8377-B235-DD49BD046266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9CE782-6304-4133-CB03-9DBC3060FB11}"/>
              </a:ext>
            </a:extLst>
          </p:cNvPr>
          <p:cNvSpPr txBox="1"/>
          <p:nvPr/>
        </p:nvSpPr>
        <p:spPr>
          <a:xfrm>
            <a:off x="4901752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4ABA7E-62D6-3DD3-7031-5884946A8548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D6F55C-3E38-79A4-4CE0-F54A9E80EF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623317"/>
            <a:ext cx="3628931" cy="22391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558780E-769E-DC76-04AC-EE43343040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46" y="1529532"/>
            <a:ext cx="3956138" cy="24266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1A5DCEC-0AE6-7E49-4859-F433E4602E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984" y="1529531"/>
            <a:ext cx="3956140" cy="242667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BC04EE-606E-B71F-1AB3-82573E8F2CCA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-28.9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E4A695-CC8B-0C72-4450-DEC15EED8BE1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-32.8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6C0D3D-B3A5-AC65-3C59-8A7081A1D412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-23.1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96462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6F69-0B83-38CE-BB4E-EC886511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3AF42A6-5D16-7AA2-9E12-A366E292C7E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E5971D-2170-1BBF-5E04-C0C79E5014F7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AC67FA-769C-F479-64A8-D18FC8CFE0E0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E8BA83-232E-BF86-DBFA-EA3450727385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D8BC7AC-424C-6188-2439-C2A3C7CD83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10" y="1529601"/>
            <a:ext cx="3955916" cy="24265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A259407-3870-8296-8DBB-42B5276FEE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940" y="1615836"/>
            <a:ext cx="3955915" cy="24265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5B353C6-82CD-EA5E-1072-8175C70142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615836"/>
            <a:ext cx="3955915" cy="242654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BDC1AFF-6780-8AF1-FA13-453CEDD78A65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-16.5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72FE39-3D3D-EB6D-D6D9-B42663302A64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-14.4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EB6640-8F5B-4C31-0C40-8A5B131655EE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-5.7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42617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1DF9-97F3-1F92-3ADD-AD391E91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D45F31A-D257-CEA5-7C8B-D7EA175776E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C82828-5CBB-4F73-A7D7-6F99E29C3B3C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B6B180-3B33-876F-2C0A-00A3FC370417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EC135C-8A84-7459-E19F-A66EACEC3EAB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4154A-42A1-802C-5866-15445BAF4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12" y="1877798"/>
            <a:ext cx="3845825" cy="23729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6B775E7-EE2C-FB46-AAFD-D33C7046BE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618" y="1877798"/>
            <a:ext cx="3804794" cy="234761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0AA6C6-7199-6331-3811-DF5E74C8E8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412" y="1753878"/>
            <a:ext cx="4070547" cy="249685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665DA5B-FC2B-9F40-B0C1-A6C23727DC0E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-43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431F6A-F7B1-0A24-750B-3113904DE27A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-24.7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64D70D-330D-644C-20C7-C98530A341C9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-25.9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796575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A8F9-2813-CC22-1875-692D03D4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D9BF75B-C40B-7A25-A0D7-E773CD46269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B6D195-AB72-65B5-A113-9AE3203F4E65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D1821-4779-8ADD-6A27-8AC6148DE74D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7C599A-177C-E982-BB87-7B77E0CA20F9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D17E39E-0E2F-4659-6412-8B6B44DBCC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837" y="1877798"/>
            <a:ext cx="3868525" cy="23729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93EDF71-81FF-CF4F-2F4E-60F90251AF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724" y="1850664"/>
            <a:ext cx="3868524" cy="237293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CBBD0B0-5AE7-0A71-A687-0EDAA6A7D0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3" y="1850663"/>
            <a:ext cx="3868524" cy="237293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8BED622-CC9A-B30B-067E-28FE13CEF455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-11.2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3AB671-CD58-563C-C1B4-D4BE1C19BCC0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-11.2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384F45-9AAF-9E37-35D7-82BDB846560C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-14.1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682961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D01E-79B0-F238-F734-684A814E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37BC19E-2645-C50D-DA4C-C1264E7B55E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EC2653-A622-D3D3-DF82-AB2394FD56C3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8DE495-1454-49CC-FD93-7D395061CF73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4FDD87-2AEC-5E2A-8322-84C1553F6904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3CF68D3-D3C8-803B-B38F-181ED7B1B5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" y="1615832"/>
            <a:ext cx="3859301" cy="23812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1BDC48-45EF-1986-2027-6F07A92989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54" y="1685596"/>
            <a:ext cx="3746235" cy="231148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A41912E-495B-A7FA-C29B-D5A631A7BF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409" y="1707864"/>
            <a:ext cx="3674055" cy="22669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83D192-8766-9AD9-0B08-0CAE0616D0EB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-31.1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9BF469-061D-DFDA-36FC-3A86BD4C9180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-18.9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9F0842-E66E-F712-FD51-5CD11DEE95D4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-24.1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921252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F226-B7E6-3170-132A-E4C3B396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AC504C3-C6FA-309D-0F18-2CC2CB334A6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龄饮水量涨幅差值与当日死淘的关系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477AF2-1983-C908-2E5E-B3B56186CAD7}"/>
              </a:ext>
            </a:extLst>
          </p:cNvPr>
          <p:cNvSpPr txBox="1"/>
          <p:nvPr/>
        </p:nvSpPr>
        <p:spPr>
          <a:xfrm>
            <a:off x="1072794" y="97304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25A6D8-1854-E759-7F6C-784FC903584B}"/>
              </a:ext>
            </a:extLst>
          </p:cNvPr>
          <p:cNvSpPr txBox="1"/>
          <p:nvPr/>
        </p:nvSpPr>
        <p:spPr>
          <a:xfrm>
            <a:off x="4705809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11417F-DB39-50DE-D6EE-7535CF5FCADA}"/>
              </a:ext>
            </a:extLst>
          </p:cNvPr>
          <p:cNvSpPr txBox="1"/>
          <p:nvPr/>
        </p:nvSpPr>
        <p:spPr>
          <a:xfrm>
            <a:off x="9168831" y="101592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4AE6261-CE24-D273-4B2D-4AD51EB693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3" y="1862053"/>
            <a:ext cx="3905250" cy="23954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EDBFD55-851F-0152-AEDB-D365A56464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45" y="1782938"/>
            <a:ext cx="4034230" cy="24745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7E6D53A-6CCC-EE24-E398-45E89F9455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71" y="1782938"/>
            <a:ext cx="4034229" cy="247457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1872A48-4AB2-8931-E0A4-13007C53E73F}"/>
              </a:ext>
            </a:extLst>
          </p:cNvPr>
          <p:cNvSpPr/>
          <p:nvPr/>
        </p:nvSpPr>
        <p:spPr>
          <a:xfrm>
            <a:off x="438087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-11.5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C64B79-278D-C8EF-67C3-5FF6FB4E95B0}"/>
              </a:ext>
            </a:extLst>
          </p:cNvPr>
          <p:cNvSpPr/>
          <p:nvPr/>
        </p:nvSpPr>
        <p:spPr>
          <a:xfrm>
            <a:off x="4428073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-7.8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22B5E1-0929-0684-49FA-F2AAD2FDB517}"/>
              </a:ext>
            </a:extLst>
          </p:cNvPr>
          <p:cNvSpPr/>
          <p:nvPr/>
        </p:nvSpPr>
        <p:spPr>
          <a:xfrm>
            <a:off x="8418059" y="4909267"/>
            <a:ext cx="31541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-19.2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105080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71DF-A070-B940-6EA1-B9CAA029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8B3CA9-1801-20BD-BF60-1709B3EC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486328"/>
            <a:ext cx="9055279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3.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 死淘影响因素模型</a:t>
            </a:r>
            <a:b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endParaRPr lang="zh-CN" alt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EC68F9-7006-AE22-359D-7C0AF6D32B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2767077"/>
            <a:ext cx="8082481" cy="2941513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3.1 Transformer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模型建模和控制变量选择逻辑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3.2.3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3.2.4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77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D3B31E-0881-3DAC-B423-F3F161064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r="5925" b="47249"/>
          <a:stretch/>
        </p:blipFill>
        <p:spPr>
          <a:xfrm>
            <a:off x="1330569" y="1511460"/>
            <a:ext cx="9530861" cy="21357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E8AAD4-1AB2-94BB-B928-EBA184495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2" y="4405455"/>
            <a:ext cx="5725324" cy="20195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C6EF21-3D94-B31A-4F66-A2D74AE4115A}"/>
              </a:ext>
            </a:extLst>
          </p:cNvPr>
          <p:cNvSpPr txBox="1"/>
          <p:nvPr/>
        </p:nvSpPr>
        <p:spPr>
          <a:xfrm>
            <a:off x="665662" y="1100672"/>
            <a:ext cx="44839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新增序列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值高于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0.2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的数量总览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0026BE-A9FE-954A-8E54-35909C569B7B}"/>
              </a:ext>
            </a:extLst>
          </p:cNvPr>
          <p:cNvSpPr txBox="1"/>
          <p:nvPr/>
        </p:nvSpPr>
        <p:spPr>
          <a:xfrm>
            <a:off x="1178026" y="4559216"/>
            <a:ext cx="36984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75FFC3-A184-3AE9-89E7-28B3D1525D1C}"/>
              </a:ext>
            </a:extLst>
          </p:cNvPr>
          <p:cNvSpPr txBox="1"/>
          <p:nvPr/>
        </p:nvSpPr>
        <p:spPr>
          <a:xfrm>
            <a:off x="890425" y="3703149"/>
            <a:ext cx="997100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根据数量选择，入模序列。如冬季死淘模型的入模序列为外部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。其中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、探头温度标准差为固定的入模序列，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平均变化根据上表选出</a:t>
            </a:r>
            <a:endParaRPr lang="en-US" altLang="zh-CN" sz="14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FA60B6-68A9-8A85-B73B-8754C33BC8AC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Transformer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模型建模和控制变量选择逻辑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88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4855F01-33B1-593C-CF23-E096B4AB8D8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1EB1A59-2BB2-4079-512A-896CA193F0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70" y="1223107"/>
            <a:ext cx="5137079" cy="34036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8E92BC-4549-FFBA-06A1-8AC7376B66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40761"/>
            <a:ext cx="5137080" cy="35859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DC0E15-F581-8280-011F-A0FA90A93FCA}"/>
              </a:ext>
            </a:extLst>
          </p:cNvPr>
          <p:cNvSpPr txBox="1"/>
          <p:nvPr/>
        </p:nvSpPr>
        <p:spPr>
          <a:xfrm>
            <a:off x="1600676" y="5024810"/>
            <a:ext cx="29089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270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297C6CB-FA52-60A5-F207-EFAC80CC50A3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7CA0B8-1C92-CDDD-9DB4-FB6C4BAB79B2}"/>
              </a:ext>
            </a:extLst>
          </p:cNvPr>
          <p:cNvSpPr/>
          <p:nvPr/>
        </p:nvSpPr>
        <p:spPr>
          <a:xfrm>
            <a:off x="4803381" y="229295"/>
            <a:ext cx="2875497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冬季死淘各阶段管理控制建议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37EB06C-0149-9055-1F77-CCAE159C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637487"/>
              </p:ext>
            </p:extLst>
          </p:nvPr>
        </p:nvGraphicFramePr>
        <p:xfrm>
          <a:off x="1175657" y="810871"/>
          <a:ext cx="10210799" cy="5395950"/>
        </p:xfrm>
        <a:graphic>
          <a:graphicData uri="http://schemas.openxmlformats.org/drawingml/2006/table">
            <a:tbl>
              <a:tblPr/>
              <a:tblGrid>
                <a:gridCol w="787019">
                  <a:extLst>
                    <a:ext uri="{9D8B030D-6E8A-4147-A177-3AD203B41FA5}">
                      <a16:colId xmlns:a16="http://schemas.microsoft.com/office/drawing/2014/main" val="2336217439"/>
                    </a:ext>
                  </a:extLst>
                </a:gridCol>
                <a:gridCol w="3574571">
                  <a:extLst>
                    <a:ext uri="{9D8B030D-6E8A-4147-A177-3AD203B41FA5}">
                      <a16:colId xmlns:a16="http://schemas.microsoft.com/office/drawing/2014/main" val="638591708"/>
                    </a:ext>
                  </a:extLst>
                </a:gridCol>
                <a:gridCol w="2577127">
                  <a:extLst>
                    <a:ext uri="{9D8B030D-6E8A-4147-A177-3AD203B41FA5}">
                      <a16:colId xmlns:a16="http://schemas.microsoft.com/office/drawing/2014/main" val="2141343536"/>
                    </a:ext>
                  </a:extLst>
                </a:gridCol>
                <a:gridCol w="3272082">
                  <a:extLst>
                    <a:ext uri="{9D8B030D-6E8A-4147-A177-3AD203B41FA5}">
                      <a16:colId xmlns:a16="http://schemas.microsoft.com/office/drawing/2014/main" val="1756193832"/>
                    </a:ext>
                  </a:extLst>
                </a:gridCol>
              </a:tblGrid>
              <a:tr h="1632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4-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RANGE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42010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3.0-3.2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066622"/>
                  </a:ext>
                </a:extLst>
              </a:tr>
              <a:tr h="4510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度，出现高死淘的概率较高。整体随温度升高死淘率呈递增趋势。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，死淘率较高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415849"/>
                  </a:ext>
                </a:extLst>
              </a:tr>
              <a:tr h="4510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，死淘率较高。整体随极差升高死淘率呈递增趋势。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91553"/>
                  </a:ext>
                </a:extLst>
              </a:tr>
              <a:tr h="4510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32.8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，死淘率有上升趋势。整体随极差升高死淘率呈递增趋势。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14045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2.4-2.6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108927"/>
                  </a:ext>
                </a:extLst>
              </a:tr>
              <a:tr h="4452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1.8-2.0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544263"/>
                  </a:ext>
                </a:extLst>
              </a:tr>
              <a:tr h="3029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2.1-2.5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16022"/>
                  </a:ext>
                </a:extLst>
              </a:tr>
              <a:tr h="4452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0.2-0.3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时，死淘率较高。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1.8-1.9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，死淘率有上升趋势。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955564"/>
                  </a:ext>
                </a:extLst>
              </a:tr>
              <a:tr h="4452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时，死淘率较低；大于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时死淘率低，考虑其他风险或异常。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1.2-1.4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123676"/>
                  </a:ext>
                </a:extLst>
              </a:tr>
              <a:tr h="4452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时，死淘率较低；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1.2-1.9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293776"/>
                  </a:ext>
                </a:extLst>
              </a:tr>
              <a:tr h="2991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度时，死淘率较低；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1.9-2.4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66936"/>
                  </a:ext>
                </a:extLst>
              </a:tr>
              <a:tr h="4452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1.8-2.1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15439"/>
                  </a:ext>
                </a:extLst>
              </a:tr>
              <a:tr h="4452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度时，死淘率较低；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1.6-1.8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IV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1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20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7F6AC3-4413-089C-DFEA-AEDEF8185272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5A4E7A-3A56-E148-37FC-C27E2799A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383160"/>
              </p:ext>
            </p:extLst>
          </p:nvPr>
        </p:nvGraphicFramePr>
        <p:xfrm>
          <a:off x="835025" y="997527"/>
          <a:ext cx="10515600" cy="4760784"/>
        </p:xfrm>
        <a:graphic>
          <a:graphicData uri="http://schemas.openxmlformats.org/drawingml/2006/table">
            <a:tbl>
              <a:tblPr/>
              <a:tblGrid>
                <a:gridCol w="810512">
                  <a:extLst>
                    <a:ext uri="{9D8B030D-6E8A-4147-A177-3AD203B41FA5}">
                      <a16:colId xmlns:a16="http://schemas.microsoft.com/office/drawing/2014/main" val="4012811507"/>
                    </a:ext>
                  </a:extLst>
                </a:gridCol>
                <a:gridCol w="3378886">
                  <a:extLst>
                    <a:ext uri="{9D8B030D-6E8A-4147-A177-3AD203B41FA5}">
                      <a16:colId xmlns:a16="http://schemas.microsoft.com/office/drawing/2014/main" val="458794062"/>
                    </a:ext>
                  </a:extLst>
                </a:gridCol>
                <a:gridCol w="2315748">
                  <a:extLst>
                    <a:ext uri="{9D8B030D-6E8A-4147-A177-3AD203B41FA5}">
                      <a16:colId xmlns:a16="http://schemas.microsoft.com/office/drawing/2014/main" val="938201727"/>
                    </a:ext>
                  </a:extLst>
                </a:gridCol>
                <a:gridCol w="4010454">
                  <a:extLst>
                    <a:ext uri="{9D8B030D-6E8A-4147-A177-3AD203B41FA5}">
                      <a16:colId xmlns:a16="http://schemas.microsoft.com/office/drawing/2014/main" val="227125779"/>
                    </a:ext>
                  </a:extLst>
                </a:gridCol>
              </a:tblGrid>
              <a:tr h="391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4-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RANGE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41122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，死淘率较高。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010406"/>
                  </a:ext>
                </a:extLst>
              </a:tr>
              <a:tr h="2110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879254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度时，死淘率较低。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69498"/>
                  </a:ext>
                </a:extLst>
              </a:tr>
              <a:tr h="2110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度时，死淘率较低。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711665"/>
                  </a:ext>
                </a:extLst>
              </a:tr>
              <a:tr h="2110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239297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0.1-0.2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时，死淘率较低；极均衡时死淘率高，考虑其他风险或异常。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356359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03632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0613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度时，死淘率较低；不均衡时死淘率低，考虑其他风险或异常。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2.4-2.8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68072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2.5-3.1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040401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1.6-3.1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84659"/>
                  </a:ext>
                </a:extLst>
              </a:tr>
              <a:tr h="2110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度时，死淘率较低；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，出现高死淘的概率较高。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2.1-2.6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。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7931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度时，死淘率有上升趋势；极均衡时死淘率高，考虑其他风险或异常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高于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度，出现高死淘的概率较高。整体随温度升高死淘率呈递增趋势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2.5-3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，死淘率较低。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较低，谨慎参考。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9749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68EEA73-7941-0E82-7C55-5CC3CF9ABAFF}"/>
              </a:ext>
            </a:extLst>
          </p:cNvPr>
          <p:cNvSpPr/>
          <p:nvPr/>
        </p:nvSpPr>
        <p:spPr>
          <a:xfrm>
            <a:off x="4803381" y="229295"/>
            <a:ext cx="2875497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冬季死淘各阶段管理控制建议</a:t>
            </a:r>
          </a:p>
        </p:txBody>
      </p:sp>
    </p:spTree>
    <p:extLst>
      <p:ext uri="{BB962C8B-B14F-4D97-AF65-F5344CB8AC3E}">
        <p14:creationId xmlns:p14="http://schemas.microsoft.com/office/powerpoint/2010/main" val="15298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929943E-DAC0-0EB3-5689-BFA30AE9E253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A5014B-F4E5-0D23-67F3-7EF003910F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674" y="579312"/>
            <a:ext cx="4066113" cy="237961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DE8C37E-5D18-9D11-2787-D1D3F6291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485" y="579311"/>
            <a:ext cx="4225754" cy="23796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E1671EE-6F3C-8734-44CB-CC64AE24A8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85" y="3582288"/>
            <a:ext cx="4066113" cy="24730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51A8B3B-C26D-E703-52D5-B4677F5992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485" y="3581087"/>
            <a:ext cx="4235966" cy="247303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365E01D-BD1E-8F88-AD6F-22EA57DE4BEE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0.5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C7FCAD-BB53-EC78-7A59-2D2B3DB0BF82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0.5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8AAF94-65EC-E335-F509-2A12C3F37D35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CB3AE3-BAF0-6C86-DB74-0B23508E527F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7E0A61-06DD-0592-2682-5680D86F8901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92CEEE-FA87-31DD-599F-F603F220D2B0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7B780A-D3BD-BE2A-A4C7-2275A90B5CFB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F2FF5F-275D-1F06-D6D4-B1C4E043BF3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28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70F5-A3F5-8E34-AC46-F4A0D0DE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46DBD78-9169-B55E-5305-FB0A02DFB006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6DEFF7-7047-BDCC-56F7-0AEC068A78ED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98DCAC-C983-0AF7-52F0-48664248BE47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30B03B-C331-84F7-2BBA-246FA1D502FB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7B699B-278E-6DD6-6E9B-731629906FA1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611021-F9B9-2DC6-6C68-058E59CD4C5F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B6B0D7-C217-173A-C9C8-2D1281AEC279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7E9F81-B972-1720-1815-73A2E72CD70B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6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C9940-165C-81F3-B656-6F2BA38CC235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日龄探头温度标准差处于</a:t>
            </a:r>
            <a:r>
              <a:rPr lang="en-US" altLang="zh-CN" sz="1400" dirty="0">
                <a:solidFill>
                  <a:schemeClr val="tx1"/>
                </a:solidFill>
              </a:rPr>
              <a:t>0.2-0.3</a:t>
            </a:r>
            <a:r>
              <a:rPr lang="zh-CN" altLang="en-US" sz="1400" dirty="0">
                <a:solidFill>
                  <a:schemeClr val="tx1"/>
                </a:solidFill>
              </a:rPr>
              <a:t>时，死淘率较高；。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336CE1-E233-C631-6BB0-45B33D3F4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848" y="606857"/>
            <a:ext cx="3531476" cy="213970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9FEC027-B5C1-FCA3-FFAA-2BCD538C0F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754" y="611890"/>
            <a:ext cx="3731170" cy="22607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EC78BB0-C65C-3216-2C87-233336F859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848" y="3707864"/>
            <a:ext cx="3368782" cy="20411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D58B8A8-02E9-2B43-0FD5-70A1251254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040" y="3587681"/>
            <a:ext cx="3720884" cy="225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89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C2B6-8E97-A1E8-E5E2-76DA0C81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09A93D0-238D-49BB-7F43-99DC76640956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5B7026-ABF8-BC05-1A7F-7EE79E77945B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0DD02D-7D4D-EE93-6872-2D04DEBB5AB1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48C96D-4E2A-601B-EB84-11C1F5549F57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A3AAD7-A0F4-D4A7-7E5C-A0FDBBEC6D6D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98D922-C6A7-A92D-E2F4-14FF0EA4F3F5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8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时，死淘率较低；大于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时死淘率低，考虑其他风险或异常。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7FF44D-393D-71C1-D444-382ACB35BBB8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9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2F4110-1BD7-1588-D972-C07ACBB5BE36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10A666-F45A-7A01-8088-1BF632884174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低，谨慎参考。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22B9F72-8EE5-4217-2B17-5A315AA589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070" y="589865"/>
            <a:ext cx="3824965" cy="231753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43C1700-5765-75EA-3FA8-FB03E71151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700" y="494297"/>
            <a:ext cx="3903026" cy="23648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5F4F404-B369-34D4-5ADD-E576C38D47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070" y="3654322"/>
            <a:ext cx="3687711" cy="223437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2FC0C2-9402-E000-2817-B7D5462AE6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904" y="3599852"/>
            <a:ext cx="3867509" cy="234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82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5218-3170-B6C5-8C7A-3699F5E2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C48DF58-5F56-9E56-64EF-42E123879298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1CA959-B2FF-5785-2D2F-7AF7E344E242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B9359-5219-CB1D-65BF-6C1975C2689B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278306-F33F-6BF5-1719-F04EE89AAD44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BE2922-90B6-7BEB-7E26-D1C999FAE33C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C6C6EF-0F73-0ED2-3582-C6645B0BC656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低，谨慎参考。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CAE07F-1801-30A3-FE08-44694FD5EFF5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254490-66B0-4708-BF41-13305C73C75D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4E32EC-522A-B75D-405D-52B1787FC8C6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052B98-A2AB-7045-CD97-AAC25964D0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82" y="482730"/>
            <a:ext cx="3602934" cy="218300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868DDD0-53B3-B95F-4302-36E2D71BB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82" y="482730"/>
            <a:ext cx="3602934" cy="21830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FD09396-CC18-7474-F460-72BC773D97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32" y="3823633"/>
            <a:ext cx="3510288" cy="212687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A896E76-7B83-BCD0-191A-8AEB4F6A11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82" y="3759688"/>
            <a:ext cx="3510287" cy="212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90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3968-FEAD-EF36-2887-E5FBF454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B60D07-1F9C-B613-C815-413332D74AE7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805062-212D-28D7-787B-9FA76F7E01C3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AF98A-E133-DFFB-F324-63B12043BEF0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FF5F5D-2E26-A1EC-9666-FFC3B5FB25DF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5B3BE6-3207-2700-6EAB-34FFDD39BB22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8633A2-F952-07BD-A19E-EF5D5D126812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16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C6C9ED-4339-4D62-CAAA-A9DF267957EA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时，死淘率较低。 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CBB6C1-BE49-A8CD-33E4-CC08DF9F9F3B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18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日龄探头温度标准差处于</a:t>
            </a:r>
            <a:r>
              <a:rPr lang="en-US" altLang="zh-CN" sz="1400" dirty="0">
                <a:solidFill>
                  <a:schemeClr val="tx1"/>
                </a:solidFill>
              </a:rPr>
              <a:t>0.1-0.2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59E7CB-92C1-562E-134A-3B6AB8476924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19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时，死淘率较低。 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F5ED206-4946-614B-460F-B02EF6E7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25" y="611890"/>
            <a:ext cx="3746922" cy="227024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3A19B26-FAE3-F4DB-4282-D23B9B778A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751" y="589865"/>
            <a:ext cx="3746923" cy="227024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8E9B0E7-A36C-DFD5-DD5C-16F7B9329A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01" y="3612182"/>
            <a:ext cx="3789746" cy="229619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2CE84D8-7629-A08A-93AC-0D845C8C27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3612181"/>
            <a:ext cx="3789746" cy="229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71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5AAC-BA38-4A59-55F6-67711DFD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61046A6-7A1E-A714-5C36-7F13ED1E2480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D2EB32-8346-6BC0-AFF1-C28CD3DAA294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83D36B-0623-4640-2659-B6A37259C7F5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B3040-1686-0A25-662B-B81703EEDEE6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04D477-F336-1688-C1ED-11224437B08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D3A914-EEB1-8BF8-1C6A-5D4AB1EF7F5D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A4AC2A-51CF-0566-2FE9-3A813466968A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21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时，死淘率较低；不均衡时死淘率低，考虑其他风险或异常。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低，谨慎参考。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1B4D20-789B-9CAE-3311-0D79820B257C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0.5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9CC38A-24FD-1FFB-88F2-E8BB1C91ECA7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0.5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FF6257-AED6-C93F-D883-03A3B95911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23" y="582904"/>
            <a:ext cx="3705660" cy="224524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40681BA-A7F8-29D9-8E2F-3CD2AFEB9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30" y="452133"/>
            <a:ext cx="3864790" cy="234166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504E801-8390-E8F2-AEC0-DA7624F94A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3691876"/>
            <a:ext cx="3716975" cy="22521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9CDF5AC-8ACF-7F0C-4E03-13FEA0A818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29" y="3700523"/>
            <a:ext cx="3716975" cy="225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83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DCA7-407F-F81F-12EA-8819BFC8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D6E5FF7-F895-65F1-FA9A-CE4F8E3C4173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419A27-BB30-957A-0785-1067486F6FD8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D7C94A-99B5-A7FF-A11A-BC7096C3BCE7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938AB1-0003-8E02-9D42-3C070F0E8402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日龄探头温度标准差小于</a:t>
            </a:r>
            <a:r>
              <a:rPr lang="en-US" altLang="zh-CN" sz="1400" b="1" dirty="0">
                <a:solidFill>
                  <a:schemeClr val="tx1"/>
                </a:solidFill>
              </a:rPr>
              <a:t>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时，死淘率较低；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688714-3510-1FEA-46DA-4ED83BB05EAC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25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时，死淘率有上升趋势；极均衡时死淘率高，考虑其他风险或异常。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1F126D3-E84C-434B-9729-D2E0A01CD2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841" y="611890"/>
            <a:ext cx="3567115" cy="216130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C1FE168-7C9B-95DC-AEAD-3DF7D55727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5" y="525357"/>
            <a:ext cx="3990735" cy="241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23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5FF4-A11A-28F6-6360-F12DC5C5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0C21251-D5A7-52E1-4E3F-E7EF6BFE78A8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B209D4-5634-BA47-CF4E-2C15C0C71305}"/>
              </a:ext>
            </a:extLst>
          </p:cNvPr>
          <p:cNvSpPr/>
          <p:nvPr/>
        </p:nvSpPr>
        <p:spPr>
          <a:xfrm>
            <a:off x="669060" y="2897777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34.1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0994F4-F74A-3909-5EF6-551499188BBA}"/>
              </a:ext>
            </a:extLst>
          </p:cNvPr>
          <p:cNvSpPr/>
          <p:nvPr/>
        </p:nvSpPr>
        <p:spPr>
          <a:xfrm>
            <a:off x="6621411" y="2897776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33.5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D4DDA40-9AA0-4E89-4679-E02573C71ED3}"/>
              </a:ext>
            </a:extLst>
          </p:cNvPr>
          <p:cNvSpPr/>
          <p:nvPr/>
        </p:nvSpPr>
        <p:spPr>
          <a:xfrm>
            <a:off x="561843" y="5983746"/>
            <a:ext cx="49416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33.5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CC615F-9E1E-D26A-2D94-514094D875DC}"/>
              </a:ext>
            </a:extLst>
          </p:cNvPr>
          <p:cNvSpPr/>
          <p:nvPr/>
        </p:nvSpPr>
        <p:spPr>
          <a:xfrm>
            <a:off x="6606428" y="5983746"/>
            <a:ext cx="494166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32.8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37C4E0F-D52E-8D2F-1BC6-2891D394B574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09E36D-7E31-4BBF-EFD1-E7D10FBE1DA2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8809902-4772-AAB8-50D5-BD0B4C961C94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030B4C9-EFFE-93DC-D8D9-79034502D4F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E05372-081E-9869-4C81-3A6E75A271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99" y="586016"/>
            <a:ext cx="4066113" cy="22497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DD3073-A721-39F5-D7D0-48E0B06003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99" y="3480606"/>
            <a:ext cx="4065154" cy="24777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C8433D7-E1D8-1370-A78E-3B20992436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778" y="424738"/>
            <a:ext cx="4057379" cy="24730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92AA548-37FE-BE6D-7A4A-D18221F514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02" y="3505631"/>
            <a:ext cx="4065155" cy="24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0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A08C-622C-BC4F-8FE2-D869F439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538F3D7-1A95-F5E1-D5FD-76B10BAC8B73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252CFA-8D9B-8AD1-871E-E3123C0A3EEF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0AEB46-B057-0776-BC0A-C9ECB20BF5DC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BEBDB0-4FF3-832D-A7E4-1FC692B60235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E81C78-D1D4-6DBC-1B2F-EFB6ACCE5CDE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9D924C-0AF9-4048-C16E-3CDDFCE8D2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611890"/>
            <a:ext cx="3740085" cy="227964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F99194D-1A68-503F-243E-22B6CEEFBBCA}"/>
              </a:ext>
            </a:extLst>
          </p:cNvPr>
          <p:cNvSpPr/>
          <p:nvPr/>
        </p:nvSpPr>
        <p:spPr>
          <a:xfrm>
            <a:off x="669060" y="2897777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31.2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486417-CA43-75E1-9077-F443CD42F152}"/>
              </a:ext>
            </a:extLst>
          </p:cNvPr>
          <p:cNvSpPr/>
          <p:nvPr/>
        </p:nvSpPr>
        <p:spPr>
          <a:xfrm>
            <a:off x="6621411" y="2897776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30.4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F59D33-02D9-374E-FF19-65C15120A2B2}"/>
              </a:ext>
            </a:extLst>
          </p:cNvPr>
          <p:cNvSpPr/>
          <p:nvPr/>
        </p:nvSpPr>
        <p:spPr>
          <a:xfrm>
            <a:off x="561843" y="5983746"/>
            <a:ext cx="49416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6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30.1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003F5E-7EBC-E2F6-EF62-6076399E500F}"/>
              </a:ext>
            </a:extLst>
          </p:cNvPr>
          <p:cNvSpPr/>
          <p:nvPr/>
        </p:nvSpPr>
        <p:spPr>
          <a:xfrm>
            <a:off x="6606428" y="5983746"/>
            <a:ext cx="494166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7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29.6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9A730E4-A7FA-F6B4-6230-690DED9577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231" y="506406"/>
            <a:ext cx="3834344" cy="23370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68FBC1C-CD7A-562F-73A7-46D4BE6262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3639996"/>
            <a:ext cx="3641203" cy="221937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5E131F3-B106-0F83-594C-A2B8FBBAD0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488" y="3589050"/>
            <a:ext cx="3824087" cy="233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13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7A40-1507-CBB2-1D63-6A3EADCD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BAC9796-469C-D207-74F7-1EAEE4AACB5A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3B9A46-06F5-D6A0-6ACF-B0DFEF24444F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811BCA-1F99-A301-C4A3-7F21E4DB35D3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BBB081-7AD0-702B-F4FE-3C2F239A28C8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D48C66-F523-EED0-2965-86EE388B6DA8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FD67A9-A19C-47A5-E2A1-31C7D00225AE}"/>
              </a:ext>
            </a:extLst>
          </p:cNvPr>
          <p:cNvSpPr/>
          <p:nvPr/>
        </p:nvSpPr>
        <p:spPr>
          <a:xfrm>
            <a:off x="669060" y="2897777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8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28.9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，出现高死淘的概率较高。整体随温度升高死淘率呈递增趋势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C8591D-F045-B9E4-AC05-22696EBECD23}"/>
              </a:ext>
            </a:extLst>
          </p:cNvPr>
          <p:cNvSpPr/>
          <p:nvPr/>
        </p:nvSpPr>
        <p:spPr>
          <a:xfrm>
            <a:off x="6621411" y="2897776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9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28.8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F179F4-5046-1777-D058-E4A7A9BE3B8B}"/>
              </a:ext>
            </a:extLst>
          </p:cNvPr>
          <p:cNvSpPr/>
          <p:nvPr/>
        </p:nvSpPr>
        <p:spPr>
          <a:xfrm>
            <a:off x="561843" y="5983746"/>
            <a:ext cx="49416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10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28.4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84A39-02AF-0589-DB9A-84BABE568981}"/>
              </a:ext>
            </a:extLst>
          </p:cNvPr>
          <p:cNvSpPr/>
          <p:nvPr/>
        </p:nvSpPr>
        <p:spPr>
          <a:xfrm>
            <a:off x="6606428" y="5983746"/>
            <a:ext cx="494166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11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28.1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0C79246-2D11-8027-FF73-BAE1273948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625" y="561338"/>
            <a:ext cx="3654096" cy="22272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7729BA2-9433-4A70-3ECA-ADED92A6C5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81" y="473712"/>
            <a:ext cx="3941622" cy="240248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9A1776C-1F0A-09BF-464E-4103A6E393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3562798"/>
            <a:ext cx="3802137" cy="231746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4C63BA5-56C7-C56B-12B1-37B5BF942B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81" y="3570265"/>
            <a:ext cx="3802138" cy="231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02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9E2E2-8D6C-7605-7E56-A8E487C9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FDAD454-8A5D-0269-B70E-EF5A5E0EE196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E02E42-A7A7-1890-5DDC-94FBF32677B9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3517A4-6BFE-64E5-98D7-8002E188971F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168E28-C3D0-5456-CD91-41E3198DCE70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A58958-E399-F3C0-C2EE-CAC7A4065E3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CB2973-A312-9A7D-035F-ED631E6C7AF3}"/>
              </a:ext>
            </a:extLst>
          </p:cNvPr>
          <p:cNvSpPr/>
          <p:nvPr/>
        </p:nvSpPr>
        <p:spPr>
          <a:xfrm>
            <a:off x="669060" y="2897777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12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27.6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，出现高死淘的概率较高。整体随温度升高死淘率呈递增趋势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4617A8-3B34-B5EE-106E-629CD59E904F}"/>
              </a:ext>
            </a:extLst>
          </p:cNvPr>
          <p:cNvSpPr/>
          <p:nvPr/>
        </p:nvSpPr>
        <p:spPr>
          <a:xfrm>
            <a:off x="6621411" y="2897776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13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27.4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2C9898-1F95-9066-968B-899BE950D4B4}"/>
              </a:ext>
            </a:extLst>
          </p:cNvPr>
          <p:cNvSpPr/>
          <p:nvPr/>
        </p:nvSpPr>
        <p:spPr>
          <a:xfrm>
            <a:off x="561843" y="5983746"/>
            <a:ext cx="49416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14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27.1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DF8E2B-5D77-9AB9-6E83-841152E52F70}"/>
              </a:ext>
            </a:extLst>
          </p:cNvPr>
          <p:cNvSpPr/>
          <p:nvPr/>
        </p:nvSpPr>
        <p:spPr>
          <a:xfrm>
            <a:off x="6606428" y="5983746"/>
            <a:ext cx="494166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26.9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C9DC35A-DDE0-415A-5836-2EE4F44F08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992" y="609951"/>
            <a:ext cx="3654096" cy="22272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644B3C6-C226-521C-71E6-5405FFF3CB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346" y="645378"/>
            <a:ext cx="3654096" cy="22272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C137E77-D4B0-F8DB-EA83-30BD8D1C7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625" y="3639996"/>
            <a:ext cx="3654096" cy="22272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43A5CE1-0B92-3C97-0C48-274B66C413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346" y="3639996"/>
            <a:ext cx="3654096" cy="222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30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16AEE-62EF-D87E-CADE-B62A4175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CD6A737-4C72-035F-8516-4D48B506A35C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0A780D-94C2-AFB3-8516-BEEA06B771A8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9C7F3-2DD4-16A2-86D5-E96CF5D23A6E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A195AA-B949-6B69-AA1B-31CF18720E70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033513-C7A1-F796-B7E2-2A4FC5BCBEF0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61B08-DCE4-C8A9-82A3-28640995C04E}"/>
              </a:ext>
            </a:extLst>
          </p:cNvPr>
          <p:cNvSpPr/>
          <p:nvPr/>
        </p:nvSpPr>
        <p:spPr>
          <a:xfrm>
            <a:off x="669060" y="2897777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16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26.6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213AFC-B607-0D7A-0BDE-1C9B5FACD6B6}"/>
              </a:ext>
            </a:extLst>
          </p:cNvPr>
          <p:cNvSpPr/>
          <p:nvPr/>
        </p:nvSpPr>
        <p:spPr>
          <a:xfrm>
            <a:off x="6621411" y="2897776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17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A4316C-8DDC-F900-62D3-AEFECBAF40D6}"/>
              </a:ext>
            </a:extLst>
          </p:cNvPr>
          <p:cNvSpPr/>
          <p:nvPr/>
        </p:nvSpPr>
        <p:spPr>
          <a:xfrm>
            <a:off x="561843" y="5983746"/>
            <a:ext cx="49416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18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25.9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5A3C58-BFF9-3FAA-FDC8-7FF8C20350F4}"/>
              </a:ext>
            </a:extLst>
          </p:cNvPr>
          <p:cNvSpPr/>
          <p:nvPr/>
        </p:nvSpPr>
        <p:spPr>
          <a:xfrm>
            <a:off x="6606428" y="5983746"/>
            <a:ext cx="494166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19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25.6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4D91B8E-46A0-801A-2FEE-E5D83771C5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87" y="611890"/>
            <a:ext cx="3548347" cy="21627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88CF70-1B11-E3D8-A143-455A1D5F05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78" y="452133"/>
            <a:ext cx="3903801" cy="23794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06C3CA5-DACE-5510-A9A7-06930E6803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119" y="3597363"/>
            <a:ext cx="3649107" cy="222419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5D79AF3-67E1-7FCD-015B-475D696A21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78" y="3526365"/>
            <a:ext cx="3654095" cy="222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34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7702-6EF5-CE5E-B0D8-355FF9FA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F0EFEF3-0672-6ED7-6BCF-59D61A52E980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8A87E9-61F3-0D61-EE2B-7347C83137DE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2470C6-9CF5-89AC-D4DB-47EF80121284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34671F-EEA9-D5C4-C26D-D5E239002B93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5E8EC4-612C-AC04-A0FE-E3350E415F2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80C2E7-4E2D-D3B4-AB18-2C3A63735A12}"/>
              </a:ext>
            </a:extLst>
          </p:cNvPr>
          <p:cNvSpPr/>
          <p:nvPr/>
        </p:nvSpPr>
        <p:spPr>
          <a:xfrm>
            <a:off x="669060" y="2897777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20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25.1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，出现高死淘的概率较高。整体随温度升高死淘率呈递增趋势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895CCA-FAEC-4AA8-1092-85CEDC048CE4}"/>
              </a:ext>
            </a:extLst>
          </p:cNvPr>
          <p:cNvSpPr/>
          <p:nvPr/>
        </p:nvSpPr>
        <p:spPr>
          <a:xfrm>
            <a:off x="6621411" y="2897776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21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24.6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F7FCB7-325B-281A-9887-B9B5A4DC9E0D}"/>
              </a:ext>
            </a:extLst>
          </p:cNvPr>
          <p:cNvSpPr/>
          <p:nvPr/>
        </p:nvSpPr>
        <p:spPr>
          <a:xfrm>
            <a:off x="561843" y="5983746"/>
            <a:ext cx="49416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22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24.4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D096F2-DE80-0F81-4715-023C50ED791A}"/>
              </a:ext>
            </a:extLst>
          </p:cNvPr>
          <p:cNvSpPr/>
          <p:nvPr/>
        </p:nvSpPr>
        <p:spPr>
          <a:xfrm>
            <a:off x="6606428" y="5983746"/>
            <a:ext cx="494166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23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24.1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8D280A2-50FD-E241-21BF-498F06CCEB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611890"/>
            <a:ext cx="3642101" cy="22199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BBE735-5C3B-957D-0875-8DB638199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671" y="677470"/>
            <a:ext cx="3504903" cy="21362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D2D14CE-AEAB-41D5-44E5-ADD755CF58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30" y="3588114"/>
            <a:ext cx="3654096" cy="22272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95ED555-E440-3D28-4C7B-83F1850695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074" y="3671286"/>
            <a:ext cx="3654096" cy="222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38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3B0B-D53B-60AE-C9AA-93857443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B27804A-2A86-0380-0D91-9DC273929107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67DF81-FAEA-8F34-C6B7-AAA75D09991E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50536B-8CF9-41B1-6B99-89482F621900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EBAEA0-EC2E-93C0-E91A-CB12DFE4DAB9}"/>
              </a:ext>
            </a:extLst>
          </p:cNvPr>
          <p:cNvSpPr/>
          <p:nvPr/>
        </p:nvSpPr>
        <p:spPr>
          <a:xfrm>
            <a:off x="741252" y="3140944"/>
            <a:ext cx="479196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24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dirty="0">
                <a:solidFill>
                  <a:schemeClr val="tx1"/>
                </a:solidFill>
              </a:rPr>
              <a:t>23.9</a:t>
            </a:r>
            <a:r>
              <a:rPr lang="zh-CN" altLang="en-US" sz="1400" dirty="0">
                <a:solidFill>
                  <a:schemeClr val="tx1"/>
                </a:solidFill>
              </a:rPr>
              <a:t>，出现高死淘的概率较高。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2ED4E5-C92A-266D-4A27-D75572703A4E}"/>
              </a:ext>
            </a:extLst>
          </p:cNvPr>
          <p:cNvSpPr/>
          <p:nvPr/>
        </p:nvSpPr>
        <p:spPr>
          <a:xfrm>
            <a:off x="6693603" y="3140943"/>
            <a:ext cx="4931451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日龄鸡舍内部平均温度高于</a:t>
            </a:r>
            <a:r>
              <a:rPr lang="en-US" altLang="zh-CN" sz="1400" b="1" dirty="0">
                <a:solidFill>
                  <a:schemeClr val="tx1"/>
                </a:solidFill>
              </a:rPr>
              <a:t>23.9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度，出现高死淘的概率较高。整体随温度升高死淘率呈递增趋势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37DFF2F-EA6C-38F7-1027-28F047683E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31" y="712975"/>
            <a:ext cx="3555484" cy="21671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902E1B-3D05-3FB0-EF74-337E2A467D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587" y="589865"/>
            <a:ext cx="3555485" cy="21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8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DDD7-3BC7-ED86-9E50-DA91232B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10DE572-686D-AC64-D684-9562F9AB2034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23CB41-972D-4D07-D28B-758D86EE0DCA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3.0-3.2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757908-F194-1C6A-2CFC-51F3819B39C6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日龄探头温度极差高于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，死淘率较高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8812AA-3CD8-9F24-BF13-65E4E0EE1472}"/>
              </a:ext>
            </a:extLst>
          </p:cNvPr>
          <p:cNvSpPr/>
          <p:nvPr/>
        </p:nvSpPr>
        <p:spPr>
          <a:xfrm>
            <a:off x="803924" y="6052925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日龄探头温度极差高于</a:t>
            </a:r>
            <a:r>
              <a:rPr lang="en-US" altLang="zh-CN" sz="1400" dirty="0">
                <a:solidFill>
                  <a:schemeClr val="tx1"/>
                </a:solidFill>
              </a:rPr>
              <a:t>1.9</a:t>
            </a:r>
            <a:r>
              <a:rPr lang="zh-CN" altLang="en-US" sz="1400" dirty="0">
                <a:solidFill>
                  <a:schemeClr val="tx1"/>
                </a:solidFill>
              </a:rPr>
              <a:t>，死淘率较高。整体随极差升高死淘率呈递增趋势。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FF8762-0953-AA7C-E36A-6D30AC262E7B}"/>
              </a:ext>
            </a:extLst>
          </p:cNvPr>
          <p:cNvSpPr/>
          <p:nvPr/>
        </p:nvSpPr>
        <p:spPr>
          <a:xfrm>
            <a:off x="6596217" y="5953644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日龄探头温度极差高于</a:t>
            </a:r>
            <a:r>
              <a:rPr lang="en-US" altLang="zh-CN" sz="1400" dirty="0">
                <a:solidFill>
                  <a:schemeClr val="tx1"/>
                </a:solidFill>
              </a:rPr>
              <a:t>2.5</a:t>
            </a:r>
            <a:r>
              <a:rPr lang="zh-CN" altLang="en-US" sz="1400" dirty="0">
                <a:solidFill>
                  <a:schemeClr val="tx1"/>
                </a:solidFill>
              </a:rPr>
              <a:t>，死淘率有上升趋势。整体随极差升高死淘率呈递增趋势。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7A6EF8-DD4E-4CD4-D2BE-F338B92593C4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DF0E63-38F7-2D59-0944-B797DDE262A9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EA401E-D3BC-CC36-ADBD-55F6708A7486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99DA4E2-87AD-431D-EA5F-394FE05CE19B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0BCE13-97E7-F2D5-127C-0295481AAD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619662"/>
            <a:ext cx="3666285" cy="22346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275038-3ADB-8A22-31A7-37A6FA1478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09" y="494528"/>
            <a:ext cx="3851250" cy="23334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03B2A7-C064-C26F-9FF6-0DF4FC59CC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60" y="3719782"/>
            <a:ext cx="3687711" cy="22343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EEA097-267D-D81D-304B-F080D0FF6E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09" y="3627334"/>
            <a:ext cx="3687713" cy="223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4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4613-9442-D7D6-F2B8-CA4E65C3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5173D8F-239F-1E23-7555-FD4AAF8FA8CD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9060C1-BAE8-5C1F-8D5D-D17CFFC0EB37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F46992-4A42-9BD1-EEBE-469722468826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819041-6BB0-0224-47DE-6E00820AE63F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EB581-B84C-92A9-EE20-6791EE58A08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7F37C9-667C-F685-CF02-3635D61B325B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2.4-2.6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7F4400-8C97-D9E0-D86F-07B3528359B0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1.8-2.0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7C1BE8-A69B-7D6D-9083-99C53020A920}"/>
              </a:ext>
            </a:extLst>
          </p:cNvPr>
          <p:cNvSpPr/>
          <p:nvPr/>
        </p:nvSpPr>
        <p:spPr>
          <a:xfrm>
            <a:off x="803924" y="6052925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6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2.1-2.5 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4D738A-4697-84D9-F6CD-BEDFF452D403}"/>
              </a:ext>
            </a:extLst>
          </p:cNvPr>
          <p:cNvSpPr/>
          <p:nvPr/>
        </p:nvSpPr>
        <p:spPr>
          <a:xfrm>
            <a:off x="6596217" y="5953644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1.8-1.9</a:t>
            </a:r>
            <a:r>
              <a:rPr lang="zh-CN" altLang="en-US" sz="1400" dirty="0">
                <a:solidFill>
                  <a:schemeClr val="tx1"/>
                </a:solidFill>
              </a:rPr>
              <a:t>，死淘率有上升趋势。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2C44E12-2635-68A5-4C0B-1E5A098BF6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496118"/>
            <a:ext cx="4009858" cy="242955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6AD835-2874-466E-EE6C-9F1E696D98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519" y="484499"/>
            <a:ext cx="3991193" cy="241824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401D20D-C7C8-85BF-CC17-F42C8EBE4E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49" y="3470936"/>
            <a:ext cx="4097581" cy="248270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777F68C-628E-EA70-678E-DDD55B1318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519" y="3470936"/>
            <a:ext cx="4097582" cy="248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34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7A60-4E93-250E-3821-62C864C9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51F3E5F-D65F-1F45-42E9-93908DC302EA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3D166A-15C5-B9F9-5E95-442D2F8C25E3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10A20D-843F-4118-AF0E-EB06F3C8C0D5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B3BFC3-6A4B-4E21-4327-A476EC6E589B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4F0C84-71CC-821C-53F4-CD870E8BBB61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F0AC47-EC65-4106-C47F-D07DFE756140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8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1.2-1.4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D91120-66AF-EA86-7DA0-5EAE3F34BC41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9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1.2-1.9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5E53F6-77C3-ACA3-A61D-DB1D1504B053}"/>
              </a:ext>
            </a:extLst>
          </p:cNvPr>
          <p:cNvSpPr/>
          <p:nvPr/>
        </p:nvSpPr>
        <p:spPr>
          <a:xfrm>
            <a:off x="803924" y="6052925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1.9-2.4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DF340A-871A-22E4-E4F7-49406C4C9B7A}"/>
              </a:ext>
            </a:extLst>
          </p:cNvPr>
          <p:cNvSpPr/>
          <p:nvPr/>
        </p:nvSpPr>
        <p:spPr>
          <a:xfrm>
            <a:off x="6596217" y="5953644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1.8-2.1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73CE282-03FD-AAE7-83EA-C1A750B0DE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70" y="589865"/>
            <a:ext cx="3838142" cy="23255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C14A75F-EC39-7C07-054A-192C316966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156" y="540854"/>
            <a:ext cx="3999919" cy="242353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0DFFE60-73DC-EB4A-E5D0-932FC48EE1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59" y="3700729"/>
            <a:ext cx="3864453" cy="23414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86064D3-86D3-C145-8914-077E8745D5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107" y="3612006"/>
            <a:ext cx="3864453" cy="234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09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4A3E-2E82-4ECE-9CF2-9E5A0A94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1449C69-42E1-9768-9F7B-74C9CCB63067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38457D-1F62-DEE7-F811-A418104AE6FA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44BD48-CDC3-A580-F210-A4DE4C52324B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C9BE5C-C3F9-3CE4-1DAB-5A3469BB6AB1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E8BEAE-3709-768C-C45E-1D2311F5989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99C3E6-7E1F-333C-2412-431EC2D8D4C3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1.6-1.8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958BAC-91C3-E9EC-6C90-EBBABD7FE697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日龄探头温度极差大于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F187D3-027C-27B6-63F6-FEF34309B65B}"/>
              </a:ext>
            </a:extLst>
          </p:cNvPr>
          <p:cNvSpPr/>
          <p:nvPr/>
        </p:nvSpPr>
        <p:spPr>
          <a:xfrm>
            <a:off x="803924" y="6052925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日龄探头温度极差大于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或小于</a:t>
            </a:r>
            <a:r>
              <a:rPr lang="en-US" altLang="zh-CN" sz="1400" dirty="0">
                <a:solidFill>
                  <a:schemeClr val="tx1"/>
                </a:solidFill>
              </a:rPr>
              <a:t>1.4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A1CFDD-8455-E45A-6987-9A5316741600}"/>
              </a:ext>
            </a:extLst>
          </p:cNvPr>
          <p:cNvSpPr/>
          <p:nvPr/>
        </p:nvSpPr>
        <p:spPr>
          <a:xfrm>
            <a:off x="6596217" y="5953644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日龄探头温度极差大于</a:t>
            </a:r>
            <a:r>
              <a:rPr lang="en-US" altLang="zh-CN" sz="1400" dirty="0">
                <a:solidFill>
                  <a:schemeClr val="tx1"/>
                </a:solidFill>
              </a:rPr>
              <a:t>2.1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7F26274-7BEE-73FF-5872-03BE189548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647359"/>
            <a:ext cx="3728796" cy="225926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B95EEF4-CB0F-F334-EA34-4F678AB949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617094"/>
            <a:ext cx="3728796" cy="225926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28279C3-BB54-D99F-F6C8-CD68F03AEA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768" y="3638822"/>
            <a:ext cx="3813653" cy="231067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510BD6B-CA04-F5AB-04F6-47AF79E005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786" y="3638821"/>
            <a:ext cx="3813653" cy="23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03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3D21-DED1-5E74-D76D-650958C0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081F3E2-479E-B6D4-7DFF-F1C67F926CB1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2C3950-109A-50A1-8700-2E673FB0CE90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8A4544-D797-0595-7850-B6DA1D366367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7B5BA6-4500-CD45-BA18-E3AC5F6D81A6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2096C-3F39-D128-FF7C-BFE3ABFA04AE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B43E22-B082-7D0A-F2AB-79A6AB6851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188" y="712975"/>
            <a:ext cx="3689082" cy="22352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28B5A2A-69EE-DF58-5AF1-94B17D7D42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904" y="635181"/>
            <a:ext cx="3689082" cy="2235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88E5172-D297-D1EF-D96F-1CA76D1DBE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3734707"/>
            <a:ext cx="3687711" cy="223437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E499A06-9614-0B17-B147-98EACB4EB1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3623936"/>
            <a:ext cx="3687711" cy="223437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9D9C1E5-663E-7EB3-791C-B0BF4F5D3770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16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日龄探头温度极差小于</a:t>
            </a:r>
            <a:r>
              <a:rPr lang="en-US" altLang="zh-CN" sz="1400" dirty="0">
                <a:solidFill>
                  <a:schemeClr val="tx1"/>
                </a:solidFill>
              </a:rPr>
              <a:t>1.6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2.4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2A8AF3-0B70-D583-EC89-490E3BDF83B6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日龄探头温度极差大于</a:t>
            </a:r>
            <a:r>
              <a:rPr lang="en-US" altLang="zh-CN" sz="1400" dirty="0">
                <a:solidFill>
                  <a:schemeClr val="tx1"/>
                </a:solidFill>
              </a:rPr>
              <a:t>2.5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098CD7-527F-5FB3-658A-2AF3DFC85EA6}"/>
              </a:ext>
            </a:extLst>
          </p:cNvPr>
          <p:cNvSpPr/>
          <p:nvPr/>
        </p:nvSpPr>
        <p:spPr>
          <a:xfrm>
            <a:off x="803924" y="6052925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18</a:t>
            </a:r>
            <a:r>
              <a:rPr lang="zh-CN" altLang="en-US" sz="1400" dirty="0">
                <a:solidFill>
                  <a:schemeClr val="tx1"/>
                </a:solidFill>
              </a:rPr>
              <a:t>日龄探头温度大于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 .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DA99E0-1A8F-6924-6BF9-E022D599EB48}"/>
              </a:ext>
            </a:extLst>
          </p:cNvPr>
          <p:cNvSpPr/>
          <p:nvPr/>
        </p:nvSpPr>
        <p:spPr>
          <a:xfrm>
            <a:off x="6596217" y="5953644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19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日龄探头温度极差大于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3629887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1E32-3FE5-7AF7-1177-8A966B0D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B1571FD-4CFE-E538-8315-4E8C5896FCE1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621DAB-A76D-53DF-BE1A-424C5F432BF6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5D0016-0F9C-4AA9-8727-103D65BEDA1F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4CA3F7-9D46-6775-2A9E-F90ED12ACA6D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F4D237-282E-90D5-67D6-20C7B69AA3E6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6E31A37-6F70-9BE9-AC57-3DE5820BEF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552" y="611890"/>
            <a:ext cx="3744977" cy="22690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E5BE988-E483-9C7C-C88D-D00F6BDEC0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12" y="438171"/>
            <a:ext cx="4014236" cy="243221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AD626E6-EC8B-18B9-224E-24A63D0323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552" y="3700523"/>
            <a:ext cx="3687711" cy="223437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B8E3C43-B9A7-F3F8-F2C9-8E8072A233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182" y="3580201"/>
            <a:ext cx="3886296" cy="23546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899686B-2777-6DAD-5811-612766AD4BA2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日龄探头温度极差大于</a:t>
            </a:r>
            <a:r>
              <a:rPr lang="en-US" altLang="zh-CN" sz="1400" dirty="0">
                <a:solidFill>
                  <a:schemeClr val="tx1"/>
                </a:solidFill>
              </a:rPr>
              <a:t>2.4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7F8AC9-F011-D259-08E9-D24C36039729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2.4-2.8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3F66ED-A7C8-518F-5C11-3460396C4CE6}"/>
              </a:ext>
            </a:extLst>
          </p:cNvPr>
          <p:cNvSpPr/>
          <p:nvPr/>
        </p:nvSpPr>
        <p:spPr>
          <a:xfrm>
            <a:off x="803924" y="6052925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日龄探头温度处于</a:t>
            </a:r>
            <a:r>
              <a:rPr lang="en-US" altLang="zh-CN" sz="1400" dirty="0">
                <a:solidFill>
                  <a:schemeClr val="tx1"/>
                </a:solidFill>
              </a:rPr>
              <a:t>2.5-3.1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BC776D-A0AD-AC65-0B9A-26E69EE8C76F}"/>
              </a:ext>
            </a:extLst>
          </p:cNvPr>
          <p:cNvSpPr/>
          <p:nvPr/>
        </p:nvSpPr>
        <p:spPr>
          <a:xfrm>
            <a:off x="6596217" y="5953644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23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1.6-3.1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</a:p>
        </p:txBody>
      </p:sp>
    </p:spTree>
    <p:extLst>
      <p:ext uri="{BB962C8B-B14F-4D97-AF65-F5344CB8AC3E}">
        <p14:creationId xmlns:p14="http://schemas.microsoft.com/office/powerpoint/2010/main" val="2082879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DA56-957E-8EFD-A6BE-22BF64044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F718F7F-423D-88D3-5AEB-845827172B29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zh-CN" altLang="en-US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511057-B276-4F04-4663-81AA08750292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765FB5-F25C-90B0-6438-E662C33A52DE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27307E-2D28-F598-CDB8-43833828321E}"/>
              </a:ext>
            </a:extLst>
          </p:cNvPr>
          <p:cNvSpPr/>
          <p:nvPr/>
        </p:nvSpPr>
        <p:spPr>
          <a:xfrm>
            <a:off x="793612" y="2958922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2.1-2.6</a:t>
            </a:r>
            <a:r>
              <a:rPr lang="zh-CN" altLang="en-US" sz="1400" dirty="0">
                <a:solidFill>
                  <a:schemeClr val="tx1"/>
                </a:solidFill>
              </a:rPr>
              <a:t>，死淘率较低</a:t>
            </a:r>
            <a:r>
              <a:rPr lang="en-US" altLang="zh-CN" sz="1400" dirty="0">
                <a:solidFill>
                  <a:schemeClr val="tx1"/>
                </a:solidFill>
              </a:rPr>
              <a:t>.</a:t>
            </a:r>
            <a:r>
              <a:rPr lang="zh-CN" altLang="en-US" sz="1400" dirty="0">
                <a:solidFill>
                  <a:schemeClr val="tx1"/>
                </a:solidFill>
              </a:rPr>
              <a:t> 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73F6E4-2016-4DFC-9E11-475B6227ACF7}"/>
              </a:ext>
            </a:extLst>
          </p:cNvPr>
          <p:cNvSpPr/>
          <p:nvPr/>
        </p:nvSpPr>
        <p:spPr>
          <a:xfrm>
            <a:off x="6606429" y="2958921"/>
            <a:ext cx="4522234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 25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日龄探头温度极差处于</a:t>
            </a:r>
            <a:r>
              <a:rPr lang="en-US" altLang="zh-CN" sz="1400" dirty="0">
                <a:solidFill>
                  <a:schemeClr val="tx1"/>
                </a:solidFill>
              </a:rPr>
              <a:t>2.5-3</a:t>
            </a:r>
            <a:r>
              <a:rPr lang="zh-CN" altLang="en-US" sz="1400" dirty="0">
                <a:solidFill>
                  <a:schemeClr val="tx1"/>
                </a:solidFill>
              </a:rPr>
              <a:t>，死淘率较低。</a:t>
            </a:r>
            <a:r>
              <a:rPr lang="en-US" altLang="zh-CN" sz="1400" dirty="0">
                <a:solidFill>
                  <a:schemeClr val="tx1"/>
                </a:solidFill>
              </a:rPr>
              <a:t> IV</a:t>
            </a:r>
            <a:r>
              <a:rPr lang="zh-CN" altLang="en-US" sz="1400" dirty="0">
                <a:solidFill>
                  <a:schemeClr val="tx1"/>
                </a:solidFill>
              </a:rPr>
              <a:t>较低，谨慎参考。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B660907-A3D7-FD59-F4B8-609503A0A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73" y="588342"/>
            <a:ext cx="3687711" cy="22343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F75149-32D7-3F60-44D9-2D2B0E454B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15" y="588342"/>
            <a:ext cx="3687712" cy="223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00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1C15-60F4-CF9F-71E2-DA8F25F4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CF0040-A434-927E-86C9-C70EFDD1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486328"/>
            <a:ext cx="9055279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4.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影响因素模型</a:t>
            </a:r>
            <a:b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endParaRPr lang="zh-CN" alt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8A89A4-CDEF-B4E2-F537-275E7638C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2767077"/>
            <a:ext cx="8082481" cy="2941513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3.1 Transformer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模型建模和控制变量选择逻辑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3.2.3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3.2.4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437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139E-93E6-EB0A-3703-8E788B95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B98136-23B7-D2B0-22C7-55C63F102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r="5925" b="47249"/>
          <a:stretch/>
        </p:blipFill>
        <p:spPr>
          <a:xfrm>
            <a:off x="1330569" y="1511460"/>
            <a:ext cx="9530861" cy="21357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0040A1-98A7-F56E-213F-1A473F114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2" y="4405455"/>
            <a:ext cx="5725324" cy="20195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EB1768-DEAF-A67F-5194-3D615FF51BF1}"/>
              </a:ext>
            </a:extLst>
          </p:cNvPr>
          <p:cNvSpPr txBox="1"/>
          <p:nvPr/>
        </p:nvSpPr>
        <p:spPr>
          <a:xfrm>
            <a:off x="665662" y="1100672"/>
            <a:ext cx="44839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新增序列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值高于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0.2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的数量总览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0F14F5-FE3B-45CB-26D1-C4F4272B999D}"/>
              </a:ext>
            </a:extLst>
          </p:cNvPr>
          <p:cNvSpPr txBox="1"/>
          <p:nvPr/>
        </p:nvSpPr>
        <p:spPr>
          <a:xfrm>
            <a:off x="1178026" y="4559216"/>
            <a:ext cx="36984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094297-7CB6-AF3B-A9AB-F830A61E3BD9}"/>
              </a:ext>
            </a:extLst>
          </p:cNvPr>
          <p:cNvSpPr txBox="1"/>
          <p:nvPr/>
        </p:nvSpPr>
        <p:spPr>
          <a:xfrm>
            <a:off x="890425" y="3703149"/>
            <a:ext cx="997100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根据数量选择，入模序列。如冬季死淘模型的入模序列为外部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。其中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、探头温度标准差为固定的入模序列，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平均变化根据上表选出</a:t>
            </a:r>
            <a:endParaRPr lang="en-US" altLang="zh-CN" sz="14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334459-66B2-B144-D938-6978384AAF60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Transformer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模型建模和控制变量选择逻辑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24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D4D4EB-88C8-1480-BF66-5ED8D393E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0" y="1221039"/>
            <a:ext cx="5112497" cy="33873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C72ED2-5CB4-0D56-A28C-A2473B308C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997" y="1393015"/>
            <a:ext cx="4534398" cy="3107462"/>
          </a:xfrm>
          <a:prstGeom prst="rect">
            <a:avLst/>
          </a:prstGeom>
        </p:spPr>
      </p:pic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591DE81E-B751-9D7A-414B-9F6570EE310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-EEF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DAE25C-67C6-3EA1-93D1-D462731F65E5}"/>
              </a:ext>
            </a:extLst>
          </p:cNvPr>
          <p:cNvSpPr txBox="1"/>
          <p:nvPr/>
        </p:nvSpPr>
        <p:spPr>
          <a:xfrm>
            <a:off x="1600676" y="5024810"/>
            <a:ext cx="290897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633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DA5F-4C8D-1EF1-058B-7F590602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38B8158-0056-C20B-4BFF-387AA00F5349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122D64-3332-F540-4E85-04FB3A7DC23E}"/>
              </a:ext>
            </a:extLst>
          </p:cNvPr>
          <p:cNvSpPr/>
          <p:nvPr/>
        </p:nvSpPr>
        <p:spPr>
          <a:xfrm>
            <a:off x="4803383" y="298834"/>
            <a:ext cx="233715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各阶段管理控制建议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D564337-4DA0-F758-77B7-2D27EF732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98036"/>
              </p:ext>
            </p:extLst>
          </p:nvPr>
        </p:nvGraphicFramePr>
        <p:xfrm>
          <a:off x="714161" y="1203811"/>
          <a:ext cx="10515600" cy="4610070"/>
        </p:xfrm>
        <a:graphic>
          <a:graphicData uri="http://schemas.openxmlformats.org/drawingml/2006/table">
            <a:tbl>
              <a:tblPr/>
              <a:tblGrid>
                <a:gridCol w="761713">
                  <a:extLst>
                    <a:ext uri="{9D8B030D-6E8A-4147-A177-3AD203B41FA5}">
                      <a16:colId xmlns:a16="http://schemas.microsoft.com/office/drawing/2014/main" val="1333564659"/>
                    </a:ext>
                  </a:extLst>
                </a:gridCol>
                <a:gridCol w="3234808">
                  <a:extLst>
                    <a:ext uri="{9D8B030D-6E8A-4147-A177-3AD203B41FA5}">
                      <a16:colId xmlns:a16="http://schemas.microsoft.com/office/drawing/2014/main" val="2063573092"/>
                    </a:ext>
                  </a:extLst>
                </a:gridCol>
                <a:gridCol w="1632243">
                  <a:extLst>
                    <a:ext uri="{9D8B030D-6E8A-4147-A177-3AD203B41FA5}">
                      <a16:colId xmlns:a16="http://schemas.microsoft.com/office/drawing/2014/main" val="3956182687"/>
                    </a:ext>
                  </a:extLst>
                </a:gridCol>
                <a:gridCol w="4886836">
                  <a:extLst>
                    <a:ext uri="{9D8B030D-6E8A-4147-A177-3AD203B41FA5}">
                      <a16:colId xmlns:a16="http://schemas.microsoft.com/office/drawing/2014/main" val="1141691005"/>
                    </a:ext>
                  </a:extLst>
                </a:gridCol>
              </a:tblGrid>
              <a:tr h="1439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湿度内部平均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968450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57.2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065623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63.3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594252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73.5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02317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71.3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302587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74.5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742961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79.2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0.1-0.2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944942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0.3-0.7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722427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81.8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值较低，谨慎参考。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39281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099578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592170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461628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85.2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55303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 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795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44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91AC-8FDA-B5B0-AF5F-35FA3789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9483D84-D485-C21F-4002-AC3A8569BD47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E27B9B-FB2D-1543-E639-66A3E0EA9BFC}"/>
              </a:ext>
            </a:extLst>
          </p:cNvPr>
          <p:cNvSpPr/>
          <p:nvPr/>
        </p:nvSpPr>
        <p:spPr>
          <a:xfrm>
            <a:off x="4803383" y="298834"/>
            <a:ext cx="233715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各阶段管理控制建议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ED3511-DD54-4468-BC1C-6A3FE34E8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517914"/>
              </p:ext>
            </p:extLst>
          </p:nvPr>
        </p:nvGraphicFramePr>
        <p:xfrm>
          <a:off x="846226" y="1788239"/>
          <a:ext cx="10515600" cy="3604230"/>
        </p:xfrm>
        <a:graphic>
          <a:graphicData uri="http://schemas.openxmlformats.org/drawingml/2006/table">
            <a:tbl>
              <a:tblPr/>
              <a:tblGrid>
                <a:gridCol w="761713">
                  <a:extLst>
                    <a:ext uri="{9D8B030D-6E8A-4147-A177-3AD203B41FA5}">
                      <a16:colId xmlns:a16="http://schemas.microsoft.com/office/drawing/2014/main" val="1750086624"/>
                    </a:ext>
                  </a:extLst>
                </a:gridCol>
                <a:gridCol w="3234808">
                  <a:extLst>
                    <a:ext uri="{9D8B030D-6E8A-4147-A177-3AD203B41FA5}">
                      <a16:colId xmlns:a16="http://schemas.microsoft.com/office/drawing/2014/main" val="778066229"/>
                    </a:ext>
                  </a:extLst>
                </a:gridCol>
                <a:gridCol w="1632243">
                  <a:extLst>
                    <a:ext uri="{9D8B030D-6E8A-4147-A177-3AD203B41FA5}">
                      <a16:colId xmlns:a16="http://schemas.microsoft.com/office/drawing/2014/main" val="467084356"/>
                    </a:ext>
                  </a:extLst>
                </a:gridCol>
                <a:gridCol w="4886836">
                  <a:extLst>
                    <a:ext uri="{9D8B030D-6E8A-4147-A177-3AD203B41FA5}">
                      <a16:colId xmlns:a16="http://schemas.microsoft.com/office/drawing/2014/main" val="3458121292"/>
                    </a:ext>
                  </a:extLst>
                </a:gridCol>
              </a:tblGrid>
              <a:tr h="1439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湿度内部平均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846031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81.8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0.2-0.3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017842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82.2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02437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636686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204535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86.3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06896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87.5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181455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49352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79888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较高。极均衡时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较低，考虑其他风险或异常 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1786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80707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较高。整体随温度升高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呈递减趋势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71-88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428556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981339"/>
                  </a:ext>
                </a:extLst>
              </a:tr>
              <a:tr h="143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77.8-86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小于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EEF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较高。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值低，谨慎参考。 </a:t>
                      </a:r>
                    </a:p>
                  </a:txBody>
                  <a:tcPr marL="5985" marR="5985" marT="59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309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056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D051-8D5A-B2B2-0CAB-30A6829E4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D51E1D5-2A7A-BF38-6703-48250BF8BB78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037B73-5B17-BC4E-395D-14EFBA71C431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13BDF8-2AD0-F73B-4529-A98A229B6A43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33.5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FBBADA-A76A-FA74-03BE-4C9EC80F342B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32.8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252AAE-7A97-4D03-E5C7-4B3E2E2FB1CF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32.1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3F3DCFB-22D6-14BE-02B3-C336886D799F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01655F-C1A8-1EED-82EE-C2CC5464F457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681722-C74C-1785-BBBB-DA4C2EE6C12E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0DC1330-CA9B-C94B-3004-6D7C383D5990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A53AF3-7FEA-345E-6A50-4C03D6078E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18" y="553738"/>
            <a:ext cx="3684799" cy="22459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6A22D0-F0CE-10D3-7F06-AC3A37190D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285" y="506817"/>
            <a:ext cx="3838761" cy="23397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4F6EB2-F2F3-7DD1-2476-13B6D197B6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67" y="3639996"/>
            <a:ext cx="3814900" cy="23252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45F0FE-23EB-8068-BEB7-3D54B7360A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145" y="3639995"/>
            <a:ext cx="3814901" cy="232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2F63-D1E6-EDE6-E445-662C51C7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517F3E4-CADA-C191-4786-FFA460970A40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DB211D-56A1-4E3E-97F7-B3A5F37755D5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31.1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79ACAC-9638-2C48-F035-EE5547B9FF0F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5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30.4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6F9653-334D-0960-0ABB-0B7CFD224A56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6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30.1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0842F0-46FC-E356-7BC5-AA96A3E63A09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7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29.1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6350A87-0370-1B44-35DE-1132F7496F9D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31B385-AB41-C8AC-5D95-C405B8A3E124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E0A394-D357-3747-587A-45F6B7FA2692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5D2F90-3904-165E-8F09-5EE7E9F818E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13B9A0-68CB-29F2-1BD7-B439F03BAE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589865"/>
            <a:ext cx="3775689" cy="23013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536FBB3-5E6B-83C6-201E-3B35B3D1BF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569030"/>
            <a:ext cx="3978214" cy="24247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BE64C9-B9C5-8A17-A879-C072702C4C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9" y="3639996"/>
            <a:ext cx="3958702" cy="241289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13E0AC7-E656-C6C1-22BF-C9A4A98AC2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725" y="3611158"/>
            <a:ext cx="3958704" cy="241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22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69E4-D87F-B305-7F90-72EFC71E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36E320E-DB95-6EBE-0233-3AADD92D33EF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5A6F45-2B3A-F993-6A36-CD99FC45F2A1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8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28.8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339C31-7E6D-5519-2899-8475D3720D39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9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28.6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2DE0A0-4528-2CBA-42F5-95B374215AA9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28.4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505D64-13FC-461A-24E3-79AA37287FEE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27.6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E0D3255-86A0-2B43-981C-9BF35C67CFA9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BF307E-F8F1-EF5B-D18C-18FBAEAFB909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EAE6643-75E1-84BB-2AD1-19A807F8DEB3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515B578-6DA7-FFF1-1B40-9AD6455552DA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4DBDB5-C194-6AD4-80D4-032375A02C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589865"/>
            <a:ext cx="3827308" cy="23328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C4E3B41-E3DA-00B0-517E-F5F197C25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069" y="467762"/>
            <a:ext cx="4027635" cy="24549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903996-6BD5-1729-41F2-1380504088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3718557"/>
            <a:ext cx="3812247" cy="23236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77934A-F52C-B5F0-F4CD-FA53F8614D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089" y="3571645"/>
            <a:ext cx="3812247" cy="232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29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E1E1-616E-58DE-50B8-13398268D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DB04ADD-60BC-5061-CED5-03BD3E0AE8B7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F5499B-97B5-77E8-87B4-5D34B16CEF42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12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27.4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487E98-FBE0-B504-73B5-ED105B97A622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27.1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A82C61-A1C9-7DAB-E1D4-12DE768178C7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14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26.8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0C738E-6A39-FF1F-E486-70F381325437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</a:t>
            </a:r>
            <a:r>
              <a:rPr lang="zh-CN" altLang="en-US" sz="1400" b="1" dirty="0">
                <a:solidFill>
                  <a:schemeClr val="tx1"/>
                </a:solidFill>
              </a:rPr>
              <a:t>小于</a:t>
            </a:r>
            <a:r>
              <a:rPr lang="en-US" altLang="zh-CN" sz="1400" b="1" dirty="0">
                <a:solidFill>
                  <a:schemeClr val="tx1"/>
                </a:solidFill>
              </a:rPr>
              <a:t>26.1</a:t>
            </a:r>
            <a:r>
              <a:rPr lang="zh-CN" altLang="en-US" sz="1400" b="1" dirty="0">
                <a:solidFill>
                  <a:schemeClr val="tx1"/>
                </a:solidFill>
              </a:rPr>
              <a:t>度时，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b="1" dirty="0">
                <a:solidFill>
                  <a:schemeClr val="tx1"/>
                </a:solidFill>
              </a:rPr>
              <a:t>较高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2EDED9-1830-9F74-65DF-F84F6380F0A4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00E147-3922-45DB-C577-660EE74C5B84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36A0186-8C35-ED56-42F2-C02BC04C047F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2F0623-342A-AD8F-5347-6A85EC8AEC2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E8ECB8-2426-650C-1B9F-19BD8985A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162" y="630329"/>
            <a:ext cx="3648781" cy="22239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103203-F722-A059-4AC4-56E7425E1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1645"/>
            <a:ext cx="3863246" cy="235471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A7644F-FD50-3FCE-A367-65E7196E8C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32" y="3697628"/>
            <a:ext cx="3941137" cy="24021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2CEA65-04C1-F5FA-3094-1450E20BE8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648" y="3692228"/>
            <a:ext cx="3941137" cy="24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96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2F58-A1B6-6E9A-F87A-34E9B450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0A74591-CFB0-2D37-9274-065F7EB656A5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1E85E7-B518-EF88-1459-9E028BA468C9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16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26.1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B3181C-D593-E71F-4232-C825CFB5B5DB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17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25.9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95BB2F-38A5-E2C6-C2DF-A84287E761DA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18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25.1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F9A204-54E7-1860-6512-FD09A57389DB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19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24.9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3E2AA1F-4CD9-3EAA-47F2-BC4E99637C1E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ECCD7D-73CB-D7CE-F010-34BFBFFF6521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87C58B6-0029-DA64-DE46-58A20BA93B67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DEE192-79AB-7E50-975E-45A5E3C691B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FD0687-FA9B-1BA6-A899-DAAF1F05C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516698"/>
            <a:ext cx="3995446" cy="24352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FDD8AD1-A589-23C6-E757-6DFBD478D3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710" y="507794"/>
            <a:ext cx="3750514" cy="2286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4365F47-127D-E242-AC61-15E6070566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3763106"/>
            <a:ext cx="3678273" cy="22419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311D05-06CB-981A-EBC5-14D74687B2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043" y="3763106"/>
            <a:ext cx="3678273" cy="224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4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1224-E92D-93A7-0DAE-6B964876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07A6A53-4009-C26C-9B02-A64BF71875BC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B873AC-3777-67DB-3281-8F32338375D7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20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24.2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489196-668F-439F-E1DB-D83D0A4F62B7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24.2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1E6895-1F60-8A08-907C-AADE3B6CD386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22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23.2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D75A0F-BA05-15F3-EA57-9182D2B6285D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23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22.9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较高。整体随温度升高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呈递减趋势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E28550-43B5-AC01-4D15-B23F00350621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71AC0E-C047-8DCE-B1D4-EC025096F51D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E32D099-1647-7F29-A4A7-72D112E3A814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981DA54-C803-CCE1-C5BE-085114C876BB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2BA9A5-498A-85D3-378F-E07FD00FBC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611890"/>
            <a:ext cx="3867308" cy="23700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C623C05-FE39-D71F-6AA6-9F31DF856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008" y="543866"/>
            <a:ext cx="3791046" cy="23233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A5C078-AB0A-1069-F8ED-EA52C32539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25" y="3535396"/>
            <a:ext cx="3996024" cy="24356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F61FBA5-C0EC-94E7-D321-1848D92DF4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3535396"/>
            <a:ext cx="3996023" cy="24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73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06C66-C119-9C52-5EF4-0CCE3D72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94224ED-6CE5-9B46-D774-6499C0FF6149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DAE605-70C7-CF69-7F95-1C5587584C97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24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22.8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461F31-9E0A-D527-4952-DDADBE2A8049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25</a:t>
            </a:r>
            <a:r>
              <a:rPr lang="zh-CN" altLang="en-US" sz="1400" dirty="0">
                <a:solidFill>
                  <a:schemeClr val="tx1"/>
                </a:solidFill>
              </a:rPr>
              <a:t>日龄鸡舍温度平均小于</a:t>
            </a:r>
            <a:r>
              <a:rPr lang="en-US" altLang="zh-CN" sz="1400" dirty="0">
                <a:solidFill>
                  <a:schemeClr val="tx1"/>
                </a:solidFill>
              </a:rPr>
              <a:t>22.4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EBA724-418D-B86F-9D8F-7A4A97D9C5B0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FF6047-34E3-4F94-F9AE-58953EEF8B3A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C709A3-97B5-4CD5-4FF1-41299036D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31" y="611890"/>
            <a:ext cx="3643056" cy="22205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F0831A-A8B3-1A09-EA7D-DB02D7F867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4" y="452133"/>
            <a:ext cx="3905161" cy="238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64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6EE1-8019-E45E-642A-BB76D69D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D5018C-E64B-EF8E-092A-5931D41CBE15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A92431-8816-26AB-99C3-CAA7B41A2557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57.2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42F1CC-9F15-433E-2EC1-991EB7B6A5BB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63.3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2533CE-1627-2253-7DF2-BB2A2C7CE6AC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73.5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A30F21-9D9A-F463-800D-FA8180FDFDF0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71.3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0B09F8-7103-331E-EABF-FD969A7BF67D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F79CE9-6C8E-C6A6-321C-484A632D1E0D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0FC978-44FE-0B44-302F-6913B5EBD85E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77F4877-EA40-F9BE-E1D7-D3AFEE5DC99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ACE1EF-C723-ADCC-39EE-4ABB3CCD9B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99" y="611890"/>
            <a:ext cx="3655767" cy="22424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9D8958C-7EAC-4CAA-CBBC-032933463A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936" y="539120"/>
            <a:ext cx="3655765" cy="22546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F005B66-D661-41CA-AFDB-A0C96DC7D7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99" y="3639996"/>
            <a:ext cx="3817538" cy="234166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2877C10-9FE5-2BBD-872E-E6BF870F92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936" y="3639995"/>
            <a:ext cx="3817539" cy="23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9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0DA7-1243-AF56-320A-9C5C3135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4DFD87C-1878-A423-6EA0-9907488A853B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131662-1AC3-A019-9127-94366BD70529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486006-300D-C0B8-EEB7-394810D16902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207718-428A-0888-2273-FDE734B23D06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15FFCE-0847-3773-3A55-22438C6A540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8061EC-F50C-3106-C737-A9FF946933A9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4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74.5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24F8F5-6DA1-BA01-CCD2-F56D1A31D6FF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5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79.2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9C84CE-3E07-9A36-6F86-0BCCD4523B3C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6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78.5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A0D3E4-55A4-70CA-E58A-359D880DA5CA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7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81.8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B56F5D-744F-F9BB-4530-BB671A76AB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17" y="568321"/>
            <a:ext cx="3726797" cy="2286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22173E-D478-C2A7-3AA9-5ACC775372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188" y="475015"/>
            <a:ext cx="3878911" cy="23793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4982D5B-89C4-E53F-85E1-AFFB966A69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17" y="3700523"/>
            <a:ext cx="3848488" cy="236064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7D6F2A2-D077-F47D-81E2-0FD3980493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188" y="3724927"/>
            <a:ext cx="3848488" cy="236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18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8CF8-20B5-50B1-A4A8-D5998B6A2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0A0FE59-11B7-D7D5-C8E9-EE22D2E28406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CA4850-231E-95B0-6B10-F0C331316A0B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05A6EE-F8E6-2024-9BD5-17014A041533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A9C552-8BFB-796F-8793-A82627D496A5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10152CD-B211-6689-FB8C-50940FEB154F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72210E-488A-C06B-80E2-5CBC5556CBF4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8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E7F152-B3C5-D8AD-EA9F-86668199A9F4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9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84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78C7A-66A7-083E-1E02-28C0418FF7F9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10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84.2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41CEF9-31FC-66EF-ADB4-9BA249C8938F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11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85.2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0C0D89-8977-1B95-5A1F-7D0EDBD182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440" y="589865"/>
            <a:ext cx="3768760" cy="23117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E05E129-BF19-77FD-BF54-B238F908C6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951" y="451367"/>
            <a:ext cx="4087990" cy="25075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A4645E-EEB2-6A65-67E2-27D4CFFDED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39" y="3652297"/>
            <a:ext cx="3896161" cy="238988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CE320AA-AED1-3BC3-8AD8-208F693DC3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864" y="3652297"/>
            <a:ext cx="4027077" cy="248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13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5404-1092-D923-16D9-2C232797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826D954-1B46-3E62-C99E-CB97313A603E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35A6019-5069-CA25-3B0E-9E0B0D86BF4D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B38868-3769-5C9D-89A1-3EC26F888D1C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6046B47-9BB7-42C1-0271-7D1203643702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625960F-220B-7134-FF7A-5CC8D91D1292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F57723-B0F0-AEFD-3FEF-F0316E21422E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12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85.5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C6F269-95EB-2688-2098-3C2A62DFDB22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13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</a:t>
            </a:r>
            <a:r>
              <a:rPr lang="zh-CN" altLang="en-US" sz="1400" u="sng" dirty="0">
                <a:solidFill>
                  <a:schemeClr val="tx1"/>
                </a:solidFill>
              </a:rPr>
              <a:t>大于</a:t>
            </a:r>
            <a:r>
              <a:rPr lang="en-US" altLang="zh-CN" sz="1400" u="sng" dirty="0">
                <a:solidFill>
                  <a:schemeClr val="tx1"/>
                </a:solidFill>
              </a:rPr>
              <a:t>81.8</a:t>
            </a:r>
            <a:r>
              <a:rPr lang="zh-CN" altLang="en-US" sz="1400" u="sng" dirty="0">
                <a:solidFill>
                  <a:schemeClr val="tx1"/>
                </a:solidFill>
              </a:rPr>
              <a:t>度时，</a:t>
            </a:r>
            <a:r>
              <a:rPr lang="en-US" altLang="zh-CN" sz="1400" u="sng" dirty="0">
                <a:solidFill>
                  <a:schemeClr val="tx1"/>
                </a:solidFill>
              </a:rPr>
              <a:t>EEF</a:t>
            </a:r>
            <a:r>
              <a:rPr lang="zh-CN" altLang="en-US" sz="1400" u="sng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D1F06-1768-CB21-5333-BB7AD8E3A691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14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82.2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70BF0B-B1C8-58C4-7A43-69AF70383215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15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18AADD-9162-01B3-73D0-D96772F58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559747"/>
            <a:ext cx="3829819" cy="23491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C74082-FC78-C354-68F5-513ACB3F56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904" y="502313"/>
            <a:ext cx="3923126" cy="24064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D03F66-39F2-A80C-C133-0808AA3D28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40" y="3535396"/>
            <a:ext cx="3979109" cy="24407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2A0CA8-F491-F44D-0D9F-31992B058D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3535396"/>
            <a:ext cx="3979109" cy="244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12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733FB-0754-D6D5-CFA8-2BCB8D15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F609441-B962-AB4F-4A5F-B044AA31F9CF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1C32411-FED8-5408-0D7E-847E45FEF6DD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A40388-1C62-F3C2-4EB4-BCF26F301628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E0E43EB-0169-A233-8284-2B4A6C383325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939A92B-C796-3A80-6AD0-BCB45D35B150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4FF53B-5FC2-477C-0B10-9B36A9883231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16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78.5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C21F3D-37EA-E674-F7FB-E44B6A6ADDE5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17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86.3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077C18-8792-C891-913C-0E3F7D07D293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18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87.5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CD556F-1225-90DF-6590-E9EEB8447E3D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19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75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7FC0D7-EAF6-9EDE-048A-6D045F92DF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549" y="509403"/>
            <a:ext cx="3900008" cy="23922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AA75035-E4FF-DA3D-2E8A-B2524EA2CE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492420"/>
            <a:ext cx="4049339" cy="24838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940AB9C-8A53-2AA3-60AD-AFFDB55BE7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77" y="3664526"/>
            <a:ext cx="3970180" cy="243529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1974A22-F4DF-CFCB-13BD-BC991E9980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373" y="3639996"/>
            <a:ext cx="3970181" cy="243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42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09E3-1BA5-0B08-4E9A-4F3A500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9CC6567-54A4-1E3F-00F9-0688C0312DF0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25896BB-CE30-C34E-27AC-837C5F26D2E8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6510C2-0805-FB0D-D406-2F4AC0468FC0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5D03B4-5D59-B742-2577-5C7E665A8C12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42048C7-1A04-26B4-3EDB-842ED9E4274C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AF5A3A-B835-36BA-858A-AD8247FE0A02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20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78.2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0BAEA3-D6D9-C2DB-A67C-84330DE73090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21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75.6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C59991-3FA8-7661-E578-47605436D4C1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22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76.9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76D217-814C-D8E8-1065-6D660B3415DB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23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日龄湿度内部平均处于</a:t>
            </a:r>
            <a:r>
              <a:rPr lang="en-US" altLang="zh-CN" sz="1400" dirty="0">
                <a:solidFill>
                  <a:schemeClr val="tx1"/>
                </a:solidFill>
              </a:rPr>
              <a:t>71-88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FAB8AB-EBFA-7553-EA75-F615B8D33C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782" y="666330"/>
            <a:ext cx="3737541" cy="22925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FD62B0-8A3E-9DCB-C5FE-95B163E83D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91" y="572681"/>
            <a:ext cx="3908375" cy="23973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002D582-4168-8873-F833-2F5D59B4BA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504" y="3639996"/>
            <a:ext cx="3829819" cy="234919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33BC02A-DC4B-547D-DC3A-B48B73600B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669" y="3572443"/>
            <a:ext cx="3829818" cy="234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46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5DC9-8091-8356-4D3E-7997FEE8B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D7E237B-1583-E043-F4FC-16AEDB8A007A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47D031-67EB-9357-4873-F1169BEA50F3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203850-68CF-93CE-DD95-FFC25BB4E81B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6A3F0C-2CA7-7BD0-AE91-85DE1506211A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24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日龄湿度内部平均大于</a:t>
            </a:r>
            <a:r>
              <a:rPr lang="en-US" altLang="zh-CN" sz="1400" dirty="0">
                <a:solidFill>
                  <a:schemeClr val="tx1"/>
                </a:solidFill>
              </a:rPr>
              <a:t>72.2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12B37B-E680-DD19-26F8-2860BC349AF8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25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日龄湿度内部平均处于</a:t>
            </a:r>
            <a:r>
              <a:rPr lang="en-US" altLang="zh-CN" sz="1400" dirty="0">
                <a:solidFill>
                  <a:schemeClr val="tx1"/>
                </a:solidFill>
              </a:rPr>
              <a:t>77.8-86</a:t>
            </a:r>
            <a:r>
              <a:rPr lang="zh-CN" altLang="en-US" sz="1400" dirty="0">
                <a:solidFill>
                  <a:schemeClr val="tx1"/>
                </a:solidFill>
              </a:rPr>
              <a:t>度时，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C09D8A-DB74-A367-5076-85BDB869A4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293" y="712975"/>
            <a:ext cx="3618520" cy="22195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4F9813-106C-A9E8-2998-619874A6F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619" y="611890"/>
            <a:ext cx="3833950" cy="235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43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22E6A-0A2F-C97C-3A82-78FB99E7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263719E-25FB-0EC9-E790-D22159728473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403CBA-CCC1-2EEB-B8D7-A83825CB8EFE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6D8B74-2839-6425-4359-E29349F2C2EA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F933B4-37E4-FFFF-DBA1-862B6875CD2A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08F58B-0CD1-DD3B-6214-BA3BE2F6C39C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E0E0C2-8F1C-4A6A-E93F-D36C59ACE6BE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DEFE66-2DD1-5437-58B4-BC42B082B1F4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6DF4AE-6A28-FA6A-3C11-DDC30351D022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6A61203-13CE-AFE4-1AE9-EFC53FBBEB29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41F37E-4FB4-91C9-FFC8-55B2A6526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108" y="661972"/>
            <a:ext cx="3618358" cy="21923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85991E-82F0-411D-D495-B0FD4E3F1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537" y="674893"/>
            <a:ext cx="3618356" cy="219234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9FB23A-A83F-1AE8-C830-05C535C3BC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73" y="3639996"/>
            <a:ext cx="3730693" cy="22604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5463DD6-DA78-866E-E41C-65F51BE0BA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10" y="3600642"/>
            <a:ext cx="4029639" cy="244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E834-3A07-5015-83B5-A20B41541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75CEC06-AD37-12FC-75B0-04BEF7EBD073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6EE9052-18E7-9A1B-CD29-70DF71190CE7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44CC15-45AF-171E-4A4A-15E862C9F222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5273141-4E9E-6719-9FC4-121060BE26C4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27F56F6-3170-3070-E7AA-E8C67CB0D4B0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37B130-555D-801B-28F0-393C460EF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44" y="611370"/>
            <a:ext cx="3706818" cy="22459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2C89C1-C197-E0DC-DE58-590DFAAD71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215" y="449854"/>
            <a:ext cx="3973390" cy="24074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20103D8-9F08-8CF5-B05F-54CE9A83DF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33" y="3637001"/>
            <a:ext cx="3969629" cy="24051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ADF2A2F-EAF2-8ECC-B4DA-6344E50764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038" y="3532992"/>
            <a:ext cx="3969629" cy="240518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B8ED200-EE42-AAA8-97F4-362DBD0E782A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4B393C-DA59-0A24-B023-F3AC69BE078B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5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日龄鸡舍温度探头温度标准差处于</a:t>
            </a:r>
            <a:r>
              <a:rPr lang="en-US" altLang="zh-CN" sz="1400" dirty="0">
                <a:solidFill>
                  <a:schemeClr val="tx1"/>
                </a:solidFill>
              </a:rPr>
              <a:t>0.1-0.2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9A0237-9E46-4E71-51CD-ABDEAE32A426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6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日龄鸡舍温度探头温度标准差平均处于</a:t>
            </a:r>
            <a:r>
              <a:rPr lang="en-US" altLang="zh-CN" sz="1400" dirty="0">
                <a:solidFill>
                  <a:schemeClr val="tx1"/>
                </a:solidFill>
              </a:rPr>
              <a:t>0.3-0.7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A95467-37FB-C0B2-346D-90051A37168B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7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908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9B04A-87B4-A57C-26D9-9C8F6B22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3B71050-F4CD-1EF4-AF0B-3D7D41F732FB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281276-375B-76B6-61CD-10366C36A8B2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687202-D4F4-39DE-F6D7-32FEC8229839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A183E04-A15D-135E-D008-A528F2EF0887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177E6D-D895-AC8B-AD60-5254C0E6F42B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BFC1C4-2782-8FD8-D510-7A3D6308F0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378" y="589865"/>
            <a:ext cx="3842350" cy="23280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9B4C65-7FC4-AEF4-7919-58DCBB1856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038" y="570310"/>
            <a:ext cx="3842350" cy="23280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EF8FDE-79B6-3CE4-E096-DB521B8B0E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94" y="3589881"/>
            <a:ext cx="4142517" cy="25099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AFB41A-F75A-96D3-2EFF-16180626FC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50" y="3693267"/>
            <a:ext cx="3711326" cy="224867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FD6B865-0279-0C00-D6E3-4E74A9E66D1B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8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53557B-6FF8-FF92-904D-086ACC884AFB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9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599641-4FED-9AC8-156C-F744FC2F55EF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561336-D7F8-31EC-E88B-68CB2D7886B6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880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ABCB-91A4-B5BC-3D3D-25203F2D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376595D-6900-ABA6-E3A1-E5E7F0EB6756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DEA078-5D84-478B-202C-097D3C81F432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9290B7-48ED-CE4A-3318-4DA4319CA0C5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CFCBAD-8B7A-BD99-6D7A-3CE6847D790E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43D8BE-58B5-4CEA-AFD4-2974089EC3B5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FD9611-6608-5EC8-229B-486D4D9C43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86" y="611890"/>
            <a:ext cx="3746894" cy="22702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F21E72-0D9C-0C6E-9431-B344A79C45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422" y="608931"/>
            <a:ext cx="3973655" cy="24076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DF891D-9062-E2AC-6F30-DDD7C807CA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97" y="3700523"/>
            <a:ext cx="3917672" cy="237370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FBB44A5-F5D5-A868-D939-6BAA6CF67B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033" y="3630754"/>
            <a:ext cx="3917674" cy="237370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DA48888-77B5-1CFB-20DE-7002DB0C059E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 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7767F9-F39C-6E25-DBC5-136416F37B8A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13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日龄鸡舍温度探头温度标准差处于</a:t>
            </a:r>
            <a:r>
              <a:rPr lang="en-US" altLang="zh-CN" sz="1400" dirty="0">
                <a:solidFill>
                  <a:schemeClr val="tx1"/>
                </a:solidFill>
              </a:rPr>
              <a:t>0.2-0.3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CB6152-6B3E-6202-1E9B-9FF6205AFC92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14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1734A8-0CF3-9288-3B74-20228A406034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15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253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E441-3AD8-3725-3789-8E79C29B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541715-D24B-849F-E698-1EF61ED2626A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90B79EA-91D7-2D09-7912-5800EBAA5FD5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1A4BCA-B64D-8C95-8AAD-0A72C1810328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6533692-EAA9-E646-F676-B4C371A191CC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18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D26EE5-2E49-4007-287E-989B5C073AF8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19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FAB6C2-02EC-A6FA-353F-D1BA2D2534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12" y="707803"/>
            <a:ext cx="3589008" cy="21745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EB5736A-F40D-28AC-5895-F02FBB99B3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8" y="3637262"/>
            <a:ext cx="3896189" cy="23606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E90A48-26A2-9D07-9A1A-A62F2DAAF2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54" y="3665275"/>
            <a:ext cx="3803723" cy="23046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A35796-15AF-7F1E-2513-90576BE489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8" y="569319"/>
            <a:ext cx="3689360" cy="223536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4B38803-7241-80C2-C8A5-0853F1F0B92B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16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4345D5-DD2F-BEC3-28E4-4CED3C0149A5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17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75785E-88D3-3638-D1B8-532640D88615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18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D70CD4-1E2A-5791-AFFD-452D832DB73B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19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015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E524-C86B-0798-CF49-6D0C4310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84F2C1A-F40D-C8E4-0377-636DB21725B4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448277-73A7-4FDA-EE3D-013853C73AE7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EBF829-0163-2EE6-B75E-7B56C4D5261B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10B505-1EDC-1A2C-4257-206295296106}"/>
              </a:ext>
            </a:extLst>
          </p:cNvPr>
          <p:cNvSpPr txBox="1"/>
          <p:nvPr/>
        </p:nvSpPr>
        <p:spPr>
          <a:xfrm>
            <a:off x="-15061" y="3639996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B743C9D-1076-C31D-873A-04E3599954EA}"/>
              </a:ext>
            </a:extLst>
          </p:cNvPr>
          <p:cNvSpPr txBox="1"/>
          <p:nvPr/>
        </p:nvSpPr>
        <p:spPr>
          <a:xfrm>
            <a:off x="5970218" y="3700523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BBB3CD-A45E-C465-29DD-9982985BA0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53" y="695749"/>
            <a:ext cx="3562610" cy="21585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FC6E49-4E7A-AE55-378C-5C7490EE8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439" y="635223"/>
            <a:ext cx="3562608" cy="21585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5B4B13-9E07-AB87-8112-B5EFE49E6D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402" y="3700421"/>
            <a:ext cx="3687711" cy="22343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722A115-C1BC-C5C5-DD2F-FF8876A07B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439" y="3746429"/>
            <a:ext cx="3687713" cy="223437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110A850-1064-039F-B9D3-8208A3467360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日龄探头温度标准差平均大于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5C44D9-AE38-4046-F494-1FA5CA9E2DFD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1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或大于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较高。极均衡时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较低，考虑其他风险或异常 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C5C15D-8BFA-D6F9-A0A2-0E5CEEFA5BEF}"/>
              </a:ext>
            </a:extLst>
          </p:cNvPr>
          <p:cNvSpPr/>
          <p:nvPr/>
        </p:nvSpPr>
        <p:spPr>
          <a:xfrm>
            <a:off x="803924" y="6099817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77FBD7-ECFA-917D-7E13-FEFDB56568A7}"/>
              </a:ext>
            </a:extLst>
          </p:cNvPr>
          <p:cNvSpPr/>
          <p:nvPr/>
        </p:nvSpPr>
        <p:spPr>
          <a:xfrm>
            <a:off x="6606429" y="6099816"/>
            <a:ext cx="4927568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</a:p>
        </p:txBody>
      </p:sp>
    </p:spTree>
    <p:extLst>
      <p:ext uri="{BB962C8B-B14F-4D97-AF65-F5344CB8AC3E}">
        <p14:creationId xmlns:p14="http://schemas.microsoft.com/office/powerpoint/2010/main" val="2594568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4F96-29DB-5260-178E-1204DB30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3C2397E-8D35-57FE-71D4-765096FC836B}"/>
              </a:ext>
            </a:extLst>
          </p:cNvPr>
          <p:cNvSpPr/>
          <p:nvPr/>
        </p:nvSpPr>
        <p:spPr>
          <a:xfrm>
            <a:off x="0" y="1"/>
            <a:ext cx="8067675" cy="452132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2CD02A-BC9C-CE75-F24E-7F6F762C5797}"/>
              </a:ext>
            </a:extLst>
          </p:cNvPr>
          <p:cNvSpPr txBox="1"/>
          <p:nvPr/>
        </p:nvSpPr>
        <p:spPr>
          <a:xfrm>
            <a:off x="0" y="611890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24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5C3864-794B-92E6-83FB-5F6CDE27D75B}"/>
              </a:ext>
            </a:extLst>
          </p:cNvPr>
          <p:cNvSpPr txBox="1"/>
          <p:nvPr/>
        </p:nvSpPr>
        <p:spPr>
          <a:xfrm>
            <a:off x="5980529" y="589865"/>
            <a:ext cx="11236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AB02C5-CE4C-8E12-4838-3EC93B0DB2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490" y="531713"/>
            <a:ext cx="3874638" cy="23476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FCB812-BDAE-C55A-ED98-A1B4F02AA8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99" y="611890"/>
            <a:ext cx="3603825" cy="218354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06D81-EACC-58F6-80C6-CAF2F88E308D}"/>
              </a:ext>
            </a:extLst>
          </p:cNvPr>
          <p:cNvSpPr/>
          <p:nvPr/>
        </p:nvSpPr>
        <p:spPr>
          <a:xfrm>
            <a:off x="793613" y="2958921"/>
            <a:ext cx="4937880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F8DB91-FBA5-A15C-BD6D-FDC034786669}"/>
              </a:ext>
            </a:extLst>
          </p:cNvPr>
          <p:cNvSpPr/>
          <p:nvPr/>
        </p:nvSpPr>
        <p:spPr>
          <a:xfrm>
            <a:off x="6606429" y="2958921"/>
            <a:ext cx="4938802" cy="57647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25</a:t>
            </a:r>
            <a:r>
              <a:rPr lang="zh-CN" altLang="en-US" sz="1400" dirty="0">
                <a:solidFill>
                  <a:schemeClr val="tx1"/>
                </a:solidFill>
              </a:rPr>
              <a:t>日龄鸡舍温度探头温度标准差平均小于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时，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较高。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值低，谨慎参考。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39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92" y="1171412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263834"/>
            <a:ext cx="9192622" cy="2088951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分析代码封装和知识转移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663518-7548-4643-8219-608BFF0DFA0C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10276</TotalTime>
  <Words>13176</Words>
  <Application>Microsoft Office PowerPoint</Application>
  <PresentationFormat>宽屏</PresentationFormat>
  <Paragraphs>1147</Paragraphs>
  <Slides>88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88</vt:i4>
      </vt:variant>
    </vt:vector>
  </HeadingPairs>
  <TitlesOfParts>
    <vt:vector size="101" baseType="lpstr">
      <vt:lpstr>Anova Bold</vt:lpstr>
      <vt:lpstr>Anova Light</vt:lpstr>
      <vt:lpstr>Inter</vt:lpstr>
      <vt:lpstr>等线</vt:lpstr>
      <vt:lpstr>等线</vt:lpstr>
      <vt:lpstr>等线 Light</vt:lpstr>
      <vt:lpstr>等线 Light</vt:lpstr>
      <vt:lpstr>Arial</vt:lpstr>
      <vt:lpstr>Calibri</vt:lpstr>
      <vt:lpstr>Wingdings</vt:lpstr>
      <vt:lpstr>Wingdings 2</vt:lpstr>
      <vt:lpstr>SAS - EXTERNAL</vt:lpstr>
      <vt:lpstr>SAS - EXTERNAL - NDA</vt:lpstr>
      <vt:lpstr>PowerPoint 演示文稿</vt:lpstr>
      <vt:lpstr>数智驱动的肉鸡养殖根因分析  成果汇报</vt:lpstr>
      <vt:lpstr>目录</vt:lpstr>
      <vt:lpstr>1.核心影响因素数据加工说明和模型相关图例说明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2.基于饮水量指标的死淘预警模型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死淘影响因素模型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EEF影响因素模型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299</cp:revision>
  <dcterms:created xsi:type="dcterms:W3CDTF">2023-10-08T03:09:00Z</dcterms:created>
  <dcterms:modified xsi:type="dcterms:W3CDTF">2025-06-07T14:17:05Z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