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85"/>
  </p:notesMasterIdLst>
  <p:handoutMasterIdLst>
    <p:handoutMasterId r:id="rId86"/>
  </p:handoutMasterIdLst>
  <p:sldIdLst>
    <p:sldId id="16771194" r:id="rId6"/>
    <p:sldId id="16771204" r:id="rId7"/>
    <p:sldId id="2147477425" r:id="rId8"/>
    <p:sldId id="2147477704" r:id="rId9"/>
    <p:sldId id="2147477705" r:id="rId10"/>
    <p:sldId id="2147477706" r:id="rId11"/>
    <p:sldId id="2147477707" r:id="rId12"/>
    <p:sldId id="2147477702" r:id="rId13"/>
    <p:sldId id="2147477703" r:id="rId14"/>
    <p:sldId id="2147477669" r:id="rId15"/>
    <p:sldId id="2147477627" r:id="rId16"/>
    <p:sldId id="2147477673" r:id="rId17"/>
    <p:sldId id="2147477507" r:id="rId18"/>
    <p:sldId id="2147477629" r:id="rId19"/>
    <p:sldId id="2147477630" r:id="rId20"/>
    <p:sldId id="2147477631" r:id="rId21"/>
    <p:sldId id="2147477632" r:id="rId22"/>
    <p:sldId id="2147477633" r:id="rId23"/>
    <p:sldId id="2147477634" r:id="rId24"/>
    <p:sldId id="2147477635" r:id="rId25"/>
    <p:sldId id="2147477636" r:id="rId26"/>
    <p:sldId id="2147477637" r:id="rId27"/>
    <p:sldId id="2147477677" r:id="rId28"/>
    <p:sldId id="2147477638" r:id="rId29"/>
    <p:sldId id="2147477639" r:id="rId30"/>
    <p:sldId id="2147477640" r:id="rId31"/>
    <p:sldId id="2147477641" r:id="rId32"/>
    <p:sldId id="2147477642" r:id="rId33"/>
    <p:sldId id="2147477643" r:id="rId34"/>
    <p:sldId id="2147477644" r:id="rId35"/>
    <p:sldId id="2147477645" r:id="rId36"/>
    <p:sldId id="2147477646" r:id="rId37"/>
    <p:sldId id="2147477678" r:id="rId38"/>
    <p:sldId id="2147477679" r:id="rId39"/>
    <p:sldId id="2147477680" r:id="rId40"/>
    <p:sldId id="2147477681" r:id="rId41"/>
    <p:sldId id="2147477682" r:id="rId42"/>
    <p:sldId id="2147477683" r:id="rId43"/>
    <p:sldId id="2147477684" r:id="rId44"/>
    <p:sldId id="2147477685" r:id="rId45"/>
    <p:sldId id="2147477686" r:id="rId46"/>
    <p:sldId id="2147477687" r:id="rId47"/>
    <p:sldId id="2147477688" r:id="rId48"/>
    <p:sldId id="2147477689" r:id="rId49"/>
    <p:sldId id="2147477690" r:id="rId50"/>
    <p:sldId id="2147477691" r:id="rId51"/>
    <p:sldId id="2147477692" r:id="rId52"/>
    <p:sldId id="2147477693" r:id="rId53"/>
    <p:sldId id="2147477694" r:id="rId54"/>
    <p:sldId id="2147477695" r:id="rId55"/>
    <p:sldId id="2147477696" r:id="rId56"/>
    <p:sldId id="2147477697" r:id="rId57"/>
    <p:sldId id="2147477698" r:id="rId58"/>
    <p:sldId id="2147477699" r:id="rId59"/>
    <p:sldId id="2147477649" r:id="rId60"/>
    <p:sldId id="2147477648" r:id="rId61"/>
    <p:sldId id="2147477647" r:id="rId62"/>
    <p:sldId id="2147477676" r:id="rId63"/>
    <p:sldId id="2147477675" r:id="rId64"/>
    <p:sldId id="2147477651" r:id="rId65"/>
    <p:sldId id="2147477652" r:id="rId66"/>
    <p:sldId id="2147477653" r:id="rId67"/>
    <p:sldId id="2147477654" r:id="rId68"/>
    <p:sldId id="2147477655" r:id="rId69"/>
    <p:sldId id="2147477656" r:id="rId70"/>
    <p:sldId id="2147477657" r:id="rId71"/>
    <p:sldId id="2147477658" r:id="rId72"/>
    <p:sldId id="2147477667" r:id="rId73"/>
    <p:sldId id="2147477700" r:id="rId74"/>
    <p:sldId id="2147477701" r:id="rId75"/>
    <p:sldId id="2147477659" r:id="rId76"/>
    <p:sldId id="2147477660" r:id="rId77"/>
    <p:sldId id="2147477661" r:id="rId78"/>
    <p:sldId id="2147477662" r:id="rId79"/>
    <p:sldId id="2147477663" r:id="rId80"/>
    <p:sldId id="2147477664" r:id="rId81"/>
    <p:sldId id="2147477665" r:id="rId82"/>
    <p:sldId id="2147477666" r:id="rId83"/>
    <p:sldId id="2147477430" r:id="rId84"/>
  </p:sldIdLst>
  <p:sldSz cx="12192000" cy="6858000"/>
  <p:notesSz cx="6858000" cy="9144000"/>
  <p:custDataLst>
    <p:tags r:id="rId87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C3829F-2C56-4915-AA34-5F93EE359221}">
          <p14:sldIdLst>
            <p14:sldId id="16771194"/>
            <p14:sldId id="16771204"/>
            <p14:sldId id="2147477425"/>
          </p14:sldIdLst>
        </p14:section>
        <p14:section name="数据" id="{2FECDC8B-DE91-4323-AA2B-D801C56C963D}">
          <p14:sldIdLst/>
        </p14:section>
        <p14:section name="图例" id="{76BBB22E-3CD8-442F-A55A-EFE124622DB0}">
          <p14:sldIdLst>
            <p14:sldId id="2147477704"/>
            <p14:sldId id="2147477705"/>
            <p14:sldId id="2147477706"/>
            <p14:sldId id="2147477707"/>
          </p14:sldIdLst>
        </p14:section>
        <p14:section name="变量说明" id="{8B79E469-D076-4B51-A94C-485058BC7F9A}">
          <p14:sldIdLst>
            <p14:sldId id="2147477702"/>
            <p14:sldId id="2147477703"/>
          </p14:sldIdLst>
        </p14:section>
        <p14:section name="饮水量" id="{3B01393A-1D95-4800-BEDE-61C4A5126674}">
          <p14:sldIdLst>
            <p14:sldId id="2147477669"/>
          </p14:sldIdLst>
        </p14:section>
        <p14:section name="冬季" id="{37F0E41A-B668-40D3-8BAC-D2DF595AE658}">
          <p14:sldIdLst>
            <p14:sldId id="2147477627"/>
            <p14:sldId id="2147477673"/>
            <p14:sldId id="2147477507"/>
            <p14:sldId id="2147477629"/>
            <p14:sldId id="2147477630"/>
            <p14:sldId id="2147477631"/>
            <p14:sldId id="2147477632"/>
            <p14:sldId id="2147477633"/>
            <p14:sldId id="2147477634"/>
            <p14:sldId id="2147477635"/>
            <p14:sldId id="2147477636"/>
          </p14:sldIdLst>
        </p14:section>
        <p14:section name="秋季" id="{B4B72D4B-9B16-4888-BCD6-4296BA93142D}">
          <p14:sldIdLst>
            <p14:sldId id="2147477637"/>
            <p14:sldId id="2147477677"/>
            <p14:sldId id="2147477638"/>
            <p14:sldId id="2147477639"/>
            <p14:sldId id="2147477640"/>
            <p14:sldId id="2147477641"/>
            <p14:sldId id="2147477642"/>
            <p14:sldId id="2147477643"/>
            <p14:sldId id="2147477644"/>
            <p14:sldId id="2147477645"/>
            <p14:sldId id="2147477646"/>
          </p14:sldIdLst>
        </p14:section>
        <p14:section name="夏季" id="{946E272D-E265-481A-9352-BD14E2358995}">
          <p14:sldIdLst>
            <p14:sldId id="2147477678"/>
            <p14:sldId id="2147477679"/>
            <p14:sldId id="2147477680"/>
            <p14:sldId id="2147477681"/>
            <p14:sldId id="2147477682"/>
            <p14:sldId id="2147477683"/>
            <p14:sldId id="2147477684"/>
            <p14:sldId id="2147477685"/>
            <p14:sldId id="2147477686"/>
            <p14:sldId id="2147477687"/>
            <p14:sldId id="2147477688"/>
          </p14:sldIdLst>
        </p14:section>
        <p14:section name="春季" id="{1D81D102-CA85-40C8-BD2A-58B83745ED80}">
          <p14:sldIdLst>
            <p14:sldId id="2147477689"/>
            <p14:sldId id="2147477690"/>
            <p14:sldId id="2147477691"/>
            <p14:sldId id="2147477692"/>
            <p14:sldId id="2147477693"/>
            <p14:sldId id="2147477694"/>
            <p14:sldId id="2147477695"/>
            <p14:sldId id="2147477696"/>
            <p14:sldId id="2147477697"/>
            <p14:sldId id="2147477698"/>
            <p14:sldId id="2147477699"/>
          </p14:sldIdLst>
        </p14:section>
        <p14:section name="模型" id="{ABE72186-3AA2-45D4-95D8-3243064FAD44}">
          <p14:sldIdLst>
            <p14:sldId id="2147477649"/>
            <p14:sldId id="2147477648"/>
          </p14:sldIdLst>
        </p14:section>
        <p14:section name="冬季" id="{8777B0C1-C613-4467-9781-ADB7D70DD6DF}">
          <p14:sldIdLst>
            <p14:sldId id="2147477647"/>
            <p14:sldId id="2147477676"/>
            <p14:sldId id="2147477675"/>
            <p14:sldId id="2147477651"/>
            <p14:sldId id="2147477652"/>
            <p14:sldId id="2147477653"/>
            <p14:sldId id="2147477654"/>
            <p14:sldId id="2147477655"/>
            <p14:sldId id="2147477656"/>
            <p14:sldId id="2147477657"/>
            <p14:sldId id="2147477658"/>
            <p14:sldId id="2147477667"/>
            <p14:sldId id="2147477700"/>
            <p14:sldId id="2147477701"/>
            <p14:sldId id="2147477659"/>
            <p14:sldId id="2147477660"/>
            <p14:sldId id="2147477661"/>
            <p14:sldId id="2147477662"/>
            <p14:sldId id="2147477663"/>
            <p14:sldId id="2147477664"/>
            <p14:sldId id="2147477665"/>
            <p14:sldId id="2147477666"/>
          </p14:sldIdLst>
        </p14:section>
        <p14:section name="无标题节" id="{B21C4C34-D348-44A2-A915-B0999FD9FF15}">
          <p14:sldIdLst/>
        </p14:section>
        <p14:section name="下周计划" id="{AAB4484A-A58E-4FF9-9CE2-A3928016DD34}">
          <p14:sldIdLst>
            <p14:sldId id="21474774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1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96" autoAdjust="0"/>
    <p:restoredTop sz="91613" autoAdjust="0"/>
  </p:normalViewPr>
  <p:slideViewPr>
    <p:cSldViewPr snapToGrid="0" showGuides="1">
      <p:cViewPr>
        <p:scale>
          <a:sx n="66" d="100"/>
          <a:sy n="66" d="100"/>
        </p:scale>
        <p:origin x="1665" y="237"/>
      </p:cViewPr>
      <p:guideLst>
        <p:guide orient="horz" pos="2103"/>
        <p:guide pos="2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viewProps" Target="viewProp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90" Type="http://schemas.openxmlformats.org/officeDocument/2006/relationships/theme" Target="theme/theme1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tags" Target="tags/tag1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E34E3-7E5C-436A-9E6D-2FFC8FFCFCBF}" type="datetimeFigureOut">
              <a:rPr lang="en-US" smtClean="0">
                <a:latin typeface="Anova Light" panose="020B0403020203020204" pitchFamily="34" charset="0"/>
              </a:rPr>
              <a:t>6/6/2025</a:t>
            </a:fld>
            <a:endParaRPr lang="en-US" dirty="0">
              <a:latin typeface="Anova Light" panose="020B040302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4EF46A2-9381-4C51-8277-3C7F2938E9F9}" type="slidenum">
              <a:rPr lang="en-US" smtClean="0">
                <a:latin typeface="Anova Light" panose="020B0403020203020204" pitchFamily="34" charset="0"/>
              </a:rPr>
              <a:t>‹#›</a:t>
            </a:fld>
            <a:endParaRPr lang="en-US" dirty="0">
              <a:latin typeface="Anov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fld id="{D46682E9-A1D3-F04F-A14F-ABAA4D2618F2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2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00" b="0" i="0" u="none" strike="noStrike" kern="300" cap="none" spc="5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pPr algn="l"/>
            <a:fld id="{C4EF46A2-9381-4C51-8277-3C7F2938E9F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992336" y="8788172"/>
            <a:ext cx="627951" cy="260659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93335" y="8732520"/>
            <a:ext cx="187133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r>
              <a:rPr lang="en-US" sz="800" dirty="0">
                <a:solidFill>
                  <a:schemeClr val="tx1"/>
                </a:solidFill>
                <a:latin typeface="Anova Light" panose="020B0403020203020204" pitchFamily="34" charset="0"/>
              </a:rPr>
              <a:t>sas.com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600" b="0" i="0" kern="1200">
        <a:solidFill>
          <a:schemeClr val="tx1"/>
        </a:solidFill>
        <a:latin typeface="+mn-lt"/>
        <a:ea typeface="+mn-ea"/>
        <a:cs typeface="+mn-cs"/>
      </a:defRPr>
    </a:lvl1pPr>
    <a:lvl2pPr marL="8382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335" b="0" i="0" kern="1200">
        <a:solidFill>
          <a:schemeClr val="tx1"/>
        </a:solidFill>
        <a:latin typeface="+mn-lt"/>
        <a:ea typeface="+mn-ea"/>
        <a:cs typeface="+mn-cs"/>
      </a:defRPr>
    </a:lvl2pPr>
    <a:lvl3pPr marL="14478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20574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065" b="0" i="0" kern="1200">
        <a:solidFill>
          <a:schemeClr val="tx1"/>
        </a:solidFill>
        <a:latin typeface="+mn-lt"/>
        <a:ea typeface="+mn-ea"/>
        <a:cs typeface="+mn-cs"/>
      </a:defRPr>
    </a:lvl4pPr>
    <a:lvl5pPr marL="26670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935" b="0" i="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572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B7883-DF49-93B1-B1F7-BCDD7000F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535F3D-9303-0F9E-7B4B-564A90A98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F3E4A0-6387-075F-68D5-5CFD7A0BE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D283AC-22FD-757E-9927-D2D5BBAFA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15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930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4" y="1890117"/>
            <a:ext cx="1051884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4" y="2813447"/>
            <a:ext cx="1051884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161231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1"/>
            <a:ext cx="5161232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1890117"/>
            <a:ext cx="1052169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2813447"/>
            <a:ext cx="1052169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5161231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0"/>
            <a:ext cx="5161232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42570" y="4400550"/>
            <a:ext cx="406400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0984752" y="6096000"/>
            <a:ext cx="1207248" cy="762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96000"/>
            <a:ext cx="10984752" cy="762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8" name="TextBox 4"/>
          <p:cNvSpPr txBox="1"/>
          <p:nvPr userDrawn="1"/>
        </p:nvSpPr>
        <p:spPr>
          <a:xfrm>
            <a:off x="834955" y="6180007"/>
            <a:ext cx="5725995" cy="420564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35" b="1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Bold" panose="020B07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CONFIDENTIAL — DO NOT DISCLOSE</a:t>
            </a:r>
          </a:p>
        </p:txBody>
      </p:sp>
      <p:sp>
        <p:nvSpPr>
          <p:cNvPr id="10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7" Type="http://schemas.openxmlformats.org/officeDocument/2006/relationships/image" Target="../media/image101.sv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0.png"/><Relationship Id="rId5" Type="http://schemas.openxmlformats.org/officeDocument/2006/relationships/image" Target="../media/image99.svg"/><Relationship Id="rId4" Type="http://schemas.openxmlformats.org/officeDocument/2006/relationships/image" Target="../media/image98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sv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9.svg"/><Relationship Id="rId5" Type="http://schemas.openxmlformats.org/officeDocument/2006/relationships/image" Target="../media/image98.png"/><Relationship Id="rId4" Type="http://schemas.openxmlformats.org/officeDocument/2006/relationships/image" Target="../media/image97.sv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7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0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419" y="1213071"/>
            <a:ext cx="10518846" cy="240065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数智驱动的肉鸡养殖根因分析实施方案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第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6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周成果汇报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34955" y="4308945"/>
            <a:ext cx="8082481" cy="705015"/>
          </a:xfrm>
        </p:spPr>
        <p:txBody>
          <a:bodyPr/>
          <a:lstStyle/>
          <a:p>
            <a:r>
              <a:rPr lang="en-US" altLang="zh-CN" dirty="0"/>
              <a:t>2025.06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/>
          <p:cNvGrpSpPr/>
          <p:nvPr/>
        </p:nvGrpSpPr>
        <p:grpSpPr>
          <a:xfrm>
            <a:off x="2689795" y="1304579"/>
            <a:ext cx="9182857" cy="5080787"/>
            <a:chOff x="2689795" y="1304579"/>
            <a:chExt cx="9182857" cy="508078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2689795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>
            <a:xfrm>
              <a:off x="5215019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>
            <a:xfrm>
              <a:off x="6477631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>
            <a:xfrm>
              <a:off x="1026546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>
            <a:xfrm>
              <a:off x="9002855" y="1442480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77" name="直接连接符 76"/>
            <p:cNvCxnSpPr/>
            <p:nvPr/>
          </p:nvCxnSpPr>
          <p:spPr>
            <a:xfrm>
              <a:off x="395240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>
            <a:xfrm>
              <a:off x="11528078" y="1304579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pic>
          <p:nvPicPr>
            <p:cNvPr id="84" name="图形 83" descr="鲤鱼旗 纯色填充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97028" y="1404375"/>
              <a:ext cx="375624" cy="360000"/>
            </a:xfrm>
            <a:prstGeom prst="rect">
              <a:avLst/>
            </a:prstGeom>
          </p:spPr>
        </p:pic>
        <p:cxnSp>
          <p:nvCxnSpPr>
            <p:cNvPr id="87" name="直接连接符 86"/>
            <p:cNvCxnSpPr/>
            <p:nvPr/>
          </p:nvCxnSpPr>
          <p:spPr>
            <a:xfrm>
              <a:off x="7740243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</p:grpSp>
      <p:cxnSp>
        <p:nvCxnSpPr>
          <p:cNvPr id="49" name="直接连接符 48"/>
          <p:cNvCxnSpPr/>
          <p:nvPr/>
        </p:nvCxnSpPr>
        <p:spPr>
          <a:xfrm>
            <a:off x="11526134" y="1453366"/>
            <a:ext cx="0" cy="493200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65000"/>
              </a:srgbClr>
            </a:solidFill>
            <a:prstDash val="lgDash"/>
            <a:miter lim="800000"/>
          </a:ln>
          <a:effectLst/>
        </p:spPr>
      </p:cxnSp>
      <p:sp>
        <p:nvSpPr>
          <p:cNvPr id="2" name="标题 1"/>
          <p:cNvSpPr txBox="1"/>
          <p:nvPr/>
        </p:nvSpPr>
        <p:spPr>
          <a:xfrm>
            <a:off x="552010" y="27333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基于前期沟通，制定了详细合理的工作实施计划，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PoC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预计整体周期为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周，具体实施过程中采用多任务同步推进，串行和并行相结合的方式进行，有效推进项目快速落地</a:t>
            </a:r>
          </a:p>
        </p:txBody>
      </p:sp>
      <p:sp>
        <p:nvSpPr>
          <p:cNvPr id="6" name="Freeform 60"/>
          <p:cNvSpPr/>
          <p:nvPr/>
        </p:nvSpPr>
        <p:spPr bwMode="auto">
          <a:xfrm>
            <a:off x="1358471" y="1349215"/>
            <a:ext cx="10363180" cy="73919"/>
          </a:xfrm>
          <a:custGeom>
            <a:avLst/>
            <a:gdLst>
              <a:gd name="T0" fmla="*/ 0 w 4490"/>
              <a:gd name="T1" fmla="*/ 2147483647 h 91"/>
              <a:gd name="T2" fmla="*/ 0 w 4490"/>
              <a:gd name="T3" fmla="*/ 0 h 91"/>
              <a:gd name="T4" fmla="*/ 2147483647 w 4490"/>
              <a:gd name="T5" fmla="*/ 0 h 91"/>
              <a:gd name="T6" fmla="*/ 2147483647 w 4490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4490"/>
              <a:gd name="T13" fmla="*/ 0 h 91"/>
              <a:gd name="T14" fmla="*/ 4490 w 4490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0" h="91">
                <a:moveTo>
                  <a:pt x="0" y="91"/>
                </a:moveTo>
                <a:lnTo>
                  <a:pt x="0" y="0"/>
                </a:lnTo>
                <a:lnTo>
                  <a:pt x="4490" y="0"/>
                </a:lnTo>
                <a:lnTo>
                  <a:pt x="4490" y="91"/>
                </a:lnTo>
              </a:path>
            </a:pathLst>
          </a:custGeom>
          <a:noFill/>
          <a:ln w="6350">
            <a:solidFill>
              <a:srgbClr val="BBBCBC"/>
            </a:solidFill>
            <a:round/>
          </a:ln>
        </p:spPr>
        <p:txBody>
          <a:bodyPr wrap="none" lIns="0" tIns="0" rIns="0" bIns="0" anchor="ctr"/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85505" y="1442480"/>
            <a:ext cx="619678" cy="749660"/>
            <a:chOff x="427051" y="1660594"/>
            <a:chExt cx="593903" cy="749660"/>
          </a:xfrm>
        </p:grpSpPr>
        <p:sp>
          <p:nvSpPr>
            <p:cNvPr id="32" name="矩形 31"/>
            <p:cNvSpPr/>
            <p:nvPr/>
          </p:nvSpPr>
          <p:spPr>
            <a:xfrm>
              <a:off x="520023" y="1660594"/>
              <a:ext cx="500931" cy="74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前期准备</a:t>
              </a:r>
            </a:p>
          </p:txBody>
        </p:sp>
        <p:sp>
          <p:nvSpPr>
            <p:cNvPr id="33" name="Oval 20"/>
            <p:cNvSpPr/>
            <p:nvPr/>
          </p:nvSpPr>
          <p:spPr bwMode="gray">
            <a:xfrm>
              <a:off x="427051" y="1943984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0726" y="2284224"/>
            <a:ext cx="616963" cy="3575538"/>
            <a:chOff x="446496" y="2370258"/>
            <a:chExt cx="591301" cy="3575538"/>
          </a:xfrm>
        </p:grpSpPr>
        <p:sp>
          <p:nvSpPr>
            <p:cNvPr id="35" name="矩形 34"/>
            <p:cNvSpPr/>
            <p:nvPr/>
          </p:nvSpPr>
          <p:spPr>
            <a:xfrm>
              <a:off x="528856" y="2370258"/>
              <a:ext cx="508941" cy="3575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主体实施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Oval 20"/>
            <p:cNvSpPr/>
            <p:nvPr/>
          </p:nvSpPr>
          <p:spPr bwMode="gray">
            <a:xfrm>
              <a:off x="446496" y="3822520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7104" y="5910770"/>
            <a:ext cx="618080" cy="453681"/>
            <a:chOff x="406210" y="5558612"/>
            <a:chExt cx="592371" cy="453681"/>
          </a:xfrm>
        </p:grpSpPr>
        <p:sp>
          <p:nvSpPr>
            <p:cNvPr id="38" name="矩形 37"/>
            <p:cNvSpPr/>
            <p:nvPr/>
          </p:nvSpPr>
          <p:spPr>
            <a:xfrm>
              <a:off x="485637" y="5558612"/>
              <a:ext cx="512944" cy="4536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分析交付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Oval 20"/>
            <p:cNvSpPr/>
            <p:nvPr/>
          </p:nvSpPr>
          <p:spPr bwMode="gray">
            <a:xfrm>
              <a:off x="406210" y="5710478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3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矩形 39"/>
          <p:cNvSpPr/>
          <p:nvPr/>
        </p:nvSpPr>
        <p:spPr bwMode="gray">
          <a:xfrm>
            <a:off x="1358471" y="1442481"/>
            <a:ext cx="10363182" cy="750507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1203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环境和数据准备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1203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AutoShape 95"/>
          <p:cNvSpPr>
            <a:spLocks noChangeArrowheads="1"/>
          </p:cNvSpPr>
          <p:nvPr/>
        </p:nvSpPr>
        <p:spPr bwMode="auto">
          <a:xfrm>
            <a:off x="343949" y="1442480"/>
            <a:ext cx="264859" cy="4921972"/>
          </a:xfrm>
          <a:prstGeom prst="rect">
            <a:avLst/>
          </a:prstGeom>
          <a:pattFill prst="dkDn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88900" rIns="0" bIns="88900" anchor="ctr"/>
          <a:lstStyle>
            <a:lvl1pPr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083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时间计划安排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358469" y="2284223"/>
            <a:ext cx="10363182" cy="151240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数据质量检查</a:t>
            </a:r>
          </a:p>
        </p:txBody>
      </p:sp>
      <p:sp>
        <p:nvSpPr>
          <p:cNvPr id="45" name="矩形 44"/>
          <p:cNvSpPr/>
          <p:nvPr/>
        </p:nvSpPr>
        <p:spPr bwMode="gray">
          <a:xfrm>
            <a:off x="1358469" y="5912872"/>
            <a:ext cx="10363182" cy="45368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defTabSz="914400"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成果分析和报表交付</a:t>
            </a:r>
            <a:endParaRPr lang="en-US" altLang="zh-CN" sz="1000" b="1" dirty="0">
              <a:solidFill>
                <a:srgbClr val="01203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774317" y="980093"/>
            <a:ext cx="848804" cy="442535"/>
            <a:chOff x="3224585" y="980599"/>
            <a:chExt cx="848804" cy="442535"/>
          </a:xfrm>
        </p:grpSpPr>
        <p:sp>
          <p:nvSpPr>
            <p:cNvPr id="5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W2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36054" y="980093"/>
            <a:ext cx="848804" cy="442535"/>
            <a:chOff x="2362212" y="980599"/>
            <a:chExt cx="773093" cy="442535"/>
          </a:xfrm>
        </p:grpSpPr>
        <p:sp>
          <p:nvSpPr>
            <p:cNvPr id="9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W3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297791" y="980093"/>
            <a:ext cx="848804" cy="442535"/>
            <a:chOff x="2362212" y="980599"/>
            <a:chExt cx="773093" cy="442535"/>
          </a:xfrm>
        </p:grpSpPr>
        <p:sp>
          <p:nvSpPr>
            <p:cNvPr id="12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W4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59528" y="980093"/>
            <a:ext cx="848804" cy="442535"/>
            <a:chOff x="2362212" y="980599"/>
            <a:chExt cx="773093" cy="442535"/>
          </a:xfrm>
        </p:grpSpPr>
        <p:sp>
          <p:nvSpPr>
            <p:cNvPr id="1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W5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083005" y="980093"/>
            <a:ext cx="848804" cy="442535"/>
            <a:chOff x="2362212" y="980599"/>
            <a:chExt cx="773093" cy="442535"/>
          </a:xfrm>
        </p:grpSpPr>
        <p:sp>
          <p:nvSpPr>
            <p:cNvPr id="18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W7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293002" y="981073"/>
            <a:ext cx="806645" cy="440575"/>
            <a:chOff x="1890330" y="982705"/>
            <a:chExt cx="806645" cy="440575"/>
          </a:xfrm>
        </p:grpSpPr>
        <p:sp>
          <p:nvSpPr>
            <p:cNvPr id="46" name="Text Box 49"/>
            <p:cNvSpPr txBox="1">
              <a:spLocks noChangeArrowheads="1"/>
            </p:cNvSpPr>
            <p:nvPr/>
          </p:nvSpPr>
          <p:spPr bwMode="auto">
            <a:xfrm>
              <a:off x="1890330" y="982705"/>
              <a:ext cx="806645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W0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3" name="Oval 61"/>
            <p:cNvSpPr>
              <a:spLocks noChangeArrowheads="1"/>
            </p:cNvSpPr>
            <p:nvPr/>
          </p:nvSpPr>
          <p:spPr bwMode="auto">
            <a:xfrm>
              <a:off x="2216133" y="1274690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2708293" y="2353974"/>
            <a:ext cx="1226315" cy="2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3" name="矩形 22"/>
          <p:cNvSpPr/>
          <p:nvPr/>
        </p:nvSpPr>
        <p:spPr>
          <a:xfrm>
            <a:off x="2695012" y="1577056"/>
            <a:ext cx="1255450" cy="1644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6" name="矩形 25"/>
          <p:cNvSpPr/>
          <p:nvPr/>
        </p:nvSpPr>
        <p:spPr>
          <a:xfrm>
            <a:off x="3985506" y="2565788"/>
            <a:ext cx="1226316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7" name="矩形 26"/>
          <p:cNvSpPr/>
          <p:nvPr/>
        </p:nvSpPr>
        <p:spPr>
          <a:xfrm>
            <a:off x="3990303" y="3224220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8" name="矩形 27"/>
          <p:cNvSpPr/>
          <p:nvPr/>
        </p:nvSpPr>
        <p:spPr>
          <a:xfrm>
            <a:off x="5243656" y="3919366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9" name="矩形 28"/>
          <p:cNvSpPr/>
          <p:nvPr/>
        </p:nvSpPr>
        <p:spPr>
          <a:xfrm>
            <a:off x="5243656" y="4378978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30" name="矩形 29"/>
          <p:cNvSpPr/>
          <p:nvPr/>
        </p:nvSpPr>
        <p:spPr>
          <a:xfrm>
            <a:off x="6506738" y="4912799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638643" y="2597966"/>
            <a:ext cx="14754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环控数据和生产数据盘点</a:t>
            </a:r>
          </a:p>
        </p:txBody>
      </p:sp>
      <p:sp>
        <p:nvSpPr>
          <p:cNvPr id="53" name="矩形 52"/>
          <p:cNvSpPr/>
          <p:nvPr/>
        </p:nvSpPr>
        <p:spPr>
          <a:xfrm>
            <a:off x="10297042" y="5927268"/>
            <a:ext cx="1349027" cy="253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0095058" y="6152892"/>
            <a:ext cx="17529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5.1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报告交付和现场汇报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968224" y="2832674"/>
            <a:ext cx="22750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数据完整性、准确性、有效性、一致性、时效性检验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968224" y="3420745"/>
            <a:ext cx="12755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2.3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数据缺失率、极值、异常值检查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5243656" y="4154744"/>
            <a:ext cx="12167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变量分布分析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171820" y="4603222"/>
            <a:ext cx="25075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变量趋势分析及异常模式探查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6425581" y="5130637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自变量间相关性探查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2636350" y="1938224"/>
            <a:ext cx="17737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1.2 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分析环境搭建</a:t>
            </a:r>
          </a:p>
        </p:txBody>
      </p:sp>
      <p:sp>
        <p:nvSpPr>
          <p:cNvPr id="22" name="矩形 21"/>
          <p:cNvSpPr/>
          <p:nvPr/>
        </p:nvSpPr>
        <p:spPr bwMode="gray">
          <a:xfrm>
            <a:off x="1358469" y="3840667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现状分析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3512580" y="980093"/>
            <a:ext cx="848804" cy="442535"/>
            <a:chOff x="3224585" y="980599"/>
            <a:chExt cx="848804" cy="442535"/>
          </a:xfrm>
        </p:grpSpPr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W1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821265" y="980093"/>
            <a:ext cx="848804" cy="442535"/>
            <a:chOff x="2362212" y="980599"/>
            <a:chExt cx="773093" cy="442535"/>
          </a:xfrm>
        </p:grpSpPr>
        <p:sp>
          <p:nvSpPr>
            <p:cNvPr id="8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W6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636350" y="1735802"/>
            <a:ext cx="15710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需求确认及数据准备</a:t>
            </a:r>
          </a:p>
        </p:txBody>
      </p:sp>
      <p:sp>
        <p:nvSpPr>
          <p:cNvPr id="90" name="矩形 89"/>
          <p:cNvSpPr/>
          <p:nvPr/>
        </p:nvSpPr>
        <p:spPr>
          <a:xfrm>
            <a:off x="5243734" y="3293787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5202998" y="3549910"/>
            <a:ext cx="14640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2.4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数据质量检查报告</a:t>
            </a:r>
          </a:p>
        </p:txBody>
      </p:sp>
      <p:sp>
        <p:nvSpPr>
          <p:cNvPr id="92" name="矩形 91"/>
          <p:cNvSpPr/>
          <p:nvPr/>
        </p:nvSpPr>
        <p:spPr bwMode="gray">
          <a:xfrm>
            <a:off x="1358469" y="4890483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效应分析</a:t>
            </a:r>
          </a:p>
        </p:txBody>
      </p:sp>
      <p:sp>
        <p:nvSpPr>
          <p:cNvPr id="93" name="矩形 92"/>
          <p:cNvSpPr/>
          <p:nvPr/>
        </p:nvSpPr>
        <p:spPr>
          <a:xfrm>
            <a:off x="6508510" y="5365777"/>
            <a:ext cx="2447835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6425581" y="5583615"/>
            <a:ext cx="2718419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4.2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自变量与目标变量之间影响效应分析</a:t>
            </a:r>
            <a:endParaRPr lang="zh-CN" altLang="en-US" sz="1050" i="1" dirty="0">
              <a:highlight>
                <a:srgbClr val="F1F2F4"/>
              </a:highligh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036391" y="5367174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8955234" y="5585012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4.3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影响效应分析结果解读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3CEBF6-F5D3-BC53-F5FD-4A16ECA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目录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D02FC-AB0A-E09A-CFCB-79E270DFC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226" y="2105025"/>
            <a:ext cx="10628249" cy="3638550"/>
          </a:xfrm>
        </p:spPr>
        <p:txBody>
          <a:bodyPr/>
          <a:lstStyle/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数据清洗与整合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08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7043304-9044-E982-9D22-38D673DB17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38" y="1667404"/>
            <a:ext cx="5197377" cy="318804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249CC9F-2222-F04B-5B18-EDF7F0597824}"/>
              </a:ext>
            </a:extLst>
          </p:cNvPr>
          <p:cNvSpPr txBox="1"/>
          <p:nvPr/>
        </p:nvSpPr>
        <p:spPr>
          <a:xfrm>
            <a:off x="675238" y="362460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图例说明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1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：</a:t>
            </a:r>
            <a:r>
              <a:rPr lang="en-US" altLang="zh-CN" sz="2800" b="1" i="0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WOE </a:t>
            </a:r>
            <a:r>
              <a:rPr lang="zh-CN" altLang="en-US" sz="2800" b="1" i="0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分组双轴图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43A865-CE05-BBFC-499B-39A64D28357A}"/>
              </a:ext>
            </a:extLst>
          </p:cNvPr>
          <p:cNvSpPr txBox="1"/>
          <p:nvPr/>
        </p:nvSpPr>
        <p:spPr>
          <a:xfrm>
            <a:off x="675238" y="967513"/>
            <a:ext cx="10581341" cy="617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600" b="1" i="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图的核心用途：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分析 “</a:t>
            </a:r>
            <a:r>
              <a:rPr lang="zh-CN" altLang="en-US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冬季 </a:t>
            </a:r>
            <a:r>
              <a:rPr lang="en-US" altLang="zh-CN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10-12 </a:t>
            </a:r>
            <a:r>
              <a:rPr lang="zh-CN" altLang="en-US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日龄群体</a:t>
            </a:r>
            <a:r>
              <a:rPr lang="zh-CN" altLang="en-US" sz="1600" i="1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”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中，“</a:t>
            </a:r>
            <a:r>
              <a:rPr lang="zh-CN" altLang="en-US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前 </a:t>
            </a:r>
            <a:r>
              <a:rPr lang="en-US" altLang="zh-CN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1 </a:t>
            </a:r>
            <a:r>
              <a:rPr lang="zh-CN" altLang="en-US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天的饮水差值”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（实际饮水量与基准值的差异）对 “</a:t>
            </a:r>
            <a:r>
              <a:rPr lang="zh-CN" altLang="en-US" sz="1600" b="1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日龄</a:t>
            </a:r>
            <a:r>
              <a:rPr lang="zh-CN" altLang="en-US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死淘率”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（各日龄死亡淘汰比例）的影响，同时展示不同饮水差值区间的 “</a:t>
            </a:r>
            <a:r>
              <a:rPr lang="zh-CN" altLang="en-US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样本数量分布”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，辅助判断数据可靠性。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43DBF3E-867B-75DD-0D12-3593B017294C}"/>
              </a:ext>
            </a:extLst>
          </p:cNvPr>
          <p:cNvGraphicFramePr>
            <a:graphicFrameLocks noGrp="1"/>
          </p:cNvGraphicFramePr>
          <p:nvPr/>
        </p:nvGraphicFramePr>
        <p:xfrm>
          <a:off x="6524349" y="1944194"/>
          <a:ext cx="4992413" cy="2634466"/>
        </p:xfrm>
        <a:graphic>
          <a:graphicData uri="http://schemas.openxmlformats.org/drawingml/2006/table">
            <a:tbl>
              <a:tblPr/>
              <a:tblGrid>
                <a:gridCol w="815655">
                  <a:extLst>
                    <a:ext uri="{9D8B030D-6E8A-4147-A177-3AD203B41FA5}">
                      <a16:colId xmlns:a16="http://schemas.microsoft.com/office/drawing/2014/main" val="2619423002"/>
                    </a:ext>
                  </a:extLst>
                </a:gridCol>
                <a:gridCol w="4176758">
                  <a:extLst>
                    <a:ext uri="{9D8B030D-6E8A-4147-A177-3AD203B41FA5}">
                      <a16:colId xmlns:a16="http://schemas.microsoft.com/office/drawing/2014/main" val="2485446452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元素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含义解析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366417"/>
                  </a:ext>
                </a:extLst>
              </a:tr>
              <a:tr h="491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横轴</a:t>
                      </a:r>
                      <a:endParaRPr lang="zh-CN" altLang="en-US" sz="1200" b="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饮水范围差值（单位：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cm</a:t>
                      </a:r>
                      <a:r>
                        <a:rPr lang="en-US" altLang="zh-CN" sz="1200" b="1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3/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只）：负值 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= 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饮水少于基准值，正值 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= 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饮水多于基准值。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790752"/>
                  </a:ext>
                </a:extLst>
              </a:tr>
              <a:tr h="491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左侧纵轴</a:t>
                      </a:r>
                      <a:endParaRPr lang="zh-CN" altLang="en-US" sz="1200" b="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数量：每个饮水差值区间内的样本数量（蓝色柱状图，越高代表该区间样本越多）。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990408"/>
                  </a:ext>
                </a:extLst>
              </a:tr>
              <a:tr h="491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右侧纵轴</a:t>
                      </a:r>
                      <a:endParaRPr lang="zh-CN" altLang="en-US" sz="1200" b="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死淘率：对应区间的死淘比例（红色折线 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+ 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圆点，数值标注为具体比例，如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0.00114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代表 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1.14‰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）。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548062"/>
                  </a:ext>
                </a:extLst>
              </a:tr>
              <a:tr h="841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阅读逻辑</a:t>
                      </a:r>
                      <a:endParaRPr lang="zh-CN" altLang="en-US" sz="1200" b="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① 样本多的区间（如 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-18.8~-3.4 cm3/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只）的死淘率趋势更具普遍意义；</a:t>
                      </a:r>
                      <a:b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</a:b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② 样本少的区间（如 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-30.9~-18.8 cm3/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只）若死淘率异常，需谨慎解读（可能为偶然）。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20445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FF80F8F9-81EF-377C-1275-47256D0345D8}"/>
              </a:ext>
            </a:extLst>
          </p:cNvPr>
          <p:cNvSpPr txBox="1"/>
          <p:nvPr/>
        </p:nvSpPr>
        <p:spPr>
          <a:xfrm>
            <a:off x="604298" y="5190596"/>
            <a:ext cx="53392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IV</a:t>
            </a:r>
            <a:r>
              <a:rPr lang="zh-CN" altLang="en-US" sz="1200" b="0" i="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（</a:t>
            </a:r>
            <a:r>
              <a:rPr lang="en-US" altLang="zh-CN" sz="1200" b="0" i="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Information Value</a:t>
            </a:r>
            <a:r>
              <a:rPr lang="zh-CN" altLang="en-US" sz="1200" b="0" i="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，信息值）是 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衡量 “饮水差值” 对 “死淘率” 的预测能力</a:t>
            </a:r>
            <a:r>
              <a:rPr lang="zh-CN" altLang="en-US" sz="1200" b="0" i="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 的指标，通过分组（横轴区间）计算各分组对死淘率的 “信息贡献” </a:t>
            </a:r>
            <a:r>
              <a:rPr lang="en-US" altLang="zh-CN" sz="1600" b="1" i="0" baseline="3000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zh-CN" altLang="en-US" sz="1200" b="0" i="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并累加得到。</a:t>
            </a:r>
            <a:endParaRPr lang="en-US" altLang="zh-CN" sz="1200" b="0" i="0" dirty="0"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altLang="zh-CN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sz="1000" i="1" dirty="0"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zh-CN" altLang="en-US" sz="1000" i="1" dirty="0">
                <a:latin typeface="DengXian" panose="02010600030101010101" pitchFamily="2" charset="-122"/>
                <a:ea typeface="DengXian" panose="02010600030101010101" pitchFamily="2" charset="-122"/>
              </a:rPr>
              <a:t>“信息贡献”即“证据权重”（</a:t>
            </a:r>
            <a:r>
              <a:rPr lang="en-US" altLang="zh-CN" sz="10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Weight of Evidence</a:t>
            </a:r>
            <a:r>
              <a:rPr lang="zh-CN" altLang="en-US" sz="1000" i="1" dirty="0">
                <a:latin typeface="DengXian" panose="02010600030101010101" pitchFamily="2" charset="-122"/>
                <a:ea typeface="DengXian" panose="02010600030101010101" pitchFamily="2" charset="-122"/>
              </a:rPr>
              <a:t>），计算公式如下：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D8EF90C-B3F6-BE79-6127-3F51FCE72D30}"/>
              </a:ext>
            </a:extLst>
          </p:cNvPr>
          <p:cNvGraphicFramePr>
            <a:graphicFrameLocks noGrp="1"/>
          </p:cNvGraphicFramePr>
          <p:nvPr/>
        </p:nvGraphicFramePr>
        <p:xfrm>
          <a:off x="6706038" y="5169792"/>
          <a:ext cx="4634624" cy="135255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869512">
                  <a:extLst>
                    <a:ext uri="{9D8B030D-6E8A-4147-A177-3AD203B41FA5}">
                      <a16:colId xmlns:a16="http://schemas.microsoft.com/office/drawing/2014/main" val="1764925945"/>
                    </a:ext>
                  </a:extLst>
                </a:gridCol>
                <a:gridCol w="782145">
                  <a:extLst>
                    <a:ext uri="{9D8B030D-6E8A-4147-A177-3AD203B41FA5}">
                      <a16:colId xmlns:a16="http://schemas.microsoft.com/office/drawing/2014/main" val="1167606723"/>
                    </a:ext>
                  </a:extLst>
                </a:gridCol>
                <a:gridCol w="2982967">
                  <a:extLst>
                    <a:ext uri="{9D8B030D-6E8A-4147-A177-3AD203B41FA5}">
                      <a16:colId xmlns:a16="http://schemas.microsoft.com/office/drawing/2014/main" val="1315381739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1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IV </a:t>
                      </a:r>
                      <a:r>
                        <a:rPr lang="zh-CN" altLang="en-US" sz="1000" b="1" i="1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范围</a:t>
                      </a:r>
                      <a:endParaRPr lang="zh-CN" altLang="en-US" sz="1000" b="1" i="1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1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预测能力强弱</a:t>
                      </a:r>
                      <a:endParaRPr lang="zh-CN" altLang="en-US" sz="1000" b="1" i="1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1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解读（本图 </a:t>
                      </a:r>
                      <a:r>
                        <a:rPr lang="en-US" altLang="zh-CN" sz="1000" b="1" i="1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IV=0.5674</a:t>
                      </a:r>
                      <a:r>
                        <a:rPr lang="zh-CN" altLang="en-US" sz="1000" b="1" i="1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）</a:t>
                      </a:r>
                      <a:endParaRPr lang="zh-CN" altLang="en-US" sz="1000" b="1" i="1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2742938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&lt;0.1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弱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变量对死淘率几乎无区分能力。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extLst>
                  <a:ext uri="{0D108BD9-81ED-4DB2-BD59-A6C34878D82A}">
                    <a16:rowId xmlns:a16="http://schemas.microsoft.com/office/drawing/2014/main" val="413281817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0.1~0.2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中等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有一定区分能力，但需结合其他指标。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extLst>
                  <a:ext uri="{0D108BD9-81ED-4DB2-BD59-A6C34878D82A}">
                    <a16:rowId xmlns:a16="http://schemas.microsoft.com/office/drawing/2014/main" val="168149701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0.2~0.5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较强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对死淘率有较好的解释力。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extLst>
                  <a:ext uri="{0D108BD9-81ED-4DB2-BD59-A6C34878D82A}">
                    <a16:rowId xmlns:a16="http://schemas.microsoft.com/office/drawing/2014/main" val="291903487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&gt;=0.5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强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本图 </a:t>
                      </a:r>
                      <a:r>
                        <a:rPr lang="en-US" altLang="zh-CN" sz="1000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IV=0.5674</a:t>
                      </a:r>
                      <a:r>
                        <a:rPr lang="zh-CN" altLang="en-US" sz="1000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，说明 饮水差值对死淘率有较强预测区分能力，可作为分析死淘原因的关键指标。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extLst>
                  <a:ext uri="{0D108BD9-81ED-4DB2-BD59-A6C34878D82A}">
                    <a16:rowId xmlns:a16="http://schemas.microsoft.com/office/drawing/2014/main" val="2126517100"/>
                  </a:ext>
                </a:extLst>
              </a:tr>
            </a:tbl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1CFDC365-F2BB-E0DF-5215-45B72AABAE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75" y="6191545"/>
            <a:ext cx="1576535" cy="30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15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95106EF-86FF-F202-290C-8CB529785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195" y="2045066"/>
            <a:ext cx="4943448" cy="22262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50784" rIns="91440" bIns="50784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特征重要性条形图</a:t>
            </a:r>
            <a:r>
              <a:rPr lang="zh-CN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 ，用于展示在 “summer（夏季）” 场景下，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与日死淘相关的</a:t>
            </a:r>
            <a:r>
              <a:rPr lang="zh-CN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前 20 个特征的</a:t>
            </a:r>
            <a:r>
              <a:rPr lang="zh-CN" altLang="zh-CN" sz="1400" b="1" i="1" dirty="0">
                <a:latin typeface="等线" panose="02010600030101010101" pitchFamily="2" charset="-122"/>
                <a:ea typeface="等线" panose="02010600030101010101" pitchFamily="2" charset="-122"/>
              </a:rPr>
              <a:t>重要性</a:t>
            </a:r>
            <a:r>
              <a:rPr lang="en-US" altLang="zh-CN" sz="1800" b="1" i="1" baseline="30000" dirty="0"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排序。</a:t>
            </a:r>
            <a:endParaRPr lang="zh-CN" altLang="zh-CN" sz="14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0"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横轴（重要性得分）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：数值越大，代表该特征对模型的影响、贡献度越高，是衡量特征重要性的量化指标。</a:t>
            </a:r>
          </a:p>
          <a:p>
            <a:pPr lvl="0"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纵轴（特征名称）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：以 “water_p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r_xxx” 为前缀，如 water_p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r_diff_7（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天单只饮水量与标准的差值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）、water_p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r_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shift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_diff_7（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 天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单只饮水量较上日涨幅与标准日涨幅的差值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）、water_p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r_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rate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_diff_7（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 天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单只饮水量较上日涨幅变化率与标准涨幅变化率的差值）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48537C-4EC8-678E-3218-60FBF1E896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78" y="1957310"/>
            <a:ext cx="5928844" cy="393317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84C1662-4271-3CDC-71FB-11A8A6C5F9B9}"/>
              </a:ext>
            </a:extLst>
          </p:cNvPr>
          <p:cNvSpPr txBox="1"/>
          <p:nvPr/>
        </p:nvSpPr>
        <p:spPr>
          <a:xfrm>
            <a:off x="675238" y="362460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图例说明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2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：</a:t>
            </a:r>
            <a:r>
              <a:rPr lang="zh-CN" altLang="en-US" sz="2800" b="1" i="0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变量重要性图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1DBC7F-28F7-B73F-0E34-AF97D8351329}"/>
              </a:ext>
            </a:extLst>
          </p:cNvPr>
          <p:cNvSpPr txBox="1"/>
          <p:nvPr/>
        </p:nvSpPr>
        <p:spPr>
          <a:xfrm>
            <a:off x="675238" y="967513"/>
            <a:ext cx="10581341" cy="617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600" b="1" i="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图的核心用途：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这是 </a:t>
            </a:r>
            <a:r>
              <a:rPr lang="en-US" altLang="zh-CN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LightGBM 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模型在夏季（</a:t>
            </a:r>
            <a:r>
              <a:rPr lang="en-US" altLang="zh-CN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summer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）场景下输出的 </a:t>
            </a:r>
            <a:r>
              <a:rPr lang="zh-CN" altLang="en-US" sz="1600" b="1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“</a:t>
            </a:r>
            <a:r>
              <a:rPr lang="en-US" altLang="zh-CN" sz="1600" b="1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Top20 </a:t>
            </a:r>
            <a:r>
              <a:rPr lang="zh-CN" altLang="en-US" sz="1600" b="1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重要特征” 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柱状图，用于展示 哪些饮水相关指标对</a:t>
            </a:r>
            <a:r>
              <a:rPr lang="zh-CN" altLang="en-US" sz="1600" b="1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模型预测目标（死淘）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影响最大。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011B2F-B35C-527B-33A4-08690409A45A}"/>
              </a:ext>
            </a:extLst>
          </p:cNvPr>
          <p:cNvSpPr txBox="1"/>
          <p:nvPr/>
        </p:nvSpPr>
        <p:spPr>
          <a:xfrm>
            <a:off x="6605195" y="4731680"/>
            <a:ext cx="4796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i="1" dirty="0"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zh-CN" altLang="en-US" sz="1200" i="1" dirty="0">
                <a:latin typeface="DengXian" panose="02010600030101010101" pitchFamily="2" charset="-122"/>
                <a:ea typeface="DengXian" panose="02010600030101010101" pitchFamily="2" charset="-122"/>
              </a:rPr>
              <a:t>“重要性指标通过分裂次数来计算，</a:t>
            </a:r>
            <a:r>
              <a:rPr lang="zh-CN" altLang="en-US" sz="12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统计特征在所有决策树中 </a:t>
            </a:r>
            <a:r>
              <a:rPr lang="zh-CN" altLang="en-US" sz="12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被选为分裂节点的总次数</a:t>
            </a:r>
            <a:r>
              <a:rPr lang="zh-CN" altLang="en-US" sz="12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。分裂次数越多，说明该特征越频繁地帮助模型划分样本、拟合标签，重要性越高。</a:t>
            </a:r>
            <a:endParaRPr lang="zh-CN" altLang="en-US" sz="1200" i="1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793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DE5EB8F-8129-553C-B161-B8A72D9B40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61" y="1933615"/>
            <a:ext cx="5385553" cy="356823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785A003-B67A-D0B9-26E3-504BEEE9A4E9}"/>
              </a:ext>
            </a:extLst>
          </p:cNvPr>
          <p:cNvSpPr txBox="1"/>
          <p:nvPr/>
        </p:nvSpPr>
        <p:spPr>
          <a:xfrm>
            <a:off x="6157057" y="2411478"/>
            <a:ext cx="5621482" cy="2035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横轴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是平均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SHAP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值，代表特征对模型输出的 “平均影响力”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en-US" altLang="zh-CN" sz="1400" b="0" i="0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纵轴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是参与建模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序列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名称（如 “探头温度标准差”“鸡舍温度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_mean”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等 ）。</a:t>
            </a:r>
          </a:p>
          <a:p>
            <a:pPr marL="742950" lvl="1" indent="-28575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这张图中“探头温度标准差”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 是最关键特征，对模型决策影响最大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zh-CN" altLang="en-US" sz="1400" b="0" i="0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可用于快速识别 </a:t>
            </a:r>
            <a:r>
              <a:rPr lang="zh-CN" altLang="en-US" sz="14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全局最具影响力的核心特征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zh-CN" altLang="en-US" sz="1400" b="0" i="0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89CB35-1F77-AFF2-7EB7-8E2D201B9D6A}"/>
              </a:ext>
            </a:extLst>
          </p:cNvPr>
          <p:cNvSpPr txBox="1"/>
          <p:nvPr/>
        </p:nvSpPr>
        <p:spPr>
          <a:xfrm>
            <a:off x="538152" y="206692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图例说明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3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：</a:t>
            </a:r>
            <a:r>
              <a:rPr lang="en-US" altLang="zh-CN" sz="2800" b="1" u="none" strike="noStrike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SHAP</a:t>
            </a:r>
            <a:r>
              <a:rPr lang="zh-CN" altLang="en-US" sz="2800" b="1" u="none" strike="noStrike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值平均特征重要性图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8A3D85-CF80-4D51-9791-F5A74AA678DF}"/>
              </a:ext>
            </a:extLst>
          </p:cNvPr>
          <p:cNvSpPr txBox="1"/>
          <p:nvPr/>
        </p:nvSpPr>
        <p:spPr>
          <a:xfrm>
            <a:off x="610888" y="925297"/>
            <a:ext cx="10970224" cy="618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  <a:defRPr sz="1600" b="1" i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r>
              <a:rPr lang="zh-CN" altLang="en-US" dirty="0"/>
              <a:t>图的核心用途：</a:t>
            </a:r>
            <a:r>
              <a:rPr lang="zh-CN" altLang="en-US" b="0" dirty="0"/>
              <a:t>展示不同序列（变量）对模型预测结果的影响程度，即</a:t>
            </a:r>
            <a:r>
              <a:rPr lang="zh-CN" altLang="en-US" dirty="0"/>
              <a:t>特征重要性分析</a:t>
            </a:r>
            <a:r>
              <a:rPr lang="zh-CN" altLang="en-US" b="0" dirty="0"/>
              <a:t>。通过平均</a:t>
            </a:r>
            <a:r>
              <a:rPr lang="en-US" altLang="zh-CN" b="0" dirty="0"/>
              <a:t>SHAP</a:t>
            </a:r>
            <a:r>
              <a:rPr lang="zh-CN" altLang="en-US" b="0" dirty="0"/>
              <a:t>值（</a:t>
            </a:r>
            <a:r>
              <a:rPr lang="en-US" altLang="zh-CN" b="0" dirty="0" err="1"/>
              <a:t>SHapley</a:t>
            </a:r>
            <a:r>
              <a:rPr lang="en-US" altLang="zh-CN" b="0" dirty="0"/>
              <a:t> Additive </a:t>
            </a:r>
            <a:r>
              <a:rPr lang="en-US" altLang="zh-CN" b="0" dirty="0" err="1"/>
              <a:t>exPlanations</a:t>
            </a:r>
            <a:r>
              <a:rPr lang="zh-CN" altLang="en-US" b="0" dirty="0"/>
              <a:t>）来衡量特征对模型输出的平均贡献，帮助理解</a:t>
            </a:r>
            <a:r>
              <a:rPr lang="zh-CN" altLang="en-US" dirty="0"/>
              <a:t>哪些序列在模型中起关键作用</a:t>
            </a:r>
            <a:r>
              <a:rPr lang="zh-CN" altLang="en-US" b="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1972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40EA97-54ED-1DD5-C199-CF8E409994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614" y="1716220"/>
            <a:ext cx="5461759" cy="381259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671A979-0B65-0F9B-338D-EA564C120FE0}"/>
              </a:ext>
            </a:extLst>
          </p:cNvPr>
          <p:cNvSpPr txBox="1"/>
          <p:nvPr/>
        </p:nvSpPr>
        <p:spPr>
          <a:xfrm>
            <a:off x="6663373" y="2525105"/>
            <a:ext cx="4479281" cy="2080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纵轴是特征，横轴是日龄，颜色映射平均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SHAP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值大小（右侧色阶）。</a:t>
            </a:r>
          </a:p>
          <a:p>
            <a:pPr marL="742950" lvl="1" indent="-28575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能观察 </a:t>
            </a:r>
            <a:r>
              <a:rPr lang="zh-CN" altLang="en-US" sz="16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特征重要性的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时序</a:t>
            </a:r>
            <a:r>
              <a:rPr lang="zh-CN" altLang="en-US" sz="16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变化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：比如某些日龄颜色变黄，说明该时刻此特征对模型影响突增；如“鸡舍温度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_mean”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在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步颜色较亮，早期影响更显著 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A62E96D-41DF-8533-5453-A972E66D13FB}"/>
              </a:ext>
            </a:extLst>
          </p:cNvPr>
          <p:cNvSpPr txBox="1"/>
          <p:nvPr/>
        </p:nvSpPr>
        <p:spPr>
          <a:xfrm>
            <a:off x="411263" y="165004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图例说明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4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：</a:t>
            </a:r>
            <a:r>
              <a:rPr lang="en-US" altLang="zh-CN" sz="2800" b="1" u="none" strike="noStrike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SHAP</a:t>
            </a:r>
            <a:r>
              <a:rPr lang="zh-CN" altLang="en-US" sz="2800" b="1" u="none" strike="noStrike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值平均</a:t>
            </a:r>
            <a:r>
              <a:rPr lang="zh-CN" altLang="en-US" sz="280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特征重要性时序热力图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E1643B3-8E9B-5C3F-FD34-CC331ED12155}"/>
              </a:ext>
            </a:extLst>
          </p:cNvPr>
          <p:cNvSpPr txBox="1"/>
          <p:nvPr/>
        </p:nvSpPr>
        <p:spPr>
          <a:xfrm>
            <a:off x="610888" y="925297"/>
            <a:ext cx="10970224" cy="618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  <a:defRPr sz="1600" b="1" i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r>
              <a:rPr lang="zh-CN" altLang="en-US" dirty="0"/>
              <a:t>图的核心用途：</a:t>
            </a:r>
            <a:r>
              <a:rPr lang="zh-CN" altLang="en-US" b="0" dirty="0"/>
              <a:t>按日龄展示每个序列的 </a:t>
            </a:r>
            <a:r>
              <a:rPr lang="en-US" altLang="zh-CN" b="0" dirty="0"/>
              <a:t>SHAP </a:t>
            </a:r>
            <a:r>
              <a:rPr lang="zh-CN" altLang="en-US" b="0" dirty="0"/>
              <a:t>值分布，颜色越亮（黄 </a:t>
            </a:r>
            <a:r>
              <a:rPr lang="en-US" altLang="zh-CN" b="0" dirty="0"/>
              <a:t>/ </a:t>
            </a:r>
            <a:r>
              <a:rPr lang="zh-CN" altLang="en-US" b="0" dirty="0"/>
              <a:t>绿），该日龄下特征影响越大；颜色暗（紫 </a:t>
            </a:r>
            <a:r>
              <a:rPr lang="en-US" altLang="zh-CN" b="0" dirty="0"/>
              <a:t>/ </a:t>
            </a:r>
            <a:r>
              <a:rPr lang="zh-CN" altLang="en-US" b="0" dirty="0"/>
              <a:t>蓝）则影响小。用于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观察 </a:t>
            </a:r>
            <a:r>
              <a:rPr lang="zh-CN" altLang="en-US" sz="16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特征重要性的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时序</a:t>
            </a:r>
            <a:r>
              <a:rPr lang="zh-CN" altLang="en-US" sz="16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变化</a:t>
            </a:r>
            <a:r>
              <a:rPr lang="zh-CN" altLang="en-US" b="0" dirty="0"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280805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93E3270-BED7-7F92-8A09-8AD0778FCA57}"/>
              </a:ext>
            </a:extLst>
          </p:cNvPr>
          <p:cNvSpPr txBox="1"/>
          <p:nvPr/>
        </p:nvSpPr>
        <p:spPr>
          <a:xfrm>
            <a:off x="957695" y="1432404"/>
            <a:ext cx="1078403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指标加工逻辑：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饮水差值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日龄下单只标准饮水量，日龄下单只饮水量具体计算公式为：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Feed*2*1000/(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入雏数量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截止当日累计死淘数量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饮水涨幅差值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日龄下单只饮水量较上日涨幅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日龄下单只标准饮水量较上日涨幅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“前 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n 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天的饮水差值”计算逻辑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：假设今天是 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日龄（比如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11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日龄），前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n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天就是 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T-n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日龄（前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天→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日龄，前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天→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日龄），直接拿 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T-n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日龄当天的饮水差值（实际饮水量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该日龄的标准饮水量）来用。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504950" lvl="2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举个具体例子：在“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10-12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日龄段” 的分析里，样本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日龄的鸡（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T=10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），分析 “前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天” 的差值→取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9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日龄当天的饮水差值；样本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12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日龄的鸡（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T=12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），分析 “前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天” 的差值→取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日龄当天的饮水差值；样本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12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日龄的鸡（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T=12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），分析 “前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天” 的差值→取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11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日龄当天的饮水差值；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理解示例：</a:t>
            </a:r>
            <a:endParaRPr lang="en-US" altLang="zh-CN" sz="1600" b="1" dirty="0">
              <a:solidFill>
                <a:srgbClr val="40404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10-12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日龄，前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天差值超过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-18.8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或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2.3,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该阶段出现高死淘的概率较高：如果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日龄中的某一日龄（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9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11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），当日单只饮水量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该日龄标准单只饮水量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&lt;-18.8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或者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&gt;2.3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，那么它的后一天（分别对应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11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12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）出现高死淘的概率较高</a:t>
            </a:r>
            <a:endParaRPr lang="en-US" altLang="zh-CN" sz="1600" i="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21179D-384C-3D6F-A155-907352E01A5E}"/>
              </a:ext>
            </a:extLst>
          </p:cNvPr>
          <p:cNvSpPr txBox="1"/>
          <p:nvPr/>
        </p:nvSpPr>
        <p:spPr>
          <a:xfrm>
            <a:off x="520363" y="665300"/>
            <a:ext cx="488279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饮水量加工逻辑</a:t>
            </a:r>
            <a:endParaRPr lang="en-US" altLang="zh-CN" sz="1800" b="1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520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C28A7-1B8E-D66A-B0D4-766AB081B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3BFBC91-29CE-3BC8-910E-687ABFC69A8C}"/>
              </a:ext>
            </a:extLst>
          </p:cNvPr>
          <p:cNvSpPr txBox="1"/>
          <p:nvPr/>
        </p:nvSpPr>
        <p:spPr>
          <a:xfrm>
            <a:off x="520130" y="499714"/>
            <a:ext cx="488279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控制变量加工逻辑（环控数据）</a:t>
            </a:r>
            <a:endParaRPr lang="en-US" altLang="zh-CN" sz="1800" b="1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341970-71BB-0630-6CA6-5E96F76F7B53}"/>
              </a:ext>
            </a:extLst>
          </p:cNvPr>
          <p:cNvSpPr txBox="1"/>
          <p:nvPr/>
        </p:nvSpPr>
        <p:spPr>
          <a:xfrm>
            <a:off x="974130" y="949742"/>
            <a:ext cx="10714336" cy="26572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00050" indent="-4000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六个序列加工逻辑：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外部</a:t>
            </a:r>
            <a:r>
              <a:rPr lang="en-US" altLang="zh-CN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zh-CN" altLang="en-US" sz="12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环控数据“外部</a:t>
            </a:r>
            <a:r>
              <a:rPr lang="en-US" altLang="zh-CN" sz="12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2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2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”</a:t>
            </a:r>
            <a:r>
              <a:rPr lang="zh-CN" altLang="en-US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字段的各日龄平均温度</a:t>
            </a:r>
            <a:endParaRPr lang="en-US" altLang="zh-CN" sz="12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r>
              <a:rPr lang="en-US" altLang="zh-CN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zh-CN" altLang="en-US" sz="12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环控数据“湿度内部平均</a:t>
            </a:r>
            <a:r>
              <a:rPr lang="en-US" altLang="zh-CN" sz="12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”</a:t>
            </a:r>
            <a:r>
              <a:rPr lang="zh-CN" altLang="en-US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字段的各日龄平均温度</a:t>
            </a:r>
            <a:endParaRPr lang="en-US" altLang="zh-CN" sz="12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zh-CN" altLang="en-US" sz="12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环控数据“鸡舍温度</a:t>
            </a:r>
            <a:r>
              <a:rPr lang="en-US" altLang="zh-CN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2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”</a:t>
            </a:r>
            <a:r>
              <a:rPr lang="zh-CN" altLang="en-US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字段的各日龄平均温度</a:t>
            </a:r>
            <a:endParaRPr lang="en-US" altLang="zh-CN" sz="12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探头温度标准差：</a:t>
            </a:r>
            <a:r>
              <a:rPr lang="zh-CN" altLang="en-US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各</a:t>
            </a:r>
            <a:r>
              <a:rPr lang="zh-CN" altLang="en-US" sz="12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探头各日龄下平均温度的标准差，其中当日龄</a:t>
            </a:r>
            <a:r>
              <a:rPr lang="en-US" altLang="zh-CN" sz="12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&lt;=5,</a:t>
            </a:r>
            <a:r>
              <a:rPr lang="zh-CN" altLang="en-US" sz="12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按</a:t>
            </a:r>
            <a:r>
              <a:rPr lang="en-US" altLang="zh-CN" sz="12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2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2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2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2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2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探头计算，当日龄</a:t>
            </a:r>
            <a:r>
              <a:rPr lang="en-US" altLang="zh-CN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&gt;5</a:t>
            </a:r>
            <a:r>
              <a:rPr lang="zh-CN" altLang="en-US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时，按探头</a:t>
            </a:r>
            <a:r>
              <a:rPr lang="en-US" altLang="zh-CN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计算。</a:t>
            </a:r>
            <a:endParaRPr lang="en-US" altLang="zh-CN" sz="12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X-</a:t>
            </a:r>
            <a:r>
              <a:rPr lang="zh-CN" altLang="en-US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r>
              <a:rPr lang="zh-CN" altLang="en-US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zh-CN" altLang="en-US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</a:t>
            </a:r>
            <a:r>
              <a:rPr lang="en-US" altLang="zh-CN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</a:t>
            </a:r>
            <a:r>
              <a:rPr lang="zh-CN" altLang="en-US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各日龄下的最大温度减去最小温度</a:t>
            </a:r>
            <a:endParaRPr lang="en-US" altLang="zh-CN" sz="12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X-</a:t>
            </a:r>
            <a:r>
              <a:rPr lang="zh-CN" altLang="en-US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平均变化：</a:t>
            </a:r>
            <a:r>
              <a:rPr lang="zh-CN" altLang="en-US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</a:t>
            </a:r>
            <a:r>
              <a:rPr lang="en-US" altLang="zh-CN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</a:t>
            </a:r>
            <a:r>
              <a:rPr lang="zh-CN" altLang="en-US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各日龄下</a:t>
            </a:r>
            <a:r>
              <a:rPr lang="en-US" altLang="zh-CN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zh-CN" altLang="en-US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时刻与上一时刻的温度差的最大值</a:t>
            </a:r>
            <a:endParaRPr lang="en-US" altLang="zh-CN" sz="120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7886325-CECB-C8AB-6355-8BD193939BA6}"/>
              </a:ext>
            </a:extLst>
          </p:cNvPr>
          <p:cNvSpPr txBox="1"/>
          <p:nvPr/>
        </p:nvSpPr>
        <p:spPr>
          <a:xfrm>
            <a:off x="974130" y="3606944"/>
            <a:ext cx="10714336" cy="11798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00050" indent="-4000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具体指标释义：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W3_0-2</a:t>
            </a:r>
            <a:r>
              <a:rPr lang="zh-CN" altLang="en-US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</a:t>
            </a:r>
            <a:r>
              <a:rPr lang="en-US" altLang="zh-CN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 </a:t>
            </a:r>
            <a:r>
              <a:rPr lang="zh-CN" altLang="en-US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：“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w3</a:t>
            </a:r>
            <a:r>
              <a:rPr lang="zh-CN" altLang="en-US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”指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天为滑窗，把日龄划分成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等阶段。“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天”指计算的日龄阶段。“</a:t>
            </a:r>
            <a:r>
              <a:rPr lang="zh-CN" altLang="en-US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”指计算指标。该指标含义为：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r>
              <a:rPr lang="zh-CN" altLang="en-US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日龄字段“</a:t>
            </a:r>
            <a:r>
              <a:rPr lang="zh-CN" altLang="en-US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2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 </a:t>
            </a:r>
            <a:r>
              <a:rPr lang="zh-CN" altLang="en-US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”的平均值。</a:t>
            </a:r>
            <a:endParaRPr lang="en-US" altLang="zh-CN" sz="120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B8F88A-BBCE-6A4C-F421-ED5E0CD023BA}"/>
              </a:ext>
            </a:extLst>
          </p:cNvPr>
          <p:cNvSpPr txBox="1"/>
          <p:nvPr/>
        </p:nvSpPr>
        <p:spPr>
          <a:xfrm>
            <a:off x="901393" y="4786819"/>
            <a:ext cx="10714336" cy="1833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00050" indent="-4000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理解示例：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895350" lvl="1" indent="-285750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altLang="zh-CN" sz="1400" b="1" i="0" u="none" strike="noStrike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zh-CN" sz="1400" b="1" i="0" u="none" strike="noStrike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，探头温度标准差</a:t>
            </a:r>
            <a:r>
              <a:rPr lang="zh-CN" altLang="zh-CN" sz="1400" b="0" i="0" u="none" strike="noStrike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400" b="1" i="0" u="none" strike="noStrike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0.5</a:t>
            </a:r>
            <a:r>
              <a:rPr lang="zh-CN" altLang="zh-CN" sz="1400" b="0" i="0" u="none" strike="noStrike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。可以理解为：当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温度不均匀（标准差＞</a:t>
            </a:r>
            <a:r>
              <a:rPr lang="en-US" altLang="zh-CN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0.5℃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zh-CN" altLang="en-US" sz="14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，意味着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雏鸡早期环境温度不稳定，出现高死淘率的概率上升，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温度过均匀（标准差极低）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：可能室内温度等不适宜或探头故障，同样有可能增加高死淘率的概率，可排查其他风险。</a:t>
            </a:r>
          </a:p>
          <a:p>
            <a:pPr fontAlgn="ctr"/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438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3E06047-3EFF-2F25-9338-11170B8CF1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317" y="985213"/>
            <a:ext cx="3732414" cy="247607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4E0D45A-8C7D-A250-407A-3928C156A1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909" y="875872"/>
            <a:ext cx="3848568" cy="255312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136704F-EC56-B834-6AEE-A10E113BFE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240" y="3951874"/>
            <a:ext cx="3848569" cy="255312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F0DF33D-1D5B-339F-FCA9-E450F018FF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909" y="3842532"/>
            <a:ext cx="3848567" cy="255312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66BC156-3276-9477-8E11-5511085DF1B1}"/>
              </a:ext>
            </a:extLst>
          </p:cNvPr>
          <p:cNvSpPr txBox="1"/>
          <p:nvPr/>
        </p:nvSpPr>
        <p:spPr>
          <a:xfrm>
            <a:off x="4617239" y="616808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夏季模型变量重要性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79C7EC1-9EDB-3315-FABE-EF2CB8F66B75}"/>
              </a:ext>
            </a:extLst>
          </p:cNvPr>
          <p:cNvSpPr txBox="1"/>
          <p:nvPr/>
        </p:nvSpPr>
        <p:spPr>
          <a:xfrm>
            <a:off x="8478608" y="50746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冬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季模型变量重要性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BC6AF3A-B93A-9B2A-1BA5-DB689C38A171}"/>
              </a:ext>
            </a:extLst>
          </p:cNvPr>
          <p:cNvSpPr txBox="1"/>
          <p:nvPr/>
        </p:nvSpPr>
        <p:spPr>
          <a:xfrm>
            <a:off x="4617239" y="3583469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秋季模型变量重要性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92440DF-3975-7673-F265-B166072B2541}"/>
              </a:ext>
            </a:extLst>
          </p:cNvPr>
          <p:cNvSpPr txBox="1"/>
          <p:nvPr/>
        </p:nvSpPr>
        <p:spPr>
          <a:xfrm>
            <a:off x="8745735" y="351265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春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季模型变量重要性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EEFEFBA3-0F89-1FA9-9BEC-99A549CBE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818783"/>
              </p:ext>
            </p:extLst>
          </p:nvPr>
        </p:nvGraphicFramePr>
        <p:xfrm>
          <a:off x="405577" y="2965725"/>
          <a:ext cx="2466588" cy="10938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616647">
                  <a:extLst>
                    <a:ext uri="{9D8B030D-6E8A-4147-A177-3AD203B41FA5}">
                      <a16:colId xmlns:a16="http://schemas.microsoft.com/office/drawing/2014/main" val="71388623"/>
                    </a:ext>
                  </a:extLst>
                </a:gridCol>
                <a:gridCol w="616647">
                  <a:extLst>
                    <a:ext uri="{9D8B030D-6E8A-4147-A177-3AD203B41FA5}">
                      <a16:colId xmlns:a16="http://schemas.microsoft.com/office/drawing/2014/main" val="3033236461"/>
                    </a:ext>
                  </a:extLst>
                </a:gridCol>
                <a:gridCol w="616647">
                  <a:extLst>
                    <a:ext uri="{9D8B030D-6E8A-4147-A177-3AD203B41FA5}">
                      <a16:colId xmlns:a16="http://schemas.microsoft.com/office/drawing/2014/main" val="1172164157"/>
                    </a:ext>
                  </a:extLst>
                </a:gridCol>
                <a:gridCol w="616647">
                  <a:extLst>
                    <a:ext uri="{9D8B030D-6E8A-4147-A177-3AD203B41FA5}">
                      <a16:colId xmlns:a16="http://schemas.microsoft.com/office/drawing/2014/main" val="2643768175"/>
                    </a:ext>
                  </a:extLst>
                </a:gridCol>
              </a:tblGrid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season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rmse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mae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r2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76024411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summer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0.2903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3076640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autumn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0.2489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87005623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winter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0.0046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0.2549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4905411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spring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0.0039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0.0020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0.3979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099048603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6033E4C5-D365-0AD9-7BBC-903569414739}"/>
              </a:ext>
            </a:extLst>
          </p:cNvPr>
          <p:cNvSpPr txBox="1"/>
          <p:nvPr/>
        </p:nvSpPr>
        <p:spPr>
          <a:xfrm>
            <a:off x="625582" y="25239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模型结果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15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AEDB262-0F43-43AC-506A-67F628762C24}"/>
              </a:ext>
            </a:extLst>
          </p:cNvPr>
          <p:cNvSpPr txBox="1"/>
          <p:nvPr/>
        </p:nvSpPr>
        <p:spPr>
          <a:xfrm>
            <a:off x="613881" y="4426809"/>
            <a:ext cx="4882794" cy="2542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从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值结果来看，选取各日龄阶段的预警窗口如下：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307C40-C3CC-244C-C211-B422090F6906}"/>
              </a:ext>
            </a:extLst>
          </p:cNvPr>
          <p:cNvSpPr txBox="1"/>
          <p:nvPr/>
        </p:nvSpPr>
        <p:spPr>
          <a:xfrm>
            <a:off x="851041" y="3462932"/>
            <a:ext cx="11066125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差值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日龄下单只标准饮水量，日龄下单只饮水量具体计算公式为：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Feed*2*1000/(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入雏数量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截止当日累计死淘数量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涨幅差值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日龄下单只饮水量较上日涨幅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日龄下单只标准饮水量较上日涨幅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如当天日龄是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T-1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T-2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T-3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，以此类推。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值表示对未来高低死淘的区分程度，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值高意味着更好区分高低死淘，具有更好预测性</a:t>
            </a:r>
            <a:endParaRPr lang="en-US" altLang="zh-CN" sz="14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688030-38AA-6AE2-350A-E9BA68C473DC}"/>
              </a:ext>
            </a:extLst>
          </p:cNvPr>
          <p:cNvSpPr txBox="1"/>
          <p:nvPr/>
        </p:nvSpPr>
        <p:spPr>
          <a:xfrm>
            <a:off x="455559" y="314101"/>
            <a:ext cx="1106612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600" b="1" i="0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以当前日龄死淘率为目标，考虑了前</a:t>
            </a:r>
            <a:r>
              <a:rPr lang="en-US" altLang="zh-CN" sz="1600" b="1" i="0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1</a:t>
            </a:r>
            <a:r>
              <a:rPr lang="zh-CN" altLang="en-US" sz="1600" b="1" i="0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600" b="1" i="0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2</a:t>
            </a:r>
            <a:r>
              <a:rPr lang="zh-CN" altLang="en-US" sz="1600" b="1" i="0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600" b="1" i="0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3</a:t>
            </a:r>
            <a:r>
              <a:rPr lang="zh-CN" altLang="en-US" sz="1600" b="1" i="0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600" b="1" dirty="0">
                <a:latin typeface="等线 Light" panose="02010600030101010101" pitchFamily="2" charset="-122"/>
                <a:ea typeface="等线 Light" panose="02010600030101010101" pitchFamily="2" charset="-122"/>
              </a:rPr>
              <a:t>5</a:t>
            </a:r>
            <a:r>
              <a:rPr lang="zh-CN" altLang="en-US" sz="1600" b="1" dirty="0"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600" b="1" dirty="0">
                <a:latin typeface="等线 Light" panose="02010600030101010101" pitchFamily="2" charset="-122"/>
                <a:ea typeface="等线 Light" panose="02010600030101010101" pitchFamily="2" charset="-122"/>
              </a:rPr>
              <a:t>7</a:t>
            </a:r>
            <a:r>
              <a:rPr lang="zh-CN" altLang="en-US" sz="1600" b="1" dirty="0">
                <a:latin typeface="等线 Light" panose="02010600030101010101" pitchFamily="2" charset="-122"/>
                <a:ea typeface="等线 Light" panose="02010600030101010101" pitchFamily="2" charset="-122"/>
              </a:rPr>
              <a:t>天日龄的单只饮水量差值与涨幅差值是否对当前的死淘率产生影响，探究饮水量差值对未来死淘的预测性。</a:t>
            </a:r>
            <a:endParaRPr lang="en-US" altLang="zh-CN" sz="1600" b="1" i="0" u="none" strike="noStrike" dirty="0">
              <a:solidFill>
                <a:srgbClr val="000000"/>
              </a:solidFill>
              <a:effectLst/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DDC979E2-6548-83E9-3772-2E9321753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996171"/>
              </p:ext>
            </p:extLst>
          </p:nvPr>
        </p:nvGraphicFramePr>
        <p:xfrm>
          <a:off x="1334072" y="989507"/>
          <a:ext cx="9309100" cy="211709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76333818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1233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06095625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02367307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0056405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66459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42646100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59332728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91577186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83748314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420922049"/>
                    </a:ext>
                  </a:extLst>
                </a:gridCol>
              </a:tblGrid>
              <a:tr h="269240">
                <a:tc gridSpan="11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冬季各日龄阶段饮水量差值和涨幅差值的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情况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06392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33084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0.567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0.422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7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0.283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0.235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0.502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5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0.395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2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8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82872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0.482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8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0.425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2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0.372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9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38690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B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D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C5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369527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1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0.408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5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0.057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14965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B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5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91488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0.441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0.364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0.286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7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0.336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8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0.307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E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0.248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C4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687517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0.616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0.531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4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0.462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A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CA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0.058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53466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1.420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0.911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1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0.505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D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C6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0.400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8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3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72785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1.082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0.860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D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0.375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0.493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8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0.348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F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C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B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C4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069861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80DC972B-0B59-183C-AB77-9E3F079F6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214386"/>
              </p:ext>
            </p:extLst>
          </p:nvPr>
        </p:nvGraphicFramePr>
        <p:xfrm>
          <a:off x="5579260" y="4553925"/>
          <a:ext cx="3225800" cy="2117090"/>
        </p:xfrm>
        <a:graphic>
          <a:graphicData uri="http://schemas.openxmlformats.org/drawingml/2006/table">
            <a:tbl>
              <a:tblPr/>
              <a:tblGrid>
                <a:gridCol w="787400">
                  <a:extLst>
                    <a:ext uri="{9D8B030D-6E8A-4147-A177-3AD203B41FA5}">
                      <a16:colId xmlns:a16="http://schemas.microsoft.com/office/drawing/2014/main" val="4256827559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4223513649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928376390"/>
                    </a:ext>
                  </a:extLst>
                </a:gridCol>
              </a:tblGrid>
              <a:tr h="269240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冬季各日龄阶段重要关注指标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71704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次高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57154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91534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81660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51027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61314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399931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78840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5792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76354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848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356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B53C7A4-3F9C-12AA-2386-C346215B4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535484"/>
              </p:ext>
            </p:extLst>
          </p:nvPr>
        </p:nvGraphicFramePr>
        <p:xfrm>
          <a:off x="1356875" y="1177104"/>
          <a:ext cx="9478249" cy="2912014"/>
        </p:xfrm>
        <a:graphic>
          <a:graphicData uri="http://schemas.openxmlformats.org/drawingml/2006/table">
            <a:tbl>
              <a:tblPr/>
              <a:tblGrid>
                <a:gridCol w="945015">
                  <a:extLst>
                    <a:ext uri="{9D8B030D-6E8A-4147-A177-3AD203B41FA5}">
                      <a16:colId xmlns:a16="http://schemas.microsoft.com/office/drawing/2014/main" val="2016707435"/>
                    </a:ext>
                  </a:extLst>
                </a:gridCol>
                <a:gridCol w="1137892">
                  <a:extLst>
                    <a:ext uri="{9D8B030D-6E8A-4147-A177-3AD203B41FA5}">
                      <a16:colId xmlns:a16="http://schemas.microsoft.com/office/drawing/2014/main" val="3747801207"/>
                    </a:ext>
                  </a:extLst>
                </a:gridCol>
                <a:gridCol w="3037821">
                  <a:extLst>
                    <a:ext uri="{9D8B030D-6E8A-4147-A177-3AD203B41FA5}">
                      <a16:colId xmlns:a16="http://schemas.microsoft.com/office/drawing/2014/main" val="3257302731"/>
                    </a:ext>
                  </a:extLst>
                </a:gridCol>
                <a:gridCol w="1254726">
                  <a:extLst>
                    <a:ext uri="{9D8B030D-6E8A-4147-A177-3AD203B41FA5}">
                      <a16:colId xmlns:a16="http://schemas.microsoft.com/office/drawing/2014/main" val="2670629766"/>
                    </a:ext>
                  </a:extLst>
                </a:gridCol>
                <a:gridCol w="3102795">
                  <a:extLst>
                    <a:ext uri="{9D8B030D-6E8A-4147-A177-3AD203B41FA5}">
                      <a16:colId xmlns:a16="http://schemas.microsoft.com/office/drawing/2014/main" val="3003640214"/>
                    </a:ext>
                  </a:extLst>
                </a:gridCol>
              </a:tblGrid>
              <a:tr h="370334"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冬季各日龄阶段重要关注指标和预警阈值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508189"/>
                  </a:ext>
                </a:extLst>
              </a:tr>
              <a:tr h="2541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次高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7931768"/>
                  </a:ext>
                </a:extLst>
              </a:tr>
              <a:tr h="2541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-18.8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2.3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,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-1.4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76560"/>
                  </a:ext>
                </a:extLst>
              </a:tr>
              <a:tr h="2541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-5.6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-1.7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463315"/>
                  </a:ext>
                </a:extLst>
              </a:tr>
              <a:tr h="2541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-7.3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-4.6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40827"/>
                  </a:ext>
                </a:extLst>
              </a:tr>
              <a:tr h="2541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277169"/>
                  </a:ext>
                </a:extLst>
              </a:tr>
              <a:tr h="2541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-23.7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18.4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15431"/>
                  </a:ext>
                </a:extLst>
              </a:tr>
              <a:tr h="2541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-41.6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-32.1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499295"/>
                  </a:ext>
                </a:extLst>
              </a:tr>
              <a:tr h="2541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-43.8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-43.3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097969"/>
                  </a:ext>
                </a:extLst>
              </a:tr>
              <a:tr h="2541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-67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-41.4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703159"/>
                  </a:ext>
                </a:extLst>
              </a:tr>
              <a:tr h="2541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-42.7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-34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185330"/>
                  </a:ext>
                </a:extLst>
              </a:tr>
            </a:tbl>
          </a:graphicData>
        </a:graphic>
      </p:graphicFrame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388F6D88-AEBA-2F1E-754B-F8F6B5F2DA3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日龄死淘预警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4EED28-ACC9-4028-CD89-46E7E62510A2}"/>
              </a:ext>
            </a:extLst>
          </p:cNvPr>
          <p:cNvSpPr txBox="1"/>
          <p:nvPr/>
        </p:nvSpPr>
        <p:spPr>
          <a:xfrm>
            <a:off x="1036286" y="4444988"/>
            <a:ext cx="10664229" cy="1854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029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2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负向差值主导</a:t>
            </a:r>
            <a:endParaRPr lang="zh-CN" altLang="en-US" sz="1200" b="0" i="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大部分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日龄段的最高风险阈值为负值，且阈值普遍较低（如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-67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-43.8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），表明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饮水量不足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是冬季死淘的主要诱因，</a:t>
            </a: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仅少数日龄段（如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16-18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日龄、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22-24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日龄）对正向差值敏感，需警惕局部过热或设备故障。</a:t>
            </a:r>
            <a:endParaRPr lang="en-US" altLang="zh-CN" sz="1200" b="0" i="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大日龄段（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25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日龄后）的预警阈值呈现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断崖式下降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（如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25-27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日龄：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-41.6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），可能与后期代谢需求增加和冷应激叠加相关</a:t>
            </a:r>
            <a:endParaRPr lang="en-US" altLang="zh-CN" sz="1200" b="0" i="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2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长期趋势指标减少</a:t>
            </a:r>
            <a:endParaRPr lang="zh-CN" altLang="en-US" sz="1200" b="0" i="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仅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13-15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日龄和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19-21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日龄关注前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天差值，其他日龄段均依赖短期（前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1-2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天）波动，提示冬季问题更易突发。</a:t>
            </a:r>
          </a:p>
        </p:txBody>
      </p:sp>
    </p:spTree>
    <p:extLst>
      <p:ext uri="{BB962C8B-B14F-4D97-AF65-F5344CB8AC3E}">
        <p14:creationId xmlns:p14="http://schemas.microsoft.com/office/powerpoint/2010/main" val="341408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E381808-DC2B-4968-90B7-1B9740DA58B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10 - 12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9A9B81-DCBE-DBE9-68DA-86DA5859CF14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-18.8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2.3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4EFF35-213F-BB21-6F3B-9461E1ED21A3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-1.4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4.7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9F02F6D-725B-1C6A-BFF1-9E2D089D6F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383653"/>
            <a:ext cx="5315113" cy="326026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80EBAAA-B970-BCD3-1C3F-1A665E50B2B1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C6D47A9-C6B7-EFF0-6660-33E23B19CEFA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B3FF361-9363-E0AC-2943-E82839F12F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041" y="1383653"/>
            <a:ext cx="5315113" cy="326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2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7A4CB-164F-170F-4A7C-329AC619F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5043D54-57A6-B1ED-B22D-5709051CACF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13 - 15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7CEF4C-93E9-2D63-DA5A-8FD317335C7E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-5.6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5.1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C03619-D715-D62A-7EAA-2C2014C09C07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-1.7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4.2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B4162B-FEB5-FD22-F254-E6EEBB90B350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70AAAC-5A45-B9C8-7375-8E94ECBE8A81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316C5CF-6BDA-5C03-C0B5-79CF74A9E9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88" y="1517855"/>
            <a:ext cx="5042137" cy="309282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55D6DF7-7E69-95AB-0D2E-411A23E344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250" y="1496416"/>
            <a:ext cx="5044265" cy="309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76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BA9DC-A4E2-C633-CBF4-642DCC5F5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BBF0009-F660-034E-A44D-4036021C224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16 - 18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52ABEE-0D62-7D32-657F-1D618E809DEE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-7.3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15.1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3B3137-6730-8C54-0234-A22E064DE078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-4.6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7.4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400EE9-6FF6-7303-E8C8-AED2205876BC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588DAD-4726-55FC-EC79-2BC790C3036D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EFE7F30-46DC-F4CE-DB76-829BE58CA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387853"/>
            <a:ext cx="5032377" cy="308553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A8C7F68-2231-F8B4-0845-3C2DE3D49A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041" y="1367156"/>
            <a:ext cx="5097740" cy="312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981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E64D8-532B-6E75-8BDE-517B490E5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8F42EA03-0EBC-DFB6-E74A-2F494E988CC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19 - 21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D849BC-37FB-4B72-55C6-D95C03588406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61F5BFA-64DB-9D51-C7C3-F29C13EA98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50" y="1615838"/>
            <a:ext cx="4888377" cy="29985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C682637-B718-09B1-FA08-FDF86DB1C1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286" y="1615838"/>
            <a:ext cx="5040651" cy="309191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412C141-FCED-BA8A-52D9-29DAA79829EE}"/>
              </a:ext>
            </a:extLst>
          </p:cNvPr>
          <p:cNvSpPr txBox="1"/>
          <p:nvPr/>
        </p:nvSpPr>
        <p:spPr>
          <a:xfrm>
            <a:off x="8040622" y="97304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5032DC-270E-8B73-AB33-383CD9C8D70A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19.1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6FDBAFF-A40D-CD23-4332-1A41EE0D6E4D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14.3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830785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A316A-887D-5334-5A6A-D95C1027F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BA3E0BF-9A9E-42AF-8C64-A3080F44C45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22 - 24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CE5D48-151F-40D2-3DF3-96828F445553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52D68-FA59-C594-BF77-FFEC9E16ECB1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F7F6FF1-FB54-F4BB-D445-8E8E9A1746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42" y="1536372"/>
            <a:ext cx="5428830" cy="333001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99B28E8-913A-6A29-07E8-3107AE62D5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239" y="1696862"/>
            <a:ext cx="4905542" cy="300903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54FF3D4-04CF-6E62-DEA5-127D58579630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-15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91FAF1-8F84-D8D9-611B-D68D57550941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-23.7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18.4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803865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F4FFF-E497-B05C-DE15-C47C1FF4C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C2B6658-1456-F320-19DF-124B5A749D5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25 - 27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86BCBE-F702-3DE0-CC91-B00A5E1A1AD0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0CEE44-A636-B39F-D872-81ABE763BDA2}"/>
              </a:ext>
            </a:extLst>
          </p:cNvPr>
          <p:cNvSpPr txBox="1"/>
          <p:nvPr/>
        </p:nvSpPr>
        <p:spPr>
          <a:xfrm>
            <a:off x="7677105" y="93251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F72DEA0-B2DA-A17E-F27B-CA9079697A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369617"/>
            <a:ext cx="4833160" cy="296463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E11B279-711C-16B9-1157-56DFB3D3B7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69617"/>
            <a:ext cx="5188788" cy="318277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372E4C0-AF96-07BB-C098-458748C40522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-41.6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B7093AA-74D8-475F-FBFD-BC9D5A502992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-32.1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2173652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1D3F8-0497-295B-CF48-AE4617159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19CC62F-FE75-FCC5-E211-9309AF25F6F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28 - 30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F5C7C-1C9A-FF7E-ED62-35A4EF9CABB5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65646E-EB51-BAF4-8E72-2E4B4B4FB3AE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6601881-8539-C634-B8C3-13D72FF991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615838"/>
            <a:ext cx="5255414" cy="324267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3B7A7BD-242E-5F9F-81B0-D5DA61A74D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580" y="1539170"/>
            <a:ext cx="5498254" cy="339250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5D011EC4-D99C-E7D6-00ED-36CFBCB36334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-43.8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3FE9E2-A6C8-6019-EDC8-3C047BCCDA27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-43.3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1004901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A096F-9834-2F5E-6226-5D4125BA7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5C5308B-DEF8-B20B-C1D1-EA616722918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31 - 33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155DC0-4B8E-91E1-CCC2-28C8119DC642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D1E621-EAFF-6EE8-33E1-85103FC83FC5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7A3682F-77EE-86D8-C639-B6812FDD32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77" y="1394018"/>
            <a:ext cx="5413959" cy="334049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31FBCEA-76A9-9E7B-5418-18CA07A852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932" y="1394018"/>
            <a:ext cx="5413958" cy="3340498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75DD9DA8-88D8-3FD8-7DDF-A711B72249E7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-67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CB033DC-7EDF-A04C-079C-0A15C11C956F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-41.4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3606946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D800B-06C0-159F-EBE2-EAD838147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BC9BB18D-E301-E947-AB1B-17348544753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34 - 35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63E06D-4980-9722-4658-274C18E56C34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C6E265-ED55-0277-31D2-B5E9BB8E3F93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266350E-BA23-C1A3-1C93-455C04C8DE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60" y="1349767"/>
            <a:ext cx="5557394" cy="3429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D9CAB56-0488-A359-CE8D-28D7208723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385" y="1192952"/>
            <a:ext cx="5557396" cy="3429001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C5F5181A-4CB8-CCEE-E3C8-8DFFB64A5C25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-42.7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79168-B6C9-93DE-7785-875DDC698E3D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天前的饮水差值超过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-34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9977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ED032-BF0E-7E6F-6DD2-E2E5EC045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DE2E700-1473-C9A4-021B-6C2F09206E02}"/>
              </a:ext>
            </a:extLst>
          </p:cNvPr>
          <p:cNvSpPr txBox="1"/>
          <p:nvPr/>
        </p:nvSpPr>
        <p:spPr>
          <a:xfrm>
            <a:off x="274833" y="4369165"/>
            <a:ext cx="1036833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从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值结果来看，选取各日龄阶段的预警窗口如下：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C1D91DE-8B27-A9E2-5164-E980A354E434}"/>
              </a:ext>
            </a:extLst>
          </p:cNvPr>
          <p:cNvSpPr txBox="1"/>
          <p:nvPr/>
        </p:nvSpPr>
        <p:spPr>
          <a:xfrm>
            <a:off x="851042" y="3462932"/>
            <a:ext cx="10489916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差值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日龄下单只标准饮水量，日龄下单只饮水量具体计算公式为：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Feed*2/(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入雏数量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截止当日累计死淘数量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涨幅差值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日龄下单只饮水量较上日涨幅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日龄下单只标准饮水量较上日涨幅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如当天日龄是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T-1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T-2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T-3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，以此类推。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值表示对未来高低死淘的区分程度，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值高意味着更好区分高低死淘，具有更好预测性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85ECC6-C5C4-D69A-3241-C589209519AE}"/>
              </a:ext>
            </a:extLst>
          </p:cNvPr>
          <p:cNvSpPr txBox="1"/>
          <p:nvPr/>
        </p:nvSpPr>
        <p:spPr>
          <a:xfrm>
            <a:off x="368156" y="314101"/>
            <a:ext cx="1057382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以当前日龄死淘率为目标，考虑了前</a:t>
            </a:r>
            <a:r>
              <a:rPr lang="en-US" altLang="zh-CN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天日龄的单只饮水量差值与涨幅差值是否对当前的死淘率产生影响，探究饮水量差值对未来死淘的预测性。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55EA6FB-4135-114F-CB49-FBDD05B8A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29479"/>
              </p:ext>
            </p:extLst>
          </p:nvPr>
        </p:nvGraphicFramePr>
        <p:xfrm>
          <a:off x="1334072" y="1118420"/>
          <a:ext cx="9309100" cy="2032635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68063939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446685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42001333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9963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78132763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39253777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24268242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235393036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023439437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80166819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488506400"/>
                    </a:ext>
                  </a:extLst>
                </a:gridCol>
              </a:tblGrid>
              <a:tr h="184785">
                <a:tc gridSpan="11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秋季各日龄阶段饮水量差值和涨幅差值的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情况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042993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872031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0.437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7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0.264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C5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0.485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0.303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E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0.319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0.325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0.498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0.463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3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9291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A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0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C1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01104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E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8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B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9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B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0.062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0.0910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F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1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042175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9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0.059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8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0.278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CA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268873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0.066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0.399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D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F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44493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8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9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D5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51672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E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0.234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0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2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2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674414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0.585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0.485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8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0.440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5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0.278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0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C2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178874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0.866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0.807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7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0.498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B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0.339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F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C4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0.397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2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E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CF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9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0.069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94268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F6304B2-AEF6-FA24-5E43-53C934EC5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301026"/>
              </p:ext>
            </p:extLst>
          </p:nvPr>
        </p:nvGraphicFramePr>
        <p:xfrm>
          <a:off x="5459002" y="4615386"/>
          <a:ext cx="3225800" cy="2032635"/>
        </p:xfrm>
        <a:graphic>
          <a:graphicData uri="http://schemas.openxmlformats.org/drawingml/2006/table">
            <a:tbl>
              <a:tblPr/>
              <a:tblGrid>
                <a:gridCol w="787400">
                  <a:extLst>
                    <a:ext uri="{9D8B030D-6E8A-4147-A177-3AD203B41FA5}">
                      <a16:colId xmlns:a16="http://schemas.microsoft.com/office/drawing/2014/main" val="90964673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913159906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769069719"/>
                    </a:ext>
                  </a:extLst>
                </a:gridCol>
              </a:tblGrid>
              <a:tr h="18478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秋季各日龄阶段重要关注指标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78258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次高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395843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2699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288845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14693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32823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541397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08160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07143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561441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740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995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2031775-23BE-B511-D91B-5FB1BDFA4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454897"/>
              </p:ext>
            </p:extLst>
          </p:nvPr>
        </p:nvGraphicFramePr>
        <p:xfrm>
          <a:off x="722008" y="1098616"/>
          <a:ext cx="10230243" cy="2661726"/>
        </p:xfrm>
        <a:graphic>
          <a:graphicData uri="http://schemas.openxmlformats.org/drawingml/2006/table">
            <a:tbl>
              <a:tblPr/>
              <a:tblGrid>
                <a:gridCol w="1339551">
                  <a:extLst>
                    <a:ext uri="{9D8B030D-6E8A-4147-A177-3AD203B41FA5}">
                      <a16:colId xmlns:a16="http://schemas.microsoft.com/office/drawing/2014/main" val="3087040533"/>
                    </a:ext>
                  </a:extLst>
                </a:gridCol>
                <a:gridCol w="1226747">
                  <a:extLst>
                    <a:ext uri="{9D8B030D-6E8A-4147-A177-3AD203B41FA5}">
                      <a16:colId xmlns:a16="http://schemas.microsoft.com/office/drawing/2014/main" val="3918221272"/>
                    </a:ext>
                  </a:extLst>
                </a:gridCol>
                <a:gridCol w="2934810">
                  <a:extLst>
                    <a:ext uri="{9D8B030D-6E8A-4147-A177-3AD203B41FA5}">
                      <a16:colId xmlns:a16="http://schemas.microsoft.com/office/drawing/2014/main" val="987980274"/>
                    </a:ext>
                  </a:extLst>
                </a:gridCol>
                <a:gridCol w="1367753">
                  <a:extLst>
                    <a:ext uri="{9D8B030D-6E8A-4147-A177-3AD203B41FA5}">
                      <a16:colId xmlns:a16="http://schemas.microsoft.com/office/drawing/2014/main" val="3613088408"/>
                    </a:ext>
                  </a:extLst>
                </a:gridCol>
                <a:gridCol w="3361382">
                  <a:extLst>
                    <a:ext uri="{9D8B030D-6E8A-4147-A177-3AD203B41FA5}">
                      <a16:colId xmlns:a16="http://schemas.microsoft.com/office/drawing/2014/main" val="1514670236"/>
                    </a:ext>
                  </a:extLst>
                </a:gridCol>
              </a:tblGrid>
              <a:tr h="239284"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秋季各日龄阶段重要关注指标和预警阈值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254502"/>
                  </a:ext>
                </a:extLst>
              </a:tr>
              <a:tr h="2392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次高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0893"/>
                  </a:ext>
                </a:extLst>
              </a:tr>
              <a:tr h="2392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-17.4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059423"/>
                  </a:ext>
                </a:extLst>
              </a:tr>
              <a:tr h="2392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-17.7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486416"/>
                  </a:ext>
                </a:extLst>
              </a:tr>
              <a:tr h="2392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-15.5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744682"/>
                  </a:ext>
                </a:extLst>
              </a:tr>
              <a:tr h="23928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-9.5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10.4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-0.9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138711"/>
                  </a:ext>
                </a:extLst>
              </a:tr>
              <a:tr h="23928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19.3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990166"/>
                  </a:ext>
                </a:extLst>
              </a:tr>
              <a:tr h="26888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超过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17.9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16.9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126073"/>
                  </a:ext>
                </a:extLst>
              </a:tr>
              <a:tr h="2392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-28.9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233440"/>
                  </a:ext>
                </a:extLst>
              </a:tr>
              <a:tr h="2392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-22.3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-8.7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670371"/>
                  </a:ext>
                </a:extLst>
              </a:tr>
              <a:tr h="2392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-17.8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775116"/>
                  </a:ext>
                </a:extLst>
              </a:tr>
            </a:tbl>
          </a:graphicData>
        </a:graphic>
      </p:graphicFrame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4AC9F766-9F28-701A-BDBB-15F3470DFC0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日龄死淘预警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C717F1-F09B-C1BE-F167-F4C219D78CF3}"/>
              </a:ext>
            </a:extLst>
          </p:cNvPr>
          <p:cNvSpPr txBox="1"/>
          <p:nvPr/>
        </p:nvSpPr>
        <p:spPr>
          <a:xfrm>
            <a:off x="1076048" y="4103469"/>
            <a:ext cx="10039904" cy="225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029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负向差值敏感性更高</a:t>
            </a:r>
            <a:endParaRPr lang="zh-CN" altLang="en-US" sz="1400" b="0" i="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的预警阈值涉及负值（如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-17.4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-20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等），表明饮水量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低于标准值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对死淘率的影响更显著。</a:t>
            </a: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仅少数日龄段（如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16-18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日龄、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22-24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日龄）对正向差值敏感，可能与环境变化或疾病潜伏期相关。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时间窗口差异</a:t>
            </a:r>
            <a:endParaRPr lang="zh-CN" altLang="en-US" sz="1400" b="0" i="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短期波动（前</a:t>
            </a:r>
            <a:r>
              <a:rPr lang="en-US" altLang="zh-CN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1-3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天差值）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：多数日龄段（如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13-15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日龄、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31-35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日龄）对近期变化敏感，反映急性应激（如换料、免疫反应）。</a:t>
            </a: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长期趋势（前</a:t>
            </a:r>
            <a:r>
              <a:rPr lang="en-US" altLang="zh-CN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5-7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天差值）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22-24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日龄对前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天差值敏感，提示慢性问题累积（如水质恶化或慢性呼吸道病）。</a:t>
            </a:r>
          </a:p>
        </p:txBody>
      </p:sp>
    </p:spTree>
    <p:extLst>
      <p:ext uri="{BB962C8B-B14F-4D97-AF65-F5344CB8AC3E}">
        <p14:creationId xmlns:p14="http://schemas.microsoft.com/office/powerpoint/2010/main" val="562943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2F01A-CA52-83B8-D9F1-6F2D58153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3430246-E3EB-1267-9D71-A0153515B1A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10 - 12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21E4AC-5ECC-12EF-5DDE-46D40530BFCA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-17.4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F823CB-C46F-5BDA-ADBE-EA3B808A6ADB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-4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9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C8419E-57F1-D548-7E3B-63E438555A30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14AC61-7D65-4359-2D23-F399C352B243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7C9A865-0B3C-5DCE-16BD-8A847A6CA8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20" y="1522799"/>
            <a:ext cx="5012907" cy="307489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56E269E-01D6-0C97-6FC2-5F1C6AC8C3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373" y="1500133"/>
            <a:ext cx="5030020" cy="308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263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3EDC6-23B2-A380-975D-87D3351C2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C318079-18E0-95D6-3A9C-A318EA920A1D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13 - 15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3CE754-E918-2DB4-9426-9A892E4EB19A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-17.7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2.2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4C138A-53E3-BB14-4AF2-28F924BF7CD0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8.2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105340-3348-4C31-2B7D-7861963CB738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96D852-1F32-34BD-AB20-B4564F3C044B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7388CFE-025D-26D4-3104-DABD93AB0D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418093"/>
            <a:ext cx="4948518" cy="303539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FFAEB2D-E940-317E-7832-B74F9ECE0C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652" y="1525130"/>
            <a:ext cx="4948518" cy="303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81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A7695-D55C-27E8-29EF-98B876FBD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9069132-6CF3-2F80-33EA-27C78FCA370D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16 - 18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5A6E82-D3AB-117C-A211-63C4840E3EB9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-0.3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1F7D7F-9314-7AE8-3DAF-8B4FF3895C34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-15.5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20.2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FFE11B-C8A8-7CF5-4B0E-AC4003E2B3CB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309D66-3159-D75A-2CB8-E40BF137D331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DCB38FE-6738-353F-2B2B-02CA812C89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38" y="1607502"/>
            <a:ext cx="4749838" cy="291352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D8E6D18-0FBA-A73E-0473-98599832C2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901" y="1491309"/>
            <a:ext cx="5030020" cy="308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86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3E9B0-1189-EB64-042E-526E39EF5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FB63FD9-B863-783A-A2B4-FDC020D6E5B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19 - 21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55E849-ABB1-2688-EBD2-B0987DA14BF7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853FD55-DE22-6B45-AF04-6833DBD4F022}"/>
              </a:ext>
            </a:extLst>
          </p:cNvPr>
          <p:cNvSpPr txBox="1"/>
          <p:nvPr/>
        </p:nvSpPr>
        <p:spPr>
          <a:xfrm>
            <a:off x="8040622" y="97304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68FB71-D6C7-8B69-1018-203979725F75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-9.5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9F0AC0B-1CAE-1D55-EFBF-9B3BB126C9BA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天前涨幅饮水差值超过</a:t>
            </a:r>
            <a:r>
              <a:rPr lang="en-US" altLang="zh-CN" sz="1400" dirty="0">
                <a:solidFill>
                  <a:schemeClr val="tx1"/>
                </a:solidFill>
              </a:rPr>
              <a:t>10.4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-0.9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FDE9317-5017-6E51-0AC7-87A74C9534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77" y="1580721"/>
            <a:ext cx="4837160" cy="29670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49B8598-7B24-5BCE-87EF-CA3208F458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359" y="1454989"/>
            <a:ext cx="5044264" cy="309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2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A21EE-933C-7D09-4D91-037FA4D00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7082B5C-EB94-8762-9E9B-98292746418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22 - 24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7C7400-2A6C-8FCF-5693-5D7B7EC0EEAB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2C2730-ADD0-5C03-8C4D-197503C5D7E0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5B8C93-F6BD-9D31-112F-F552AA39EF3C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27.7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C72E76-1E3C-99EB-9061-4E071E499E51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19.3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DDF6DE-3000-572F-DE7C-DB6AEB3A05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61" y="1420577"/>
            <a:ext cx="4311392" cy="264458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197B8D6-90C1-6E76-4254-EC23520F14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926" y="1499230"/>
            <a:ext cx="4283969" cy="262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185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2966F-017B-D701-2AE0-918F3C62A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15EF804-EE22-B4ED-6106-7841EF1439E1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25 - 27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97A9B2-354F-A0C1-CC2B-1AD97168CCB0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7FFF9E-3D41-1890-29C4-141CFC1F389C}"/>
              </a:ext>
            </a:extLst>
          </p:cNvPr>
          <p:cNvSpPr txBox="1"/>
          <p:nvPr/>
        </p:nvSpPr>
        <p:spPr>
          <a:xfrm>
            <a:off x="7677105" y="93251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8C0D129-CD4D-0C22-8E8B-CE187572747F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-5.5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17.9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02130DC-8808-04AE-04BE-0D840E536318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-5.5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16.9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03BF1D2-DC31-47E6-C95F-2FEEBBA874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71" y="1615838"/>
            <a:ext cx="4486771" cy="275216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96F1278-CA0B-31B5-0613-BFDDE60FB8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041" y="1647447"/>
            <a:ext cx="4486773" cy="275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244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85FBD-F006-34A8-51FB-8BE657628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706D206-0983-AEBA-3217-55BB4DCFAE3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28 - 30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324F1-8532-1F47-3853-5732A413E60B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-17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9E6CFB2-CA22-D2A4-1D36-1F9797E12D1A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-28.9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EEE9C1-3504-3FDF-21F1-559D1A17BA92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A16B94-3574-CA59-90FA-BD4C91320026}"/>
              </a:ext>
            </a:extLst>
          </p:cNvPr>
          <p:cNvSpPr txBox="1"/>
          <p:nvPr/>
        </p:nvSpPr>
        <p:spPr>
          <a:xfrm>
            <a:off x="7677105" y="93251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F8F3050-8AC9-2119-FB4D-EAEB30837D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30" y="1615838"/>
            <a:ext cx="4406854" cy="270314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2992C1E-AF9A-2A6B-E026-42274353C6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955" y="1367210"/>
            <a:ext cx="521751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12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3B5C2-2760-4A29-64F7-168ABDDB5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B049A30-E585-142F-01E7-542F489FD3E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31 - 33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0BBDCE-2607-58F5-9BB8-A3E9624CD4E3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9A9411-A11D-4675-29E8-8BCC7F15A90B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5AD60E-8E27-D8CA-2DEB-D52D8BFC6C3F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-22.3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607108-95D0-A937-0A4C-1E20987553F2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-8.7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0551F7B-5C7C-587C-6F67-1FB8AD9AA4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69" y="1571643"/>
            <a:ext cx="4866758" cy="298524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439D244-7381-E0D0-C753-5675212A70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023" y="1550205"/>
            <a:ext cx="4866758" cy="298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40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F8CE4-6E8E-B857-6137-0A001DCFD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8B25BC89-96CE-2716-A304-9652821F537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34 - 35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77E8D1-A9AE-14D5-0932-AAD3B7F2A91C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1DADD6-37B8-8B49-A15E-B82D34F4CA35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15A385-6B82-2F32-212D-FFB3363631CF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-20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A406-EE2A-CFA9-2D6D-16668A87CD32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天前的饮水差值超过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-17.8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7D91449-1C1A-DD55-96AF-3E90B6BEBE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19" y="1447806"/>
            <a:ext cx="4571276" cy="28205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D1969B9-6E82-576C-AACD-E040768C5A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389" y="1241283"/>
            <a:ext cx="4895987" cy="300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8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5807F-4532-12C0-BAF1-D26728AF3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856C7CF-3AFF-5EB9-8BBF-70855ADC36DB}"/>
              </a:ext>
            </a:extLst>
          </p:cNvPr>
          <p:cNvSpPr txBox="1"/>
          <p:nvPr/>
        </p:nvSpPr>
        <p:spPr>
          <a:xfrm>
            <a:off x="274833" y="4369165"/>
            <a:ext cx="1036833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从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值结果来看，选取各日龄阶段的预警窗口如下：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ACA69F-A96C-16B0-7946-AA3A17DC3A7D}"/>
              </a:ext>
            </a:extLst>
          </p:cNvPr>
          <p:cNvSpPr txBox="1"/>
          <p:nvPr/>
        </p:nvSpPr>
        <p:spPr>
          <a:xfrm>
            <a:off x="851042" y="3462932"/>
            <a:ext cx="10489916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差值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日龄下单只标准饮水量，日龄下单只饮水量具体计算公式为：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Feed*2/(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入雏数量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截止当日累计死淘数量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涨幅差值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日龄下单只饮水量较上日涨幅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日龄下单只标准饮水量较上日涨幅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如当天日龄是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T-1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T-2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T-3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，以此类推。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值表示对未来高低死淘的区分程度，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值高意味着更好区分高低死淘，具有更好预测性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4860CB-EB93-1444-B992-07BD5DD74AAC}"/>
              </a:ext>
            </a:extLst>
          </p:cNvPr>
          <p:cNvSpPr txBox="1"/>
          <p:nvPr/>
        </p:nvSpPr>
        <p:spPr>
          <a:xfrm>
            <a:off x="368156" y="314101"/>
            <a:ext cx="1057382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以当前日龄死淘率为目标，考虑了前</a:t>
            </a:r>
            <a:r>
              <a:rPr lang="en-US" altLang="zh-CN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天日龄的单只饮水量差值与涨幅差值是否对当前的死淘率产生影响，探究饮水量差值对未来死淘的预测性。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1F5D7D3-9709-1BBE-7888-E9988BD19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749180"/>
              </p:ext>
            </p:extLst>
          </p:nvPr>
        </p:nvGraphicFramePr>
        <p:xfrm>
          <a:off x="1334072" y="1118420"/>
          <a:ext cx="9309100" cy="2032635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41945518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7082602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0428964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38058127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0219135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3945021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20526532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35379097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028721685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842714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514842228"/>
                    </a:ext>
                  </a:extLst>
                </a:gridCol>
              </a:tblGrid>
              <a:tr h="184785">
                <a:tc gridSpan="11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夏季各日龄阶段饮水量差值和涨幅差值的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情况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56228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294001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C4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0.331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E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D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0.323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8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0.288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6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0.317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2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CA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623517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0.268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0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0.419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0.408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F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CB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0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818344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D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C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C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CA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0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0.1313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0.351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936804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F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8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F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0.056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27561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0.272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A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0.301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C7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946953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0.237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5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D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BF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7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0.266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09080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C9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8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3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2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C0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36421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0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0.302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9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0.310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5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0.300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9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81818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0.232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0.568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0.498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C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0.244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C2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0.445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7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0.319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7618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DA10A31-153A-1D00-AA8B-1E72A1F15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629789"/>
              </p:ext>
            </p:extLst>
          </p:nvPr>
        </p:nvGraphicFramePr>
        <p:xfrm>
          <a:off x="5459002" y="4615386"/>
          <a:ext cx="4157052" cy="2032635"/>
        </p:xfrm>
        <a:graphic>
          <a:graphicData uri="http://schemas.openxmlformats.org/drawingml/2006/table">
            <a:tbl>
              <a:tblPr/>
              <a:tblGrid>
                <a:gridCol w="897545">
                  <a:extLst>
                    <a:ext uri="{9D8B030D-6E8A-4147-A177-3AD203B41FA5}">
                      <a16:colId xmlns:a16="http://schemas.microsoft.com/office/drawing/2014/main" val="753888308"/>
                    </a:ext>
                  </a:extLst>
                </a:gridCol>
                <a:gridCol w="1325199">
                  <a:extLst>
                    <a:ext uri="{9D8B030D-6E8A-4147-A177-3AD203B41FA5}">
                      <a16:colId xmlns:a16="http://schemas.microsoft.com/office/drawing/2014/main" val="2242856516"/>
                    </a:ext>
                  </a:extLst>
                </a:gridCol>
                <a:gridCol w="1934308">
                  <a:extLst>
                    <a:ext uri="{9D8B030D-6E8A-4147-A177-3AD203B41FA5}">
                      <a16:colId xmlns:a16="http://schemas.microsoft.com/office/drawing/2014/main" val="2752815917"/>
                    </a:ext>
                  </a:extLst>
                </a:gridCol>
              </a:tblGrid>
              <a:tr h="18478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夏季各日龄阶段重要关注指标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237758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次高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35308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608504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36889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84193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091677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93495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202924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58506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801175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509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9697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7A480-40F5-CAD6-4AE1-25E02913B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9C356C66-963E-C697-1439-A5E9C86F299D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日龄死淘预警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0FFD61-B8FD-52E1-D9D2-24CD9A366810}"/>
              </a:ext>
            </a:extLst>
          </p:cNvPr>
          <p:cNvSpPr txBox="1"/>
          <p:nvPr/>
        </p:nvSpPr>
        <p:spPr>
          <a:xfrm>
            <a:off x="1076047" y="4783407"/>
            <a:ext cx="10039904" cy="165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饮水激增风险更高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：高温导致鸡群通过饮水降温，但过量饮水可能掩盖采食不足或肠道问题。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长期累积效应显著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：多个日龄段依赖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5-7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（如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13-15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日龄、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22-24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日龄），反映慢性热应激的影响。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涨幅差值敏感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10-12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日龄、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16-18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日龄等阶段对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涨幅差值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（日环比变化量）敏感，提示短期环境突变</a:t>
            </a:r>
            <a:endParaRPr lang="en-US" altLang="zh-CN" sz="1400" b="0" i="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endParaRPr lang="zh-CN" altLang="en-US" sz="1400" b="0" i="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61A7FED-9B96-DC6F-E0F2-8E7337851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594552"/>
              </p:ext>
            </p:extLst>
          </p:nvPr>
        </p:nvGraphicFramePr>
        <p:xfrm>
          <a:off x="838200" y="1312348"/>
          <a:ext cx="10732477" cy="2884519"/>
        </p:xfrm>
        <a:graphic>
          <a:graphicData uri="http://schemas.openxmlformats.org/drawingml/2006/table">
            <a:tbl>
              <a:tblPr/>
              <a:tblGrid>
                <a:gridCol w="1405314">
                  <a:extLst>
                    <a:ext uri="{9D8B030D-6E8A-4147-A177-3AD203B41FA5}">
                      <a16:colId xmlns:a16="http://schemas.microsoft.com/office/drawing/2014/main" val="1734902426"/>
                    </a:ext>
                  </a:extLst>
                </a:gridCol>
                <a:gridCol w="1286972">
                  <a:extLst>
                    <a:ext uri="{9D8B030D-6E8A-4147-A177-3AD203B41FA5}">
                      <a16:colId xmlns:a16="http://schemas.microsoft.com/office/drawing/2014/main" val="1597311591"/>
                    </a:ext>
                  </a:extLst>
                </a:gridCol>
                <a:gridCol w="3078889">
                  <a:extLst>
                    <a:ext uri="{9D8B030D-6E8A-4147-A177-3AD203B41FA5}">
                      <a16:colId xmlns:a16="http://schemas.microsoft.com/office/drawing/2014/main" val="2977259904"/>
                    </a:ext>
                  </a:extLst>
                </a:gridCol>
                <a:gridCol w="1434900">
                  <a:extLst>
                    <a:ext uri="{9D8B030D-6E8A-4147-A177-3AD203B41FA5}">
                      <a16:colId xmlns:a16="http://schemas.microsoft.com/office/drawing/2014/main" val="134108991"/>
                    </a:ext>
                  </a:extLst>
                </a:gridCol>
                <a:gridCol w="3526402">
                  <a:extLst>
                    <a:ext uri="{9D8B030D-6E8A-4147-A177-3AD203B41FA5}">
                      <a16:colId xmlns:a16="http://schemas.microsoft.com/office/drawing/2014/main" val="1380991441"/>
                    </a:ext>
                  </a:extLst>
                </a:gridCol>
              </a:tblGrid>
              <a:tr h="262229"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夏季各日龄阶段重要关注指标和预警阈值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139786"/>
                  </a:ext>
                </a:extLst>
              </a:tr>
              <a:tr h="26222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次高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870071"/>
                  </a:ext>
                </a:extLst>
              </a:tr>
              <a:tr h="26222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差值超过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-9.5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7261"/>
                  </a:ext>
                </a:extLst>
              </a:tr>
              <a:tr h="26222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600268"/>
                  </a:ext>
                </a:extLst>
              </a:tr>
              <a:tr h="26222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-11.3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-20.6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140080"/>
                  </a:ext>
                </a:extLst>
              </a:tr>
              <a:tr h="26222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-22.2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-14.8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989346"/>
                  </a:ext>
                </a:extLst>
              </a:tr>
              <a:tr h="26222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-4.6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5224"/>
                  </a:ext>
                </a:extLst>
              </a:tr>
              <a:tr h="26222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-9.6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2.2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到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964066"/>
                  </a:ext>
                </a:extLst>
              </a:tr>
              <a:tr h="26222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-10.3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1.5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到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6.9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738273"/>
                  </a:ext>
                </a:extLst>
              </a:tr>
              <a:tr h="26222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-14.3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10.6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-19.4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457482"/>
                  </a:ext>
                </a:extLst>
              </a:tr>
              <a:tr h="26222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-24.8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38.7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-23.2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34.1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830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3240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CA22D-9309-1D18-C5FB-C1E52C9F2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CC08006-8D94-8295-8ABA-742B7F3CB0E1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10 - 12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4D260F-1148-D16F-91EE-ABACBF2570F0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11.1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CCA6A1-FB7B-AA28-2932-59AC72C5E01F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-9.5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10.1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E188B5-F949-FE1F-6B98-0AD68BD60A9F}"/>
              </a:ext>
            </a:extLst>
          </p:cNvPr>
          <p:cNvSpPr txBox="1"/>
          <p:nvPr/>
        </p:nvSpPr>
        <p:spPr>
          <a:xfrm>
            <a:off x="1792341" y="101759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B9F562A-570C-3E06-C5BB-7A40023FDC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369253"/>
            <a:ext cx="4982140" cy="305602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370412FA-14F6-F8B3-A8AD-B3AC44928426}"/>
              </a:ext>
            </a:extLst>
          </p:cNvPr>
          <p:cNvSpPr txBox="1"/>
          <p:nvPr/>
        </p:nvSpPr>
        <p:spPr>
          <a:xfrm>
            <a:off x="8040622" y="114070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FE0BAEA-7662-EFCC-1304-7015D9358C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040" y="1563850"/>
            <a:ext cx="5097740" cy="312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30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3AB3C-D4C6-7195-74F3-89F1A3CA0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54DAC7D-7905-4667-1BA1-6743F536216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13 - 15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CDB7F59-84F0-9777-6AF4-BA928F7F19AC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4.7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F80690-0D18-E0DC-B4FB-2A3309B29E66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11.1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B96568-19F7-1BB3-1401-43978F116561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BE854D-595D-B266-B7B6-2EB3476CCFDB}"/>
              </a:ext>
            </a:extLst>
          </p:cNvPr>
          <p:cNvSpPr txBox="1"/>
          <p:nvPr/>
        </p:nvSpPr>
        <p:spPr>
          <a:xfrm>
            <a:off x="7917095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AF944A4-6D2F-135E-81DB-F1BA14469D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45" y="1369056"/>
            <a:ext cx="5124982" cy="31436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AA7A3C8-497C-EADB-C4A1-E8D420D2D6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041" y="1369056"/>
            <a:ext cx="5124983" cy="314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0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57528-4ADE-C647-BF8F-027A99A7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76568BE-571E-38EE-945F-BBE0860EE9F1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16 - 18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8285D7-CB83-8F8C-12EE-8BB5515E4E29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-11.3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6.6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CEB6FC-B7C9-2BE0-419B-14A6404B82D3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-20.6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6.7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784BE9-4689-1E2E-7EB9-9E6EB9942309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2C48AA-F1C6-41D9-E1FD-C27B66B8B14D}"/>
              </a:ext>
            </a:extLst>
          </p:cNvPr>
          <p:cNvSpPr txBox="1"/>
          <p:nvPr/>
        </p:nvSpPr>
        <p:spPr>
          <a:xfrm>
            <a:off x="7917095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A10545B-51C8-E0B0-374C-DF296C40C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780553"/>
            <a:ext cx="4339998" cy="266213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23F0CD5-FFE3-E661-F583-4A8EB016EB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0384" y="1646616"/>
            <a:ext cx="4339998" cy="266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45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4F095-6A10-BC07-A9A1-E01B80776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5D89CC0-D224-03FB-130B-A3FC561BF92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19 - 21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D6334A-56B8-727A-46CE-A0EFAB1C012F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961A7C-156D-DBBB-49D9-83F211650CA6}"/>
              </a:ext>
            </a:extLst>
          </p:cNvPr>
          <p:cNvSpPr txBox="1"/>
          <p:nvPr/>
        </p:nvSpPr>
        <p:spPr>
          <a:xfrm>
            <a:off x="8040622" y="973045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FC2040-59CE-063E-24F9-72B87B9DC3A4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-22.2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6C053E8-6895-CF0E-528E-9B2697F524F0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天前涨幅饮水差值超过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-14.8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AE17973-9F3B-2432-70A5-ED2C9AE7A2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390826"/>
            <a:ext cx="5097740" cy="312693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DBF43F2-23C3-E40A-2220-2A9CE70E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222" y="1390826"/>
            <a:ext cx="4851375" cy="297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066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82CCF-31CC-83B7-FC6C-5E28E80D1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5EC3562-08EE-A1F4-1CEF-D5659DAC155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22 - 24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E73123-3FD9-094A-0C8A-0C6CE4F82416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0E7183-B1A4-C21F-9CD1-88227AEA827A}"/>
              </a:ext>
            </a:extLst>
          </p:cNvPr>
          <p:cNvSpPr txBox="1"/>
          <p:nvPr/>
        </p:nvSpPr>
        <p:spPr>
          <a:xfrm>
            <a:off x="7917095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52F248-E4B9-3E03-6988-7420F4329D3D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-4.6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4.3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9E81CD-E777-9C36-161D-7B782FD84B22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19.6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9912B83-A4F2-1FD2-ABD2-5F0CF218B6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11" y="1586976"/>
            <a:ext cx="4866941" cy="298535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066DF95-2F65-BD83-B246-9D5E6F826A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123" y="1810380"/>
            <a:ext cx="4138520" cy="253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01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8F9A8-1526-42BF-86DF-C11217815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8FA0219-7823-A9B2-1E3D-BCA94CA7188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25 - 27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8A8473-7B8B-824C-0AEB-CC7C9ACA678D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C123F7-55B1-F373-57A1-8D4FA857F399}"/>
              </a:ext>
            </a:extLst>
          </p:cNvPr>
          <p:cNvSpPr txBox="1"/>
          <p:nvPr/>
        </p:nvSpPr>
        <p:spPr>
          <a:xfrm>
            <a:off x="7677105" y="932511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86B085-268A-E837-1DEB-BE0280B1CDC9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-9.6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CEB86F6-BF66-B0E2-9CE8-2DC729DDBF9C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天前饮水差值处于</a:t>
            </a:r>
            <a:r>
              <a:rPr lang="en-US" altLang="zh-CN" sz="1400" dirty="0">
                <a:solidFill>
                  <a:schemeClr val="tx1"/>
                </a:solidFill>
              </a:rPr>
              <a:t>2.2</a:t>
            </a:r>
            <a:r>
              <a:rPr lang="zh-CN" altLang="en-US" sz="1400" dirty="0">
                <a:solidFill>
                  <a:schemeClr val="tx1"/>
                </a:solidFill>
              </a:rPr>
              <a:t>到</a:t>
            </a:r>
            <a:r>
              <a:rPr lang="en-US" altLang="zh-CN" sz="1400" dirty="0">
                <a:solidFill>
                  <a:schemeClr val="tx1"/>
                </a:solidFill>
              </a:rPr>
              <a:t>8.1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81E9548-940C-4FAA-AADD-819564D190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42" y="1328505"/>
            <a:ext cx="5097740" cy="312693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3FA02D4-220F-0738-968F-753C49C8EA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041" y="1328505"/>
            <a:ext cx="4903575" cy="300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45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0A26E-5909-8DDC-B8D6-CA63295AA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7DE687B-D751-4CB3-4843-8DCD24D33D5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28 - 30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F9D6FD-CF44-7353-DC05-D255FAC11C08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-10.3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AE0B49B-C70D-4730-E6DC-2D603F3B7EB9}"/>
              </a:ext>
            </a:extLst>
          </p:cNvPr>
          <p:cNvSpPr/>
          <p:nvPr/>
        </p:nvSpPr>
        <p:spPr>
          <a:xfrm>
            <a:off x="6494650" y="489595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天前饮水差值处于</a:t>
            </a:r>
            <a:r>
              <a:rPr lang="en-US" altLang="zh-CN" sz="1400" dirty="0">
                <a:solidFill>
                  <a:schemeClr val="tx1"/>
                </a:solidFill>
              </a:rPr>
              <a:t>1.5</a:t>
            </a:r>
            <a:r>
              <a:rPr lang="zh-CN" altLang="en-US" sz="1400" dirty="0">
                <a:solidFill>
                  <a:schemeClr val="tx1"/>
                </a:solidFill>
              </a:rPr>
              <a:t>到</a:t>
            </a:r>
            <a:r>
              <a:rPr lang="en-US" altLang="zh-CN" sz="1400" dirty="0">
                <a:solidFill>
                  <a:schemeClr val="tx1"/>
                </a:solidFill>
              </a:rPr>
              <a:t>6.9 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，该阶段出现高死淘的概率较高。可结合现场记录排除异常事件干扰。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4F6DAF-FE80-ABDF-C604-85E6505B281F}"/>
              </a:ext>
            </a:extLst>
          </p:cNvPr>
          <p:cNvSpPr txBox="1"/>
          <p:nvPr/>
        </p:nvSpPr>
        <p:spPr>
          <a:xfrm>
            <a:off x="7677105" y="93251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44EA9F-4C86-7881-AC57-04E019DC05F5}"/>
              </a:ext>
            </a:extLst>
          </p:cNvPr>
          <p:cNvSpPr txBox="1"/>
          <p:nvPr/>
        </p:nvSpPr>
        <p:spPr>
          <a:xfrm>
            <a:off x="1475029" y="988434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64084B0-D5D4-481D-2F8C-E855432AD9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2180"/>
            <a:ext cx="5590195" cy="3429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4A4E16F-E37E-7506-53FE-E6BE79FF55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807" y="1383117"/>
            <a:ext cx="4698816" cy="288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96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A7B44-A6CF-D8E6-9E16-621BE4561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FD48F72-06C4-5967-E02D-AF1F9595ADF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31 - 33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C91B297-786D-D524-A74A-F95D3D4B269B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50F3D7-151A-0530-C37B-F2D9A95069FC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36C03B-5BF7-2F76-8CF3-1516E05127BD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-14.3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10.6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8FF7F0-4AE1-FD69-93AD-5D7E467F41B9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-19.4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EDB461-8083-4FA4-ADCD-C712D5CE59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55" y="1646616"/>
            <a:ext cx="4585854" cy="281294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49661EE-2302-BD8D-C8E1-645B23EA36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507" y="1612844"/>
            <a:ext cx="4585856" cy="281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02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864E1-4D1C-BFE7-5A45-364895CDD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52B01AE-C538-B438-1BBD-B8ED9418A29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34 - 35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17AA43F-7F5B-A071-8105-56ADEE4D4AB4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CD255B-5EA5-EF9F-3A2E-4A47A0275E37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-24.8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38.7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652223-48F0-421F-0403-8F82E67BCD3E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天前的饮水差值超过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-23.2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34.1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E9E72EB-F8FC-23F9-C85E-0B8C7CAE6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5" y="1948733"/>
            <a:ext cx="4383724" cy="268895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7B8474D-DC6F-2D26-ECF2-6606E31543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049" y="1836811"/>
            <a:ext cx="4383724" cy="268895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2C5BD15-DB1F-627B-4AC1-3B59A8AEAC94}"/>
              </a:ext>
            </a:extLst>
          </p:cNvPr>
          <p:cNvSpPr txBox="1"/>
          <p:nvPr/>
        </p:nvSpPr>
        <p:spPr>
          <a:xfrm>
            <a:off x="1658421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7703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E19A3-70D8-7CAB-5DFC-1FF3CA7B6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9E229BE-0EF7-EE6D-703B-56156B5D4312}"/>
              </a:ext>
            </a:extLst>
          </p:cNvPr>
          <p:cNvSpPr txBox="1"/>
          <p:nvPr/>
        </p:nvSpPr>
        <p:spPr>
          <a:xfrm>
            <a:off x="251387" y="4034026"/>
            <a:ext cx="1036833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从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值结果来看，选取各日龄阶段的预警窗口如下：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20B1BF-CE82-FBEC-9B71-8D1C8EF6C9A0}"/>
              </a:ext>
            </a:extLst>
          </p:cNvPr>
          <p:cNvSpPr txBox="1"/>
          <p:nvPr/>
        </p:nvSpPr>
        <p:spPr>
          <a:xfrm>
            <a:off x="827596" y="3127793"/>
            <a:ext cx="10489916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差值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日龄下单只标准饮水量，日龄下单只饮水量具体计算公式为：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Feed*2/(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入雏数量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截止当日累计死淘数量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涨幅差值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日龄下单只饮水量较上日涨幅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日龄下单只标准饮水量较上日涨幅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如当天日龄是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T-1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T-2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T-3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，以此类推。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值表示对未来高低死淘的区分程度，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值高意味着更好区分高低死淘，具有更好预测性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B4C99A5-543B-9C5B-A188-A1A0EE014463}"/>
              </a:ext>
            </a:extLst>
          </p:cNvPr>
          <p:cNvSpPr txBox="1"/>
          <p:nvPr/>
        </p:nvSpPr>
        <p:spPr>
          <a:xfrm>
            <a:off x="368156" y="314101"/>
            <a:ext cx="1057382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以当前日龄死淘率为目标，考虑了前</a:t>
            </a:r>
            <a:r>
              <a:rPr lang="en-US" altLang="zh-CN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天日龄的单只饮水量差值与涨幅差值是否对当前的死淘率产生影响，探究饮水量差值对未来死淘的预测性。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CC3C79A-C8CA-0013-2DDE-0DC8836D3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006347"/>
              </p:ext>
            </p:extLst>
          </p:nvPr>
        </p:nvGraphicFramePr>
        <p:xfrm>
          <a:off x="1441450" y="950851"/>
          <a:ext cx="9309100" cy="2032635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1743955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4753529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190483017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51163056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6399103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2078033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70885199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50555005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83184155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313357714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370236088"/>
                    </a:ext>
                  </a:extLst>
                </a:gridCol>
              </a:tblGrid>
              <a:tr h="184785">
                <a:tc gridSpan="11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春季各日龄阶段饮水量差值和涨幅差值的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情况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190803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177293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0.434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0.497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0.056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0.463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1.176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0.609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B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0.230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3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0.401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0.327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1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35708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0.318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5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0.363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C1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0.484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1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0.404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2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0.359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0.390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E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440638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6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C4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0.336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4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0.236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0.373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1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0.506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0.2683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91696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0.948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0.800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A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A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C0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0.348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B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0.419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0.365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0.569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D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66707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1.098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0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1.321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7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1.582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0.390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0.324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5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C6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0.636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4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0.329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6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0.466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085097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4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0.263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9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C1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0.260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84222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0.541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0.352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97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0.273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3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0.065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C4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0.055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C0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33525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0.914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0.760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5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0.514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2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0.270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0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E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0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C1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7537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1.013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0.852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4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0.784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8F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0.467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4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9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0.248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E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0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836815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E30934F-0709-A515-F335-840E9993E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672984"/>
              </p:ext>
            </p:extLst>
          </p:nvPr>
        </p:nvGraphicFramePr>
        <p:xfrm>
          <a:off x="5284633" y="4178333"/>
          <a:ext cx="4043785" cy="2221406"/>
        </p:xfrm>
        <a:graphic>
          <a:graphicData uri="http://schemas.openxmlformats.org/drawingml/2006/table">
            <a:tbl>
              <a:tblPr/>
              <a:tblGrid>
                <a:gridCol w="1376916">
                  <a:extLst>
                    <a:ext uri="{9D8B030D-6E8A-4147-A177-3AD203B41FA5}">
                      <a16:colId xmlns:a16="http://schemas.microsoft.com/office/drawing/2014/main" val="3304235132"/>
                    </a:ext>
                  </a:extLst>
                </a:gridCol>
                <a:gridCol w="1260965">
                  <a:extLst>
                    <a:ext uri="{9D8B030D-6E8A-4147-A177-3AD203B41FA5}">
                      <a16:colId xmlns:a16="http://schemas.microsoft.com/office/drawing/2014/main" val="2750813785"/>
                    </a:ext>
                  </a:extLst>
                </a:gridCol>
                <a:gridCol w="1405904">
                  <a:extLst>
                    <a:ext uri="{9D8B030D-6E8A-4147-A177-3AD203B41FA5}">
                      <a16:colId xmlns:a16="http://schemas.microsoft.com/office/drawing/2014/main" val="985086310"/>
                    </a:ext>
                  </a:extLst>
                </a:gridCol>
              </a:tblGrid>
              <a:tr h="20194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春季各日龄阶段重要关注指标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10481589"/>
                  </a:ext>
                </a:extLst>
              </a:tr>
              <a:tr h="2019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次高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319502"/>
                  </a:ext>
                </a:extLst>
              </a:tr>
              <a:tr h="2019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878594"/>
                  </a:ext>
                </a:extLst>
              </a:tr>
              <a:tr h="2019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64478"/>
                  </a:ext>
                </a:extLst>
              </a:tr>
              <a:tr h="2019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170005"/>
                  </a:ext>
                </a:extLst>
              </a:tr>
              <a:tr h="20194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542358"/>
                  </a:ext>
                </a:extLst>
              </a:tr>
              <a:tr h="20194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19721"/>
                  </a:ext>
                </a:extLst>
              </a:tr>
              <a:tr h="2019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799816"/>
                  </a:ext>
                </a:extLst>
              </a:tr>
              <a:tr h="2019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84526"/>
                  </a:ext>
                </a:extLst>
              </a:tr>
              <a:tr h="2019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177114"/>
                  </a:ext>
                </a:extLst>
              </a:tr>
              <a:tr h="2019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298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69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A34E0-EF48-4A32-9438-8892B458F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9A4858C4-B034-BE74-7EC2-6CBD44287EB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日龄死淘预警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F366F6-1DE5-3573-146A-3ED5038CD469}"/>
              </a:ext>
            </a:extLst>
          </p:cNvPr>
          <p:cNvSpPr txBox="1"/>
          <p:nvPr/>
        </p:nvSpPr>
        <p:spPr>
          <a:xfrm>
            <a:off x="1290448" y="4095387"/>
            <a:ext cx="10039904" cy="2039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29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风险方向二元化</a:t>
            </a:r>
            <a:endParaRPr lang="zh-CN" altLang="en-US" sz="14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负向主导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：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quote-cjk-patch"/>
              </a:rPr>
              <a:t>19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日龄后负值（如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quote-cjk-patch"/>
              </a:rPr>
              <a:t>-55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）频现</a:t>
            </a:r>
            <a:endParaRPr lang="en-US" altLang="zh-CN" sz="14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窄幅波动敏感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：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quote-cjk-patch"/>
              </a:rPr>
              <a:t>10-18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日龄对微小变化（如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quote-cjk-patch"/>
              </a:rPr>
              <a:t>-2.1~4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）敏感，体现雏鸡对环境过渡期的脆弱性。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时间窗口特殊性</a:t>
            </a:r>
            <a:endParaRPr lang="zh-CN" altLang="en-US" sz="14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早期（</a:t>
            </a:r>
            <a:r>
              <a:rPr lang="en-US" altLang="zh-CN" sz="1400" b="1" i="0" dirty="0">
                <a:solidFill>
                  <a:srgbClr val="404040"/>
                </a:solidFill>
                <a:effectLst/>
                <a:latin typeface="quote-cjk-patch"/>
              </a:rPr>
              <a:t>10-18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日龄）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：依赖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前</a:t>
            </a:r>
            <a:r>
              <a:rPr lang="en-US" altLang="zh-CN" sz="1400" b="1" i="0" dirty="0">
                <a:solidFill>
                  <a:srgbClr val="404040"/>
                </a:solidFill>
                <a:effectLst/>
                <a:latin typeface="quote-cjk-patch"/>
              </a:rPr>
              <a:t>7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天长期趋势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（如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quote-cjk-patch"/>
              </a:rPr>
              <a:t>-6.7~-5.2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），与春季气候渐变更匹配。</a:t>
            </a: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后期（</a:t>
            </a:r>
            <a:r>
              <a:rPr lang="en-US" altLang="zh-CN" sz="1400" b="1" i="0" dirty="0">
                <a:solidFill>
                  <a:srgbClr val="404040"/>
                </a:solidFill>
                <a:effectLst/>
                <a:latin typeface="quote-cjk-patch"/>
              </a:rPr>
              <a:t>19-35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日龄）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：聚焦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前</a:t>
            </a:r>
            <a:r>
              <a:rPr lang="en-US" altLang="zh-CN" sz="1400" b="1" i="0" dirty="0">
                <a:solidFill>
                  <a:srgbClr val="404040"/>
                </a:solidFill>
                <a:effectLst/>
                <a:latin typeface="quote-cjk-patch"/>
              </a:rPr>
              <a:t>1-2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天突变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（如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quote-cjk-patch"/>
              </a:rPr>
              <a:t>-32.2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、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quote-cjk-patch"/>
              </a:rPr>
              <a:t>-55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）。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6392E33-C721-7C32-0948-56449F095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740473"/>
              </p:ext>
            </p:extLst>
          </p:nvPr>
        </p:nvGraphicFramePr>
        <p:xfrm>
          <a:off x="947093" y="1265456"/>
          <a:ext cx="10515599" cy="2356970"/>
        </p:xfrm>
        <a:graphic>
          <a:graphicData uri="http://schemas.openxmlformats.org/drawingml/2006/table">
            <a:tbl>
              <a:tblPr/>
              <a:tblGrid>
                <a:gridCol w="1376916">
                  <a:extLst>
                    <a:ext uri="{9D8B030D-6E8A-4147-A177-3AD203B41FA5}">
                      <a16:colId xmlns:a16="http://schemas.microsoft.com/office/drawing/2014/main" val="3304235132"/>
                    </a:ext>
                  </a:extLst>
                </a:gridCol>
                <a:gridCol w="1260965">
                  <a:extLst>
                    <a:ext uri="{9D8B030D-6E8A-4147-A177-3AD203B41FA5}">
                      <a16:colId xmlns:a16="http://schemas.microsoft.com/office/drawing/2014/main" val="2750813785"/>
                    </a:ext>
                  </a:extLst>
                </a:gridCol>
                <a:gridCol w="3016672">
                  <a:extLst>
                    <a:ext uri="{9D8B030D-6E8A-4147-A177-3AD203B41FA5}">
                      <a16:colId xmlns:a16="http://schemas.microsoft.com/office/drawing/2014/main" val="4143204879"/>
                    </a:ext>
                  </a:extLst>
                </a:gridCol>
                <a:gridCol w="1405904">
                  <a:extLst>
                    <a:ext uri="{9D8B030D-6E8A-4147-A177-3AD203B41FA5}">
                      <a16:colId xmlns:a16="http://schemas.microsoft.com/office/drawing/2014/main" val="985086310"/>
                    </a:ext>
                  </a:extLst>
                </a:gridCol>
                <a:gridCol w="3455142">
                  <a:extLst>
                    <a:ext uri="{9D8B030D-6E8A-4147-A177-3AD203B41FA5}">
                      <a16:colId xmlns:a16="http://schemas.microsoft.com/office/drawing/2014/main" val="3113111310"/>
                    </a:ext>
                  </a:extLst>
                </a:gridCol>
              </a:tblGrid>
              <a:tr h="214270"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春季各日龄阶段重要关注指标和预警阈值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481589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次高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319502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-1.4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到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878594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-6.7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到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-6.5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64478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-2.3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9.9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-4.5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170005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-32.2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-29.1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542358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-30.9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-28.2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19721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-26.8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-3.1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799816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-22.6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-22.6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84526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-37.9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-37.1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177114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-25.1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298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3984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71A41-30D5-53B5-E847-D145FC5FC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44C50F7-4408-BF5B-6981-E5013339C52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10 - 12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F6B460-11A2-ED27-635B-D0E517C0FB24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-2.1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5C0D32-53A6-1AA8-1B15-524FF74A3887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天前涨幅差值处于</a:t>
            </a:r>
            <a:r>
              <a:rPr lang="en-US" altLang="zh-CN" sz="1400" dirty="0">
                <a:solidFill>
                  <a:schemeClr val="tx1"/>
                </a:solidFill>
              </a:rPr>
              <a:t>-1.4</a:t>
            </a:r>
            <a:r>
              <a:rPr lang="zh-CN" altLang="en-US" sz="1400" dirty="0">
                <a:solidFill>
                  <a:schemeClr val="tx1"/>
                </a:solidFill>
              </a:rPr>
              <a:t>到</a:t>
            </a:r>
            <a:r>
              <a:rPr lang="en-US" altLang="zh-CN" sz="1400" dirty="0">
                <a:solidFill>
                  <a:schemeClr val="tx1"/>
                </a:solidFill>
              </a:rPr>
              <a:t>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C4F8F6-4583-6F36-DFB7-E894AD98595C}"/>
              </a:ext>
            </a:extLst>
          </p:cNvPr>
          <p:cNvSpPr txBox="1"/>
          <p:nvPr/>
        </p:nvSpPr>
        <p:spPr>
          <a:xfrm>
            <a:off x="1792341" y="101759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FC2922D-A375-2C82-1E2C-2F07EB6DD701}"/>
              </a:ext>
            </a:extLst>
          </p:cNvPr>
          <p:cNvSpPr txBox="1"/>
          <p:nvPr/>
        </p:nvSpPr>
        <p:spPr>
          <a:xfrm>
            <a:off x="8040622" y="114070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FACFF5-E7BE-2902-6755-DEF69E7D6F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52" y="1527339"/>
            <a:ext cx="4515671" cy="276989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74C62EB-4E2F-2AFD-BD50-EBA5223C6D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979" y="1426048"/>
            <a:ext cx="4680802" cy="287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0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BA8E1-B3B2-F614-CDBC-77627DB8E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8BFE0E2-5981-CEC5-BA1D-707B07B6984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13 - 15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4D7FEC-C0FC-12C1-528B-43512CEC2738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天前饮水差值处于</a:t>
            </a:r>
            <a:r>
              <a:rPr lang="en-US" altLang="zh-CN" sz="1400" dirty="0">
                <a:solidFill>
                  <a:schemeClr val="tx1"/>
                </a:solidFill>
              </a:rPr>
              <a:t>-6.7</a:t>
            </a:r>
            <a:r>
              <a:rPr lang="zh-CN" altLang="en-US" sz="1400" dirty="0">
                <a:solidFill>
                  <a:schemeClr val="tx1"/>
                </a:solidFill>
              </a:rPr>
              <a:t>到</a:t>
            </a:r>
            <a:r>
              <a:rPr lang="en-US" altLang="zh-CN" sz="1400" dirty="0">
                <a:solidFill>
                  <a:schemeClr val="tx1"/>
                </a:solidFill>
              </a:rPr>
              <a:t>-5.2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5212C1-43C5-A59F-D37A-D624F9D2058B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-6.5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A60148-EAC6-6171-45CF-5E50D6766266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1C6277-A83F-6945-8ACA-B2831CB7DCDE}"/>
              </a:ext>
            </a:extLst>
          </p:cNvPr>
          <p:cNvSpPr txBox="1"/>
          <p:nvPr/>
        </p:nvSpPr>
        <p:spPr>
          <a:xfrm>
            <a:off x="7917095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13E62CE-52AA-4602-DBF4-F6F5C66C2F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06" y="1554297"/>
            <a:ext cx="4762721" cy="292143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9DB83D4-348B-F9A9-9A9B-A14659636B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143" y="1554297"/>
            <a:ext cx="4510480" cy="276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30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DFD16-8EBF-6B6B-8BF0-E551B1BA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4951ED9-243C-E508-6F29-3585CCCE642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16 - 18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6BCEDC6-1C76-4D3F-3012-CE1BE3CFD055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-2.3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9.9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FB0EE9-A659-C699-8186-C5E99E1E4C63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-4.5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10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74E2DA-44FA-8718-671B-0CF0E4AFE26A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374C0E-755C-B87A-A630-15288E2BABDF}"/>
              </a:ext>
            </a:extLst>
          </p:cNvPr>
          <p:cNvSpPr txBox="1"/>
          <p:nvPr/>
        </p:nvSpPr>
        <p:spPr>
          <a:xfrm>
            <a:off x="7917095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826F9D9-64E5-2A18-5424-47C077AE04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468255"/>
            <a:ext cx="4914318" cy="301442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B5C0774-DE33-9EDE-E988-45C6C4264B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751" y="1468254"/>
            <a:ext cx="4914319" cy="301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90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842FC-4022-4062-3A77-B91ED3534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E482CFB-92DC-2306-2B0F-0312D2F95A4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19 - 21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0CBCFF-088B-1C88-ECDD-12EC2DCDC3F6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7FB227-FE9D-8964-4641-C1BF31ACC901}"/>
              </a:ext>
            </a:extLst>
          </p:cNvPr>
          <p:cNvSpPr txBox="1"/>
          <p:nvPr/>
        </p:nvSpPr>
        <p:spPr>
          <a:xfrm>
            <a:off x="8040622" y="973045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03E1527-18E2-6345-3DCC-437FDD9719CF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-32.2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8CC811-A216-DB94-DA18-FB8E6C37C5C5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-29.1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8.5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17F2C3-E351-8574-B0A1-EF76C1D4B3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02" y="1510452"/>
            <a:ext cx="5116450" cy="313840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66C2D0C-184E-9A3F-5B96-ADDFDBA0DF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986" y="1440709"/>
            <a:ext cx="5343848" cy="327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01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B006-204B-19B2-F93B-10CF030D9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0846D6D-B497-8A8C-19FC-39E0ACAB98B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22 - 24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3ECAA8-EF0F-B263-D65B-3342FE01AC43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C24FAB-738A-3A65-43C6-61239BAE8935}"/>
              </a:ext>
            </a:extLst>
          </p:cNvPr>
          <p:cNvSpPr txBox="1"/>
          <p:nvPr/>
        </p:nvSpPr>
        <p:spPr>
          <a:xfrm>
            <a:off x="7917095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78ACDB-D196-CF83-DC90-737820281709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-30.9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11.2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4C04CD-8EEB-8E05-E2D7-AEC1E6313454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-28.2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1ED40F-47AE-D194-F40B-087A061DAD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52" y="1498784"/>
            <a:ext cx="4643425" cy="284825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81617E9-D50C-DFFF-28B6-07EB0B42A6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585" y="1498784"/>
            <a:ext cx="4643424" cy="284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52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C0587-10A8-4F77-E010-5F4A81A02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E8F2979-54E0-DEBB-742B-96197B452B9D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25 - 27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765FF9-2B4E-42BB-83EA-6F4AF6325104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82AE3B5-4CF7-1512-A8CD-717CAAF77DA0}"/>
              </a:ext>
            </a:extLst>
          </p:cNvPr>
          <p:cNvSpPr txBox="1"/>
          <p:nvPr/>
        </p:nvSpPr>
        <p:spPr>
          <a:xfrm>
            <a:off x="7677105" y="932511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49A2A1-4E10-D8A8-1305-55BDC64DDCC8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-26.8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0.6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3CA195-D46B-FAB4-6563-D91D9D8CA4F7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天前饮水涨幅差值处于</a:t>
            </a:r>
            <a:r>
              <a:rPr lang="en-US" altLang="zh-CN" sz="1400" dirty="0">
                <a:solidFill>
                  <a:schemeClr val="tx1"/>
                </a:solidFill>
              </a:rPr>
              <a:t>-3.1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6.3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8A0F47-4057-A0A4-2E00-D899A286E2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35" y="1502703"/>
            <a:ext cx="5141716" cy="315390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D60C478-4C2E-3D48-A3FB-A2887C9239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065" y="1460998"/>
            <a:ext cx="5141716" cy="315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35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27937-CB28-EF7B-664F-4EC94F2C6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59C9F30-E947-6865-B6B5-7D96D9121AE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28 - 30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8B3C39-1FDF-B772-5E15-EEA2983274B1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-22.6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1AF9DD-FE5F-ED8F-41DF-F170F1B7006F}"/>
              </a:ext>
            </a:extLst>
          </p:cNvPr>
          <p:cNvSpPr/>
          <p:nvPr/>
        </p:nvSpPr>
        <p:spPr>
          <a:xfrm>
            <a:off x="6494650" y="489595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-22.6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6FF75E-BD4C-E885-6B19-7D9E15AC008E}"/>
              </a:ext>
            </a:extLst>
          </p:cNvPr>
          <p:cNvSpPr txBox="1"/>
          <p:nvPr/>
        </p:nvSpPr>
        <p:spPr>
          <a:xfrm>
            <a:off x="7677105" y="93251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8FB51F-A42A-C843-513C-785B4BA3DF76}"/>
              </a:ext>
            </a:extLst>
          </p:cNvPr>
          <p:cNvSpPr txBox="1"/>
          <p:nvPr/>
        </p:nvSpPr>
        <p:spPr>
          <a:xfrm>
            <a:off x="1475029" y="988434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01A696-90DC-DC56-FDA5-908FE4BAB7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94" y="1581494"/>
            <a:ext cx="4859726" cy="298093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3E420B-8A15-6413-AF6B-A2AD1DBC32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650" y="1534768"/>
            <a:ext cx="4859728" cy="298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5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D155E-C7C6-6DF8-BEFE-C72990D2F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B9CAD98-133D-6E70-F7B6-C6ABB2BDE661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31 - 33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FA27C4-4844-FD47-00C6-30334CD85055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-37.9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44C3F2A-F4F0-BF37-B7FA-CCEA4FFB42D4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-37.1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5A2B25-6E23-F123-3B6A-6E38100D94E2}"/>
              </a:ext>
            </a:extLst>
          </p:cNvPr>
          <p:cNvSpPr txBox="1"/>
          <p:nvPr/>
        </p:nvSpPr>
        <p:spPr>
          <a:xfrm>
            <a:off x="7677105" y="93251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371764-B0A5-5E11-7E6D-41D5E6111FE1}"/>
              </a:ext>
            </a:extLst>
          </p:cNvPr>
          <p:cNvSpPr txBox="1"/>
          <p:nvPr/>
        </p:nvSpPr>
        <p:spPr>
          <a:xfrm>
            <a:off x="1475029" y="988434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E2F9F1A-FD65-0C66-6977-B8026CBD92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38" y="1558471"/>
            <a:ext cx="4905837" cy="302697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37B12D5-6BFC-FD22-4C34-81B0824D1A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125" y="1534768"/>
            <a:ext cx="4905837" cy="302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415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82A54-7938-0BF5-D08B-865034D15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691709E-336D-EC9E-224D-90323D398175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34 - 35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BCC4B7-C685-7B1E-4EC4-4668C5210835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-55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387A64-D6F3-F6DD-C497-14823DD9F02E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天前的饮水差值超过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-25.1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5843F5-9450-6B2A-DB61-17C1F1365CD9}"/>
              </a:ext>
            </a:extLst>
          </p:cNvPr>
          <p:cNvSpPr txBox="1"/>
          <p:nvPr/>
        </p:nvSpPr>
        <p:spPr>
          <a:xfrm>
            <a:off x="7677105" y="93251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45B4FC-86E3-4A73-3783-F8822577D609}"/>
              </a:ext>
            </a:extLst>
          </p:cNvPr>
          <p:cNvSpPr txBox="1"/>
          <p:nvPr/>
        </p:nvSpPr>
        <p:spPr>
          <a:xfrm>
            <a:off x="1475029" y="988434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F1EAED7-E786-B2E8-A594-35803CBDCE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81" y="1646614"/>
            <a:ext cx="4504702" cy="277947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9C04EFA-7BAD-16B4-6488-A3642B99D5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048" y="1534768"/>
            <a:ext cx="4685972" cy="289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613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C72908B-63B8-BE18-67CE-97184263CFF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变量说明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55A26B-475A-9D58-066D-C3F0652A0DD7}"/>
              </a:ext>
            </a:extLst>
          </p:cNvPr>
          <p:cNvSpPr txBox="1"/>
          <p:nvPr/>
        </p:nvSpPr>
        <p:spPr>
          <a:xfrm>
            <a:off x="1193645" y="1528415"/>
            <a:ext cx="9804709" cy="38011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00050" indent="-4000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外部</a:t>
            </a:r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zh-CN" altLang="en-US" sz="18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环控数据“外部</a:t>
            </a:r>
            <a:r>
              <a:rPr lang="en-US" altLang="zh-CN" sz="18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8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8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”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字段的各日龄平均温度</a:t>
            </a:r>
            <a:endParaRPr lang="en-US" altLang="zh-CN" sz="18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00050" indent="-4000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zh-CN" altLang="en-US" sz="18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环控数据“湿度内部平均</a:t>
            </a:r>
            <a:r>
              <a:rPr lang="en-US" altLang="zh-CN" sz="18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”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字段的各日龄平均温度</a:t>
            </a:r>
            <a:endParaRPr lang="en-US" altLang="zh-CN" sz="18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00050" indent="-4000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zh-CN" altLang="en-US" sz="18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环控数据“鸡舍温度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8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”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字段的各日龄平均温度</a:t>
            </a:r>
            <a:endParaRPr lang="en-US" altLang="zh-CN" sz="18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00050" indent="-4000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探头温度标准差：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各</a:t>
            </a:r>
            <a:r>
              <a:rPr lang="zh-CN" altLang="en-US" sz="18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探头各日龄下平均温度的标准差，其中当日龄</a:t>
            </a:r>
            <a:r>
              <a:rPr lang="en-US" altLang="zh-CN" sz="18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&lt;=5,</a:t>
            </a:r>
            <a:r>
              <a:rPr lang="zh-CN" altLang="en-US" sz="18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按</a:t>
            </a:r>
            <a:r>
              <a:rPr lang="en-US" altLang="zh-CN" sz="18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8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8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8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8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8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探头计算，当日龄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&gt;5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时，按探头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计算。</a:t>
            </a:r>
            <a:endParaRPr lang="en-US" altLang="zh-CN" sz="18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00050" indent="-4000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X-</a:t>
            </a:r>
            <a:r>
              <a:rPr lang="zh-CN" altLang="en-US" sz="1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r>
              <a:rPr lang="zh-CN" altLang="en-US" sz="1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各日龄下的最大温度减去最小温度</a:t>
            </a:r>
            <a:endParaRPr lang="en-US" altLang="zh-CN" sz="18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00050" indent="-4000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X-</a:t>
            </a:r>
            <a:r>
              <a:rPr lang="zh-CN" altLang="en-US" sz="1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平均变化：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各日龄下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时刻与上一时刻的温度差的最大值</a:t>
            </a:r>
            <a:endParaRPr lang="en-US" altLang="zh-CN" sz="180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167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8D3B31E-0881-3DAC-B423-F3F161064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1" r="5925" b="47249"/>
          <a:stretch/>
        </p:blipFill>
        <p:spPr>
          <a:xfrm>
            <a:off x="1330569" y="1293286"/>
            <a:ext cx="9530861" cy="213571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CE8AAD4-1AB2-94BB-B928-EBA184495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492" y="4405456"/>
            <a:ext cx="5725324" cy="201958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6C6EF21-3D94-B31A-4F66-A2D74AE4115A}"/>
              </a:ext>
            </a:extLst>
          </p:cNvPr>
          <p:cNvSpPr txBox="1"/>
          <p:nvPr/>
        </p:nvSpPr>
        <p:spPr>
          <a:xfrm>
            <a:off x="674208" y="844092"/>
            <a:ext cx="448394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新增序列</a:t>
            </a:r>
            <a:r>
              <a:rPr lang="en-US" altLang="zh-CN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值高于</a:t>
            </a:r>
            <a:r>
              <a:rPr lang="en-US" altLang="zh-CN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0.2</a:t>
            </a:r>
            <a:r>
              <a:rPr lang="zh-CN" alt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的数量总览</a:t>
            </a:r>
            <a:endParaRPr lang="en-US" altLang="zh-CN" sz="20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0026BE-A9FE-954A-8E54-35909C569B7B}"/>
              </a:ext>
            </a:extLst>
          </p:cNvPr>
          <p:cNvSpPr txBox="1"/>
          <p:nvPr/>
        </p:nvSpPr>
        <p:spPr>
          <a:xfrm>
            <a:off x="674208" y="4251567"/>
            <a:ext cx="369849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模型结果总览</a:t>
            </a:r>
            <a:endParaRPr lang="en-US" altLang="zh-CN" sz="20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75FFC3-A184-3AE9-89E7-28B3D1525D1C}"/>
              </a:ext>
            </a:extLst>
          </p:cNvPr>
          <p:cNvSpPr txBox="1"/>
          <p:nvPr/>
        </p:nvSpPr>
        <p:spPr>
          <a:xfrm>
            <a:off x="890425" y="3429000"/>
            <a:ext cx="9971005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根据数量选择，入模序列。如冬季死淘模型的入模序列为外部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、湿度内部平均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、鸡舍温度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、探头温度标准差、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1-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平均变化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。其中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外部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、湿度内部平均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、鸡舍温度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、探头温度标准差为固定的入模序列，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和温度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1-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平均变化根据上表选出</a:t>
            </a:r>
            <a:endParaRPr lang="en-US" altLang="zh-CN" sz="14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588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4855F01-33B1-593C-CF23-E096B4AB8D8D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冬季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1EB1A59-2BB2-4079-512A-896CA193F0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70" y="1223107"/>
            <a:ext cx="5137079" cy="340360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E8E92BC-4549-FFBA-06A1-8AC7376B66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40761"/>
            <a:ext cx="5137080" cy="358594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6DC0E15-F581-8280-011F-A0FA90A93FCA}"/>
              </a:ext>
            </a:extLst>
          </p:cNvPr>
          <p:cNvSpPr txBox="1"/>
          <p:nvPr/>
        </p:nvSpPr>
        <p:spPr>
          <a:xfrm>
            <a:off x="1600676" y="5024810"/>
            <a:ext cx="2908979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270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0973719-721C-2454-CD4C-8B72C8827E71}"/>
              </a:ext>
            </a:extLst>
          </p:cNvPr>
          <p:cNvSpPr txBox="1"/>
          <p:nvPr/>
        </p:nvSpPr>
        <p:spPr>
          <a:xfrm>
            <a:off x="224987" y="88592"/>
            <a:ext cx="5577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总体养殖控制变量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——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冬季死淘率</a:t>
            </a: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B62181C2-BA9B-FDB7-5F4B-C97ECF52257D}"/>
              </a:ext>
            </a:extLst>
          </p:cNvPr>
          <p:cNvCxnSpPr>
            <a:cxnSpLocks/>
          </p:cNvCxnSpPr>
          <p:nvPr/>
        </p:nvCxnSpPr>
        <p:spPr>
          <a:xfrm>
            <a:off x="1280983" y="1577150"/>
            <a:ext cx="0" cy="5029133"/>
          </a:xfrm>
          <a:prstGeom prst="line">
            <a:avLst/>
          </a:prstGeom>
          <a:ln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BA3A6E96-CA72-50B0-0C1A-9220B361CC0E}"/>
              </a:ext>
            </a:extLst>
          </p:cNvPr>
          <p:cNvSpPr/>
          <p:nvPr/>
        </p:nvSpPr>
        <p:spPr>
          <a:xfrm>
            <a:off x="779791" y="532820"/>
            <a:ext cx="10953298" cy="1028220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1400" dirty="0">
              <a:solidFill>
                <a:srgbClr val="0766D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1282A33-E140-0DD2-0BD1-2554536D65F3}"/>
              </a:ext>
            </a:extLst>
          </p:cNvPr>
          <p:cNvSpPr/>
          <p:nvPr/>
        </p:nvSpPr>
        <p:spPr>
          <a:xfrm>
            <a:off x="2109293" y="915087"/>
            <a:ext cx="2860780" cy="26142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766D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全舍总体控制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438F46D-28BD-99C0-0B5C-9874668FE5DE}"/>
              </a:ext>
            </a:extLst>
          </p:cNvPr>
          <p:cNvSpPr/>
          <p:nvPr/>
        </p:nvSpPr>
        <p:spPr>
          <a:xfrm>
            <a:off x="5240398" y="915087"/>
            <a:ext cx="1711408" cy="26140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766D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均匀性控制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244E7C2-777A-BDF1-A7BE-7A1C2FA5C124}"/>
              </a:ext>
            </a:extLst>
          </p:cNvPr>
          <p:cNvSpPr/>
          <p:nvPr/>
        </p:nvSpPr>
        <p:spPr>
          <a:xfrm>
            <a:off x="7150969" y="915087"/>
            <a:ext cx="2860780" cy="26140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766D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变动控制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61887B-D71A-F6E5-5F83-918A38F9E37C}"/>
              </a:ext>
            </a:extLst>
          </p:cNvPr>
          <p:cNvSpPr/>
          <p:nvPr/>
        </p:nvSpPr>
        <p:spPr>
          <a:xfrm>
            <a:off x="2109293" y="1240845"/>
            <a:ext cx="1314918" cy="26142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舍内温度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2C24207-2465-29EB-CD87-2AD18400C607}"/>
              </a:ext>
            </a:extLst>
          </p:cNvPr>
          <p:cNvSpPr/>
          <p:nvPr/>
        </p:nvSpPr>
        <p:spPr>
          <a:xfrm>
            <a:off x="3655157" y="1240845"/>
            <a:ext cx="1314918" cy="261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舍内湿度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39AF7D4-1F46-09FA-C482-3A71D908098E}"/>
              </a:ext>
            </a:extLst>
          </p:cNvPr>
          <p:cNvSpPr/>
          <p:nvPr/>
        </p:nvSpPr>
        <p:spPr>
          <a:xfrm>
            <a:off x="5323726" y="1223415"/>
            <a:ext cx="1513163" cy="26140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1EE5706-A323-9598-37C1-B4D55DD39FEA}"/>
              </a:ext>
            </a:extLst>
          </p:cNvPr>
          <p:cNvSpPr/>
          <p:nvPr/>
        </p:nvSpPr>
        <p:spPr>
          <a:xfrm>
            <a:off x="7150968" y="1223415"/>
            <a:ext cx="1314918" cy="26142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温度变动范围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7362F3-6BAD-21B5-ADEB-72283838D36D}"/>
              </a:ext>
            </a:extLst>
          </p:cNvPr>
          <p:cNvSpPr/>
          <p:nvPr/>
        </p:nvSpPr>
        <p:spPr>
          <a:xfrm>
            <a:off x="8696831" y="1223415"/>
            <a:ext cx="1314918" cy="261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小时温度平均变化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AD45323-1AB4-A40C-3876-41A265962A54}"/>
              </a:ext>
            </a:extLst>
          </p:cNvPr>
          <p:cNvSpPr/>
          <p:nvPr/>
        </p:nvSpPr>
        <p:spPr>
          <a:xfrm>
            <a:off x="10353049" y="1225450"/>
            <a:ext cx="1271285" cy="261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外部温度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77AD1E6F-077B-F15A-00E3-E459F7C18109}"/>
              </a:ext>
            </a:extLst>
          </p:cNvPr>
          <p:cNvCxnSpPr>
            <a:cxnSpLocks/>
          </p:cNvCxnSpPr>
          <p:nvPr/>
        </p:nvCxnSpPr>
        <p:spPr>
          <a:xfrm>
            <a:off x="3595965" y="1491329"/>
            <a:ext cx="0" cy="5029133"/>
          </a:xfrm>
          <a:prstGeom prst="line">
            <a:avLst/>
          </a:prstGeom>
          <a:ln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0F4252DE-C50B-576A-4D95-ADADB7977EAC}"/>
              </a:ext>
            </a:extLst>
          </p:cNvPr>
          <p:cNvCxnSpPr>
            <a:cxnSpLocks/>
          </p:cNvCxnSpPr>
          <p:nvPr/>
        </p:nvCxnSpPr>
        <p:spPr>
          <a:xfrm>
            <a:off x="5149209" y="1454398"/>
            <a:ext cx="0" cy="5029133"/>
          </a:xfrm>
          <a:prstGeom prst="line">
            <a:avLst/>
          </a:prstGeom>
          <a:ln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92097CB-FAE9-B65D-715B-BEE6E923F96D}"/>
              </a:ext>
            </a:extLst>
          </p:cNvPr>
          <p:cNvCxnSpPr>
            <a:cxnSpLocks/>
          </p:cNvCxnSpPr>
          <p:nvPr/>
        </p:nvCxnSpPr>
        <p:spPr>
          <a:xfrm>
            <a:off x="7017437" y="1454398"/>
            <a:ext cx="0" cy="5029133"/>
          </a:xfrm>
          <a:prstGeom prst="line">
            <a:avLst/>
          </a:prstGeom>
          <a:ln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E5ED608-3DF3-7C44-E377-A312590BA76B}"/>
              </a:ext>
            </a:extLst>
          </p:cNvPr>
          <p:cNvCxnSpPr>
            <a:cxnSpLocks/>
          </p:cNvCxnSpPr>
          <p:nvPr/>
        </p:nvCxnSpPr>
        <p:spPr>
          <a:xfrm>
            <a:off x="8696831" y="1468576"/>
            <a:ext cx="0" cy="5029133"/>
          </a:xfrm>
          <a:prstGeom prst="line">
            <a:avLst/>
          </a:prstGeom>
          <a:ln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4FBE7F14-CEA1-847D-2B95-EC3B4D089B07}"/>
              </a:ext>
            </a:extLst>
          </p:cNvPr>
          <p:cNvSpPr/>
          <p:nvPr/>
        </p:nvSpPr>
        <p:spPr>
          <a:xfrm>
            <a:off x="779791" y="1673662"/>
            <a:ext cx="10953298" cy="4956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42A23EE-E11A-3C57-286A-D590E7ACA043}"/>
              </a:ext>
            </a:extLst>
          </p:cNvPr>
          <p:cNvSpPr/>
          <p:nvPr/>
        </p:nvSpPr>
        <p:spPr>
          <a:xfrm>
            <a:off x="779791" y="2287805"/>
            <a:ext cx="10953296" cy="4956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673D25-6B19-B51E-814B-28A644A2001D}"/>
              </a:ext>
            </a:extLst>
          </p:cNvPr>
          <p:cNvSpPr/>
          <p:nvPr/>
        </p:nvSpPr>
        <p:spPr>
          <a:xfrm>
            <a:off x="779791" y="2901948"/>
            <a:ext cx="10953295" cy="49563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5C2CC83-1790-106C-0754-F176617ADA64}"/>
              </a:ext>
            </a:extLst>
          </p:cNvPr>
          <p:cNvSpPr/>
          <p:nvPr/>
        </p:nvSpPr>
        <p:spPr>
          <a:xfrm>
            <a:off x="779791" y="3516091"/>
            <a:ext cx="10953294" cy="49563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CC946C3-74E4-885D-695B-26E77F429626}"/>
              </a:ext>
            </a:extLst>
          </p:cNvPr>
          <p:cNvSpPr/>
          <p:nvPr/>
        </p:nvSpPr>
        <p:spPr>
          <a:xfrm>
            <a:off x="779791" y="4130234"/>
            <a:ext cx="10953290" cy="4956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B161EE0-1881-EF83-0781-688D1A7D8B78}"/>
              </a:ext>
            </a:extLst>
          </p:cNvPr>
          <p:cNvSpPr/>
          <p:nvPr/>
        </p:nvSpPr>
        <p:spPr>
          <a:xfrm>
            <a:off x="779791" y="4744377"/>
            <a:ext cx="10953286" cy="4956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195F1B8-3642-2A4B-8B96-0F21B4E8E2D2}"/>
              </a:ext>
            </a:extLst>
          </p:cNvPr>
          <p:cNvSpPr/>
          <p:nvPr/>
        </p:nvSpPr>
        <p:spPr>
          <a:xfrm>
            <a:off x="779791" y="5358520"/>
            <a:ext cx="10953283" cy="49563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2197162-75D5-2A49-F08E-DADD23E173E2}"/>
              </a:ext>
            </a:extLst>
          </p:cNvPr>
          <p:cNvSpPr/>
          <p:nvPr/>
        </p:nvSpPr>
        <p:spPr>
          <a:xfrm>
            <a:off x="779791" y="5972660"/>
            <a:ext cx="10953281" cy="49563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F77B205-9CCE-C1C2-F6DF-FD9F06F77AEB}"/>
              </a:ext>
            </a:extLst>
          </p:cNvPr>
          <p:cNvSpPr txBox="1"/>
          <p:nvPr/>
        </p:nvSpPr>
        <p:spPr>
          <a:xfrm>
            <a:off x="5301756" y="1656214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0.5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B808783-6D52-428C-DD70-9CC83BBD1BE4}"/>
              </a:ext>
            </a:extLst>
          </p:cNvPr>
          <p:cNvSpPr txBox="1"/>
          <p:nvPr/>
        </p:nvSpPr>
        <p:spPr>
          <a:xfrm>
            <a:off x="5301756" y="2318404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0.3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6D402B7-AA3F-4B35-78C8-AC666D802681}"/>
              </a:ext>
            </a:extLst>
          </p:cNvPr>
          <p:cNvSpPr txBox="1"/>
          <p:nvPr/>
        </p:nvSpPr>
        <p:spPr>
          <a:xfrm>
            <a:off x="5301756" y="2912508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0.3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D35A502-E042-FFDF-9F73-0252F2013D19}"/>
              </a:ext>
            </a:extLst>
          </p:cNvPr>
          <p:cNvCxnSpPr>
            <a:cxnSpLocks/>
          </p:cNvCxnSpPr>
          <p:nvPr/>
        </p:nvCxnSpPr>
        <p:spPr>
          <a:xfrm>
            <a:off x="10141395" y="735795"/>
            <a:ext cx="0" cy="5749907"/>
          </a:xfrm>
          <a:prstGeom prst="line">
            <a:avLst/>
          </a:prstGeom>
          <a:ln>
            <a:solidFill>
              <a:schemeClr val="bg2"/>
            </a:solidFill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4D297A33-44AE-4611-4354-B73768E4CDF8}"/>
              </a:ext>
            </a:extLst>
          </p:cNvPr>
          <p:cNvSpPr txBox="1"/>
          <p:nvPr/>
        </p:nvSpPr>
        <p:spPr>
          <a:xfrm>
            <a:off x="5301756" y="3523057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0.3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120C649-6164-BA16-425E-1615265AFF34}"/>
              </a:ext>
            </a:extLst>
          </p:cNvPr>
          <p:cNvSpPr txBox="1"/>
          <p:nvPr/>
        </p:nvSpPr>
        <p:spPr>
          <a:xfrm>
            <a:off x="5301756" y="4127065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0.3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B116872-6329-0EE2-27D2-0AB243A6DFCD}"/>
              </a:ext>
            </a:extLst>
          </p:cNvPr>
          <p:cNvSpPr txBox="1"/>
          <p:nvPr/>
        </p:nvSpPr>
        <p:spPr>
          <a:xfrm>
            <a:off x="5301756" y="4748103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0.3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0000AEB-E07A-C5E3-1271-BAE17B4E4B7B}"/>
              </a:ext>
            </a:extLst>
          </p:cNvPr>
          <p:cNvSpPr txBox="1"/>
          <p:nvPr/>
        </p:nvSpPr>
        <p:spPr>
          <a:xfrm>
            <a:off x="5301756" y="5383755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0.3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57F4195-25A9-5C1C-B978-4047C680BC3E}"/>
              </a:ext>
            </a:extLst>
          </p:cNvPr>
          <p:cNvSpPr txBox="1"/>
          <p:nvPr/>
        </p:nvSpPr>
        <p:spPr>
          <a:xfrm>
            <a:off x="5301756" y="5969839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0.4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5B92367-C7C6-2605-952E-9B97C6531066}"/>
              </a:ext>
            </a:extLst>
          </p:cNvPr>
          <p:cNvSpPr/>
          <p:nvPr/>
        </p:nvSpPr>
        <p:spPr>
          <a:xfrm>
            <a:off x="2109293" y="611902"/>
            <a:ext cx="7926246" cy="2384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控制变量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C5861F8-17F5-56D3-CEF6-44866F1B827A}"/>
              </a:ext>
            </a:extLst>
          </p:cNvPr>
          <p:cNvSpPr/>
          <p:nvPr/>
        </p:nvSpPr>
        <p:spPr>
          <a:xfrm>
            <a:off x="10247196" y="627445"/>
            <a:ext cx="1380040" cy="238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关注变量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583918B-1354-8F59-8FBE-733EBD07DB9D}"/>
              </a:ext>
            </a:extLst>
          </p:cNvPr>
          <p:cNvSpPr txBox="1"/>
          <p:nvPr/>
        </p:nvSpPr>
        <p:spPr>
          <a:xfrm>
            <a:off x="2000539" y="1772041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31.6-33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68AE732-C6A1-469B-8F74-1CD468D1808C}"/>
              </a:ext>
            </a:extLst>
          </p:cNvPr>
          <p:cNvSpPr txBox="1"/>
          <p:nvPr/>
        </p:nvSpPr>
        <p:spPr>
          <a:xfrm>
            <a:off x="2000539" y="2411590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30.6-31.2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6A6A090-75FD-A9A9-0270-A774214C2752}"/>
              </a:ext>
            </a:extLst>
          </p:cNvPr>
          <p:cNvSpPr txBox="1"/>
          <p:nvPr/>
        </p:nvSpPr>
        <p:spPr>
          <a:xfrm>
            <a:off x="2000539" y="4209920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26.2-27.1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163FC6D-1FAA-E920-3EE1-FECF25229F51}"/>
              </a:ext>
            </a:extLst>
          </p:cNvPr>
          <p:cNvSpPr txBox="1"/>
          <p:nvPr/>
        </p:nvSpPr>
        <p:spPr>
          <a:xfrm>
            <a:off x="2000539" y="3005331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28.6-29.4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3627D49-035A-7E6F-EC29-44095EBF8966}"/>
              </a:ext>
            </a:extLst>
          </p:cNvPr>
          <p:cNvSpPr txBox="1"/>
          <p:nvPr/>
        </p:nvSpPr>
        <p:spPr>
          <a:xfrm>
            <a:off x="2000539" y="3590391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27.6-28.1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F407C55-5895-0B83-B6F4-21AB700D9C82}"/>
              </a:ext>
            </a:extLst>
          </p:cNvPr>
          <p:cNvSpPr txBox="1"/>
          <p:nvPr/>
        </p:nvSpPr>
        <p:spPr>
          <a:xfrm>
            <a:off x="2000539" y="4842559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25.6-25.9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304D90E-7DF1-7A5E-5232-B51AE644E255}"/>
              </a:ext>
            </a:extLst>
          </p:cNvPr>
          <p:cNvSpPr txBox="1"/>
          <p:nvPr/>
        </p:nvSpPr>
        <p:spPr>
          <a:xfrm>
            <a:off x="2000539" y="5449274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23.9-24.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4AB6ABE-8B0A-67AE-6217-4E31EECB7477}"/>
              </a:ext>
            </a:extLst>
          </p:cNvPr>
          <p:cNvSpPr txBox="1"/>
          <p:nvPr/>
        </p:nvSpPr>
        <p:spPr>
          <a:xfrm>
            <a:off x="2000539" y="6066744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23.9-24.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BB7A255-7FD8-C50B-4EE1-EC590BD62FDD}"/>
              </a:ext>
            </a:extLst>
          </p:cNvPr>
          <p:cNvSpPr txBox="1"/>
          <p:nvPr/>
        </p:nvSpPr>
        <p:spPr>
          <a:xfrm>
            <a:off x="7171360" y="1693805"/>
            <a:ext cx="1421254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极差大于</a:t>
            </a:r>
            <a:r>
              <a:rPr lang="en-US" altLang="zh-CN" sz="105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2.9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4D866B4-60AD-809D-5C32-DD2817FABE49}"/>
              </a:ext>
            </a:extLst>
          </p:cNvPr>
          <p:cNvSpPr txBox="1"/>
          <p:nvPr/>
        </p:nvSpPr>
        <p:spPr>
          <a:xfrm>
            <a:off x="7171358" y="3503972"/>
            <a:ext cx="1421254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极差大于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2.3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642BCB3-05E2-53B2-26A7-BC61D0BCD3C9}"/>
              </a:ext>
            </a:extLst>
          </p:cNvPr>
          <p:cNvSpPr txBox="1"/>
          <p:nvPr/>
        </p:nvSpPr>
        <p:spPr>
          <a:xfrm>
            <a:off x="7171358" y="2315256"/>
            <a:ext cx="1421254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极差大于</a:t>
            </a:r>
            <a:r>
              <a:rPr lang="en-US" altLang="zh-CN" sz="105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2.8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CE05077-E3E3-CB3B-577C-247E1EE404C1}"/>
              </a:ext>
            </a:extLst>
          </p:cNvPr>
          <p:cNvSpPr txBox="1"/>
          <p:nvPr/>
        </p:nvSpPr>
        <p:spPr>
          <a:xfrm>
            <a:off x="7171358" y="2902817"/>
            <a:ext cx="1421254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极差大于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2.6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F5AC4BA-6F4E-EBC5-63EF-44B358DBB69E}"/>
              </a:ext>
            </a:extLst>
          </p:cNvPr>
          <p:cNvSpPr txBox="1"/>
          <p:nvPr/>
        </p:nvSpPr>
        <p:spPr>
          <a:xfrm>
            <a:off x="7171359" y="4256409"/>
            <a:ext cx="142125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极差处于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0.8-1.6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F008608-4F2A-CACA-C48C-2891DCD517AD}"/>
              </a:ext>
            </a:extLst>
          </p:cNvPr>
          <p:cNvSpPr txBox="1"/>
          <p:nvPr/>
        </p:nvSpPr>
        <p:spPr>
          <a:xfrm>
            <a:off x="7171360" y="4735477"/>
            <a:ext cx="1421254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极差大于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2.2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3C6F0F4-1953-9EF2-70D9-F4B27FF58C96}"/>
              </a:ext>
            </a:extLst>
          </p:cNvPr>
          <p:cNvSpPr txBox="1"/>
          <p:nvPr/>
        </p:nvSpPr>
        <p:spPr>
          <a:xfrm>
            <a:off x="7171360" y="5376128"/>
            <a:ext cx="1421254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在样本范围内（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0.9-4.1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度）呈现极差升高，出现死淘率下降趋势。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A7CBABA-F4D2-CE3E-4271-ADE1A3E2B6D7}"/>
              </a:ext>
            </a:extLst>
          </p:cNvPr>
          <p:cNvSpPr txBox="1"/>
          <p:nvPr/>
        </p:nvSpPr>
        <p:spPr>
          <a:xfrm>
            <a:off x="7171358" y="6016777"/>
            <a:ext cx="1421254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极差大于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2.7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pic>
        <p:nvPicPr>
          <p:cNvPr id="72" name="图形 71" descr="星星">
            <a:extLst>
              <a:ext uri="{FF2B5EF4-FFF2-40B4-BE49-F238E27FC236}">
                <a16:creationId xmlns:a16="http://schemas.microsoft.com/office/drawing/2014/main" id="{A3E96638-9D2D-FC1C-C088-FF3D4AC0F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1827" y="1128968"/>
            <a:ext cx="369733" cy="369733"/>
          </a:xfrm>
          <a:prstGeom prst="rect">
            <a:avLst/>
          </a:prstGeom>
        </p:spPr>
      </p:pic>
      <p:pic>
        <p:nvPicPr>
          <p:cNvPr id="73" name="图形 72" descr="星星">
            <a:extLst>
              <a:ext uri="{FF2B5EF4-FFF2-40B4-BE49-F238E27FC236}">
                <a16:creationId xmlns:a16="http://schemas.microsoft.com/office/drawing/2014/main" id="{B8621294-F9A7-6D70-7583-80732ABF1F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49901" y="1136876"/>
            <a:ext cx="318781" cy="318781"/>
          </a:xfrm>
          <a:prstGeom prst="rect">
            <a:avLst/>
          </a:prstGeom>
        </p:spPr>
      </p:pic>
      <p:pic>
        <p:nvPicPr>
          <p:cNvPr id="74" name="图形 73" descr="星星">
            <a:extLst>
              <a:ext uri="{FF2B5EF4-FFF2-40B4-BE49-F238E27FC236}">
                <a16:creationId xmlns:a16="http://schemas.microsoft.com/office/drawing/2014/main" id="{D16EB47A-00B9-3EE6-DDDD-4AEFE34D14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45168" y="1117424"/>
            <a:ext cx="370486" cy="37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63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297C6CB-FA52-60A5-F207-EFAC80CC50A3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48C2BC0-AFA5-5F6E-BCD0-E6AABA00D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043419"/>
              </p:ext>
            </p:extLst>
          </p:nvPr>
        </p:nvGraphicFramePr>
        <p:xfrm>
          <a:off x="542151" y="1355209"/>
          <a:ext cx="6017839" cy="4282863"/>
        </p:xfrm>
        <a:graphic>
          <a:graphicData uri="http://schemas.openxmlformats.org/drawingml/2006/table">
            <a:tbl>
              <a:tblPr/>
              <a:tblGrid>
                <a:gridCol w="682702">
                  <a:extLst>
                    <a:ext uri="{9D8B030D-6E8A-4147-A177-3AD203B41FA5}">
                      <a16:colId xmlns:a16="http://schemas.microsoft.com/office/drawing/2014/main" val="2305462585"/>
                    </a:ext>
                  </a:extLst>
                </a:gridCol>
                <a:gridCol w="1994951">
                  <a:extLst>
                    <a:ext uri="{9D8B030D-6E8A-4147-A177-3AD203B41FA5}">
                      <a16:colId xmlns:a16="http://schemas.microsoft.com/office/drawing/2014/main" val="2856079437"/>
                    </a:ext>
                  </a:extLst>
                </a:gridCol>
                <a:gridCol w="1465913">
                  <a:extLst>
                    <a:ext uri="{9D8B030D-6E8A-4147-A177-3AD203B41FA5}">
                      <a16:colId xmlns:a16="http://schemas.microsoft.com/office/drawing/2014/main" val="3622656140"/>
                    </a:ext>
                  </a:extLst>
                </a:gridCol>
                <a:gridCol w="1874273">
                  <a:extLst>
                    <a:ext uri="{9D8B030D-6E8A-4147-A177-3AD203B41FA5}">
                      <a16:colId xmlns:a16="http://schemas.microsoft.com/office/drawing/2014/main" val="452081229"/>
                    </a:ext>
                  </a:extLst>
                </a:gridCol>
              </a:tblGrid>
              <a:tr h="2373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探头温度标准差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鸡舍温度平均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4-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RANGE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013130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0-2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31.6-33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2.9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679227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3-5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30.6-31.2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2.8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790144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6-8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28.6-29.4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2.6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405201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9-11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27.6-28.1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987690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12-14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26.2-27.1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极差处于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0.8-1.6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6684484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15-17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25.6-25.9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极差大于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2.2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904933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18-20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23.9-24.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在样本范围内（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0.9-4.1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度）呈现极差升高，出现死淘率下降趋势。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532063"/>
                  </a:ext>
                </a:extLst>
              </a:tr>
              <a:tr h="45706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21-23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23.9-24.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极差大于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2.7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691986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F7CA0B8-1C92-CDDD-9DB4-FB6C4BAB79B2}"/>
              </a:ext>
            </a:extLst>
          </p:cNvPr>
          <p:cNvSpPr/>
          <p:nvPr/>
        </p:nvSpPr>
        <p:spPr>
          <a:xfrm>
            <a:off x="4803381" y="229295"/>
            <a:ext cx="2875497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冬季死淘各阶段管理控制建议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AF06CB-5955-0238-9A84-BEB7C323A443}"/>
              </a:ext>
            </a:extLst>
          </p:cNvPr>
          <p:cNvSpPr/>
          <p:nvPr/>
        </p:nvSpPr>
        <p:spPr>
          <a:xfrm>
            <a:off x="7389354" y="610295"/>
            <a:ext cx="4012295" cy="5339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雏鸡脆弱，温度波动、均值偏离、极差超限均显著影响死淘。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：均值区间收窄，波动、极差阈值降低，需平衡温度稳定与逐步过渡</a:t>
            </a: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：均值进一步降低，波动、极差敏感，需强化环境匀质性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温度需求趋稳，波动、极差阈值清晰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12-14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均值区间变宽但极差 “反向敏感”（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0.8 - 1.6℃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死淘升 ），需警惕 “过度匀温” 或 “隐性温差”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15-17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均值降至较低水平，波动、极差需协同控制，注重环境过渡衔接。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18-20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极差与死淘呈负相关（极差升、死淘降 ），可适度释放温度弹性，平衡控制成本与效益。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21-23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波动、极差阈值回升</a:t>
            </a:r>
            <a:endParaRPr lang="zh-CN" altLang="en-US" sz="120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实际生产管理中可根据控制难度选取相应指标进行控制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可设置多条件预警，代替单一指标监控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63C9133-436C-86D2-DF6F-49D1443ADD55}"/>
              </a:ext>
            </a:extLst>
          </p:cNvPr>
          <p:cNvCxnSpPr/>
          <p:nvPr/>
        </p:nvCxnSpPr>
        <p:spPr>
          <a:xfrm>
            <a:off x="7058346" y="610295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20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929943E-DAC0-0EB3-5689-BFA30AE9E25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,0-2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D1AFA6C-986B-B69A-7641-1A981533F6C8}"/>
              </a:ext>
            </a:extLst>
          </p:cNvPr>
          <p:cNvSpPr txBox="1"/>
          <p:nvPr/>
        </p:nvSpPr>
        <p:spPr>
          <a:xfrm>
            <a:off x="1008393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DC468A-EE16-93EA-A96C-F5958102EDEB}"/>
              </a:ext>
            </a:extLst>
          </p:cNvPr>
          <p:cNvSpPr txBox="1"/>
          <p:nvPr/>
        </p:nvSpPr>
        <p:spPr>
          <a:xfrm>
            <a:off x="4650616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62C377C-ADF9-2E8A-80EC-AB0022D06D96}"/>
              </a:ext>
            </a:extLst>
          </p:cNvPr>
          <p:cNvGrpSpPr/>
          <p:nvPr/>
        </p:nvGrpSpPr>
        <p:grpSpPr>
          <a:xfrm>
            <a:off x="60417" y="1515784"/>
            <a:ext cx="7661646" cy="4275415"/>
            <a:chOff x="589219" y="1526416"/>
            <a:chExt cx="11013562" cy="4275415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075B6E2-DDB1-6044-ACF1-A6D435A57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994" y="1526416"/>
              <a:ext cx="4943059" cy="2994980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9420428-219F-62F7-5D34-0D1DDCEC2CB1}"/>
                </a:ext>
              </a:extLst>
            </p:cNvPr>
            <p:cNvSpPr/>
            <p:nvPr/>
          </p:nvSpPr>
          <p:spPr>
            <a:xfrm>
              <a:off x="589219" y="4883380"/>
              <a:ext cx="5097740" cy="918451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冬季死淘模型，当</a:t>
              </a:r>
              <a:r>
                <a:rPr lang="en-US" altLang="zh-CN" sz="1400" dirty="0">
                  <a:solidFill>
                    <a:schemeClr val="tx1"/>
                  </a:solidFill>
                </a:rPr>
                <a:t>0-2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日龄温度极均衡时死淘率高，可能隐藏其他风险；当探头温度标准差大于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0.5</a:t>
              </a:r>
              <a:r>
                <a:rPr lang="zh-CN" altLang="en-US" sz="1400" b="1" dirty="0">
                  <a:solidFill>
                    <a:schemeClr val="tx1"/>
                  </a:solidFill>
                </a:rPr>
                <a:t>度</a:t>
              </a:r>
              <a:r>
                <a:rPr lang="zh-CN" altLang="en-US" sz="1400" dirty="0">
                  <a:solidFill>
                    <a:schemeClr val="tx1"/>
                  </a:solidFill>
                </a:rPr>
                <a:t>时，死淘率有上升趋势。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DF3E1F7-BC83-AE47-1B12-E77A74A2B4D2}"/>
                </a:ext>
              </a:extLst>
            </p:cNvPr>
            <p:cNvSpPr/>
            <p:nvPr/>
          </p:nvSpPr>
          <p:spPr>
            <a:xfrm>
              <a:off x="6505041" y="4866390"/>
              <a:ext cx="5097740" cy="918449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冬季死淘模型，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0-2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日龄鸡舍内部平均温度控制在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31.6-33</a:t>
              </a:r>
              <a:r>
                <a:rPr lang="zh-CN" altLang="en-US" sz="1400" dirty="0">
                  <a:solidFill>
                    <a:schemeClr val="tx1"/>
                  </a:solidFill>
                </a:rPr>
                <a:t>度，出现高死淘的概率较低。</a:t>
              </a:r>
            </a:p>
          </p:txBody>
        </p:sp>
        <p:pic>
          <p:nvPicPr>
            <p:cNvPr id="13" name="图片 12" descr="图表, 直方图&#10;&#10;AI 生成的内容可能不正确。">
              <a:extLst>
                <a:ext uri="{FF2B5EF4-FFF2-40B4-BE49-F238E27FC236}">
                  <a16:creationId xmlns:a16="http://schemas.microsoft.com/office/drawing/2014/main" id="{BD2B5A34-D7BE-9340-72FF-A0527B2A8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11949" y="1566246"/>
              <a:ext cx="5097740" cy="2955150"/>
            </a:xfrm>
            <a:prstGeom prst="rect">
              <a:avLst/>
            </a:prstGeom>
          </p:spPr>
        </p:pic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30361525-1A94-CD82-C4F8-DF74F79F29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675" y="1555613"/>
            <a:ext cx="3438667" cy="295514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A0ABF07-3E91-AF1F-DE98-5CDB3219EF8A}"/>
              </a:ext>
            </a:extLst>
          </p:cNvPr>
          <p:cNvSpPr/>
          <p:nvPr/>
        </p:nvSpPr>
        <p:spPr>
          <a:xfrm>
            <a:off x="8067675" y="4855759"/>
            <a:ext cx="3546271" cy="918450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日龄温度极差大于</a:t>
            </a:r>
            <a:r>
              <a:rPr lang="en-US" altLang="zh-CN" sz="1400" b="1" dirty="0">
                <a:solidFill>
                  <a:schemeClr val="tx1"/>
                </a:solidFill>
              </a:rPr>
              <a:t>2.9</a:t>
            </a:r>
            <a:r>
              <a:rPr lang="zh-CN" altLang="en-US" sz="1400" dirty="0">
                <a:solidFill>
                  <a:schemeClr val="tx1"/>
                </a:solidFill>
              </a:rPr>
              <a:t>度，呈现极差升高，出现死淘率上升趋势。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7791E7-DCFF-3404-F786-54213AE97030}"/>
              </a:ext>
            </a:extLst>
          </p:cNvPr>
          <p:cNvSpPr txBox="1"/>
          <p:nvPr/>
        </p:nvSpPr>
        <p:spPr>
          <a:xfrm>
            <a:off x="8613016" y="960680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8288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FD68324-0DA4-8F6C-D610-FB69D0AB2A7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,3-5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A90BCE-665B-514A-84B4-C6638E4C89C7}"/>
              </a:ext>
            </a:extLst>
          </p:cNvPr>
          <p:cNvSpPr txBox="1"/>
          <p:nvPr/>
        </p:nvSpPr>
        <p:spPr>
          <a:xfrm>
            <a:off x="1257059" y="1011038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CC8470-A1E9-3F0C-F446-E0C78765DDAA}"/>
              </a:ext>
            </a:extLst>
          </p:cNvPr>
          <p:cNvSpPr txBox="1"/>
          <p:nvPr/>
        </p:nvSpPr>
        <p:spPr>
          <a:xfrm>
            <a:off x="5342278" y="103197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AB2210F0-713B-7854-0B6B-35AA8F7516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963" y="1517353"/>
            <a:ext cx="3703649" cy="30382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5CA8772-FBB2-B363-7263-F2AF95AD1B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84" y="1509802"/>
            <a:ext cx="3712854" cy="3045838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A86B178-3894-2AA8-F15B-0E2C2BF31940}"/>
              </a:ext>
            </a:extLst>
          </p:cNvPr>
          <p:cNvSpPr/>
          <p:nvPr/>
        </p:nvSpPr>
        <p:spPr>
          <a:xfrm>
            <a:off x="366481" y="4906827"/>
            <a:ext cx="37651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冬季死淘模型，当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日龄温度极均衡时死淘率高，可能隐藏其他风险；当探头温度标准差大于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0.3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zh-CN" altLang="en-US" sz="1400" dirty="0">
                <a:solidFill>
                  <a:schemeClr val="tx1"/>
                </a:solidFill>
              </a:rPr>
              <a:t>度时，死淘率有上升趋势。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F728E1-55E6-4BD3-132B-AF0D021AB364}"/>
              </a:ext>
            </a:extLst>
          </p:cNvPr>
          <p:cNvSpPr/>
          <p:nvPr/>
        </p:nvSpPr>
        <p:spPr>
          <a:xfrm>
            <a:off x="4441052" y="4916945"/>
            <a:ext cx="37651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30.6-31.2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度，出现高死淘的概率较低。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6F1A0BF-2A75-30B2-D8F9-3D03A51461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1583" y="1517353"/>
            <a:ext cx="3598789" cy="29593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E01A699-E7E7-ED2B-D70A-B187F575FFCF}"/>
              </a:ext>
            </a:extLst>
          </p:cNvPr>
          <p:cNvSpPr txBox="1"/>
          <p:nvPr/>
        </p:nvSpPr>
        <p:spPr>
          <a:xfrm>
            <a:off x="9217688" y="1011038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6751FB9-AE2F-F320-03FB-4EA8C53547EA}"/>
              </a:ext>
            </a:extLst>
          </p:cNvPr>
          <p:cNvSpPr/>
          <p:nvPr/>
        </p:nvSpPr>
        <p:spPr>
          <a:xfrm>
            <a:off x="8431583" y="4965230"/>
            <a:ext cx="3546271" cy="729467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日龄温度极差大于</a:t>
            </a:r>
            <a:r>
              <a:rPr lang="en-US" altLang="zh-CN" sz="1400" b="1" dirty="0">
                <a:solidFill>
                  <a:schemeClr val="tx1"/>
                </a:solidFill>
              </a:rPr>
              <a:t>2.8</a:t>
            </a:r>
            <a:r>
              <a:rPr lang="zh-CN" altLang="en-US" sz="1400" dirty="0">
                <a:solidFill>
                  <a:schemeClr val="tx1"/>
                </a:solidFill>
              </a:rPr>
              <a:t>度，呈现极差升高，出现死淘率上升趋势。</a:t>
            </a:r>
          </a:p>
        </p:txBody>
      </p:sp>
    </p:spTree>
    <p:extLst>
      <p:ext uri="{BB962C8B-B14F-4D97-AF65-F5344CB8AC3E}">
        <p14:creationId xmlns:p14="http://schemas.microsoft.com/office/powerpoint/2010/main" val="4172184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2DEDE-6DEF-B09B-F2E4-62301B441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DE545E6-7375-E0D8-61FD-FC7820113411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,6-8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pic>
        <p:nvPicPr>
          <p:cNvPr id="3" name="图片 2" descr="图表&#10;&#10;AI 生成的内容可能不正确。">
            <a:extLst>
              <a:ext uri="{FF2B5EF4-FFF2-40B4-BE49-F238E27FC236}">
                <a16:creationId xmlns:a16="http://schemas.microsoft.com/office/drawing/2014/main" id="{6D67A55B-21CE-689B-738B-07CF0DE9BA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7" y="1523662"/>
            <a:ext cx="3419324" cy="305677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EE69D14-CE2F-0414-B078-C3048E1CC1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37" y="1607695"/>
            <a:ext cx="3419323" cy="297273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29364F8-3E06-2122-AF02-B006A5378EB3}"/>
              </a:ext>
            </a:extLst>
          </p:cNvPr>
          <p:cNvSpPr/>
          <p:nvPr/>
        </p:nvSpPr>
        <p:spPr>
          <a:xfrm>
            <a:off x="589219" y="4883381"/>
            <a:ext cx="3552706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冬季死淘模型，当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日龄温度极均衡时死淘率高，可能隐藏其他风险；当探头温度标准差大于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0.3 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F5A6B0-9E2A-6E87-5BF2-C9E911AD8B0D}"/>
              </a:ext>
            </a:extLst>
          </p:cNvPr>
          <p:cNvSpPr/>
          <p:nvPr/>
        </p:nvSpPr>
        <p:spPr>
          <a:xfrm>
            <a:off x="4395539" y="4866391"/>
            <a:ext cx="3552707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28.6-29.4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度，出现高死淘的概率较低。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FDC27F-43C6-A048-197D-93D92C74D67D}"/>
              </a:ext>
            </a:extLst>
          </p:cNvPr>
          <p:cNvSpPr txBox="1"/>
          <p:nvPr/>
        </p:nvSpPr>
        <p:spPr>
          <a:xfrm>
            <a:off x="1008393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785A54-CB0B-CD1E-18D0-849925D8A134}"/>
              </a:ext>
            </a:extLst>
          </p:cNvPr>
          <p:cNvSpPr txBox="1"/>
          <p:nvPr/>
        </p:nvSpPr>
        <p:spPr>
          <a:xfrm>
            <a:off x="4650616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23352F-2DFB-5CFA-37C2-DA034321D491}"/>
              </a:ext>
            </a:extLst>
          </p:cNvPr>
          <p:cNvSpPr txBox="1"/>
          <p:nvPr/>
        </p:nvSpPr>
        <p:spPr>
          <a:xfrm>
            <a:off x="8613016" y="960680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17A071D-EE00-5C4A-EC06-B46D1C0F3F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278" y="1523662"/>
            <a:ext cx="3419324" cy="3056772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C5E679CD-173C-F8E3-00B9-E1899D57C540}"/>
              </a:ext>
            </a:extLst>
          </p:cNvPr>
          <p:cNvSpPr/>
          <p:nvPr/>
        </p:nvSpPr>
        <p:spPr>
          <a:xfrm>
            <a:off x="8136725" y="4866391"/>
            <a:ext cx="3546271" cy="74645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日龄温度极差大于</a:t>
            </a:r>
            <a:r>
              <a:rPr lang="en-US" altLang="zh-CN" sz="1400" b="1" dirty="0">
                <a:solidFill>
                  <a:schemeClr val="tx1"/>
                </a:solidFill>
              </a:rPr>
              <a:t>2.6</a:t>
            </a:r>
            <a:r>
              <a:rPr lang="zh-CN" altLang="en-US" sz="1400" dirty="0">
                <a:solidFill>
                  <a:schemeClr val="tx1"/>
                </a:solidFill>
              </a:rPr>
              <a:t>度，呈现极差升高，出现死淘率上升趋势。</a:t>
            </a:r>
          </a:p>
        </p:txBody>
      </p:sp>
    </p:spTree>
    <p:extLst>
      <p:ext uri="{BB962C8B-B14F-4D97-AF65-F5344CB8AC3E}">
        <p14:creationId xmlns:p14="http://schemas.microsoft.com/office/powerpoint/2010/main" val="73604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CA72D-BBF1-E47B-2679-82BB4CEF2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21F5B7E-6961-996A-EA0C-8B821D9A14E5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,9-11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pic>
        <p:nvPicPr>
          <p:cNvPr id="3" name="图片 2" descr="图表&#10;&#10;AI 生成的内容可能不正确。">
            <a:extLst>
              <a:ext uri="{FF2B5EF4-FFF2-40B4-BE49-F238E27FC236}">
                <a16:creationId xmlns:a16="http://schemas.microsoft.com/office/drawing/2014/main" id="{B73D2357-D233-A4AE-9ADA-EDAF4841FD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890" y="1551579"/>
            <a:ext cx="3276925" cy="296748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B80A508-8638-0298-E8D9-3ACEA44105D4}"/>
              </a:ext>
            </a:extLst>
          </p:cNvPr>
          <p:cNvSpPr/>
          <p:nvPr/>
        </p:nvSpPr>
        <p:spPr>
          <a:xfrm>
            <a:off x="547108" y="4883381"/>
            <a:ext cx="3116772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冬季死淘模型，当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日龄温度极均衡时死淘率高，可能隐藏其他风险；当探头温度标准差大于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0.3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4074E2-49EF-4895-AA6A-0D788A7405A7}"/>
              </a:ext>
            </a:extLst>
          </p:cNvPr>
          <p:cNvSpPr/>
          <p:nvPr/>
        </p:nvSpPr>
        <p:spPr>
          <a:xfrm>
            <a:off x="4164057" y="4866391"/>
            <a:ext cx="3116772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27.6-28.1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度，出现高死淘的概率较低。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494490D-AEBC-EE95-40FA-55047536A1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52" y="1534190"/>
            <a:ext cx="3276925" cy="296748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10B8BB5-9894-CB7D-E037-65E1A09F261C}"/>
              </a:ext>
            </a:extLst>
          </p:cNvPr>
          <p:cNvSpPr txBox="1"/>
          <p:nvPr/>
        </p:nvSpPr>
        <p:spPr>
          <a:xfrm>
            <a:off x="1008393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E8FD62-EFDB-404A-F847-BB670E8D635F}"/>
              </a:ext>
            </a:extLst>
          </p:cNvPr>
          <p:cNvSpPr txBox="1"/>
          <p:nvPr/>
        </p:nvSpPr>
        <p:spPr>
          <a:xfrm>
            <a:off x="4650616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C343B1A-B7F0-EAA9-3EB9-3CF7F9067218}"/>
              </a:ext>
            </a:extLst>
          </p:cNvPr>
          <p:cNvSpPr txBox="1"/>
          <p:nvPr/>
        </p:nvSpPr>
        <p:spPr>
          <a:xfrm>
            <a:off x="8613016" y="960680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D0DA875-0B45-B0DB-279F-DA5CCF9E81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776" y="1534189"/>
            <a:ext cx="3581056" cy="296748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37BE099-3C28-DD61-3398-2079F88232C0}"/>
              </a:ext>
            </a:extLst>
          </p:cNvPr>
          <p:cNvSpPr/>
          <p:nvPr/>
        </p:nvSpPr>
        <p:spPr>
          <a:xfrm>
            <a:off x="7781006" y="4883381"/>
            <a:ext cx="3546271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日龄温度极差大于</a:t>
            </a:r>
            <a:r>
              <a:rPr lang="en-US" altLang="zh-CN" sz="1400" b="1" dirty="0">
                <a:solidFill>
                  <a:schemeClr val="tx1"/>
                </a:solidFill>
              </a:rPr>
              <a:t>2.3</a:t>
            </a:r>
            <a:r>
              <a:rPr lang="zh-CN" altLang="en-US" sz="1400" dirty="0">
                <a:solidFill>
                  <a:schemeClr val="tx1"/>
                </a:solidFill>
              </a:rPr>
              <a:t>度，呈现极差升高，出现死淘率上升趋势。</a:t>
            </a:r>
          </a:p>
        </p:txBody>
      </p:sp>
    </p:spTree>
    <p:extLst>
      <p:ext uri="{BB962C8B-B14F-4D97-AF65-F5344CB8AC3E}">
        <p14:creationId xmlns:p14="http://schemas.microsoft.com/office/powerpoint/2010/main" val="261358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526DD-C63C-3808-9BAB-77DA73DED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805978D2-EAB0-2CB0-C983-61B3B56A37A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,12-14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pic>
        <p:nvPicPr>
          <p:cNvPr id="3" name="图片 2" descr="图表, 折线图&#10;&#10;AI 生成的内容可能不正确。">
            <a:extLst>
              <a:ext uri="{FF2B5EF4-FFF2-40B4-BE49-F238E27FC236}">
                <a16:creationId xmlns:a16="http://schemas.microsoft.com/office/drawing/2014/main" id="{7975CDAD-2E38-3935-CD36-1CC827AF00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463" y="1523688"/>
            <a:ext cx="3526168" cy="319123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544FEEC-38EF-7195-4D54-FCCCF6641A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46" y="1523688"/>
            <a:ext cx="3526168" cy="323106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3E97EAE-26C0-42E7-5E7C-8C626E8294F3}"/>
              </a:ext>
            </a:extLst>
          </p:cNvPr>
          <p:cNvSpPr/>
          <p:nvPr/>
        </p:nvSpPr>
        <p:spPr>
          <a:xfrm>
            <a:off x="570461" y="4883381"/>
            <a:ext cx="3370806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冬季死淘模型，当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日龄温度极均衡时死淘率高，可能隐藏其他风险；当探头温度标准差大于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0.3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CDC382-35A3-B234-02AA-F6A0814DD239}"/>
              </a:ext>
            </a:extLst>
          </p:cNvPr>
          <p:cNvSpPr/>
          <p:nvPr/>
        </p:nvSpPr>
        <p:spPr>
          <a:xfrm>
            <a:off x="4482211" y="4866391"/>
            <a:ext cx="3370806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26.2-27.1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度，出现高死淘的概率较低。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C9E32-1DCA-965C-08AF-6339FFBD9B9E}"/>
              </a:ext>
            </a:extLst>
          </p:cNvPr>
          <p:cNvSpPr txBox="1"/>
          <p:nvPr/>
        </p:nvSpPr>
        <p:spPr>
          <a:xfrm>
            <a:off x="1008393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364261-64A6-6759-C416-16D337E3E774}"/>
              </a:ext>
            </a:extLst>
          </p:cNvPr>
          <p:cNvSpPr txBox="1"/>
          <p:nvPr/>
        </p:nvSpPr>
        <p:spPr>
          <a:xfrm>
            <a:off x="4650616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2E12622-2764-5C13-5DBC-A2EB22E9BA9F}"/>
              </a:ext>
            </a:extLst>
          </p:cNvPr>
          <p:cNvSpPr txBox="1"/>
          <p:nvPr/>
        </p:nvSpPr>
        <p:spPr>
          <a:xfrm>
            <a:off x="8613016" y="960680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A6A7A65-7C38-2F40-785C-B7913A69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675" y="1483857"/>
            <a:ext cx="3805137" cy="3231062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5B417AD-623E-44FC-0E02-A8E1C3CBF93E}"/>
              </a:ext>
            </a:extLst>
          </p:cNvPr>
          <p:cNvSpPr/>
          <p:nvPr/>
        </p:nvSpPr>
        <p:spPr>
          <a:xfrm>
            <a:off x="8067675" y="4866391"/>
            <a:ext cx="3546271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日龄温度极差处于</a:t>
            </a:r>
            <a:r>
              <a:rPr lang="en-US" altLang="zh-CN" sz="1400" b="1" dirty="0">
                <a:solidFill>
                  <a:schemeClr val="tx1"/>
                </a:solidFill>
              </a:rPr>
              <a:t>0.8-1.6</a:t>
            </a:r>
            <a:r>
              <a:rPr lang="zh-CN" altLang="en-US" sz="1400" b="1" dirty="0">
                <a:solidFill>
                  <a:schemeClr val="tx1"/>
                </a:solidFill>
              </a:rPr>
              <a:t>度，</a:t>
            </a:r>
            <a:r>
              <a:rPr lang="zh-CN" altLang="en-US" sz="1400" dirty="0">
                <a:solidFill>
                  <a:schemeClr val="tx1"/>
                </a:solidFill>
              </a:rPr>
              <a:t>呈现极差升高，出现死淘率上升趋势。</a:t>
            </a:r>
          </a:p>
        </p:txBody>
      </p:sp>
    </p:spTree>
    <p:extLst>
      <p:ext uri="{BB962C8B-B14F-4D97-AF65-F5344CB8AC3E}">
        <p14:creationId xmlns:p14="http://schemas.microsoft.com/office/powerpoint/2010/main" val="3217455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B7A6A-B5AB-FD7A-B72B-B47DB7B9F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FA543C2-592A-763B-203E-40425DFE410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,15-17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pic>
        <p:nvPicPr>
          <p:cNvPr id="3" name="图片 2" descr="图表, 折线图&#10;&#10;AI 生成的内容可能不正确。">
            <a:extLst>
              <a:ext uri="{FF2B5EF4-FFF2-40B4-BE49-F238E27FC236}">
                <a16:creationId xmlns:a16="http://schemas.microsoft.com/office/drawing/2014/main" id="{569070DE-FF9F-7103-759B-0526782F55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061" y="1637409"/>
            <a:ext cx="3570785" cy="30784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20ABF51-5EDD-D3B6-D4B3-3F5B096BC7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82" y="1637409"/>
            <a:ext cx="3551679" cy="308870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9BBAB26-CC54-8EBC-0B18-44C4189A044E}"/>
              </a:ext>
            </a:extLst>
          </p:cNvPr>
          <p:cNvSpPr/>
          <p:nvPr/>
        </p:nvSpPr>
        <p:spPr>
          <a:xfrm>
            <a:off x="589219" y="4883381"/>
            <a:ext cx="3264928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冬季死淘模型，当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日龄温度极均衡时死淘率高，可能隐藏其他风险；当探头温度标准差大于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0.3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2B153F-8BFF-9C41-B23C-ADE036C788DE}"/>
              </a:ext>
            </a:extLst>
          </p:cNvPr>
          <p:cNvSpPr/>
          <p:nvPr/>
        </p:nvSpPr>
        <p:spPr>
          <a:xfrm>
            <a:off x="4208758" y="4855858"/>
            <a:ext cx="3181647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25.6-25.9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度，出现高死淘的概率较低。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56EC1E-F6F5-763F-8F0D-03C54D4D8B20}"/>
              </a:ext>
            </a:extLst>
          </p:cNvPr>
          <p:cNvSpPr txBox="1"/>
          <p:nvPr/>
        </p:nvSpPr>
        <p:spPr>
          <a:xfrm>
            <a:off x="1008393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9F02906-E688-4466-6133-AFC8D0481072}"/>
              </a:ext>
            </a:extLst>
          </p:cNvPr>
          <p:cNvSpPr txBox="1"/>
          <p:nvPr/>
        </p:nvSpPr>
        <p:spPr>
          <a:xfrm>
            <a:off x="4650616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AD19282-26A1-89F0-3CF9-75130E70B9EB}"/>
              </a:ext>
            </a:extLst>
          </p:cNvPr>
          <p:cNvSpPr txBox="1"/>
          <p:nvPr/>
        </p:nvSpPr>
        <p:spPr>
          <a:xfrm>
            <a:off x="8613016" y="960680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59DB560-3A49-5DEB-B3BF-9753672F84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597" y="1732789"/>
            <a:ext cx="3570785" cy="300095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22E9BF9-C2A2-98E9-245C-97D8872FB833}"/>
              </a:ext>
            </a:extLst>
          </p:cNvPr>
          <p:cNvSpPr/>
          <p:nvPr/>
        </p:nvSpPr>
        <p:spPr>
          <a:xfrm>
            <a:off x="7781006" y="4883381"/>
            <a:ext cx="3546271" cy="701943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日龄温度极差大于</a:t>
            </a:r>
            <a:r>
              <a:rPr lang="en-US" altLang="zh-CN" sz="1400" b="1" dirty="0">
                <a:solidFill>
                  <a:schemeClr val="tx1"/>
                </a:solidFill>
              </a:rPr>
              <a:t>2.2</a:t>
            </a:r>
            <a:r>
              <a:rPr lang="zh-CN" altLang="en-US" sz="1400" dirty="0">
                <a:solidFill>
                  <a:schemeClr val="tx1"/>
                </a:solidFill>
              </a:rPr>
              <a:t>度，呈现极差升高，出现死淘率上升趋势。</a:t>
            </a:r>
          </a:p>
        </p:txBody>
      </p:sp>
    </p:spTree>
    <p:extLst>
      <p:ext uri="{BB962C8B-B14F-4D97-AF65-F5344CB8AC3E}">
        <p14:creationId xmlns:p14="http://schemas.microsoft.com/office/powerpoint/2010/main" val="352678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1178-9348-8BD3-632A-090527F8B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B4EBFBAC-A28F-7391-B841-984234075D3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,18-20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74602D-5C83-4327-442C-39E424B77A5C}"/>
              </a:ext>
            </a:extLst>
          </p:cNvPr>
          <p:cNvGrpSpPr/>
          <p:nvPr/>
        </p:nvGrpSpPr>
        <p:grpSpPr>
          <a:xfrm>
            <a:off x="569573" y="1549272"/>
            <a:ext cx="7730365" cy="4063575"/>
            <a:chOff x="569573" y="1549272"/>
            <a:chExt cx="10552565" cy="4063575"/>
          </a:xfrm>
        </p:grpSpPr>
        <p:pic>
          <p:nvPicPr>
            <p:cNvPr id="3" name="图片 2" descr="图表, 直方图&#10;&#10;AI 生成的内容可能不正确。">
              <a:extLst>
                <a:ext uri="{FF2B5EF4-FFF2-40B4-BE49-F238E27FC236}">
                  <a16:creationId xmlns:a16="http://schemas.microsoft.com/office/drawing/2014/main" id="{C598F701-8BF2-2FE7-9D7D-D6CF42E96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8462" y="1549272"/>
              <a:ext cx="5156031" cy="3203397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59700FE-6184-28AE-E3E9-E45A8F447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573" y="1589632"/>
              <a:ext cx="5287040" cy="3203397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B88B95D-A0EE-B0FB-9C0E-4F01CC819262}"/>
                </a:ext>
              </a:extLst>
            </p:cNvPr>
            <p:cNvSpPr/>
            <p:nvPr/>
          </p:nvSpPr>
          <p:spPr>
            <a:xfrm>
              <a:off x="589219" y="4883381"/>
              <a:ext cx="5097740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冬季死淘模型，当</a:t>
              </a:r>
              <a:r>
                <a:rPr lang="en-US" altLang="zh-CN" sz="1400" dirty="0">
                  <a:solidFill>
                    <a:schemeClr val="tx1"/>
                  </a:solidFill>
                </a:rPr>
                <a:t>18-20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日龄温度极均衡时死淘率高，可能隐藏其他风险；当探头温度标准差大于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0.3</a:t>
              </a:r>
              <a:r>
                <a:rPr lang="zh-CN" altLang="en-US" sz="1400" b="1" dirty="0">
                  <a:solidFill>
                    <a:schemeClr val="tx1"/>
                  </a:solidFill>
                </a:rPr>
                <a:t>度</a:t>
              </a:r>
              <a:r>
                <a:rPr lang="zh-CN" altLang="en-US" sz="1400" dirty="0">
                  <a:solidFill>
                    <a:schemeClr val="tx1"/>
                  </a:solidFill>
                </a:rPr>
                <a:t>时，死淘率有上升趋势。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D3166A6-4F52-01CA-0D8A-B7E82BB4D55B}"/>
                </a:ext>
              </a:extLst>
            </p:cNvPr>
            <p:cNvSpPr/>
            <p:nvPr/>
          </p:nvSpPr>
          <p:spPr>
            <a:xfrm>
              <a:off x="6024398" y="4866391"/>
              <a:ext cx="5097740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冬季死淘模型，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18-20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日龄鸡舍内部平均温度控制在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23.9-24.4</a:t>
              </a:r>
              <a:r>
                <a:rPr lang="zh-CN" altLang="en-US" sz="1400" dirty="0">
                  <a:solidFill>
                    <a:schemeClr val="tx1"/>
                  </a:solidFill>
                </a:rPr>
                <a:t>度，出现高死淘的概率较低。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2CB7D79E-C049-3E87-2F32-918B068D1AF1}"/>
              </a:ext>
            </a:extLst>
          </p:cNvPr>
          <p:cNvSpPr txBox="1"/>
          <p:nvPr/>
        </p:nvSpPr>
        <p:spPr>
          <a:xfrm>
            <a:off x="1008393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C31A4D0-BDCB-23F4-C08F-AD59EF939A17}"/>
              </a:ext>
            </a:extLst>
          </p:cNvPr>
          <p:cNvSpPr txBox="1"/>
          <p:nvPr/>
        </p:nvSpPr>
        <p:spPr>
          <a:xfrm>
            <a:off x="4650616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0F1E278-16FD-FB4A-F7B3-C9E28E137FB8}"/>
              </a:ext>
            </a:extLst>
          </p:cNvPr>
          <p:cNvSpPr txBox="1"/>
          <p:nvPr/>
        </p:nvSpPr>
        <p:spPr>
          <a:xfrm>
            <a:off x="8613016" y="960680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54E09D8-E635-9AF3-D71A-02F5142EF3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128" y="1549272"/>
            <a:ext cx="3698619" cy="316303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D4261E2-2386-9071-8A6B-835BB4106A80}"/>
              </a:ext>
            </a:extLst>
          </p:cNvPr>
          <p:cNvSpPr/>
          <p:nvPr/>
        </p:nvSpPr>
        <p:spPr>
          <a:xfrm>
            <a:off x="8418004" y="4866391"/>
            <a:ext cx="3546271" cy="701943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日龄，在样本范围内（</a:t>
            </a:r>
            <a:r>
              <a:rPr lang="en-US" altLang="zh-CN" sz="1400" dirty="0">
                <a:solidFill>
                  <a:schemeClr val="tx1"/>
                </a:solidFill>
              </a:rPr>
              <a:t>0.9-4.1</a:t>
            </a:r>
            <a:r>
              <a:rPr lang="zh-CN" altLang="en-US" sz="1400" dirty="0">
                <a:solidFill>
                  <a:schemeClr val="tx1"/>
                </a:solidFill>
              </a:rPr>
              <a:t>度）呈现极差升高，出现死淘率下降趋势。</a:t>
            </a:r>
          </a:p>
        </p:txBody>
      </p:sp>
    </p:spTree>
    <p:extLst>
      <p:ext uri="{BB962C8B-B14F-4D97-AF65-F5344CB8AC3E}">
        <p14:creationId xmlns:p14="http://schemas.microsoft.com/office/powerpoint/2010/main" val="3413128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CA1F8-4FC2-D2D6-7CD8-6EC7453E3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5780DE1-5500-C567-30F6-7A1E9697A0C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,21-23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pic>
        <p:nvPicPr>
          <p:cNvPr id="3" name="图片 2" descr="图表, 直方图&#10;&#10;AI 生成的内容可能不正确。">
            <a:extLst>
              <a:ext uri="{FF2B5EF4-FFF2-40B4-BE49-F238E27FC236}">
                <a16:creationId xmlns:a16="http://schemas.microsoft.com/office/drawing/2014/main" id="{82C9A058-6FBB-F1FC-F2D8-65D0D1C05F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519" y="1379349"/>
            <a:ext cx="3755102" cy="33364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77E8786-4989-3912-7EE6-18A77A957C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68" y="1379349"/>
            <a:ext cx="3755102" cy="333648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AB3F9FF-3D4E-4783-D5B8-CB3187981048}"/>
              </a:ext>
            </a:extLst>
          </p:cNvPr>
          <p:cNvSpPr/>
          <p:nvPr/>
        </p:nvSpPr>
        <p:spPr>
          <a:xfrm>
            <a:off x="557362" y="4883381"/>
            <a:ext cx="3476225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冬季死淘模型，当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日龄温度极均衡时死淘率高，可能隐藏其他风险；当探头温度标准差大于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2C4F26-A496-9551-90FC-DEAAD952621A}"/>
              </a:ext>
            </a:extLst>
          </p:cNvPr>
          <p:cNvSpPr/>
          <p:nvPr/>
        </p:nvSpPr>
        <p:spPr>
          <a:xfrm>
            <a:off x="4591450" y="4866391"/>
            <a:ext cx="3476225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23.9-24.4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度，出现高死淘的概率较低。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CE084F-AA23-CCC4-C482-B99CA908B298}"/>
              </a:ext>
            </a:extLst>
          </p:cNvPr>
          <p:cNvSpPr txBox="1"/>
          <p:nvPr/>
        </p:nvSpPr>
        <p:spPr>
          <a:xfrm>
            <a:off x="1008393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C38A70-0377-ADB4-C3DD-E4B5059BE795}"/>
              </a:ext>
            </a:extLst>
          </p:cNvPr>
          <p:cNvSpPr txBox="1"/>
          <p:nvPr/>
        </p:nvSpPr>
        <p:spPr>
          <a:xfrm>
            <a:off x="4650616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BC58D3-DE65-5F46-C914-19C62BD598B8}"/>
              </a:ext>
            </a:extLst>
          </p:cNvPr>
          <p:cNvSpPr txBox="1"/>
          <p:nvPr/>
        </p:nvSpPr>
        <p:spPr>
          <a:xfrm>
            <a:off x="8613016" y="960680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C2BD250-717D-28A8-7637-10D685D8E8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707" y="1379349"/>
            <a:ext cx="3476225" cy="333648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E4BF09C5-405A-2C84-2866-45F9CB89C20E}"/>
              </a:ext>
            </a:extLst>
          </p:cNvPr>
          <p:cNvSpPr/>
          <p:nvPr/>
        </p:nvSpPr>
        <p:spPr>
          <a:xfrm>
            <a:off x="8260802" y="4866391"/>
            <a:ext cx="3546271" cy="701943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日龄温度极差大于</a:t>
            </a:r>
            <a:r>
              <a:rPr lang="en-US" altLang="zh-CN" sz="1400" b="1" dirty="0">
                <a:solidFill>
                  <a:schemeClr val="tx1"/>
                </a:solidFill>
              </a:rPr>
              <a:t>2.7</a:t>
            </a:r>
            <a:r>
              <a:rPr lang="zh-CN" altLang="en-US" sz="1400" dirty="0">
                <a:solidFill>
                  <a:schemeClr val="tx1"/>
                </a:solidFill>
              </a:rPr>
              <a:t>度，呈现极差升高，出现死淘率上升趋势。</a:t>
            </a:r>
          </a:p>
        </p:txBody>
      </p:sp>
    </p:spTree>
    <p:extLst>
      <p:ext uri="{BB962C8B-B14F-4D97-AF65-F5344CB8AC3E}">
        <p14:creationId xmlns:p14="http://schemas.microsoft.com/office/powerpoint/2010/main" val="1245475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0D4D4EB-88C8-1480-BF66-5ED8D393E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90" y="1221039"/>
            <a:ext cx="5112497" cy="33873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7C72ED2-5CB4-0D56-A28C-A2473B308C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997" y="1393015"/>
            <a:ext cx="4534398" cy="3107462"/>
          </a:xfrm>
          <a:prstGeom prst="rect">
            <a:avLst/>
          </a:prstGeom>
        </p:spPr>
      </p:pic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591DE81E-B751-9D7A-414B-9F6570EE310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冬季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-EEF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DAE25C-67C6-3EA1-93D1-D462731F65E5}"/>
              </a:ext>
            </a:extLst>
          </p:cNvPr>
          <p:cNvSpPr txBox="1"/>
          <p:nvPr/>
        </p:nvSpPr>
        <p:spPr>
          <a:xfrm>
            <a:off x="1600676" y="5024810"/>
            <a:ext cx="2908979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0956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049E9-FDD4-8639-00D4-E5E89C0A4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B142620-91C8-A1A9-DA8E-E66ACD700EEC}"/>
              </a:ext>
            </a:extLst>
          </p:cNvPr>
          <p:cNvSpPr txBox="1"/>
          <p:nvPr/>
        </p:nvSpPr>
        <p:spPr>
          <a:xfrm>
            <a:off x="224987" y="88592"/>
            <a:ext cx="5577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总体养殖控制变量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——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冬季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21E6A982-A542-1FF4-6B4C-7E46FC5C3EA8}"/>
              </a:ext>
            </a:extLst>
          </p:cNvPr>
          <p:cNvCxnSpPr>
            <a:cxnSpLocks/>
          </p:cNvCxnSpPr>
          <p:nvPr/>
        </p:nvCxnSpPr>
        <p:spPr>
          <a:xfrm>
            <a:off x="1280983" y="1577150"/>
            <a:ext cx="0" cy="5029133"/>
          </a:xfrm>
          <a:prstGeom prst="line">
            <a:avLst/>
          </a:prstGeom>
          <a:ln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5D5D40CE-2279-0139-655C-A18B1057EF2F}"/>
              </a:ext>
            </a:extLst>
          </p:cNvPr>
          <p:cNvSpPr/>
          <p:nvPr/>
        </p:nvSpPr>
        <p:spPr>
          <a:xfrm>
            <a:off x="779791" y="532820"/>
            <a:ext cx="10953298" cy="1028220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1400" dirty="0">
              <a:solidFill>
                <a:srgbClr val="0766D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698EFC-2548-FF4F-D2B4-ACA19EBEB993}"/>
              </a:ext>
            </a:extLst>
          </p:cNvPr>
          <p:cNvSpPr/>
          <p:nvPr/>
        </p:nvSpPr>
        <p:spPr>
          <a:xfrm>
            <a:off x="2109293" y="915087"/>
            <a:ext cx="2860780" cy="26142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766D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全舍总体控制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C0EE08B-E6BC-174D-B817-6A4DF8EF26C7}"/>
              </a:ext>
            </a:extLst>
          </p:cNvPr>
          <p:cNvSpPr/>
          <p:nvPr/>
        </p:nvSpPr>
        <p:spPr>
          <a:xfrm>
            <a:off x="5240398" y="915087"/>
            <a:ext cx="1711408" cy="26140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766D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均匀性控制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AE53781-78E7-5269-6AC0-4D785CF38D73}"/>
              </a:ext>
            </a:extLst>
          </p:cNvPr>
          <p:cNvSpPr/>
          <p:nvPr/>
        </p:nvSpPr>
        <p:spPr>
          <a:xfrm>
            <a:off x="7150969" y="915087"/>
            <a:ext cx="2860780" cy="26140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766D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变动控制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BF1B96D-295B-FE25-5F7C-DC502C3237AD}"/>
              </a:ext>
            </a:extLst>
          </p:cNvPr>
          <p:cNvSpPr/>
          <p:nvPr/>
        </p:nvSpPr>
        <p:spPr>
          <a:xfrm>
            <a:off x="2109293" y="1240845"/>
            <a:ext cx="1314918" cy="26142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舍内温度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B934F1-C3A7-CB0A-8DBF-5F578105BD7B}"/>
              </a:ext>
            </a:extLst>
          </p:cNvPr>
          <p:cNvSpPr/>
          <p:nvPr/>
        </p:nvSpPr>
        <p:spPr>
          <a:xfrm>
            <a:off x="3655157" y="1240845"/>
            <a:ext cx="1314918" cy="26142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舍内湿度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A024A3-782F-077B-C456-98A156B41009}"/>
              </a:ext>
            </a:extLst>
          </p:cNvPr>
          <p:cNvSpPr/>
          <p:nvPr/>
        </p:nvSpPr>
        <p:spPr>
          <a:xfrm>
            <a:off x="5323726" y="1223415"/>
            <a:ext cx="1513163" cy="26140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B24EB8F-647B-92C5-36F7-1017D0F4ADD8}"/>
              </a:ext>
            </a:extLst>
          </p:cNvPr>
          <p:cNvSpPr/>
          <p:nvPr/>
        </p:nvSpPr>
        <p:spPr>
          <a:xfrm>
            <a:off x="7150968" y="1223415"/>
            <a:ext cx="1314918" cy="261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温度变动范围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EE48020-5BA9-B7C8-AE0B-3624AE3E71E0}"/>
              </a:ext>
            </a:extLst>
          </p:cNvPr>
          <p:cNvSpPr/>
          <p:nvPr/>
        </p:nvSpPr>
        <p:spPr>
          <a:xfrm>
            <a:off x="8696831" y="1223415"/>
            <a:ext cx="1314918" cy="261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小时温度平均变化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C4FF30E-19A0-0889-64D5-26474BD48D04}"/>
              </a:ext>
            </a:extLst>
          </p:cNvPr>
          <p:cNvSpPr/>
          <p:nvPr/>
        </p:nvSpPr>
        <p:spPr>
          <a:xfrm>
            <a:off x="10353049" y="1225450"/>
            <a:ext cx="1271285" cy="261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外部温度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60FFBC17-B19E-7579-24C7-F89429DFD381}"/>
              </a:ext>
            </a:extLst>
          </p:cNvPr>
          <p:cNvCxnSpPr>
            <a:cxnSpLocks/>
          </p:cNvCxnSpPr>
          <p:nvPr/>
        </p:nvCxnSpPr>
        <p:spPr>
          <a:xfrm>
            <a:off x="3595965" y="1491329"/>
            <a:ext cx="0" cy="5029133"/>
          </a:xfrm>
          <a:prstGeom prst="line">
            <a:avLst/>
          </a:prstGeom>
          <a:ln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D7AF34E-EDD0-5655-E9B5-5D32E574629A}"/>
              </a:ext>
            </a:extLst>
          </p:cNvPr>
          <p:cNvCxnSpPr>
            <a:cxnSpLocks/>
          </p:cNvCxnSpPr>
          <p:nvPr/>
        </p:nvCxnSpPr>
        <p:spPr>
          <a:xfrm>
            <a:off x="5149209" y="1454398"/>
            <a:ext cx="0" cy="5029133"/>
          </a:xfrm>
          <a:prstGeom prst="line">
            <a:avLst/>
          </a:prstGeom>
          <a:ln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1D239FA-6070-637F-CBF6-E6376319B804}"/>
              </a:ext>
            </a:extLst>
          </p:cNvPr>
          <p:cNvCxnSpPr>
            <a:cxnSpLocks/>
          </p:cNvCxnSpPr>
          <p:nvPr/>
        </p:nvCxnSpPr>
        <p:spPr>
          <a:xfrm>
            <a:off x="7017437" y="1454398"/>
            <a:ext cx="0" cy="5029133"/>
          </a:xfrm>
          <a:prstGeom prst="line">
            <a:avLst/>
          </a:prstGeom>
          <a:ln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5EFDF5BD-3FAB-364B-583D-E69046BA795E}"/>
              </a:ext>
            </a:extLst>
          </p:cNvPr>
          <p:cNvCxnSpPr>
            <a:cxnSpLocks/>
          </p:cNvCxnSpPr>
          <p:nvPr/>
        </p:nvCxnSpPr>
        <p:spPr>
          <a:xfrm>
            <a:off x="5121438" y="1448037"/>
            <a:ext cx="0" cy="5029133"/>
          </a:xfrm>
          <a:prstGeom prst="line">
            <a:avLst/>
          </a:prstGeom>
          <a:ln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51DC9DE9-60DD-3DCB-7101-6EDB7574C74B}"/>
              </a:ext>
            </a:extLst>
          </p:cNvPr>
          <p:cNvSpPr/>
          <p:nvPr/>
        </p:nvSpPr>
        <p:spPr>
          <a:xfrm>
            <a:off x="779791" y="1673662"/>
            <a:ext cx="10953298" cy="4956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83AEA6C-5A27-5B47-5F28-2F8D8ABEE9B1}"/>
              </a:ext>
            </a:extLst>
          </p:cNvPr>
          <p:cNvSpPr/>
          <p:nvPr/>
        </p:nvSpPr>
        <p:spPr>
          <a:xfrm>
            <a:off x="779791" y="2287805"/>
            <a:ext cx="10953296" cy="4956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55312C8-B2C1-F74D-78D7-C3AB2C564131}"/>
              </a:ext>
            </a:extLst>
          </p:cNvPr>
          <p:cNvSpPr/>
          <p:nvPr/>
        </p:nvSpPr>
        <p:spPr>
          <a:xfrm>
            <a:off x="779791" y="2901948"/>
            <a:ext cx="10953295" cy="49563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BF5E204-3FEA-1BBE-ED4E-A29CDB1186B9}"/>
              </a:ext>
            </a:extLst>
          </p:cNvPr>
          <p:cNvSpPr/>
          <p:nvPr/>
        </p:nvSpPr>
        <p:spPr>
          <a:xfrm>
            <a:off x="779791" y="3516091"/>
            <a:ext cx="10953294" cy="49563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E85CA4F-1BD0-8187-417D-E7E7C3B5CFF8}"/>
              </a:ext>
            </a:extLst>
          </p:cNvPr>
          <p:cNvSpPr/>
          <p:nvPr/>
        </p:nvSpPr>
        <p:spPr>
          <a:xfrm>
            <a:off x="779791" y="4130234"/>
            <a:ext cx="10953290" cy="4956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8936781-9D25-2715-2AF3-BA01C8970CFC}"/>
              </a:ext>
            </a:extLst>
          </p:cNvPr>
          <p:cNvSpPr/>
          <p:nvPr/>
        </p:nvSpPr>
        <p:spPr>
          <a:xfrm>
            <a:off x="779791" y="4744377"/>
            <a:ext cx="10953286" cy="4956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FC41F5D-D89B-CC73-73EA-790BFFD0AB6A}"/>
              </a:ext>
            </a:extLst>
          </p:cNvPr>
          <p:cNvSpPr/>
          <p:nvPr/>
        </p:nvSpPr>
        <p:spPr>
          <a:xfrm>
            <a:off x="779791" y="5358520"/>
            <a:ext cx="10953283" cy="49563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C442559-3A8E-2D1D-E6BA-89E11C9E7CB2}"/>
              </a:ext>
            </a:extLst>
          </p:cNvPr>
          <p:cNvSpPr/>
          <p:nvPr/>
        </p:nvSpPr>
        <p:spPr>
          <a:xfrm>
            <a:off x="779791" y="5972660"/>
            <a:ext cx="10953281" cy="49563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FF9558-BEE8-05E5-4399-CA733B294F8E}"/>
              </a:ext>
            </a:extLst>
          </p:cNvPr>
          <p:cNvSpPr txBox="1"/>
          <p:nvPr/>
        </p:nvSpPr>
        <p:spPr>
          <a:xfrm>
            <a:off x="5271475" y="1645855"/>
            <a:ext cx="1598716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0.7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以上时，出现高</a:t>
            </a:r>
            <a:r>
              <a:rPr lang="en-US" altLang="zh-CN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的概率较高。但</a:t>
            </a:r>
            <a:r>
              <a:rPr lang="en-US" altLang="zh-CN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值较小，谨慎参考。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5ADEE4E-270D-0ABF-45EC-530FA8F1FD11}"/>
              </a:ext>
            </a:extLst>
          </p:cNvPr>
          <p:cNvSpPr txBox="1"/>
          <p:nvPr/>
        </p:nvSpPr>
        <p:spPr>
          <a:xfrm>
            <a:off x="5301756" y="2318404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0.3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以上时，出现高</a:t>
            </a:r>
            <a:r>
              <a:rPr lang="en-US" altLang="zh-CN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的概率较高。但</a:t>
            </a:r>
            <a:r>
              <a:rPr lang="en-US" altLang="zh-CN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值较小，谨慎参考。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2298BA0-047A-84F6-75A4-23118B6135E1}"/>
              </a:ext>
            </a:extLst>
          </p:cNvPr>
          <p:cNvSpPr txBox="1"/>
          <p:nvPr/>
        </p:nvSpPr>
        <p:spPr>
          <a:xfrm>
            <a:off x="5301756" y="2912508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0.6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以上时，出现高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的概率较高。但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值较小，谨慎参考。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0AC08B2-D521-9FE2-32A1-6E3AA5A81E85}"/>
              </a:ext>
            </a:extLst>
          </p:cNvPr>
          <p:cNvCxnSpPr>
            <a:cxnSpLocks/>
          </p:cNvCxnSpPr>
          <p:nvPr/>
        </p:nvCxnSpPr>
        <p:spPr>
          <a:xfrm>
            <a:off x="10141395" y="735795"/>
            <a:ext cx="0" cy="5749907"/>
          </a:xfrm>
          <a:prstGeom prst="line">
            <a:avLst/>
          </a:prstGeom>
          <a:ln>
            <a:solidFill>
              <a:schemeClr val="bg2"/>
            </a:solidFill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A634EB37-D0DE-40D4-1FB4-80EEE7B709A5}"/>
              </a:ext>
            </a:extLst>
          </p:cNvPr>
          <p:cNvSpPr txBox="1"/>
          <p:nvPr/>
        </p:nvSpPr>
        <p:spPr>
          <a:xfrm>
            <a:off x="5301756" y="3523057"/>
            <a:ext cx="1514982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0.3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以上时，出现高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的概率较高。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7649336-3806-D4FB-CF33-529013695B82}"/>
              </a:ext>
            </a:extLst>
          </p:cNvPr>
          <p:cNvSpPr txBox="1"/>
          <p:nvPr/>
        </p:nvSpPr>
        <p:spPr>
          <a:xfrm>
            <a:off x="5301756" y="4127065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在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0.5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以上或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0.1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以下时，出现高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的概率较高。但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值较小，谨慎参考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1C30065-CC75-0989-F505-803FC5B0C89A}"/>
              </a:ext>
            </a:extLst>
          </p:cNvPr>
          <p:cNvSpPr txBox="1"/>
          <p:nvPr/>
        </p:nvSpPr>
        <p:spPr>
          <a:xfrm>
            <a:off x="5301756" y="4748103"/>
            <a:ext cx="1514982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0.6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以上或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0.1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以下时，出现高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的概率较高。但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值较小，谨慎参考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B20603C-4256-3074-C1D6-7E5D3ADB4A7C}"/>
              </a:ext>
            </a:extLst>
          </p:cNvPr>
          <p:cNvSpPr txBox="1"/>
          <p:nvPr/>
        </p:nvSpPr>
        <p:spPr>
          <a:xfrm>
            <a:off x="5301756" y="5383755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在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0.6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以上时，出现高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的概率较高。但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值较小，谨慎参考。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8E4AA84-D31D-F3F2-3A9D-646EB3BCCA55}"/>
              </a:ext>
            </a:extLst>
          </p:cNvPr>
          <p:cNvSpPr txBox="1"/>
          <p:nvPr/>
        </p:nvSpPr>
        <p:spPr>
          <a:xfrm>
            <a:off x="5301756" y="5969839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0.5-0.6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时，出现高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的概率较高。但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值较小，谨慎参考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3B9CA1E-9248-F9F5-2270-2357EBE7C0B3}"/>
              </a:ext>
            </a:extLst>
          </p:cNvPr>
          <p:cNvSpPr/>
          <p:nvPr/>
        </p:nvSpPr>
        <p:spPr>
          <a:xfrm>
            <a:off x="2109293" y="611902"/>
            <a:ext cx="7926246" cy="2384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控制变量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47DC450-3A86-85A3-B584-8AD8BE6E1CED}"/>
              </a:ext>
            </a:extLst>
          </p:cNvPr>
          <p:cNvSpPr/>
          <p:nvPr/>
        </p:nvSpPr>
        <p:spPr>
          <a:xfrm>
            <a:off x="10247196" y="627445"/>
            <a:ext cx="1380040" cy="238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关注变量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767D4E2-43A5-FDAD-0705-74B9D47BDCE7}"/>
              </a:ext>
            </a:extLst>
          </p:cNvPr>
          <p:cNvSpPr txBox="1"/>
          <p:nvPr/>
        </p:nvSpPr>
        <p:spPr>
          <a:xfrm>
            <a:off x="2000539" y="1772041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33-33.4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度，出现高</a:t>
            </a:r>
            <a:r>
              <a:rPr lang="en-US" altLang="zh-CN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的概率较高。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77D4062-8124-1C0B-CAC7-9CD1F398AFB1}"/>
              </a:ext>
            </a:extLst>
          </p:cNvPr>
          <p:cNvSpPr txBox="1"/>
          <p:nvPr/>
        </p:nvSpPr>
        <p:spPr>
          <a:xfrm>
            <a:off x="2000539" y="2411590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30.6-31.2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度，出现高</a:t>
            </a:r>
            <a:r>
              <a:rPr lang="en-US" altLang="zh-CN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的概率较高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5E17AED-8673-607F-FF71-B417739B1CB5}"/>
              </a:ext>
            </a:extLst>
          </p:cNvPr>
          <p:cNvSpPr txBox="1"/>
          <p:nvPr/>
        </p:nvSpPr>
        <p:spPr>
          <a:xfrm>
            <a:off x="2000539" y="4173911"/>
            <a:ext cx="1334406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样本范围内（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26.2-29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）内部平均温度上升，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呈现下降趋势。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3E571D0-6BDF-5CF0-225F-9DFD906EDC8C}"/>
              </a:ext>
            </a:extLst>
          </p:cNvPr>
          <p:cNvSpPr txBox="1"/>
          <p:nvPr/>
        </p:nvSpPr>
        <p:spPr>
          <a:xfrm>
            <a:off x="2000539" y="2911676"/>
            <a:ext cx="1334406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样本范围内（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28.6-31.1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）内部平均温度上升，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呈现下降趋势。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50B2ADE-C63B-C228-CCE1-8E662A075A8D}"/>
              </a:ext>
            </a:extLst>
          </p:cNvPr>
          <p:cNvSpPr txBox="1"/>
          <p:nvPr/>
        </p:nvSpPr>
        <p:spPr>
          <a:xfrm>
            <a:off x="2004272" y="3544955"/>
            <a:ext cx="1334406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样本范围内（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27.6-30.3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）内部平均温度上升，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呈现下降趋势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207205D-D415-0392-BAE2-7EFBBB286010}"/>
              </a:ext>
            </a:extLst>
          </p:cNvPr>
          <p:cNvSpPr txBox="1"/>
          <p:nvPr/>
        </p:nvSpPr>
        <p:spPr>
          <a:xfrm>
            <a:off x="2000539" y="4794463"/>
            <a:ext cx="1334406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样本范围内（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25.2-27.8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）内部平均温度上升，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呈现下降趋势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4CE4EF6-6783-EA09-FBAE-1C0DD34D89A0}"/>
              </a:ext>
            </a:extLst>
          </p:cNvPr>
          <p:cNvSpPr txBox="1"/>
          <p:nvPr/>
        </p:nvSpPr>
        <p:spPr>
          <a:xfrm>
            <a:off x="2000539" y="5369411"/>
            <a:ext cx="1334406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样本范围内（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23.9-27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）内部平均温度上升，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呈现下降趋势。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B491907-E4FB-DD83-C328-37C23DFC7B46}"/>
              </a:ext>
            </a:extLst>
          </p:cNvPr>
          <p:cNvSpPr txBox="1"/>
          <p:nvPr/>
        </p:nvSpPr>
        <p:spPr>
          <a:xfrm>
            <a:off x="2000539" y="5984894"/>
            <a:ext cx="1334406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样本范围内（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22.7-26.7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）内部平均温度上升，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呈现下降趋势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C5FF08ED-0051-36D0-0D15-92790372227A}"/>
              </a:ext>
            </a:extLst>
          </p:cNvPr>
          <p:cNvSpPr txBox="1"/>
          <p:nvPr/>
        </p:nvSpPr>
        <p:spPr>
          <a:xfrm>
            <a:off x="3595967" y="1673266"/>
            <a:ext cx="142125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65.5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以上时，出现高</a:t>
            </a:r>
            <a:r>
              <a:rPr lang="en-US" altLang="zh-CN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的概率较高。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86F3B7D-0D97-CCAD-DFAA-8824DB1531B1}"/>
              </a:ext>
            </a:extLst>
          </p:cNvPr>
          <p:cNvSpPr txBox="1"/>
          <p:nvPr/>
        </p:nvSpPr>
        <p:spPr>
          <a:xfrm>
            <a:off x="3589200" y="3553064"/>
            <a:ext cx="142125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84.7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以上时，出现高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的概率较高。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FE047EB-2B5F-530F-444A-99DEA4B53A3B}"/>
              </a:ext>
            </a:extLst>
          </p:cNvPr>
          <p:cNvSpPr txBox="1"/>
          <p:nvPr/>
        </p:nvSpPr>
        <p:spPr>
          <a:xfrm>
            <a:off x="3589200" y="2363829"/>
            <a:ext cx="142125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78.2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以上时，出现高</a:t>
            </a:r>
            <a:r>
              <a:rPr lang="en-US" altLang="zh-CN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的概率较高风险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573E37D-1395-44C2-C8FD-25264E909D57}"/>
              </a:ext>
            </a:extLst>
          </p:cNvPr>
          <p:cNvSpPr txBox="1"/>
          <p:nvPr/>
        </p:nvSpPr>
        <p:spPr>
          <a:xfrm>
            <a:off x="3620612" y="2997124"/>
            <a:ext cx="142125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82.8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以上时，出现高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的概率较高。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DB456BB-DCF9-2567-D228-B4FEAF56A27E}"/>
              </a:ext>
            </a:extLst>
          </p:cNvPr>
          <p:cNvSpPr txBox="1"/>
          <p:nvPr/>
        </p:nvSpPr>
        <p:spPr>
          <a:xfrm>
            <a:off x="3595966" y="4235870"/>
            <a:ext cx="142125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84.5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以上时，出现高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的概率较高。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F753D1A-CF9C-DB73-0EE9-60DE8BBDF9A2}"/>
              </a:ext>
            </a:extLst>
          </p:cNvPr>
          <p:cNvSpPr txBox="1"/>
          <p:nvPr/>
        </p:nvSpPr>
        <p:spPr>
          <a:xfrm>
            <a:off x="3595965" y="4794463"/>
            <a:ext cx="142125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80.2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以上时，出现高</a:t>
            </a:r>
            <a:r>
              <a:rPr lang="en-US" altLang="zh-CN" sz="105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的概率较高。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A7D020B-8832-7A4A-A47A-9D78095E048C}"/>
              </a:ext>
            </a:extLst>
          </p:cNvPr>
          <p:cNvSpPr txBox="1"/>
          <p:nvPr/>
        </p:nvSpPr>
        <p:spPr>
          <a:xfrm>
            <a:off x="3609910" y="5389150"/>
            <a:ext cx="142125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69.5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以上时，出现高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的概率较高。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72B1F39A-2B12-0BB5-57CB-3B877078A870}"/>
              </a:ext>
            </a:extLst>
          </p:cNvPr>
          <p:cNvSpPr txBox="1"/>
          <p:nvPr/>
        </p:nvSpPr>
        <p:spPr>
          <a:xfrm>
            <a:off x="3620612" y="6042887"/>
            <a:ext cx="142125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77.2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以上时，出现高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的概率较高。</a:t>
            </a:r>
          </a:p>
        </p:txBody>
      </p:sp>
      <p:pic>
        <p:nvPicPr>
          <p:cNvPr id="72" name="图形 71" descr="星星">
            <a:extLst>
              <a:ext uri="{FF2B5EF4-FFF2-40B4-BE49-F238E27FC236}">
                <a16:creationId xmlns:a16="http://schemas.microsoft.com/office/drawing/2014/main" id="{C83028C5-DBAE-16D6-E483-1F4712D903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2267" y="1106663"/>
            <a:ext cx="369733" cy="369733"/>
          </a:xfrm>
          <a:prstGeom prst="rect">
            <a:avLst/>
          </a:prstGeom>
        </p:spPr>
      </p:pic>
      <p:pic>
        <p:nvPicPr>
          <p:cNvPr id="73" name="图形 72" descr="星星">
            <a:extLst>
              <a:ext uri="{FF2B5EF4-FFF2-40B4-BE49-F238E27FC236}">
                <a16:creationId xmlns:a16="http://schemas.microsoft.com/office/drawing/2014/main" id="{4E4C3210-B428-807E-3DF0-38F87D38F0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33703" y="1137671"/>
            <a:ext cx="318781" cy="318781"/>
          </a:xfrm>
          <a:prstGeom prst="rect">
            <a:avLst/>
          </a:prstGeom>
        </p:spPr>
      </p:pic>
      <p:pic>
        <p:nvPicPr>
          <p:cNvPr id="74" name="图形 73" descr="星星">
            <a:extLst>
              <a:ext uri="{FF2B5EF4-FFF2-40B4-BE49-F238E27FC236}">
                <a16:creationId xmlns:a16="http://schemas.microsoft.com/office/drawing/2014/main" id="{656078D2-ACCE-508F-D886-C13B6992D9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24563" y="1107994"/>
            <a:ext cx="370486" cy="37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61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DA5F-4C8D-1EF1-058B-7F5906028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38B8158-0056-C20B-4BFF-387AA00F5349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122D64-3332-F540-4E85-04FB3A7DC23E}"/>
              </a:ext>
            </a:extLst>
          </p:cNvPr>
          <p:cNvSpPr/>
          <p:nvPr/>
        </p:nvSpPr>
        <p:spPr>
          <a:xfrm>
            <a:off x="4803383" y="298834"/>
            <a:ext cx="2337156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各阶段管理控制建议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6B3E0B-A473-D973-6DE7-A89DA2AF9D81}"/>
              </a:ext>
            </a:extLst>
          </p:cNvPr>
          <p:cNvSpPr/>
          <p:nvPr/>
        </p:nvSpPr>
        <p:spPr>
          <a:xfrm>
            <a:off x="7389354" y="610295"/>
            <a:ext cx="4012295" cy="5339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高温、高湿、适度温度波动协同提升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EEF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，需精准匹配环境参数。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：温度区间收窄，注重环境过渡。</a:t>
            </a: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：温度上升伴随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下降，可平衡温度上限与高湿的协同效益。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内部温度上升与 </a:t>
            </a:r>
            <a:r>
              <a:rPr lang="en-US" altLang="zh-CN" sz="1200" i="0" dirty="0">
                <a:solidFill>
                  <a:srgbClr val="000000"/>
                </a:solidFill>
                <a:effectLst/>
                <a:latin typeface="Inter"/>
              </a:rPr>
              <a:t>EEF 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有相反趋势，高湿或可部分抵消负面影响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12-14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内部温度上升与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有相反趋势，高湿或可部分抵消负面影响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15-17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内部温度上升与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有相反趋势，高湿或可部分抵消负面影响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18-20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内部温度上升与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有相反趋势，对湿度要求下降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21-23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内部温度上升与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有相反趋势，探头温度标准差存在最优区间</a:t>
            </a:r>
            <a:endParaRPr lang="zh-CN" altLang="en-US" sz="120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实际生产管理中可根据控制难度选取相应指标进行控制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可设置多条件预警，代替单一指标监控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4D1AA1C-D4DC-7F5F-15CC-70743E869986}"/>
              </a:ext>
            </a:extLst>
          </p:cNvPr>
          <p:cNvCxnSpPr/>
          <p:nvPr/>
        </p:nvCxnSpPr>
        <p:spPr>
          <a:xfrm>
            <a:off x="7058346" y="610295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C5A8D4D-64F5-4108-65A4-396721511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325403"/>
              </p:ext>
            </p:extLst>
          </p:nvPr>
        </p:nvGraphicFramePr>
        <p:xfrm>
          <a:off x="790349" y="1747588"/>
          <a:ext cx="6102493" cy="3522516"/>
        </p:xfrm>
        <a:graphic>
          <a:graphicData uri="http://schemas.openxmlformats.org/drawingml/2006/table">
            <a:tbl>
              <a:tblPr/>
              <a:tblGrid>
                <a:gridCol w="470363">
                  <a:extLst>
                    <a:ext uri="{9D8B030D-6E8A-4147-A177-3AD203B41FA5}">
                      <a16:colId xmlns:a16="http://schemas.microsoft.com/office/drawing/2014/main" val="283406775"/>
                    </a:ext>
                  </a:extLst>
                </a:gridCol>
                <a:gridCol w="1960861">
                  <a:extLst>
                    <a:ext uri="{9D8B030D-6E8A-4147-A177-3AD203B41FA5}">
                      <a16:colId xmlns:a16="http://schemas.microsoft.com/office/drawing/2014/main" val="3672477053"/>
                    </a:ext>
                  </a:extLst>
                </a:gridCol>
                <a:gridCol w="1343892">
                  <a:extLst>
                    <a:ext uri="{9D8B030D-6E8A-4147-A177-3AD203B41FA5}">
                      <a16:colId xmlns:a16="http://schemas.microsoft.com/office/drawing/2014/main" val="2767987433"/>
                    </a:ext>
                  </a:extLst>
                </a:gridCol>
                <a:gridCol w="2327377">
                  <a:extLst>
                    <a:ext uri="{9D8B030D-6E8A-4147-A177-3AD203B41FA5}">
                      <a16:colId xmlns:a16="http://schemas.microsoft.com/office/drawing/2014/main" val="3022446915"/>
                    </a:ext>
                  </a:extLst>
                </a:gridCol>
              </a:tblGrid>
              <a:tr h="2503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鸡舍温度平均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湿度内部平均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探头温度标准差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717992"/>
                  </a:ext>
                </a:extLst>
              </a:tr>
              <a:tr h="4090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0-2</a:t>
                      </a:r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33-33.4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的概率较高。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65.5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以上时，出现高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的概率较高。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温度标准差控制在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以上时，出现高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的概率较高。但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值较小，谨慎参考。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904873"/>
                  </a:ext>
                </a:extLst>
              </a:tr>
              <a:tr h="4090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3-5</a:t>
                      </a:r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30.6-31.2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的概率较高。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78.2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以上时，出现高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的概率较高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以上时，出现高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的概率较高。但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值较小，谨慎参考。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730986"/>
                  </a:ext>
                </a:extLst>
              </a:tr>
              <a:tr h="4090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6-8</a:t>
                      </a:r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样本范围内（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28.6-31.1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）内部平均温度上升，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呈现下降趋势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82.8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以上时，出现高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的概率较高。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以上时，出现高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的概率较高。但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值较小，谨慎参考。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625488"/>
                  </a:ext>
                </a:extLst>
              </a:tr>
              <a:tr h="4090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9-11</a:t>
                      </a:r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样本范围内（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27.6-30.3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）内部平均温度上升，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呈现下降趋势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84.7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以上时，出现高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的概率较高。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以上时，出现高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的概率较高。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532317"/>
                  </a:ext>
                </a:extLst>
              </a:tr>
              <a:tr h="4090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12-14</a:t>
                      </a:r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样本范围内（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26.2-29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）内部平均温度上升，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呈现下降趋势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84.5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以上时，出现高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的概率较高。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在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以上或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以下时，出现高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的概率较高。但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值较小，谨慎参考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494203"/>
                  </a:ext>
                </a:extLst>
              </a:tr>
              <a:tr h="4090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15-17</a:t>
                      </a:r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样本范围内（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25.2-27.8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）内部平均温度上升，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呈现下降趋势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80.2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以上时，出现高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的概率较高。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以上或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以下时，出现高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的概率较高。但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值较小，谨慎参考。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656957"/>
                  </a:ext>
                </a:extLst>
              </a:tr>
              <a:tr h="4090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18-20</a:t>
                      </a:r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样本范围内（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23.9-27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）内部平均温度上升，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呈现下降趋势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69.5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以上时，出现高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的概率较高。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在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以上时，出现高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的概率较高。但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值较小，谨慎参考。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676865"/>
                  </a:ext>
                </a:extLst>
              </a:tr>
              <a:tr h="4090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21-23</a:t>
                      </a:r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样本范围内（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22.7-26.7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）内部平均温度上升，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呈现下降趋势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77.2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以上时，出现高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的概率较高。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0.5-0.6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时，出现高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的概率较高。但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值较小，谨慎参考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866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149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AC920-5F84-75E9-088C-9C40F09C0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FA11E31-DE07-612A-DE64-29B6EAA89F3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,0-2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5CFF6B7-3AFA-0552-58B3-4EEF739A5F5C}"/>
              </a:ext>
            </a:extLst>
          </p:cNvPr>
          <p:cNvSpPr txBox="1"/>
          <p:nvPr/>
        </p:nvSpPr>
        <p:spPr>
          <a:xfrm>
            <a:off x="5187747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3B0E23E-C799-9F95-D478-B03096243684}"/>
              </a:ext>
            </a:extLst>
          </p:cNvPr>
          <p:cNvSpPr txBox="1"/>
          <p:nvPr/>
        </p:nvSpPr>
        <p:spPr>
          <a:xfrm>
            <a:off x="1414610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530316E-E893-7C59-3268-117F06301AFA}"/>
              </a:ext>
            </a:extLst>
          </p:cNvPr>
          <p:cNvGrpSpPr/>
          <p:nvPr/>
        </p:nvGrpSpPr>
        <p:grpSpPr>
          <a:xfrm>
            <a:off x="492472" y="1678473"/>
            <a:ext cx="7575203" cy="3096440"/>
            <a:chOff x="492472" y="1678473"/>
            <a:chExt cx="11370133" cy="3096440"/>
          </a:xfrm>
        </p:grpSpPr>
        <p:pic>
          <p:nvPicPr>
            <p:cNvPr id="5" name="图片 4" descr="图表, 折线图, 直方图&#10;&#10;AI 生成的内容可能不正确。">
              <a:extLst>
                <a:ext uri="{FF2B5EF4-FFF2-40B4-BE49-F238E27FC236}">
                  <a16:creationId xmlns:a16="http://schemas.microsoft.com/office/drawing/2014/main" id="{D6479FC5-4184-DBDF-BBCB-449D3F37C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472" y="1678473"/>
              <a:ext cx="5603528" cy="3096440"/>
            </a:xfrm>
            <a:prstGeom prst="rect">
              <a:avLst/>
            </a:prstGeom>
          </p:spPr>
        </p:pic>
        <p:pic>
          <p:nvPicPr>
            <p:cNvPr id="10" name="图片 9" descr="图表, 折线图&#10;&#10;AI 生成的内容可能不正确。">
              <a:extLst>
                <a:ext uri="{FF2B5EF4-FFF2-40B4-BE49-F238E27FC236}">
                  <a16:creationId xmlns:a16="http://schemas.microsoft.com/office/drawing/2014/main" id="{FECBD736-DA4D-3DA3-6DAD-AD6C80031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9077" y="1678473"/>
              <a:ext cx="5603528" cy="3096440"/>
            </a:xfrm>
            <a:prstGeom prst="rect">
              <a:avLst/>
            </a:prstGeom>
          </p:spPr>
        </p:pic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0F7BBB28-FDE8-B1B8-2FE7-7A7DBD9DB6EC}"/>
              </a:ext>
            </a:extLst>
          </p:cNvPr>
          <p:cNvSpPr/>
          <p:nvPr/>
        </p:nvSpPr>
        <p:spPr>
          <a:xfrm>
            <a:off x="556928" y="4883381"/>
            <a:ext cx="33963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0-2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33-33.4</a:t>
            </a:r>
            <a:r>
              <a:rPr lang="zh-CN" altLang="en-US" sz="1400" dirty="0">
                <a:solidFill>
                  <a:schemeClr val="tx1"/>
                </a:solidFill>
              </a:rPr>
              <a:t>度，出现高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93C668-3E5E-8842-1B6B-8F6204F058B8}"/>
              </a:ext>
            </a:extLst>
          </p:cNvPr>
          <p:cNvSpPr/>
          <p:nvPr/>
        </p:nvSpPr>
        <p:spPr>
          <a:xfrm>
            <a:off x="4412354" y="4883381"/>
            <a:ext cx="33963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日龄湿度内部平均控制在</a:t>
            </a:r>
            <a:r>
              <a:rPr lang="en-US" altLang="zh-CN" sz="1400" b="1" dirty="0">
                <a:solidFill>
                  <a:schemeClr val="tx1"/>
                </a:solidFill>
              </a:rPr>
              <a:t>65.5</a:t>
            </a:r>
            <a:r>
              <a:rPr lang="zh-CN" altLang="en-US" sz="1400" dirty="0">
                <a:solidFill>
                  <a:schemeClr val="tx1"/>
                </a:solidFill>
              </a:rPr>
              <a:t>以上时，出现高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128C473-1105-E179-7AEC-D93230211B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322" y="1684162"/>
            <a:ext cx="3789134" cy="309644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8416FFC-52F9-5FB0-8DA4-E11DE238C72F}"/>
              </a:ext>
            </a:extLst>
          </p:cNvPr>
          <p:cNvSpPr txBox="1"/>
          <p:nvPr/>
        </p:nvSpPr>
        <p:spPr>
          <a:xfrm>
            <a:off x="8952642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01EFB7-CA05-2FF2-2862-A64D309AA293}"/>
              </a:ext>
            </a:extLst>
          </p:cNvPr>
          <p:cNvSpPr/>
          <p:nvPr/>
        </p:nvSpPr>
        <p:spPr>
          <a:xfrm>
            <a:off x="8267780" y="4883381"/>
            <a:ext cx="33963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日龄探头温度标准差控制在</a:t>
            </a:r>
            <a:r>
              <a:rPr lang="en-US" altLang="zh-CN" sz="1400" dirty="0">
                <a:solidFill>
                  <a:schemeClr val="tx1"/>
                </a:solidFill>
              </a:rPr>
              <a:t>0.7</a:t>
            </a:r>
            <a:r>
              <a:rPr lang="zh-CN" altLang="en-US" sz="1400" dirty="0">
                <a:solidFill>
                  <a:schemeClr val="tx1"/>
                </a:solidFill>
              </a:rPr>
              <a:t>以上时，出现高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的概率较高。但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值较小，可谨慎参考。</a:t>
            </a:r>
          </a:p>
        </p:txBody>
      </p:sp>
    </p:spTree>
    <p:extLst>
      <p:ext uri="{BB962C8B-B14F-4D97-AF65-F5344CB8AC3E}">
        <p14:creationId xmlns:p14="http://schemas.microsoft.com/office/powerpoint/2010/main" val="2671886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31875-6FE0-8598-9470-E21FB42F0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9EFDF91-D819-BB92-5A9B-67D7E0A3932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,3-5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pic>
        <p:nvPicPr>
          <p:cNvPr id="3" name="图片 2" descr="图表, 折线图, 直方图">
            <a:extLst>
              <a:ext uri="{FF2B5EF4-FFF2-40B4-BE49-F238E27FC236}">
                <a16:creationId xmlns:a16="http://schemas.microsoft.com/office/drawing/2014/main" id="{6F5E915A-77BB-EA28-0F21-BB7C3A45AE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330" y="1497048"/>
            <a:ext cx="3800360" cy="3165455"/>
          </a:xfrm>
          <a:prstGeom prst="rect">
            <a:avLst/>
          </a:prstGeom>
        </p:spPr>
      </p:pic>
      <p:pic>
        <p:nvPicPr>
          <p:cNvPr id="6" name="图片 5" descr="图表&#10;&#10;AI 生成的内容可能不正确。">
            <a:extLst>
              <a:ext uri="{FF2B5EF4-FFF2-40B4-BE49-F238E27FC236}">
                <a16:creationId xmlns:a16="http://schemas.microsoft.com/office/drawing/2014/main" id="{600F4A96-1D3C-05F4-28A9-9B81CDB75A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7690" y="1579364"/>
            <a:ext cx="3680366" cy="308313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6B9AF0F-302C-6164-A1B7-B66871CD2889}"/>
              </a:ext>
            </a:extLst>
          </p:cNvPr>
          <p:cNvSpPr/>
          <p:nvPr/>
        </p:nvSpPr>
        <p:spPr>
          <a:xfrm>
            <a:off x="589219" y="4883381"/>
            <a:ext cx="3552707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3-5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30.6-31.2</a:t>
            </a:r>
            <a:r>
              <a:rPr lang="zh-CN" altLang="en-US" sz="1400" dirty="0">
                <a:solidFill>
                  <a:schemeClr val="tx1"/>
                </a:solidFill>
              </a:rPr>
              <a:t>度，出现高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BF3ACD-50B7-6A94-1560-D7B8DDDAEB4B}"/>
              </a:ext>
            </a:extLst>
          </p:cNvPr>
          <p:cNvSpPr/>
          <p:nvPr/>
        </p:nvSpPr>
        <p:spPr>
          <a:xfrm>
            <a:off x="4428499" y="4883381"/>
            <a:ext cx="3552707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日龄湿度内部平均控制在</a:t>
            </a:r>
            <a:r>
              <a:rPr lang="en-US" altLang="zh-CN" sz="1400" b="1" dirty="0">
                <a:solidFill>
                  <a:schemeClr val="tx1"/>
                </a:solidFill>
              </a:rPr>
              <a:t>78.2</a:t>
            </a:r>
            <a:r>
              <a:rPr lang="zh-CN" altLang="en-US" sz="1400" dirty="0">
                <a:solidFill>
                  <a:schemeClr val="tx1"/>
                </a:solidFill>
              </a:rPr>
              <a:t>以上时，出现高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B08EE33-1343-FAFE-ADBF-7329C56525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050" y="1579364"/>
            <a:ext cx="3437336" cy="308313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8A96151-5B85-2A3C-7C8B-506DEF68FC76}"/>
              </a:ext>
            </a:extLst>
          </p:cNvPr>
          <p:cNvSpPr txBox="1"/>
          <p:nvPr/>
        </p:nvSpPr>
        <p:spPr>
          <a:xfrm>
            <a:off x="5187747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60FC9CA-BA61-410E-6BC6-C865891A2FEB}"/>
              </a:ext>
            </a:extLst>
          </p:cNvPr>
          <p:cNvSpPr txBox="1"/>
          <p:nvPr/>
        </p:nvSpPr>
        <p:spPr>
          <a:xfrm>
            <a:off x="1414610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1A3F50F-C1BC-BA1F-EB8C-6681759B6BCC}"/>
              </a:ext>
            </a:extLst>
          </p:cNvPr>
          <p:cNvSpPr txBox="1"/>
          <p:nvPr/>
        </p:nvSpPr>
        <p:spPr>
          <a:xfrm>
            <a:off x="8952642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86250F6-B4F1-60CE-C9AE-F0D98C1C177E}"/>
              </a:ext>
            </a:extLst>
          </p:cNvPr>
          <p:cNvSpPr/>
          <p:nvPr/>
        </p:nvSpPr>
        <p:spPr>
          <a:xfrm>
            <a:off x="8267780" y="4883381"/>
            <a:ext cx="33963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日龄探头温度标准差控制在</a:t>
            </a:r>
            <a:r>
              <a:rPr lang="en-US" altLang="zh-CN" sz="1400" dirty="0">
                <a:solidFill>
                  <a:schemeClr val="tx1"/>
                </a:solidFill>
              </a:rPr>
              <a:t>0.3</a:t>
            </a:r>
            <a:r>
              <a:rPr lang="zh-CN" altLang="en-US" sz="1400" dirty="0">
                <a:solidFill>
                  <a:schemeClr val="tx1"/>
                </a:solidFill>
              </a:rPr>
              <a:t>以上时，出现高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的概率较高。但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值较小，可谨慎参考。</a:t>
            </a:r>
          </a:p>
        </p:txBody>
      </p:sp>
    </p:spTree>
    <p:extLst>
      <p:ext uri="{BB962C8B-B14F-4D97-AF65-F5344CB8AC3E}">
        <p14:creationId xmlns:p14="http://schemas.microsoft.com/office/powerpoint/2010/main" val="2396537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7B039-9DDC-96CE-B119-9E5C9D5A3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A4EADFE-F65D-4B7E-7E8D-09E30A47AF3D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,6-8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F43166B-7DA0-F47B-A40D-D9F3831C3875}"/>
              </a:ext>
            </a:extLst>
          </p:cNvPr>
          <p:cNvGrpSpPr/>
          <p:nvPr/>
        </p:nvGrpSpPr>
        <p:grpSpPr>
          <a:xfrm>
            <a:off x="318705" y="1461963"/>
            <a:ext cx="7500588" cy="4150884"/>
            <a:chOff x="589219" y="1612135"/>
            <a:chExt cx="11055751" cy="4000712"/>
          </a:xfrm>
        </p:grpSpPr>
        <p:pic>
          <p:nvPicPr>
            <p:cNvPr id="4" name="图片 3" descr="图表, 直方图&#10;&#10;AI 生成的内容可能不正确。">
              <a:extLst>
                <a:ext uri="{FF2B5EF4-FFF2-40B4-BE49-F238E27FC236}">
                  <a16:creationId xmlns:a16="http://schemas.microsoft.com/office/drawing/2014/main" id="{840FB085-13E1-BB40-97BF-04C28185F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3769" y="1612135"/>
              <a:ext cx="5220999" cy="3031784"/>
            </a:xfrm>
            <a:prstGeom prst="rect">
              <a:avLst/>
            </a:prstGeom>
          </p:spPr>
        </p:pic>
        <p:pic>
          <p:nvPicPr>
            <p:cNvPr id="7" name="图片 6" descr="图表, 折线图&#10;&#10;AI 生成的内容可能不正确。">
              <a:extLst>
                <a:ext uri="{FF2B5EF4-FFF2-40B4-BE49-F238E27FC236}">
                  <a16:creationId xmlns:a16="http://schemas.microsoft.com/office/drawing/2014/main" id="{22363B3F-51AA-E8C3-5D86-C6000250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3971" y="1652332"/>
              <a:ext cx="5220999" cy="2991587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3DCBBB1-3845-A278-DFFC-DD6823E460AD}"/>
                </a:ext>
              </a:extLst>
            </p:cNvPr>
            <p:cNvSpPr/>
            <p:nvPr/>
          </p:nvSpPr>
          <p:spPr>
            <a:xfrm>
              <a:off x="589219" y="4883381"/>
              <a:ext cx="5097740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 6-8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日龄鸡舍内部平均温度上升，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呈现下降趋势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A845E43-67D9-7341-8D52-6EF6F22812A1}"/>
                </a:ext>
              </a:extLst>
            </p:cNvPr>
            <p:cNvSpPr/>
            <p:nvPr/>
          </p:nvSpPr>
          <p:spPr>
            <a:xfrm>
              <a:off x="6505041" y="4866391"/>
              <a:ext cx="5097740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6-8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日龄湿度内部平均控制在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82.8</a:t>
              </a:r>
              <a:r>
                <a:rPr lang="zh-CN" altLang="en-US" sz="1400" dirty="0">
                  <a:solidFill>
                    <a:schemeClr val="tx1"/>
                  </a:solidFill>
                </a:rPr>
                <a:t>以上时，出现高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的概率较高。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68573E7F-F386-19CF-EE38-23636FA441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675" y="1502478"/>
            <a:ext cx="3747471" cy="306455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675E94E-485D-AFFE-3B6F-764636B761F3}"/>
              </a:ext>
            </a:extLst>
          </p:cNvPr>
          <p:cNvSpPr txBox="1"/>
          <p:nvPr/>
        </p:nvSpPr>
        <p:spPr>
          <a:xfrm>
            <a:off x="5187747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FE5F1F-2DCC-6F99-FB69-F75639997743}"/>
              </a:ext>
            </a:extLst>
          </p:cNvPr>
          <p:cNvSpPr txBox="1"/>
          <p:nvPr/>
        </p:nvSpPr>
        <p:spPr>
          <a:xfrm>
            <a:off x="1414610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CFF26EC-84F0-9094-B3FC-3249D83F72EE}"/>
              </a:ext>
            </a:extLst>
          </p:cNvPr>
          <p:cNvSpPr txBox="1"/>
          <p:nvPr/>
        </p:nvSpPr>
        <p:spPr>
          <a:xfrm>
            <a:off x="8952642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B40BC1F-0FD1-1FEA-117D-A5944906D44A}"/>
              </a:ext>
            </a:extLst>
          </p:cNvPr>
          <p:cNvSpPr/>
          <p:nvPr/>
        </p:nvSpPr>
        <p:spPr>
          <a:xfrm>
            <a:off x="8267780" y="4883381"/>
            <a:ext cx="33963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日龄探头温度标准差控制在</a:t>
            </a:r>
            <a:r>
              <a:rPr lang="en-US" altLang="zh-CN" sz="1400" dirty="0">
                <a:solidFill>
                  <a:schemeClr val="tx1"/>
                </a:solidFill>
              </a:rPr>
              <a:t>0.6</a:t>
            </a:r>
            <a:r>
              <a:rPr lang="zh-CN" altLang="en-US" sz="1400" dirty="0">
                <a:solidFill>
                  <a:schemeClr val="tx1"/>
                </a:solidFill>
              </a:rPr>
              <a:t>以上时，出现高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的概率较高。但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值较小，可谨慎参考。</a:t>
            </a:r>
          </a:p>
        </p:txBody>
      </p:sp>
    </p:spTree>
    <p:extLst>
      <p:ext uri="{BB962C8B-B14F-4D97-AF65-F5344CB8AC3E}">
        <p14:creationId xmlns:p14="http://schemas.microsoft.com/office/powerpoint/2010/main" val="306574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03C0B-ACA2-5001-503C-6F4229361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79CD175-7A16-9417-5AD8-984FA0F00961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,9-11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2E53DDC-28F0-5AED-A68F-8E91BC233C26}"/>
              </a:ext>
            </a:extLst>
          </p:cNvPr>
          <p:cNvGrpSpPr/>
          <p:nvPr/>
        </p:nvGrpSpPr>
        <p:grpSpPr>
          <a:xfrm>
            <a:off x="603109" y="1640477"/>
            <a:ext cx="7126857" cy="3894267"/>
            <a:chOff x="1019616" y="1701590"/>
            <a:chExt cx="10443542" cy="3894267"/>
          </a:xfrm>
        </p:grpSpPr>
        <p:pic>
          <p:nvPicPr>
            <p:cNvPr id="4" name="图片 3" descr="图表, 直方图&#10;&#10;AI 生成的内容可能不正确。">
              <a:extLst>
                <a:ext uri="{FF2B5EF4-FFF2-40B4-BE49-F238E27FC236}">
                  <a16:creationId xmlns:a16="http://schemas.microsoft.com/office/drawing/2014/main" id="{B80E9A07-C4AE-FF08-D4CA-BD8184CEB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616" y="1701590"/>
              <a:ext cx="5076384" cy="2992104"/>
            </a:xfrm>
            <a:prstGeom prst="rect">
              <a:avLst/>
            </a:prstGeom>
          </p:spPr>
        </p:pic>
        <p:pic>
          <p:nvPicPr>
            <p:cNvPr id="6" name="图片 5" descr="图表, 折线图&#10;&#10;AI 生成的内容可能不正确。">
              <a:extLst>
                <a:ext uri="{FF2B5EF4-FFF2-40B4-BE49-F238E27FC236}">
                  <a16:creationId xmlns:a16="http://schemas.microsoft.com/office/drawing/2014/main" id="{9C945F5D-79B3-1742-1C75-86798C789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86774" y="1787189"/>
              <a:ext cx="5076384" cy="2906505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83E3980-A252-BE64-FB84-579181EBCDC8}"/>
                </a:ext>
              </a:extLst>
            </p:cNvPr>
            <p:cNvSpPr/>
            <p:nvPr/>
          </p:nvSpPr>
          <p:spPr>
            <a:xfrm>
              <a:off x="1136073" y="4866391"/>
              <a:ext cx="4450372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 9-11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日龄鸡舍内部平均温度上升，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呈现下降趋势</a:t>
              </a:r>
              <a:r>
                <a:rPr lang="en-US" altLang="zh-CN" sz="1400" dirty="0">
                  <a:solidFill>
                    <a:schemeClr val="tx1"/>
                  </a:solidFill>
                </a:rPr>
                <a:t>.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36AA55A-E2AD-0C83-FF16-477229B069AD}"/>
                </a:ext>
              </a:extLst>
            </p:cNvPr>
            <p:cNvSpPr/>
            <p:nvPr/>
          </p:nvSpPr>
          <p:spPr>
            <a:xfrm>
              <a:off x="6505041" y="4866391"/>
              <a:ext cx="4550886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9-11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日龄湿度内部平均控制在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84.7</a:t>
              </a:r>
              <a:r>
                <a:rPr lang="zh-CN" altLang="en-US" sz="1400" dirty="0">
                  <a:solidFill>
                    <a:schemeClr val="tx1"/>
                  </a:solidFill>
                </a:rPr>
                <a:t>以上时，出现高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的概率较高。</a:t>
              </a: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FFEFFB0A-8E94-C749-D3E7-8A9913AEA7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395" y="1663149"/>
            <a:ext cx="3858925" cy="307489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C271F38-50C3-86DE-88D5-BFE93BDDADE2}"/>
              </a:ext>
            </a:extLst>
          </p:cNvPr>
          <p:cNvSpPr txBox="1"/>
          <p:nvPr/>
        </p:nvSpPr>
        <p:spPr>
          <a:xfrm>
            <a:off x="5064459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07CDBEB-C76C-79F9-72CC-1B435DA30CD0}"/>
              </a:ext>
            </a:extLst>
          </p:cNvPr>
          <p:cNvSpPr txBox="1"/>
          <p:nvPr/>
        </p:nvSpPr>
        <p:spPr>
          <a:xfrm>
            <a:off x="1291322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309D6A8-657E-A144-4096-D7A8A0F1FDEB}"/>
              </a:ext>
            </a:extLst>
          </p:cNvPr>
          <p:cNvSpPr txBox="1"/>
          <p:nvPr/>
        </p:nvSpPr>
        <p:spPr>
          <a:xfrm>
            <a:off x="8829354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981B1DA-4E78-EBBC-4CD6-93929503DA3B}"/>
              </a:ext>
            </a:extLst>
          </p:cNvPr>
          <p:cNvSpPr/>
          <p:nvPr/>
        </p:nvSpPr>
        <p:spPr>
          <a:xfrm>
            <a:off x="8067675" y="4805278"/>
            <a:ext cx="33963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日龄探头温度标准差控制在</a:t>
            </a:r>
            <a:r>
              <a:rPr lang="en-US" altLang="zh-CN" sz="1400" dirty="0">
                <a:solidFill>
                  <a:schemeClr val="tx1"/>
                </a:solidFill>
              </a:rPr>
              <a:t>0.3</a:t>
            </a:r>
            <a:r>
              <a:rPr lang="zh-CN" altLang="en-US" sz="1400" dirty="0">
                <a:solidFill>
                  <a:schemeClr val="tx1"/>
                </a:solidFill>
              </a:rPr>
              <a:t>以上时，出现高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144513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497CA-ABB3-5A23-D1CB-0407C4C73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D4B2847-61E5-2063-1EDA-56E82634671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,12-14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20B8C15-189D-B130-7EC7-2F5ECF4FF2CF}"/>
              </a:ext>
            </a:extLst>
          </p:cNvPr>
          <p:cNvGrpSpPr/>
          <p:nvPr/>
        </p:nvGrpSpPr>
        <p:grpSpPr>
          <a:xfrm>
            <a:off x="653774" y="1496237"/>
            <a:ext cx="7076192" cy="4205316"/>
            <a:chOff x="814848" y="1579364"/>
            <a:chExt cx="10723030" cy="4016493"/>
          </a:xfrm>
        </p:grpSpPr>
        <p:pic>
          <p:nvPicPr>
            <p:cNvPr id="4" name="图片 3" descr="图表&#10;&#10;AI 生成的内容可能不正确。">
              <a:extLst>
                <a:ext uri="{FF2B5EF4-FFF2-40B4-BE49-F238E27FC236}">
                  <a16:creationId xmlns:a16="http://schemas.microsoft.com/office/drawing/2014/main" id="{73744CDD-1AB3-1E6B-D2BE-A90388F61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848" y="1591913"/>
              <a:ext cx="5518772" cy="3017551"/>
            </a:xfrm>
            <a:prstGeom prst="rect">
              <a:avLst/>
            </a:prstGeom>
          </p:spPr>
        </p:pic>
        <p:pic>
          <p:nvPicPr>
            <p:cNvPr id="6" name="图片 5" descr="图表&#10;&#10;AI 生成的内容可能不正确。">
              <a:extLst>
                <a:ext uri="{FF2B5EF4-FFF2-40B4-BE49-F238E27FC236}">
                  <a16:creationId xmlns:a16="http://schemas.microsoft.com/office/drawing/2014/main" id="{497A6D59-D0B2-D6C7-9AE3-B8F53394C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3619" y="1579364"/>
              <a:ext cx="5204259" cy="3030100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5E2A85C-5FEF-1F50-D97A-49F1FFA7E20B}"/>
                </a:ext>
              </a:extLst>
            </p:cNvPr>
            <p:cNvSpPr/>
            <p:nvPr/>
          </p:nvSpPr>
          <p:spPr>
            <a:xfrm>
              <a:off x="814848" y="4866391"/>
              <a:ext cx="4883395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 12-14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日龄鸡舍内部平均温度上升，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呈现下降趋势。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0C68DAE-7C70-02FB-5E14-97912E1C6251}"/>
                </a:ext>
              </a:extLst>
            </p:cNvPr>
            <p:cNvSpPr/>
            <p:nvPr/>
          </p:nvSpPr>
          <p:spPr>
            <a:xfrm>
              <a:off x="6505041" y="4866391"/>
              <a:ext cx="4654795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12-14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日龄湿度内部平均控制在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84.5</a:t>
              </a:r>
              <a:r>
                <a:rPr lang="zh-CN" altLang="en-US" sz="1400" dirty="0">
                  <a:solidFill>
                    <a:schemeClr val="tx1"/>
                  </a:solidFill>
                </a:rPr>
                <a:t>以上时，出现高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的概率较高。</a:t>
              </a: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3724A397-F3F7-88C0-0787-1CD43FE80A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373" y="1550792"/>
            <a:ext cx="3410339" cy="306343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A3DBEB2-B0D6-49D0-986E-F89B7D79C7E7}"/>
              </a:ext>
            </a:extLst>
          </p:cNvPr>
          <p:cNvSpPr txBox="1"/>
          <p:nvPr/>
        </p:nvSpPr>
        <p:spPr>
          <a:xfrm>
            <a:off x="4930896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0D3C94-D0BE-8EFC-A8A1-238FF41E1360}"/>
              </a:ext>
            </a:extLst>
          </p:cNvPr>
          <p:cNvSpPr txBox="1"/>
          <p:nvPr/>
        </p:nvSpPr>
        <p:spPr>
          <a:xfrm>
            <a:off x="1157759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A024FAA-E62A-9D5A-A492-0FB9CA95014B}"/>
              </a:ext>
            </a:extLst>
          </p:cNvPr>
          <p:cNvSpPr txBox="1"/>
          <p:nvPr/>
        </p:nvSpPr>
        <p:spPr>
          <a:xfrm>
            <a:off x="8695791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7F8CD8-D15F-F984-7FEB-7CBCD8BE2069}"/>
              </a:ext>
            </a:extLst>
          </p:cNvPr>
          <p:cNvSpPr/>
          <p:nvPr/>
        </p:nvSpPr>
        <p:spPr>
          <a:xfrm>
            <a:off x="8267780" y="4883381"/>
            <a:ext cx="33963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日龄探头温度标准差控制在</a:t>
            </a:r>
            <a:r>
              <a:rPr lang="en-US" altLang="zh-CN" sz="1400" dirty="0">
                <a:solidFill>
                  <a:schemeClr val="tx1"/>
                </a:solidFill>
              </a:rPr>
              <a:t>0.5</a:t>
            </a:r>
            <a:r>
              <a:rPr lang="zh-CN" altLang="en-US" sz="1400" dirty="0">
                <a:solidFill>
                  <a:schemeClr val="tx1"/>
                </a:solidFill>
              </a:rPr>
              <a:t>以上或</a:t>
            </a:r>
            <a:r>
              <a:rPr lang="en-US" altLang="zh-CN" sz="1400" dirty="0">
                <a:solidFill>
                  <a:schemeClr val="tx1"/>
                </a:solidFill>
              </a:rPr>
              <a:t>0.1</a:t>
            </a:r>
            <a:r>
              <a:rPr lang="zh-CN" altLang="en-US" sz="1400" dirty="0">
                <a:solidFill>
                  <a:schemeClr val="tx1"/>
                </a:solidFill>
              </a:rPr>
              <a:t>以下时，出现高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的概率较高。但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值较小，可谨慎参考</a:t>
            </a:r>
          </a:p>
        </p:txBody>
      </p:sp>
    </p:spTree>
    <p:extLst>
      <p:ext uri="{BB962C8B-B14F-4D97-AF65-F5344CB8AC3E}">
        <p14:creationId xmlns:p14="http://schemas.microsoft.com/office/powerpoint/2010/main" val="337712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4682-D309-7B51-0D03-0ED3AAEAD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8295AF12-271D-0604-05B8-65BF0F94D09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,15-17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1B73B49-454A-A2AC-42D1-550A2A28E1D3}"/>
              </a:ext>
            </a:extLst>
          </p:cNvPr>
          <p:cNvGrpSpPr/>
          <p:nvPr/>
        </p:nvGrpSpPr>
        <p:grpSpPr>
          <a:xfrm>
            <a:off x="589219" y="1496106"/>
            <a:ext cx="6861063" cy="4116741"/>
            <a:chOff x="589219" y="1496106"/>
            <a:chExt cx="11154960" cy="4116741"/>
          </a:xfrm>
        </p:grpSpPr>
        <p:pic>
          <p:nvPicPr>
            <p:cNvPr id="4" name="图片 3" descr="图表, 折线图&#10;&#10;AI 生成的内容可能不正确。">
              <a:extLst>
                <a:ext uri="{FF2B5EF4-FFF2-40B4-BE49-F238E27FC236}">
                  <a16:creationId xmlns:a16="http://schemas.microsoft.com/office/drawing/2014/main" id="{AAA17D39-8BCC-7359-0A34-DE72550A9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720" y="1496107"/>
              <a:ext cx="5383171" cy="2922391"/>
            </a:xfrm>
            <a:prstGeom prst="rect">
              <a:avLst/>
            </a:prstGeom>
          </p:spPr>
        </p:pic>
        <p:pic>
          <p:nvPicPr>
            <p:cNvPr id="6" name="图片 5" descr="图表, 折线图&#10;&#10;AI 生成的内容可能不正确。">
              <a:extLst>
                <a:ext uri="{FF2B5EF4-FFF2-40B4-BE49-F238E27FC236}">
                  <a16:creationId xmlns:a16="http://schemas.microsoft.com/office/drawing/2014/main" id="{F2664BAA-3EB5-887B-8E93-27CD55C39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007" y="1496106"/>
              <a:ext cx="5383172" cy="2922391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1C2FA38-76BE-2475-0004-A382CD1D7EE1}"/>
                </a:ext>
              </a:extLst>
            </p:cNvPr>
            <p:cNvSpPr/>
            <p:nvPr/>
          </p:nvSpPr>
          <p:spPr>
            <a:xfrm>
              <a:off x="589219" y="4883381"/>
              <a:ext cx="5097740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15-17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日龄鸡舍内部平均温度上升，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呈现下降趋势。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F4DCA4A-7320-9A26-4A5C-435E4281AE0F}"/>
                </a:ext>
              </a:extLst>
            </p:cNvPr>
            <p:cNvSpPr/>
            <p:nvPr/>
          </p:nvSpPr>
          <p:spPr>
            <a:xfrm>
              <a:off x="6505041" y="4866391"/>
              <a:ext cx="4966523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15-17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日龄湿度内部平均控制在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80.2</a:t>
              </a:r>
              <a:r>
                <a:rPr lang="zh-CN" altLang="en-US" sz="1400" dirty="0">
                  <a:solidFill>
                    <a:schemeClr val="tx1"/>
                  </a:solidFill>
                </a:rPr>
                <a:t>以上时，出现高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的概率较高。</a:t>
              </a: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9F241936-9291-2DC0-C5DF-9624FE06D8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675" y="1496106"/>
            <a:ext cx="3411784" cy="292239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4D762FF-46E8-2F4A-1979-0F4C23DEE069}"/>
              </a:ext>
            </a:extLst>
          </p:cNvPr>
          <p:cNvSpPr txBox="1"/>
          <p:nvPr/>
        </p:nvSpPr>
        <p:spPr>
          <a:xfrm>
            <a:off x="4900071" y="99893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42F0118-6DF8-7C76-EC31-492F7E0823B2}"/>
              </a:ext>
            </a:extLst>
          </p:cNvPr>
          <p:cNvSpPr txBox="1"/>
          <p:nvPr/>
        </p:nvSpPr>
        <p:spPr>
          <a:xfrm>
            <a:off x="1126934" y="99893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DC82272-CA80-042D-DB16-F95443DFFEE6}"/>
              </a:ext>
            </a:extLst>
          </p:cNvPr>
          <p:cNvSpPr txBox="1"/>
          <p:nvPr/>
        </p:nvSpPr>
        <p:spPr>
          <a:xfrm>
            <a:off x="8664966" y="99893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73B0DF-C8C0-15B8-258F-947EC0FDBDC4}"/>
              </a:ext>
            </a:extLst>
          </p:cNvPr>
          <p:cNvSpPr/>
          <p:nvPr/>
        </p:nvSpPr>
        <p:spPr>
          <a:xfrm>
            <a:off x="8148652" y="4866391"/>
            <a:ext cx="33963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日龄探头温度标准差控制在</a:t>
            </a:r>
            <a:r>
              <a:rPr lang="en-US" altLang="zh-CN" sz="1400" dirty="0">
                <a:solidFill>
                  <a:schemeClr val="tx1"/>
                </a:solidFill>
              </a:rPr>
              <a:t>0.6</a:t>
            </a:r>
            <a:r>
              <a:rPr lang="zh-CN" altLang="en-US" sz="1400" dirty="0">
                <a:solidFill>
                  <a:schemeClr val="tx1"/>
                </a:solidFill>
              </a:rPr>
              <a:t>以上或</a:t>
            </a:r>
            <a:r>
              <a:rPr lang="en-US" altLang="zh-CN" sz="1400" dirty="0">
                <a:solidFill>
                  <a:schemeClr val="tx1"/>
                </a:solidFill>
              </a:rPr>
              <a:t>0.1</a:t>
            </a:r>
            <a:r>
              <a:rPr lang="zh-CN" altLang="en-US" sz="1400" dirty="0">
                <a:solidFill>
                  <a:schemeClr val="tx1"/>
                </a:solidFill>
              </a:rPr>
              <a:t>以下时，出现高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的概率较高。但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值较小，可谨慎参考。</a:t>
            </a:r>
          </a:p>
        </p:txBody>
      </p:sp>
    </p:spTree>
    <p:extLst>
      <p:ext uri="{BB962C8B-B14F-4D97-AF65-F5344CB8AC3E}">
        <p14:creationId xmlns:p14="http://schemas.microsoft.com/office/powerpoint/2010/main" val="285537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25447-F36E-E5B6-9AE2-4B6389837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62584A0-8CD6-6174-94EC-E8A299BF315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,18-20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5E61128-62B1-BCA9-D550-B932D96F0C47}"/>
              </a:ext>
            </a:extLst>
          </p:cNvPr>
          <p:cNvGrpSpPr/>
          <p:nvPr/>
        </p:nvGrpSpPr>
        <p:grpSpPr>
          <a:xfrm>
            <a:off x="589219" y="1520575"/>
            <a:ext cx="7140747" cy="4092272"/>
            <a:chOff x="589219" y="1520575"/>
            <a:chExt cx="11313146" cy="4092272"/>
          </a:xfrm>
        </p:grpSpPr>
        <p:pic>
          <p:nvPicPr>
            <p:cNvPr id="4" name="图片 3" descr="图表&#10;&#10;AI 生成的内容可能不正确。">
              <a:extLst>
                <a:ext uri="{FF2B5EF4-FFF2-40B4-BE49-F238E27FC236}">
                  <a16:creationId xmlns:a16="http://schemas.microsoft.com/office/drawing/2014/main" id="{EECDB1C2-F346-6395-B402-645851449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124" y="1520575"/>
              <a:ext cx="5490166" cy="2877094"/>
            </a:xfrm>
            <a:prstGeom prst="rect">
              <a:avLst/>
            </a:prstGeom>
          </p:spPr>
        </p:pic>
        <p:pic>
          <p:nvPicPr>
            <p:cNvPr id="6" name="图片 5" descr="图表&#10;&#10;AI 生成的内容可能不正确。">
              <a:extLst>
                <a:ext uri="{FF2B5EF4-FFF2-40B4-BE49-F238E27FC236}">
                  <a16:creationId xmlns:a16="http://schemas.microsoft.com/office/drawing/2014/main" id="{DC4956A1-30EC-7FD1-6BD7-CEBD6B455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2199" y="1520575"/>
              <a:ext cx="5490166" cy="2877093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7FE2B9A-8A04-C8E6-B3D1-521AFB1A1CCB}"/>
                </a:ext>
              </a:extLst>
            </p:cNvPr>
            <p:cNvSpPr/>
            <p:nvPr/>
          </p:nvSpPr>
          <p:spPr>
            <a:xfrm>
              <a:off x="589219" y="4883381"/>
              <a:ext cx="5097740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 18-20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日龄鸡舍内部平均温度上升，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呈现下降趋势。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B9BFAB8-DD4C-B753-7EAD-4F9514EC9352}"/>
                </a:ext>
              </a:extLst>
            </p:cNvPr>
            <p:cNvSpPr/>
            <p:nvPr/>
          </p:nvSpPr>
          <p:spPr>
            <a:xfrm>
              <a:off x="6505041" y="4866391"/>
              <a:ext cx="5097740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18-20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日龄湿度内部平均控制在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69.5</a:t>
              </a:r>
              <a:r>
                <a:rPr lang="zh-CN" altLang="en-US" sz="1400" dirty="0">
                  <a:solidFill>
                    <a:schemeClr val="tx1"/>
                  </a:solidFill>
                </a:rPr>
                <a:t>以上时，出现高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的概率较高。</a:t>
              </a: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73D562B6-59F5-5527-481B-3DB9B09836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675" y="1520575"/>
            <a:ext cx="3509055" cy="287709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8F14B16-4E9E-95F7-C342-C6E4FF281406}"/>
              </a:ext>
            </a:extLst>
          </p:cNvPr>
          <p:cNvSpPr txBox="1"/>
          <p:nvPr/>
        </p:nvSpPr>
        <p:spPr>
          <a:xfrm>
            <a:off x="4910345" y="103486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ABE353-6A7A-3F79-3632-4867A49FF3A6}"/>
              </a:ext>
            </a:extLst>
          </p:cNvPr>
          <p:cNvSpPr txBox="1"/>
          <p:nvPr/>
        </p:nvSpPr>
        <p:spPr>
          <a:xfrm>
            <a:off x="1137208" y="103486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C8FD71-EA87-0239-CE19-1B86B2E3E25A}"/>
              </a:ext>
            </a:extLst>
          </p:cNvPr>
          <p:cNvSpPr txBox="1"/>
          <p:nvPr/>
        </p:nvSpPr>
        <p:spPr>
          <a:xfrm>
            <a:off x="8675240" y="103486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6641281-48F4-C3C9-16F3-0FC565DE9DD4}"/>
              </a:ext>
            </a:extLst>
          </p:cNvPr>
          <p:cNvSpPr/>
          <p:nvPr/>
        </p:nvSpPr>
        <p:spPr>
          <a:xfrm>
            <a:off x="8148652" y="4866391"/>
            <a:ext cx="33963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日龄探头温度标准差控制在</a:t>
            </a:r>
            <a:r>
              <a:rPr lang="en-US" altLang="zh-CN" sz="1400" dirty="0">
                <a:solidFill>
                  <a:schemeClr val="tx1"/>
                </a:solidFill>
              </a:rPr>
              <a:t>0.6</a:t>
            </a:r>
            <a:r>
              <a:rPr lang="zh-CN" altLang="en-US" sz="1400" dirty="0">
                <a:solidFill>
                  <a:schemeClr val="tx1"/>
                </a:solidFill>
              </a:rPr>
              <a:t>以上时，出现高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的概率较高。但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值较小，可谨慎参考。</a:t>
            </a:r>
          </a:p>
        </p:txBody>
      </p:sp>
    </p:spTree>
    <p:extLst>
      <p:ext uri="{BB962C8B-B14F-4D97-AF65-F5344CB8AC3E}">
        <p14:creationId xmlns:p14="http://schemas.microsoft.com/office/powerpoint/2010/main" val="2178399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B1B39-8555-BCAA-69C6-07F25C6E7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F32E9BB-0619-084A-EF04-19AAC9283CA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,21-23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B214C9D-8DA0-8FCB-9DD1-C1583359E8BE}"/>
              </a:ext>
            </a:extLst>
          </p:cNvPr>
          <p:cNvGrpSpPr/>
          <p:nvPr/>
        </p:nvGrpSpPr>
        <p:grpSpPr>
          <a:xfrm>
            <a:off x="589219" y="1475560"/>
            <a:ext cx="6840281" cy="4137287"/>
            <a:chOff x="589219" y="1475560"/>
            <a:chExt cx="11287706" cy="4137287"/>
          </a:xfrm>
        </p:grpSpPr>
        <p:pic>
          <p:nvPicPr>
            <p:cNvPr id="4" name="图片 3" descr="图表, 直方图&#10;&#10;AI 生成的内容可能不正确。">
              <a:extLst>
                <a:ext uri="{FF2B5EF4-FFF2-40B4-BE49-F238E27FC236}">
                  <a16:creationId xmlns:a16="http://schemas.microsoft.com/office/drawing/2014/main" id="{02659DF6-3FD3-951A-3C83-84A481AD78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693" y="1475560"/>
              <a:ext cx="5887671" cy="3117725"/>
            </a:xfrm>
            <a:prstGeom prst="rect">
              <a:avLst/>
            </a:prstGeom>
          </p:spPr>
        </p:pic>
        <p:pic>
          <p:nvPicPr>
            <p:cNvPr id="6" name="图片 5" descr="图形用户界面, 图表&#10;&#10;AI 生成的内容可能不正确。">
              <a:extLst>
                <a:ext uri="{FF2B5EF4-FFF2-40B4-BE49-F238E27FC236}">
                  <a16:creationId xmlns:a16="http://schemas.microsoft.com/office/drawing/2014/main" id="{1F0A0DD1-2C2C-3173-C8F9-28F1DD684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8332" y="1526787"/>
              <a:ext cx="5568593" cy="3117724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7C25EA0-4B45-4A5C-44EB-17EF69A5763A}"/>
                </a:ext>
              </a:extLst>
            </p:cNvPr>
            <p:cNvSpPr/>
            <p:nvPr/>
          </p:nvSpPr>
          <p:spPr>
            <a:xfrm>
              <a:off x="589219" y="4883381"/>
              <a:ext cx="5097740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 21-23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日龄鸡舍内部平均温度上升，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呈现下降趋势。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891706B-D05D-F96D-4A89-CC27242D42CE}"/>
                </a:ext>
              </a:extLst>
            </p:cNvPr>
            <p:cNvSpPr/>
            <p:nvPr/>
          </p:nvSpPr>
          <p:spPr>
            <a:xfrm>
              <a:off x="6505041" y="4866391"/>
              <a:ext cx="5097740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21-23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日龄湿度内部平均控制在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77.2</a:t>
              </a:r>
              <a:r>
                <a:rPr lang="zh-CN" altLang="en-US" sz="1400" dirty="0">
                  <a:solidFill>
                    <a:schemeClr val="tx1"/>
                  </a:solidFill>
                </a:rPr>
                <a:t>以上时，出现高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的概率较高。</a:t>
              </a: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FBCFD257-E0B2-89E2-249F-1610C0F708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860" y="1526787"/>
            <a:ext cx="3614490" cy="29620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7988850-0A71-0C16-E1D8-46847C345234}"/>
              </a:ext>
            </a:extLst>
          </p:cNvPr>
          <p:cNvSpPr txBox="1"/>
          <p:nvPr/>
        </p:nvSpPr>
        <p:spPr>
          <a:xfrm>
            <a:off x="4725410" y="1007459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96623A-6B3C-0566-0FBD-43009FE8C719}"/>
              </a:ext>
            </a:extLst>
          </p:cNvPr>
          <p:cNvSpPr txBox="1"/>
          <p:nvPr/>
        </p:nvSpPr>
        <p:spPr>
          <a:xfrm>
            <a:off x="952273" y="1007459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90070EC-BBAB-0BED-7DC5-1F74F228E548}"/>
              </a:ext>
            </a:extLst>
          </p:cNvPr>
          <p:cNvSpPr txBox="1"/>
          <p:nvPr/>
        </p:nvSpPr>
        <p:spPr>
          <a:xfrm>
            <a:off x="8490305" y="1007459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3B5416-6742-907C-EFF2-0411C2578697}"/>
              </a:ext>
            </a:extLst>
          </p:cNvPr>
          <p:cNvSpPr/>
          <p:nvPr/>
        </p:nvSpPr>
        <p:spPr>
          <a:xfrm>
            <a:off x="7759123" y="4866391"/>
            <a:ext cx="33963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日龄探头温度标准差控制在</a:t>
            </a:r>
            <a:r>
              <a:rPr lang="en-US" altLang="zh-CN" sz="1400" dirty="0">
                <a:solidFill>
                  <a:schemeClr val="tx1"/>
                </a:solidFill>
              </a:rPr>
              <a:t>0.5-0.6</a:t>
            </a:r>
            <a:r>
              <a:rPr lang="zh-CN" altLang="en-US" sz="1400" dirty="0">
                <a:solidFill>
                  <a:schemeClr val="tx1"/>
                </a:solidFill>
              </a:rPr>
              <a:t>时，出现高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的概率较高。但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值较小，可谨慎参考。</a:t>
            </a:r>
          </a:p>
        </p:txBody>
      </p:sp>
    </p:spTree>
    <p:extLst>
      <p:ext uri="{BB962C8B-B14F-4D97-AF65-F5344CB8AC3E}">
        <p14:creationId xmlns:p14="http://schemas.microsoft.com/office/powerpoint/2010/main" val="93215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1759-B493-67DE-1F9E-D3F539CE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7F18B6-B26F-09DF-E000-A7BF0AD0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344FB5-5D1A-25EB-41D1-35CC3CFE3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9212" y="2246743"/>
            <a:ext cx="9192622" cy="2088951"/>
          </a:xfrm>
        </p:spPr>
        <p:txBody>
          <a:bodyPr/>
          <a:lstStyle/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99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SAS-EXTERNAL-16X9-2023" val="CJxW6PTk"/>
  <p:tag name="ARTICULATE_DESIGN_ID_1_NDA" val="5KPCLKMf"/>
  <p:tag name="ARTICULATE_DESIGN_ID_1_SAS-EXTERNAL-16X9-2023" val="OvZPFYIY"/>
  <p:tag name="ARTICULATE_DESIGN_ID_SAS - EXTERNAL - 16X9 - 2023" val="iju6vBOG"/>
  <p:tag name="ARTICULATE_DESIGN_ID_SAS - EXTERNAL" val="IZ9bNYet"/>
  <p:tag name="ARTICULATE_DESIGN_ID_SAS - EXTERNAL - NDA" val="RR4fBfJW"/>
  <p:tag name="ARTICULATE_SLIDE_THUMBNAIL_REFRESH" val="1"/>
  <p:tag name="ARTICULATE_DESIGN_ID_CUSTOM DESIGN" val="WASRYxhz"/>
  <p:tag name="ARTICULATE_SLIDE_COUNT" val="11"/>
  <p:tag name="ARTICULATE_PROJECT_OPEN" val="0"/>
  <p:tag name="COMMONDATA" val="eyJoZGlkIjoiY2FmNGJlNDAzN2U1NmMyNzMzZTc0YjA1YWNhMzZl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- EXTERNAL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S - EXTERNAL - NDA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2B48C136D414EB12EC6609A2B4A69" ma:contentTypeVersion="5" ma:contentTypeDescription="Create a new document." ma:contentTypeScope="" ma:versionID="c506d0840867f1adddbc926f9a8dfc6f">
  <xsd:schema xmlns:xsd="http://www.w3.org/2001/XMLSchema" xmlns:xs="http://www.w3.org/2001/XMLSchema" xmlns:p="http://schemas.microsoft.com/office/2006/metadata/properties" xmlns:ns2="d21cdafc-5a3a-425e-9674-4fb06b514c0e" xmlns:ns3="6e647c50-2143-4825-9865-d236e7692e65" targetNamespace="http://schemas.microsoft.com/office/2006/metadata/properties" ma:root="true" ma:fieldsID="0df08590ed69fcf4c72a3fc3581b1869" ns2:_="" ns3:_="">
    <xsd:import namespace="d21cdafc-5a3a-425e-9674-4fb06b514c0e"/>
    <xsd:import namespace="6e647c50-2143-4825-9865-d236e7692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cdafc-5a3a-425e-9674-4fb06b514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47c50-2143-4825-9865-d236e7692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663518-7548-4643-8219-608BFF0DFA0C}">
  <ds:schemaRefs/>
</ds:datastoreItem>
</file>

<file path=customXml/itemProps2.xml><?xml version="1.0" encoding="utf-8"?>
<ds:datastoreItem xmlns:ds="http://schemas.openxmlformats.org/officeDocument/2006/customXml" ds:itemID="{51779852-367B-483D-8C46-CF2C7DC5D261}">
  <ds:schemaRefs/>
</ds:datastoreItem>
</file>

<file path=customXml/itemProps3.xml><?xml version="1.0" encoding="utf-8"?>
<ds:datastoreItem xmlns:ds="http://schemas.openxmlformats.org/officeDocument/2006/customXml" ds:itemID="{E3E925E4-5239-4639-A029-07B3CFD6A3F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EXTERNAL_Template_2023</Template>
  <TotalTime>8365</TotalTime>
  <Words>13018</Words>
  <Application>Microsoft Office PowerPoint</Application>
  <PresentationFormat>宽屏</PresentationFormat>
  <Paragraphs>1455</Paragraphs>
  <Slides>79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79</vt:i4>
      </vt:variant>
    </vt:vector>
  </HeadingPairs>
  <TitlesOfParts>
    <vt:vector size="94" baseType="lpstr">
      <vt:lpstr>Anova Bold</vt:lpstr>
      <vt:lpstr>Anova Light</vt:lpstr>
      <vt:lpstr>Inter</vt:lpstr>
      <vt:lpstr>quote-cjk-patch</vt:lpstr>
      <vt:lpstr>等线</vt:lpstr>
      <vt:lpstr>等线</vt:lpstr>
      <vt:lpstr>等线 Light</vt:lpstr>
      <vt:lpstr>等线 Light</vt:lpstr>
      <vt:lpstr>微软雅黑</vt:lpstr>
      <vt:lpstr>Arial</vt:lpstr>
      <vt:lpstr>Calibri</vt:lpstr>
      <vt:lpstr>Wingdings</vt:lpstr>
      <vt:lpstr>Wingdings 2</vt:lpstr>
      <vt:lpstr>SAS - EXTERNAL</vt:lpstr>
      <vt:lpstr>SAS - EXTERNAL - NDA</vt:lpstr>
      <vt:lpstr>数智驱动的肉鸡养殖根因分析实施方案  第6周成果汇报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下周计划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Plus Solution assist Value</dc:title>
  <dc:creator>Alex Zhang</dc:creator>
  <cp:lastModifiedBy>渊琰 肖</cp:lastModifiedBy>
  <cp:revision>282</cp:revision>
  <dcterms:created xsi:type="dcterms:W3CDTF">2023-10-08T03:09:00Z</dcterms:created>
  <dcterms:modified xsi:type="dcterms:W3CDTF">2025-06-06T06:07:05Z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0x0101008252B48C136D414EB12EC6609A2B4A69</vt:lpwstr>
  </property>
  <property fmtid="{D5CDD505-2E9C-101B-9397-08002B2CF9AE}" pid="5" name="ICV">
    <vt:lpwstr>5DA87FED2261458DA9A831FC15E03DC4_13</vt:lpwstr>
  </property>
  <property fmtid="{D5CDD505-2E9C-101B-9397-08002B2CF9AE}" pid="6" name="KSOProductBuildVer">
    <vt:lpwstr>2052-12.1.0.20784</vt:lpwstr>
  </property>
</Properties>
</file>